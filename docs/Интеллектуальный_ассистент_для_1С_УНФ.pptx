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3" r:id="rId18"/>
    <p:sldId id="271" r:id="rId19"/>
  </p:sldIdLst>
  <p:sldSz cx="12192000" cy="6858000"/>
  <p:notesSz cx="6858000" cy="12192000"/>
  <p:embeddedFontLst>
    <p:embeddedFont>
      <p:font typeface="Alimama ShuHeiTi" charset="-122"/>
      <p:regular r:id="rId21"/>
    </p:embeddedFont>
    <p:embeddedFont>
      <p:font typeface="MiSans" panose="020B0604020202020204" charset="-122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249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74CA6-1FD3-2B39-A1B7-5798ACC8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239F5-76BA-4F99-434A-D74328B47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638A3-C30E-A843-ED2D-ABD2EF92E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38F56-3597-D3B5-1811-CD2BF7BB9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6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6368d7d247c4288444b5509ac884a0a7a524018.jp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D700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FFD700">
                  <a:alpha val="10000"/>
                </a:srgbClr>
              </a:gs>
            </a:gsLst>
            <a:lin ang="2700000" scaled="1"/>
          </a:gradFill>
          <a:ln/>
        </p:spPr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F77BC38B-2190-40EF-9B2A-8B6D0B8D8F87}"/>
              </a:ext>
            </a:extLst>
          </p:cNvPr>
          <p:cNvGrpSpPr/>
          <p:nvPr/>
        </p:nvGrpSpPr>
        <p:grpSpPr>
          <a:xfrm>
            <a:off x="381000" y="1740858"/>
            <a:ext cx="11482387" cy="2440361"/>
            <a:chOff x="381000" y="1740858"/>
            <a:chExt cx="11482387" cy="2440361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994EBF9A-9AB8-4F5A-B75B-07CCD91D7C1F}"/>
                </a:ext>
              </a:extLst>
            </p:cNvPr>
            <p:cNvGrpSpPr/>
            <p:nvPr/>
          </p:nvGrpSpPr>
          <p:grpSpPr>
            <a:xfrm>
              <a:off x="381000" y="1740858"/>
              <a:ext cx="2628900" cy="495300"/>
              <a:chOff x="381000" y="1740858"/>
              <a:chExt cx="2628900" cy="495300"/>
            </a:xfrm>
          </p:grpSpPr>
          <p:sp>
            <p:nvSpPr>
              <p:cNvPr id="4" name="Shape 1"/>
              <p:cNvSpPr/>
              <p:nvPr/>
            </p:nvSpPr>
            <p:spPr>
              <a:xfrm>
                <a:off x="381000" y="1740858"/>
                <a:ext cx="26289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495300">
                    <a:moveTo>
                      <a:pt x="76202" y="0"/>
                    </a:moveTo>
                    <a:lnTo>
                      <a:pt x="2552698" y="0"/>
                    </a:lnTo>
                    <a:cubicBezTo>
                      <a:pt x="2594783" y="0"/>
                      <a:pt x="2628900" y="34117"/>
                      <a:pt x="2628900" y="76202"/>
                    </a:cubicBezTo>
                    <a:lnTo>
                      <a:pt x="2628900" y="419098"/>
                    </a:lnTo>
                    <a:cubicBezTo>
                      <a:pt x="2628900" y="461183"/>
                      <a:pt x="2594783" y="495300"/>
                      <a:pt x="2552698" y="495300"/>
                    </a:cubicBezTo>
                    <a:lnTo>
                      <a:pt x="76202" y="495300"/>
                    </a:lnTo>
                    <a:cubicBezTo>
                      <a:pt x="34117" y="495300"/>
                      <a:pt x="0" y="461183"/>
                      <a:pt x="0" y="419098"/>
                    </a:cubicBezTo>
                    <a:lnTo>
                      <a:pt x="0" y="76202"/>
                    </a:lnTo>
                    <a:cubicBezTo>
                      <a:pt x="0" y="34117"/>
                      <a:pt x="34117" y="0"/>
                      <a:pt x="76202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5" name="Text 2"/>
              <p:cNvSpPr/>
              <p:nvPr/>
            </p:nvSpPr>
            <p:spPr>
              <a:xfrm>
                <a:off x="609600" y="1893258"/>
                <a:ext cx="227091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5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ДИПЛОМНЫЙ ПРОЕКТ</a:t>
                </a:r>
                <a:endParaRPr lang="en-US" sz="1600" dirty="0"/>
              </a:p>
            </p:txBody>
          </p:sp>
        </p:grpSp>
        <p:sp>
          <p:nvSpPr>
            <p:cNvPr id="10" name="Text 7"/>
            <p:cNvSpPr/>
            <p:nvPr/>
          </p:nvSpPr>
          <p:spPr>
            <a:xfrm>
              <a:off x="438150" y="2578517"/>
              <a:ext cx="11425237" cy="1602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ru-RU" sz="36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Разработка интеллектуального ассистента для поддержки пользователей и интеграция его в типовую конфигурацию «1С: Управление нашей фирмой» (на материалах ООО «</a:t>
              </a:r>
              <a:r>
                <a:rPr lang="ru-RU" sz="3600" b="1" dirty="0" err="1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Люксон</a:t>
              </a:r>
              <a:r>
                <a:rPr lang="ru-RU" sz="36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 Декор»</a:t>
              </a:r>
              <a:r>
                <a:rPr lang="en-US" sz="3600" b="1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)</a:t>
              </a:r>
              <a:endParaRPr lang="en-US" sz="1600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3CF6A3B-23C4-4B13-9EDC-85DCB99B002F}"/>
              </a:ext>
            </a:extLst>
          </p:cNvPr>
          <p:cNvGrpSpPr/>
          <p:nvPr/>
        </p:nvGrpSpPr>
        <p:grpSpPr>
          <a:xfrm>
            <a:off x="380999" y="4600319"/>
            <a:ext cx="8498305" cy="643194"/>
            <a:chOff x="380999" y="4600319"/>
            <a:chExt cx="8498305" cy="643194"/>
          </a:xfrm>
        </p:grpSpPr>
        <p:sp>
          <p:nvSpPr>
            <p:cNvPr id="11" name="Shape 8"/>
            <p:cNvSpPr/>
            <p:nvPr/>
          </p:nvSpPr>
          <p:spPr>
            <a:xfrm>
              <a:off x="381000" y="4600319"/>
              <a:ext cx="1219200" cy="38100"/>
            </a:xfrm>
            <a:custGeom>
              <a:avLst/>
              <a:gdLst/>
              <a:ahLst/>
              <a:cxnLst/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380999" y="4686301"/>
              <a:ext cx="8498305" cy="557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Интеграция больших языковых моделей в корпоративную экосистему 1С</a:t>
              </a:r>
              <a:endParaRPr lang="en-US" sz="1600" dirty="0"/>
            </a:p>
            <a:p>
              <a:r>
                <a:rPr lang="en-US" sz="18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для повышения эффективности бизнес-процессов</a:t>
              </a:r>
              <a:endParaRPr lang="en-US" sz="1600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A9687E3-A4BF-4631-A14B-13AE9467762D}"/>
              </a:ext>
            </a:extLst>
          </p:cNvPr>
          <p:cNvGrpSpPr/>
          <p:nvPr/>
        </p:nvGrpSpPr>
        <p:grpSpPr>
          <a:xfrm>
            <a:off x="400050" y="5600700"/>
            <a:ext cx="3638550" cy="876300"/>
            <a:chOff x="400050" y="5600700"/>
            <a:chExt cx="3638550" cy="876300"/>
          </a:xfrm>
        </p:grpSpPr>
        <p:sp>
          <p:nvSpPr>
            <p:cNvPr id="13" name="Shape 10"/>
            <p:cNvSpPr/>
            <p:nvPr/>
          </p:nvSpPr>
          <p:spPr>
            <a:xfrm>
              <a:off x="400050" y="5600700"/>
              <a:ext cx="3638550" cy="876300"/>
            </a:xfrm>
            <a:custGeom>
              <a:avLst/>
              <a:gdLst/>
              <a:ahLst/>
              <a:cxnLst/>
              <a:rect l="l" t="t" r="r" b="b"/>
              <a:pathLst>
                <a:path w="3638550" h="876300">
                  <a:moveTo>
                    <a:pt x="38100" y="0"/>
                  </a:moveTo>
                  <a:lnTo>
                    <a:pt x="3524254" y="0"/>
                  </a:lnTo>
                  <a:cubicBezTo>
                    <a:pt x="3587378" y="0"/>
                    <a:pt x="3638550" y="51172"/>
                    <a:pt x="3638550" y="114296"/>
                  </a:cubicBezTo>
                  <a:lnTo>
                    <a:pt x="3638550" y="762004"/>
                  </a:lnTo>
                  <a:cubicBezTo>
                    <a:pt x="3638550" y="825128"/>
                    <a:pt x="3587378" y="876300"/>
                    <a:pt x="3524254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" name="Shape 11"/>
            <p:cNvSpPr/>
            <p:nvPr/>
          </p:nvSpPr>
          <p:spPr>
            <a:xfrm>
              <a:off x="400050" y="5600700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" name="Text 12"/>
            <p:cNvSpPr/>
            <p:nvPr/>
          </p:nvSpPr>
          <p:spPr>
            <a:xfrm>
              <a:off x="609600" y="5791200"/>
              <a:ext cx="3305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Студент</a:t>
              </a:r>
              <a:endParaRPr lang="en-US" sz="24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09600" y="6019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ru-RU" b="1" dirty="0">
                  <a:solidFill>
                    <a:srgbClr val="1A1A1A"/>
                  </a:solidFill>
                  <a:ea typeface="Alimama ShuHeiTi" pitchFamily="34" charset="-122"/>
                  <a:cs typeface="Alimama ShuHeiTi" pitchFamily="34" charset="-120"/>
                </a:rPr>
                <a:t>Кобзарев Андрей Андреевич</a:t>
              </a:r>
              <a:endParaRPr lang="en-US" sz="2400" dirty="0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20681627-E15D-45E9-8649-77BA2C9E31C3}"/>
              </a:ext>
            </a:extLst>
          </p:cNvPr>
          <p:cNvGrpSpPr/>
          <p:nvPr/>
        </p:nvGrpSpPr>
        <p:grpSpPr>
          <a:xfrm>
            <a:off x="4286250" y="5600700"/>
            <a:ext cx="3638550" cy="876300"/>
            <a:chOff x="4286250" y="5600700"/>
            <a:chExt cx="3638550" cy="876300"/>
          </a:xfrm>
        </p:grpSpPr>
        <p:sp>
          <p:nvSpPr>
            <p:cNvPr id="17" name="Shape 14"/>
            <p:cNvSpPr/>
            <p:nvPr/>
          </p:nvSpPr>
          <p:spPr>
            <a:xfrm>
              <a:off x="4286250" y="5600700"/>
              <a:ext cx="3638550" cy="876300"/>
            </a:xfrm>
            <a:custGeom>
              <a:avLst/>
              <a:gdLst/>
              <a:ahLst/>
              <a:cxnLst/>
              <a:rect l="l" t="t" r="r" b="b"/>
              <a:pathLst>
                <a:path w="3638550" h="876300">
                  <a:moveTo>
                    <a:pt x="38100" y="0"/>
                  </a:moveTo>
                  <a:lnTo>
                    <a:pt x="3524254" y="0"/>
                  </a:lnTo>
                  <a:cubicBezTo>
                    <a:pt x="3587378" y="0"/>
                    <a:pt x="3638550" y="51172"/>
                    <a:pt x="3638550" y="114296"/>
                  </a:cubicBezTo>
                  <a:lnTo>
                    <a:pt x="3638550" y="762004"/>
                  </a:lnTo>
                  <a:cubicBezTo>
                    <a:pt x="3638550" y="825128"/>
                    <a:pt x="3587378" y="876300"/>
                    <a:pt x="3524254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" name="Shape 15"/>
            <p:cNvSpPr/>
            <p:nvPr/>
          </p:nvSpPr>
          <p:spPr>
            <a:xfrm>
              <a:off x="4286250" y="5600700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9" name="Text 16"/>
            <p:cNvSpPr/>
            <p:nvPr/>
          </p:nvSpPr>
          <p:spPr>
            <a:xfrm>
              <a:off x="4495800" y="5791200"/>
              <a:ext cx="3305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Руководитель</a:t>
              </a:r>
              <a:endParaRPr lang="en-US" sz="24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4495800" y="6019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ru-RU" b="1" dirty="0">
                  <a:solidFill>
                    <a:srgbClr val="1A1A1A"/>
                  </a:solidFill>
                  <a:ea typeface="Alimama ShuHeiTi" pitchFamily="34" charset="-122"/>
                </a:rPr>
                <a:t>Мозгунова Нелли Николаевна</a:t>
              </a:r>
              <a:endParaRPr lang="en-US" sz="2400" dirty="0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01FE0D0B-5A61-4855-98D7-3B87A2CDD09F}"/>
              </a:ext>
            </a:extLst>
          </p:cNvPr>
          <p:cNvGrpSpPr/>
          <p:nvPr/>
        </p:nvGrpSpPr>
        <p:grpSpPr>
          <a:xfrm>
            <a:off x="8172450" y="5600700"/>
            <a:ext cx="3638550" cy="876300"/>
            <a:chOff x="8172450" y="5600700"/>
            <a:chExt cx="3638550" cy="876300"/>
          </a:xfrm>
        </p:grpSpPr>
        <p:sp>
          <p:nvSpPr>
            <p:cNvPr id="21" name="Shape 18"/>
            <p:cNvSpPr/>
            <p:nvPr/>
          </p:nvSpPr>
          <p:spPr>
            <a:xfrm>
              <a:off x="8172450" y="5600700"/>
              <a:ext cx="3638550" cy="876300"/>
            </a:xfrm>
            <a:custGeom>
              <a:avLst/>
              <a:gdLst/>
              <a:ahLst/>
              <a:cxnLst/>
              <a:rect l="l" t="t" r="r" b="b"/>
              <a:pathLst>
                <a:path w="3638550" h="876300">
                  <a:moveTo>
                    <a:pt x="38100" y="0"/>
                  </a:moveTo>
                  <a:lnTo>
                    <a:pt x="3524254" y="0"/>
                  </a:lnTo>
                  <a:cubicBezTo>
                    <a:pt x="3587378" y="0"/>
                    <a:pt x="3638550" y="51172"/>
                    <a:pt x="3638550" y="114296"/>
                  </a:cubicBezTo>
                  <a:lnTo>
                    <a:pt x="3638550" y="762004"/>
                  </a:lnTo>
                  <a:cubicBezTo>
                    <a:pt x="3638550" y="825128"/>
                    <a:pt x="3587378" y="876300"/>
                    <a:pt x="3524254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" name="Shape 19"/>
            <p:cNvSpPr/>
            <p:nvPr/>
          </p:nvSpPr>
          <p:spPr>
            <a:xfrm>
              <a:off x="8172450" y="5600700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3" name="Text 20"/>
            <p:cNvSpPr/>
            <p:nvPr/>
          </p:nvSpPr>
          <p:spPr>
            <a:xfrm>
              <a:off x="8382000" y="5791200"/>
              <a:ext cx="3305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Год защиты</a:t>
              </a:r>
              <a:endParaRPr lang="en-US" sz="24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8382000" y="6019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2026</a:t>
              </a:r>
              <a:endParaRPr lang="en-US" sz="2400" dirty="0"/>
            </a:p>
          </p:txBody>
        </p:sp>
      </p:grpSp>
      <p:sp>
        <p:nvSpPr>
          <p:cNvPr id="25" name="Shape 4">
            <a:extLst>
              <a:ext uri="{FF2B5EF4-FFF2-40B4-BE49-F238E27FC236}">
                <a16:creationId xmlns:a16="http://schemas.microsoft.com/office/drawing/2014/main" id="{157EF8D8-0795-45D1-935B-A5F7092F8A8D}"/>
              </a:ext>
            </a:extLst>
          </p:cNvPr>
          <p:cNvSpPr/>
          <p:nvPr/>
        </p:nvSpPr>
        <p:spPr>
          <a:xfrm>
            <a:off x="433387" y="-596940"/>
            <a:ext cx="11430000" cy="1457325"/>
          </a:xfrm>
          <a:custGeom>
            <a:avLst/>
            <a:gdLst/>
            <a:ahLst/>
            <a:cxnLst/>
            <a:rect l="l" t="t" r="r" b="b"/>
            <a:pathLst>
              <a:path w="11430000" h="1457325">
                <a:moveTo>
                  <a:pt x="152407" y="0"/>
                </a:moveTo>
                <a:lnTo>
                  <a:pt x="11277593" y="0"/>
                </a:lnTo>
                <a:cubicBezTo>
                  <a:pt x="11361765" y="0"/>
                  <a:pt x="11430000" y="68235"/>
                  <a:pt x="11430000" y="152407"/>
                </a:cubicBezTo>
                <a:lnTo>
                  <a:pt x="11430000" y="1304918"/>
                </a:lnTo>
                <a:cubicBezTo>
                  <a:pt x="11430000" y="1389090"/>
                  <a:pt x="11361765" y="1457325"/>
                  <a:pt x="11277593" y="1457325"/>
                </a:cubicBezTo>
                <a:lnTo>
                  <a:pt x="152407" y="1457325"/>
                </a:lnTo>
                <a:cubicBezTo>
                  <a:pt x="68235" y="1457325"/>
                  <a:pt x="0" y="1389090"/>
                  <a:pt x="0" y="13049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700"/>
              </a:gs>
              <a:gs pos="100000">
                <a:srgbClr val="FF6B35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 anchor="b"/>
          <a:lstStyle/>
          <a:p>
            <a:pPr algn="ctr"/>
            <a:r>
              <a:rPr lang="ru-RU" dirty="0"/>
              <a:t>МИНИСТЕРСТВО НАУКИ И ВЫСШЕГО ОБРАЗОВАНИЯ РОССИЙСКОЙ ФЕДЕРАЦИИ МЦЕНСКИЙ ФИЛИАЛ ФЕДЕРАЛЬНОГО ГОСУДАРСТВЕННОГО БЮДЖЕТНОГО ОБРАЗОВАТЕЛЬНОГО УЧРЕЖДЕНИЯ ВЫСШЕГО ОБРАЗОВАНИЯ</a:t>
            </a:r>
          </a:p>
          <a:p>
            <a:pPr algn="ctr"/>
            <a:r>
              <a:rPr lang="ru-RU" dirty="0"/>
              <a:t>«ОРЛОВСКИЙ ГОСУДАРСТВЕННЫЙ УНИВЕРСИТЕТ имени И.С. ТУРГЕНЕВА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A1C08F16-3161-4DD2-A8C3-A293376AABB4}"/>
              </a:ext>
            </a:extLst>
          </p:cNvPr>
          <p:cNvGrpSpPr/>
          <p:nvPr/>
        </p:nvGrpSpPr>
        <p:grpSpPr>
          <a:xfrm>
            <a:off x="-6045200" y="1219200"/>
            <a:ext cx="5562600" cy="4393532"/>
            <a:chOff x="381000" y="1219200"/>
            <a:chExt cx="5562600" cy="4393532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ABFCDE7D-D2F0-4A1D-80D6-995A8BA09D99}"/>
                </a:ext>
              </a:extLst>
            </p:cNvPr>
            <p:cNvSpPr/>
            <p:nvPr/>
          </p:nvSpPr>
          <p:spPr>
            <a:xfrm>
              <a:off x="381000" y="1219200"/>
              <a:ext cx="5562600" cy="4393532"/>
            </a:xfrm>
            <a:custGeom>
              <a:avLst/>
              <a:gdLst/>
              <a:ahLst/>
              <a:cxnLst/>
              <a:rect l="l" t="t" r="r" b="b"/>
              <a:pathLst>
                <a:path w="5562600" h="4076700">
                  <a:moveTo>
                    <a:pt x="152387" y="0"/>
                  </a:moveTo>
                  <a:lnTo>
                    <a:pt x="5410213" y="0"/>
                  </a:lnTo>
                  <a:cubicBezTo>
                    <a:pt x="5494374" y="0"/>
                    <a:pt x="5562600" y="68226"/>
                    <a:pt x="5562600" y="152387"/>
                  </a:cubicBezTo>
                  <a:lnTo>
                    <a:pt x="5562600" y="3924313"/>
                  </a:lnTo>
                  <a:cubicBezTo>
                    <a:pt x="5562600" y="4008474"/>
                    <a:pt x="5494374" y="4076700"/>
                    <a:pt x="5410213" y="4076700"/>
                  </a:cubicBezTo>
                  <a:lnTo>
                    <a:pt x="152387" y="4076700"/>
                  </a:lnTo>
                  <a:cubicBezTo>
                    <a:pt x="68226" y="4076700"/>
                    <a:pt x="0" y="4008474"/>
                    <a:pt x="0" y="3924313"/>
                  </a:cubicBezTo>
                  <a:lnTo>
                    <a:pt x="0" y="152387"/>
                  </a:lnTo>
                  <a:cubicBezTo>
                    <a:pt x="0" y="68226"/>
                    <a:pt x="68226" y="0"/>
                    <a:pt x="15238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31" name="Shape 5">
              <a:extLst>
                <a:ext uri="{FF2B5EF4-FFF2-40B4-BE49-F238E27FC236}">
                  <a16:creationId xmlns:a16="http://schemas.microsoft.com/office/drawing/2014/main" id="{F458AED8-E101-48B5-95B3-02EADD703DF1}"/>
                </a:ext>
              </a:extLst>
            </p:cNvPr>
            <p:cNvSpPr/>
            <p:nvPr/>
          </p:nvSpPr>
          <p:spPr>
            <a:xfrm>
              <a:off x="609600" y="14478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32" name="Shape 6">
              <a:extLst>
                <a:ext uri="{FF2B5EF4-FFF2-40B4-BE49-F238E27FC236}">
                  <a16:creationId xmlns:a16="http://schemas.microsoft.com/office/drawing/2014/main" id="{D3B12235-8A9D-4CC3-AD89-43DAC5F13A45}"/>
                </a:ext>
              </a:extLst>
            </p:cNvPr>
            <p:cNvSpPr/>
            <p:nvPr/>
          </p:nvSpPr>
          <p:spPr>
            <a:xfrm>
              <a:off x="716756" y="15525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cubicBezTo>
                    <a:pt x="90647" y="0"/>
                    <a:pt x="95168" y="2712"/>
                    <a:pt x="97512" y="7032"/>
                  </a:cubicBezTo>
                  <a:lnTo>
                    <a:pt x="169843" y="140977"/>
                  </a:lnTo>
                  <a:cubicBezTo>
                    <a:pt x="172086" y="145130"/>
                    <a:pt x="171986" y="150153"/>
                    <a:pt x="169575" y="154205"/>
                  </a:cubicBezTo>
                  <a:cubicBezTo>
                    <a:pt x="167164" y="158256"/>
                    <a:pt x="162777" y="160734"/>
                    <a:pt x="158055" y="160734"/>
                  </a:cubicBezTo>
                  <a:lnTo>
                    <a:pt x="13395" y="160734"/>
                  </a:lnTo>
                  <a:cubicBezTo>
                    <a:pt x="8673" y="160734"/>
                    <a:pt x="4320" y="158256"/>
                    <a:pt x="1875" y="154205"/>
                  </a:cubicBezTo>
                  <a:cubicBezTo>
                    <a:pt x="-569" y="150153"/>
                    <a:pt x="-636" y="145130"/>
                    <a:pt x="1607" y="140977"/>
                  </a:cubicBezTo>
                  <a:lnTo>
                    <a:pt x="73938" y="7032"/>
                  </a:lnTo>
                  <a:cubicBezTo>
                    <a:pt x="76282" y="2712"/>
                    <a:pt x="80803" y="0"/>
                    <a:pt x="85725" y="0"/>
                  </a:cubicBezTo>
                  <a:close/>
                  <a:moveTo>
                    <a:pt x="85725" y="56257"/>
                  </a:moveTo>
                  <a:cubicBezTo>
                    <a:pt x="81271" y="56257"/>
                    <a:pt x="77688" y="59840"/>
                    <a:pt x="77688" y="64294"/>
                  </a:cubicBezTo>
                  <a:lnTo>
                    <a:pt x="77688" y="101798"/>
                  </a:lnTo>
                  <a:cubicBezTo>
                    <a:pt x="77688" y="106252"/>
                    <a:pt x="81271" y="109835"/>
                    <a:pt x="85725" y="109835"/>
                  </a:cubicBezTo>
                  <a:cubicBezTo>
                    <a:pt x="90179" y="109835"/>
                    <a:pt x="93762" y="106252"/>
                    <a:pt x="93762" y="101798"/>
                  </a:cubicBezTo>
                  <a:lnTo>
                    <a:pt x="93762" y="64294"/>
                  </a:lnTo>
                  <a:cubicBezTo>
                    <a:pt x="93762" y="59840"/>
                    <a:pt x="90179" y="56257"/>
                    <a:pt x="85725" y="56257"/>
                  </a:cubicBezTo>
                  <a:close/>
                  <a:moveTo>
                    <a:pt x="94666" y="128588"/>
                  </a:moveTo>
                  <a:cubicBezTo>
                    <a:pt x="94869" y="125269"/>
                    <a:pt x="93214" y="122111"/>
                    <a:pt x="90369" y="120390"/>
                  </a:cubicBezTo>
                  <a:cubicBezTo>
                    <a:pt x="87524" y="118670"/>
                    <a:pt x="83959" y="118670"/>
                    <a:pt x="81114" y="120390"/>
                  </a:cubicBezTo>
                  <a:cubicBezTo>
                    <a:pt x="78269" y="122111"/>
                    <a:pt x="76614" y="125269"/>
                    <a:pt x="76818" y="128587"/>
                  </a:cubicBezTo>
                  <a:cubicBezTo>
                    <a:pt x="76614" y="131906"/>
                    <a:pt x="78269" y="135064"/>
                    <a:pt x="81114" y="136785"/>
                  </a:cubicBezTo>
                  <a:cubicBezTo>
                    <a:pt x="83959" y="138505"/>
                    <a:pt x="87524" y="138505"/>
                    <a:pt x="90369" y="136785"/>
                  </a:cubicBezTo>
                  <a:cubicBezTo>
                    <a:pt x="93214" y="135064"/>
                    <a:pt x="94869" y="131906"/>
                    <a:pt x="94666" y="1285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8BCB3871-E399-4C86-BBE3-60C9FCB235CE}"/>
                </a:ext>
              </a:extLst>
            </p:cNvPr>
            <p:cNvSpPr/>
            <p:nvPr/>
          </p:nvSpPr>
          <p:spPr>
            <a:xfrm>
              <a:off x="1104900" y="1485900"/>
              <a:ext cx="23145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Почему 1С сложна?</a:t>
              </a:r>
              <a:endParaRPr lang="en-US" sz="1600" dirty="0"/>
            </a:p>
          </p:txBody>
        </p: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517CB745-74FB-4C2E-AB35-B81932F395F5}"/>
                </a:ext>
              </a:extLst>
            </p:cNvPr>
            <p:cNvGrpSpPr/>
            <p:nvPr/>
          </p:nvGrpSpPr>
          <p:grpSpPr>
            <a:xfrm>
              <a:off x="681990" y="2064509"/>
              <a:ext cx="5086350" cy="923048"/>
              <a:chOff x="628650" y="1824366"/>
              <a:chExt cx="5086350" cy="923048"/>
            </a:xfrm>
          </p:grpSpPr>
          <p:sp>
            <p:nvSpPr>
              <p:cNvPr id="47" name="Shape 8">
                <a:extLst>
                  <a:ext uri="{FF2B5EF4-FFF2-40B4-BE49-F238E27FC236}">
                    <a16:creationId xmlns:a16="http://schemas.microsoft.com/office/drawing/2014/main" id="{B8A9A1FE-8E0E-4994-B58A-2B9E75084D0C}"/>
                  </a:ext>
                </a:extLst>
              </p:cNvPr>
              <p:cNvSpPr/>
              <p:nvPr/>
            </p:nvSpPr>
            <p:spPr>
              <a:xfrm>
                <a:off x="628650" y="1824366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48" name="Shape 9">
                <a:extLst>
                  <a:ext uri="{FF2B5EF4-FFF2-40B4-BE49-F238E27FC236}">
                    <a16:creationId xmlns:a16="http://schemas.microsoft.com/office/drawing/2014/main" id="{EF6215EA-03F9-4BDD-B625-C41DEF5A8787}"/>
                  </a:ext>
                </a:extLst>
              </p:cNvPr>
              <p:cNvSpPr/>
              <p:nvPr/>
            </p:nvSpPr>
            <p:spPr>
              <a:xfrm>
                <a:off x="628650" y="1824366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49" name="Shape 10">
                <a:extLst>
                  <a:ext uri="{FF2B5EF4-FFF2-40B4-BE49-F238E27FC236}">
                    <a16:creationId xmlns:a16="http://schemas.microsoft.com/office/drawing/2014/main" id="{80F367FF-4BFD-490F-8D20-36286AAFAB9C}"/>
                  </a:ext>
                </a:extLst>
              </p:cNvPr>
              <p:cNvSpPr/>
              <p:nvPr/>
            </p:nvSpPr>
            <p:spPr>
              <a:xfrm>
                <a:off x="823913" y="2057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23812" y="23812"/>
                    </a:moveTo>
                    <a:cubicBezTo>
                      <a:pt x="10678" y="23812"/>
                      <a:pt x="0" y="34491"/>
                      <a:pt x="0" y="47625"/>
                    </a:cubicBezTo>
                    <a:lnTo>
                      <a:pt x="0" y="142875"/>
                    </a:lnTo>
                    <a:cubicBezTo>
                      <a:pt x="0" y="156009"/>
                      <a:pt x="10678" y="166688"/>
                      <a:pt x="23812" y="166688"/>
                    </a:cubicBezTo>
                    <a:lnTo>
                      <a:pt x="166688" y="166688"/>
                    </a:lnTo>
                    <a:cubicBezTo>
                      <a:pt x="179822" y="166688"/>
                      <a:pt x="190500" y="156009"/>
                      <a:pt x="190500" y="142875"/>
                    </a:cubicBezTo>
                    <a:lnTo>
                      <a:pt x="190500" y="47625"/>
                    </a:lnTo>
                    <a:cubicBezTo>
                      <a:pt x="190500" y="34491"/>
                      <a:pt x="179822" y="23812"/>
                      <a:pt x="166688" y="23812"/>
                    </a:cubicBezTo>
                    <a:lnTo>
                      <a:pt x="23812" y="23812"/>
                    </a:lnTo>
                    <a:close/>
                    <a:moveTo>
                      <a:pt x="32742" y="47625"/>
                    </a:moveTo>
                    <a:lnTo>
                      <a:pt x="157758" y="47625"/>
                    </a:lnTo>
                    <a:cubicBezTo>
                      <a:pt x="162706" y="47625"/>
                      <a:pt x="166688" y="51606"/>
                      <a:pt x="166688" y="56555"/>
                    </a:cubicBezTo>
                    <a:cubicBezTo>
                      <a:pt x="166688" y="61503"/>
                      <a:pt x="162706" y="65484"/>
                      <a:pt x="157758" y="65484"/>
                    </a:cubicBezTo>
                    <a:lnTo>
                      <a:pt x="32742" y="65484"/>
                    </a:lnTo>
                    <a:cubicBezTo>
                      <a:pt x="27794" y="65484"/>
                      <a:pt x="23812" y="61503"/>
                      <a:pt x="23812" y="56555"/>
                    </a:cubicBezTo>
                    <a:cubicBezTo>
                      <a:pt x="23812" y="51606"/>
                      <a:pt x="27794" y="47625"/>
                      <a:pt x="32742" y="4762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50" name="Text 11">
                <a:extLst>
                  <a:ext uri="{FF2B5EF4-FFF2-40B4-BE49-F238E27FC236}">
                    <a16:creationId xmlns:a16="http://schemas.microsoft.com/office/drawing/2014/main" id="{C3E9A46C-4C2D-4A05-BA50-B420F37B2DA1}"/>
                  </a:ext>
                </a:extLst>
              </p:cNvPr>
              <p:cNvSpPr/>
              <p:nvPr/>
            </p:nvSpPr>
            <p:spPr>
              <a:xfrm>
                <a:off x="1175385" y="1951925"/>
                <a:ext cx="35623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Множество форм</a:t>
                </a:r>
                <a:endParaRPr lang="en-US" sz="2000" dirty="0"/>
              </a:p>
            </p:txBody>
          </p:sp>
          <p:sp>
            <p:nvSpPr>
              <p:cNvPr id="51" name="Text 12">
                <a:extLst>
                  <a:ext uri="{FF2B5EF4-FFF2-40B4-BE49-F238E27FC236}">
                    <a16:creationId xmlns:a16="http://schemas.microsoft.com/office/drawing/2014/main" id="{E5B99B56-2C5F-4B4F-A1EA-B7178E466EB9}"/>
                  </a:ext>
                </a:extLst>
              </p:cNvPr>
              <p:cNvSpPr/>
              <p:nvPr/>
            </p:nvSpPr>
            <p:spPr>
              <a:xfrm>
                <a:off x="1175384" y="2218625"/>
                <a:ext cx="4333875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Сотни окон и настроек, неочевидная навигация</a:t>
                </a:r>
                <a:endParaRPr lang="en-US" sz="2000" dirty="0"/>
              </a:p>
            </p:txBody>
          </p:sp>
        </p:grp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C49535FD-5546-4536-B7A1-25FEABA75189}"/>
                </a:ext>
              </a:extLst>
            </p:cNvPr>
            <p:cNvGrpSpPr/>
            <p:nvPr/>
          </p:nvGrpSpPr>
          <p:grpSpPr>
            <a:xfrm>
              <a:off x="685800" y="3288435"/>
              <a:ext cx="5086350" cy="923048"/>
              <a:chOff x="628650" y="3009900"/>
              <a:chExt cx="5086350" cy="923048"/>
            </a:xfrm>
          </p:grpSpPr>
          <p:sp>
            <p:nvSpPr>
              <p:cNvPr id="42" name="Shape 13">
                <a:extLst>
                  <a:ext uri="{FF2B5EF4-FFF2-40B4-BE49-F238E27FC236}">
                    <a16:creationId xmlns:a16="http://schemas.microsoft.com/office/drawing/2014/main" id="{25F6D318-9008-4697-80A9-F9A03EC3B27A}"/>
                  </a:ext>
                </a:extLst>
              </p:cNvPr>
              <p:cNvSpPr/>
              <p:nvPr/>
            </p:nvSpPr>
            <p:spPr>
              <a:xfrm>
                <a:off x="628650" y="30099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43" name="Shape 14">
                <a:extLst>
                  <a:ext uri="{FF2B5EF4-FFF2-40B4-BE49-F238E27FC236}">
                    <a16:creationId xmlns:a16="http://schemas.microsoft.com/office/drawing/2014/main" id="{C57743C4-1E12-437A-AC03-C9C75AFC1D7D}"/>
                  </a:ext>
                </a:extLst>
              </p:cNvPr>
              <p:cNvSpPr/>
              <p:nvPr/>
            </p:nvSpPr>
            <p:spPr>
              <a:xfrm>
                <a:off x="628650" y="30099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44" name="Shape 15">
                <a:extLst>
                  <a:ext uri="{FF2B5EF4-FFF2-40B4-BE49-F238E27FC236}">
                    <a16:creationId xmlns:a16="http://schemas.microsoft.com/office/drawing/2014/main" id="{DC504AF3-82BB-4FBF-87A6-8B7688BFF964}"/>
                  </a:ext>
                </a:extLst>
              </p:cNvPr>
              <p:cNvSpPr/>
              <p:nvPr/>
            </p:nvSpPr>
            <p:spPr>
              <a:xfrm>
                <a:off x="812006" y="3200400"/>
                <a:ext cx="2143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90500">
                    <a:moveTo>
                      <a:pt x="17859" y="72851"/>
                    </a:moveTo>
                    <a:lnTo>
                      <a:pt x="95696" y="104887"/>
                    </a:lnTo>
                    <a:cubicBezTo>
                      <a:pt x="99343" y="106375"/>
                      <a:pt x="103212" y="107156"/>
                      <a:pt x="107156" y="107156"/>
                    </a:cubicBezTo>
                    <a:cubicBezTo>
                      <a:pt x="111100" y="107156"/>
                      <a:pt x="114970" y="106375"/>
                      <a:pt x="118616" y="104887"/>
                    </a:cubicBezTo>
                    <a:lnTo>
                      <a:pt x="208806" y="67754"/>
                    </a:lnTo>
                    <a:cubicBezTo>
                      <a:pt x="212154" y="66377"/>
                      <a:pt x="214313" y="63140"/>
                      <a:pt x="214313" y="59531"/>
                    </a:cubicBezTo>
                    <a:cubicBezTo>
                      <a:pt x="214313" y="55922"/>
                      <a:pt x="212154" y="52685"/>
                      <a:pt x="208806" y="51308"/>
                    </a:cubicBezTo>
                    <a:lnTo>
                      <a:pt x="118616" y="14176"/>
                    </a:lnTo>
                    <a:cubicBezTo>
                      <a:pt x="114970" y="12688"/>
                      <a:pt x="111100" y="11906"/>
                      <a:pt x="107156" y="11906"/>
                    </a:cubicBezTo>
                    <a:cubicBezTo>
                      <a:pt x="103212" y="11906"/>
                      <a:pt x="99343" y="12688"/>
                      <a:pt x="95696" y="14176"/>
                    </a:cubicBezTo>
                    <a:lnTo>
                      <a:pt x="5507" y="51308"/>
                    </a:lnTo>
                    <a:cubicBezTo>
                      <a:pt x="2158" y="52685"/>
                      <a:pt x="0" y="55922"/>
                      <a:pt x="0" y="59531"/>
                    </a:cubicBezTo>
                    <a:lnTo>
                      <a:pt x="0" y="169664"/>
                    </a:lnTo>
                    <a:cubicBezTo>
                      <a:pt x="0" y="174613"/>
                      <a:pt x="3981" y="178594"/>
                      <a:pt x="8930" y="178594"/>
                    </a:cubicBezTo>
                    <a:cubicBezTo>
                      <a:pt x="13878" y="178594"/>
                      <a:pt x="17859" y="174613"/>
                      <a:pt x="17859" y="169664"/>
                    </a:cubicBezTo>
                    <a:lnTo>
                      <a:pt x="17859" y="72851"/>
                    </a:lnTo>
                    <a:close/>
                    <a:moveTo>
                      <a:pt x="35719" y="99529"/>
                    </a:moveTo>
                    <a:lnTo>
                      <a:pt x="35719" y="142875"/>
                    </a:lnTo>
                    <a:cubicBezTo>
                      <a:pt x="35719" y="162595"/>
                      <a:pt x="67717" y="178594"/>
                      <a:pt x="107156" y="178594"/>
                    </a:cubicBezTo>
                    <a:cubicBezTo>
                      <a:pt x="146596" y="178594"/>
                      <a:pt x="178594" y="162595"/>
                      <a:pt x="178594" y="142875"/>
                    </a:cubicBezTo>
                    <a:lnTo>
                      <a:pt x="178594" y="99492"/>
                    </a:lnTo>
                    <a:lnTo>
                      <a:pt x="125425" y="121407"/>
                    </a:lnTo>
                    <a:cubicBezTo>
                      <a:pt x="119621" y="123788"/>
                      <a:pt x="113444" y="125016"/>
                      <a:pt x="107156" y="125016"/>
                    </a:cubicBezTo>
                    <a:cubicBezTo>
                      <a:pt x="100868" y="125016"/>
                      <a:pt x="94692" y="123788"/>
                      <a:pt x="88888" y="121407"/>
                    </a:cubicBezTo>
                    <a:lnTo>
                      <a:pt x="35719" y="99492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45" name="Text 16">
                <a:extLst>
                  <a:ext uri="{FF2B5EF4-FFF2-40B4-BE49-F238E27FC236}">
                    <a16:creationId xmlns:a16="http://schemas.microsoft.com/office/drawing/2014/main" id="{23D28BA1-FF9F-4DC4-B27C-14495B8F352C}"/>
                  </a:ext>
                </a:extLst>
              </p:cNvPr>
              <p:cNvSpPr/>
              <p:nvPr/>
            </p:nvSpPr>
            <p:spPr>
              <a:xfrm>
                <a:off x="1152525" y="3162300"/>
                <a:ext cx="33718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Высокий порог входа</a:t>
                </a:r>
                <a:endParaRPr lang="en-US" sz="2000" dirty="0"/>
              </a:p>
            </p:txBody>
          </p:sp>
          <p:sp>
            <p:nvSpPr>
              <p:cNvPr id="46" name="Text 17">
                <a:extLst>
                  <a:ext uri="{FF2B5EF4-FFF2-40B4-BE49-F238E27FC236}">
                    <a16:creationId xmlns:a16="http://schemas.microsoft.com/office/drawing/2014/main" id="{F901FF27-AAA6-412F-9970-C1524A5EF284}"/>
                  </a:ext>
                </a:extLst>
              </p:cNvPr>
              <p:cNvSpPr/>
              <p:nvPr/>
            </p:nvSpPr>
            <p:spPr>
              <a:xfrm>
                <a:off x="1152524" y="3429000"/>
                <a:ext cx="4391025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2-3 недели обучения для новых сотрудников</a:t>
                </a:r>
                <a:endParaRPr lang="en-US" sz="2000" dirty="0"/>
              </a:p>
            </p:txBody>
          </p:sp>
        </p:grp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D999A3C1-7DFC-4F74-8361-F560BDA211EE}"/>
                </a:ext>
              </a:extLst>
            </p:cNvPr>
            <p:cNvGrpSpPr/>
            <p:nvPr/>
          </p:nvGrpSpPr>
          <p:grpSpPr>
            <a:xfrm>
              <a:off x="666750" y="4437701"/>
              <a:ext cx="5086350" cy="925420"/>
              <a:chOff x="628650" y="3837080"/>
              <a:chExt cx="5086350" cy="925420"/>
            </a:xfrm>
          </p:grpSpPr>
          <p:sp>
            <p:nvSpPr>
              <p:cNvPr id="37" name="Shape 18">
                <a:extLst>
                  <a:ext uri="{FF2B5EF4-FFF2-40B4-BE49-F238E27FC236}">
                    <a16:creationId xmlns:a16="http://schemas.microsoft.com/office/drawing/2014/main" id="{EDC6F446-9990-4CBE-BCC0-9B12AEFD6B87}"/>
                  </a:ext>
                </a:extLst>
              </p:cNvPr>
              <p:cNvSpPr/>
              <p:nvPr/>
            </p:nvSpPr>
            <p:spPr>
              <a:xfrm>
                <a:off x="628650" y="3837080"/>
                <a:ext cx="5086350" cy="925420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sz="2400" dirty="0"/>
              </a:p>
            </p:txBody>
          </p:sp>
          <p:sp>
            <p:nvSpPr>
              <p:cNvPr id="38" name="Shape 19">
                <a:extLst>
                  <a:ext uri="{FF2B5EF4-FFF2-40B4-BE49-F238E27FC236}">
                    <a16:creationId xmlns:a16="http://schemas.microsoft.com/office/drawing/2014/main" id="{1AB6D042-656A-4330-AD73-5ADE44953B2E}"/>
                  </a:ext>
                </a:extLst>
              </p:cNvPr>
              <p:cNvSpPr/>
              <p:nvPr/>
            </p:nvSpPr>
            <p:spPr>
              <a:xfrm>
                <a:off x="628650" y="3837080"/>
                <a:ext cx="38100" cy="92542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9" name="Shape 20">
                <a:extLst>
                  <a:ext uri="{FF2B5EF4-FFF2-40B4-BE49-F238E27FC236}">
                    <a16:creationId xmlns:a16="http://schemas.microsoft.com/office/drawing/2014/main" id="{BCCE92B9-C09F-4A07-848A-E202C0F327EE}"/>
                  </a:ext>
                </a:extLst>
              </p:cNvPr>
              <p:cNvSpPr/>
              <p:nvPr/>
            </p:nvSpPr>
            <p:spPr>
              <a:xfrm>
                <a:off x="839153" y="406772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ubicBezTo>
                      <a:pt x="0" y="42680"/>
                      <a:pt x="42680" y="0"/>
                      <a:pt x="95250" y="0"/>
                    </a:cubicBezTo>
                    <a:close/>
                    <a:moveTo>
                      <a:pt x="86320" y="44648"/>
                    </a:moveTo>
                    <a:lnTo>
                      <a:pt x="86320" y="95250"/>
                    </a:lnTo>
                    <a:cubicBezTo>
                      <a:pt x="86320" y="98227"/>
                      <a:pt x="87809" y="101017"/>
                      <a:pt x="90301" y="102691"/>
                    </a:cubicBezTo>
                    <a:lnTo>
                      <a:pt x="126020" y="126504"/>
                    </a:lnTo>
                    <a:cubicBezTo>
                      <a:pt x="130113" y="129257"/>
                      <a:pt x="135657" y="128141"/>
                      <a:pt x="138410" y="124011"/>
                    </a:cubicBezTo>
                    <a:cubicBezTo>
                      <a:pt x="141163" y="119881"/>
                      <a:pt x="140047" y="114374"/>
                      <a:pt x="135917" y="111621"/>
                    </a:cubicBezTo>
                    <a:lnTo>
                      <a:pt x="104180" y="90488"/>
                    </a:lnTo>
                    <a:lnTo>
                      <a:pt x="104180" y="44648"/>
                    </a:lnTo>
                    <a:cubicBezTo>
                      <a:pt x="104180" y="39700"/>
                      <a:pt x="100199" y="35719"/>
                      <a:pt x="95250" y="35719"/>
                    </a:cubicBezTo>
                    <a:cubicBezTo>
                      <a:pt x="90301" y="35719"/>
                      <a:pt x="86320" y="39700"/>
                      <a:pt x="86320" y="4464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40" name="Text 21">
                <a:extLst>
                  <a:ext uri="{FF2B5EF4-FFF2-40B4-BE49-F238E27FC236}">
                    <a16:creationId xmlns:a16="http://schemas.microsoft.com/office/drawing/2014/main" id="{D00D3125-3577-4218-8DD0-70FFE967F0E2}"/>
                  </a:ext>
                </a:extLst>
              </p:cNvPr>
              <p:cNvSpPr/>
              <p:nvPr/>
            </p:nvSpPr>
            <p:spPr>
              <a:xfrm>
                <a:off x="1156000" y="4040033"/>
                <a:ext cx="31908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Рутинные операции</a:t>
                </a:r>
                <a:endParaRPr lang="en-US" sz="2000" dirty="0"/>
              </a:p>
            </p:txBody>
          </p:sp>
          <p:sp>
            <p:nvSpPr>
              <p:cNvPr id="41" name="Text 22">
                <a:extLst>
                  <a:ext uri="{FF2B5EF4-FFF2-40B4-BE49-F238E27FC236}">
                    <a16:creationId xmlns:a16="http://schemas.microsoft.com/office/drawing/2014/main" id="{8FCF2D4D-2858-4CB8-8AD6-231F64ABC1A1}"/>
                  </a:ext>
                </a:extLst>
              </p:cNvPr>
              <p:cNvSpPr/>
              <p:nvPr/>
            </p:nvSpPr>
            <p:spPr>
              <a:xfrm>
                <a:off x="1156000" y="4306733"/>
                <a:ext cx="4406599" cy="3069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40% рабочего времени на типовые задачи</a:t>
                </a:r>
                <a:endParaRPr lang="en-US" sz="2000" dirty="0"/>
              </a:p>
            </p:txBody>
          </p:sp>
        </p:grp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5E49422F-62C1-41BA-8797-609C33478101}"/>
              </a:ext>
            </a:extLst>
          </p:cNvPr>
          <p:cNvGrpSpPr/>
          <p:nvPr/>
        </p:nvGrpSpPr>
        <p:grpSpPr>
          <a:xfrm>
            <a:off x="12674600" y="1219200"/>
            <a:ext cx="5562600" cy="4393532"/>
            <a:chOff x="6248400" y="1219200"/>
            <a:chExt cx="5562600" cy="4393532"/>
          </a:xfrm>
        </p:grpSpPr>
        <p:sp>
          <p:nvSpPr>
            <p:cNvPr id="53" name="Shape 23">
              <a:extLst>
                <a:ext uri="{FF2B5EF4-FFF2-40B4-BE49-F238E27FC236}">
                  <a16:creationId xmlns:a16="http://schemas.microsoft.com/office/drawing/2014/main" id="{3CEDE59A-8E5D-46D8-9759-6188136A78D3}"/>
                </a:ext>
              </a:extLst>
            </p:cNvPr>
            <p:cNvSpPr/>
            <p:nvPr/>
          </p:nvSpPr>
          <p:spPr>
            <a:xfrm>
              <a:off x="6248400" y="1219200"/>
              <a:ext cx="5562600" cy="4393532"/>
            </a:xfrm>
            <a:custGeom>
              <a:avLst/>
              <a:gdLst/>
              <a:ahLst/>
              <a:cxnLst/>
              <a:rect l="l" t="t" r="r" b="b"/>
              <a:pathLst>
                <a:path w="5562600" h="4076700">
                  <a:moveTo>
                    <a:pt x="152387" y="0"/>
                  </a:moveTo>
                  <a:lnTo>
                    <a:pt x="5410213" y="0"/>
                  </a:lnTo>
                  <a:cubicBezTo>
                    <a:pt x="5494374" y="0"/>
                    <a:pt x="5562600" y="68226"/>
                    <a:pt x="5562600" y="152387"/>
                  </a:cubicBezTo>
                  <a:lnTo>
                    <a:pt x="5562600" y="3924313"/>
                  </a:lnTo>
                  <a:cubicBezTo>
                    <a:pt x="5562600" y="4008474"/>
                    <a:pt x="5494374" y="4076700"/>
                    <a:pt x="5410213" y="4076700"/>
                  </a:cubicBezTo>
                  <a:lnTo>
                    <a:pt x="152387" y="4076700"/>
                  </a:lnTo>
                  <a:cubicBezTo>
                    <a:pt x="68226" y="4076700"/>
                    <a:pt x="0" y="4008474"/>
                    <a:pt x="0" y="3924313"/>
                  </a:cubicBezTo>
                  <a:lnTo>
                    <a:pt x="0" y="152387"/>
                  </a:lnTo>
                  <a:cubicBezTo>
                    <a:pt x="0" y="68226"/>
                    <a:pt x="68226" y="0"/>
                    <a:pt x="15238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345DFE26-C4AC-4C52-979A-4F041A92277A}"/>
                </a:ext>
              </a:extLst>
            </p:cNvPr>
            <p:cNvGrpSpPr/>
            <p:nvPr/>
          </p:nvGrpSpPr>
          <p:grpSpPr>
            <a:xfrm>
              <a:off x="6477000" y="1447800"/>
              <a:ext cx="3057525" cy="381000"/>
              <a:chOff x="6477000" y="1447800"/>
              <a:chExt cx="3057525" cy="381000"/>
            </a:xfrm>
          </p:grpSpPr>
          <p:sp>
            <p:nvSpPr>
              <p:cNvPr id="73" name="Shape 24">
                <a:extLst>
                  <a:ext uri="{FF2B5EF4-FFF2-40B4-BE49-F238E27FC236}">
                    <a16:creationId xmlns:a16="http://schemas.microsoft.com/office/drawing/2014/main" id="{F079A642-1808-43E7-9D12-101F8C2B6404}"/>
                  </a:ext>
                </a:extLst>
              </p:cNvPr>
              <p:cNvSpPr/>
              <p:nvPr/>
            </p:nvSpPr>
            <p:spPr>
              <a:xfrm>
                <a:off x="6477000" y="14478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76200" y="0"/>
                    </a:moveTo>
                    <a:lnTo>
                      <a:pt x="304800" y="0"/>
                    </a:lnTo>
                    <a:cubicBezTo>
                      <a:pt x="346856" y="0"/>
                      <a:pt x="381000" y="34144"/>
                      <a:pt x="381000" y="76200"/>
                    </a:cubicBezTo>
                    <a:lnTo>
                      <a:pt x="381000" y="304800"/>
                    </a:lnTo>
                    <a:cubicBezTo>
                      <a:pt x="381000" y="346856"/>
                      <a:pt x="346856" y="381000"/>
                      <a:pt x="304800" y="381000"/>
                    </a:cubicBezTo>
                    <a:lnTo>
                      <a:pt x="76200" y="381000"/>
                    </a:lnTo>
                    <a:cubicBezTo>
                      <a:pt x="34144" y="381000"/>
                      <a:pt x="0" y="346856"/>
                      <a:pt x="0" y="30480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74" name="Shape 25">
                <a:extLst>
                  <a:ext uri="{FF2B5EF4-FFF2-40B4-BE49-F238E27FC236}">
                    <a16:creationId xmlns:a16="http://schemas.microsoft.com/office/drawing/2014/main" id="{4B2284B9-FEC6-4181-A2E3-415F1F70DCB9}"/>
                  </a:ext>
                </a:extLst>
              </p:cNvPr>
              <p:cNvSpPr/>
              <p:nvPr/>
            </p:nvSpPr>
            <p:spPr>
              <a:xfrm>
                <a:off x="6562725" y="1552575"/>
                <a:ext cx="21431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71450">
                    <a:moveTo>
                      <a:pt x="117872" y="0"/>
                    </a:moveTo>
                    <a:cubicBezTo>
                      <a:pt x="117872" y="-5927"/>
                      <a:pt x="113083" y="-10716"/>
                      <a:pt x="107156" y="-10716"/>
                    </a:cubicBezTo>
                    <a:cubicBezTo>
                      <a:pt x="101229" y="-10716"/>
                      <a:pt x="96441" y="-5927"/>
                      <a:pt x="96441" y="0"/>
                    </a:cubicBezTo>
                    <a:lnTo>
                      <a:pt x="96441" y="21431"/>
                    </a:lnTo>
                    <a:lnTo>
                      <a:pt x="64294" y="21431"/>
                    </a:lnTo>
                    <a:cubicBezTo>
                      <a:pt x="46546" y="21431"/>
                      <a:pt x="32147" y="35830"/>
                      <a:pt x="32147" y="53578"/>
                    </a:cubicBezTo>
                    <a:lnTo>
                      <a:pt x="32147" y="128588"/>
                    </a:lnTo>
                    <a:cubicBezTo>
                      <a:pt x="32147" y="146335"/>
                      <a:pt x="46546" y="160734"/>
                      <a:pt x="64294" y="160734"/>
                    </a:cubicBezTo>
                    <a:lnTo>
                      <a:pt x="150019" y="160734"/>
                    </a:lnTo>
                    <a:cubicBezTo>
                      <a:pt x="167767" y="160734"/>
                      <a:pt x="182166" y="146335"/>
                      <a:pt x="182166" y="128588"/>
                    </a:cubicBezTo>
                    <a:lnTo>
                      <a:pt x="182166" y="53578"/>
                    </a:lnTo>
                    <a:cubicBezTo>
                      <a:pt x="182166" y="35830"/>
                      <a:pt x="167767" y="21431"/>
                      <a:pt x="150019" y="21431"/>
                    </a:cubicBezTo>
                    <a:lnTo>
                      <a:pt x="117872" y="21431"/>
                    </a:lnTo>
                    <a:lnTo>
                      <a:pt x="117872" y="0"/>
                    </a:lnTo>
                    <a:close/>
                    <a:moveTo>
                      <a:pt x="53578" y="123230"/>
                    </a:moveTo>
                    <a:cubicBezTo>
                      <a:pt x="53578" y="118776"/>
                      <a:pt x="57161" y="115193"/>
                      <a:pt x="61615" y="115193"/>
                    </a:cubicBezTo>
                    <a:lnTo>
                      <a:pt x="72330" y="115193"/>
                    </a:lnTo>
                    <a:cubicBezTo>
                      <a:pt x="76784" y="115193"/>
                      <a:pt x="80367" y="118776"/>
                      <a:pt x="80367" y="123230"/>
                    </a:cubicBezTo>
                    <a:cubicBezTo>
                      <a:pt x="80367" y="127683"/>
                      <a:pt x="76784" y="131266"/>
                      <a:pt x="72330" y="131266"/>
                    </a:cubicBezTo>
                    <a:lnTo>
                      <a:pt x="61615" y="131266"/>
                    </a:lnTo>
                    <a:cubicBezTo>
                      <a:pt x="57161" y="131266"/>
                      <a:pt x="53578" y="127683"/>
                      <a:pt x="53578" y="123230"/>
                    </a:cubicBezTo>
                    <a:close/>
                    <a:moveTo>
                      <a:pt x="93762" y="123230"/>
                    </a:moveTo>
                    <a:cubicBezTo>
                      <a:pt x="93762" y="118776"/>
                      <a:pt x="97345" y="115193"/>
                      <a:pt x="101798" y="115193"/>
                    </a:cubicBezTo>
                    <a:lnTo>
                      <a:pt x="112514" y="115193"/>
                    </a:lnTo>
                    <a:cubicBezTo>
                      <a:pt x="116968" y="115193"/>
                      <a:pt x="120551" y="118776"/>
                      <a:pt x="120551" y="123230"/>
                    </a:cubicBezTo>
                    <a:cubicBezTo>
                      <a:pt x="120551" y="127683"/>
                      <a:pt x="116968" y="131266"/>
                      <a:pt x="112514" y="131266"/>
                    </a:cubicBezTo>
                    <a:lnTo>
                      <a:pt x="101798" y="131266"/>
                    </a:lnTo>
                    <a:cubicBezTo>
                      <a:pt x="97345" y="131266"/>
                      <a:pt x="93762" y="127683"/>
                      <a:pt x="93762" y="123230"/>
                    </a:cubicBezTo>
                    <a:close/>
                    <a:moveTo>
                      <a:pt x="133945" y="123230"/>
                    </a:moveTo>
                    <a:cubicBezTo>
                      <a:pt x="133945" y="118776"/>
                      <a:pt x="137528" y="115193"/>
                      <a:pt x="141982" y="115193"/>
                    </a:cubicBezTo>
                    <a:lnTo>
                      <a:pt x="152698" y="115193"/>
                    </a:lnTo>
                    <a:cubicBezTo>
                      <a:pt x="157151" y="115193"/>
                      <a:pt x="160734" y="118776"/>
                      <a:pt x="160734" y="123230"/>
                    </a:cubicBezTo>
                    <a:cubicBezTo>
                      <a:pt x="160734" y="127683"/>
                      <a:pt x="157151" y="131266"/>
                      <a:pt x="152698" y="131266"/>
                    </a:cubicBezTo>
                    <a:lnTo>
                      <a:pt x="141982" y="131266"/>
                    </a:lnTo>
                    <a:cubicBezTo>
                      <a:pt x="137528" y="131266"/>
                      <a:pt x="133945" y="127683"/>
                      <a:pt x="133945" y="123230"/>
                    </a:cubicBezTo>
                    <a:close/>
                    <a:moveTo>
                      <a:pt x="75009" y="58936"/>
                    </a:moveTo>
                    <a:cubicBezTo>
                      <a:pt x="83881" y="58936"/>
                      <a:pt x="91083" y="66138"/>
                      <a:pt x="91083" y="75009"/>
                    </a:cubicBezTo>
                    <a:cubicBezTo>
                      <a:pt x="91083" y="83881"/>
                      <a:pt x="83881" y="91083"/>
                      <a:pt x="75009" y="91083"/>
                    </a:cubicBezTo>
                    <a:cubicBezTo>
                      <a:pt x="66138" y="91083"/>
                      <a:pt x="58936" y="83881"/>
                      <a:pt x="58936" y="75009"/>
                    </a:cubicBezTo>
                    <a:cubicBezTo>
                      <a:pt x="58936" y="66138"/>
                      <a:pt x="66138" y="58936"/>
                      <a:pt x="75009" y="58936"/>
                    </a:cubicBezTo>
                    <a:close/>
                    <a:moveTo>
                      <a:pt x="123230" y="75009"/>
                    </a:moveTo>
                    <a:cubicBezTo>
                      <a:pt x="123230" y="66138"/>
                      <a:pt x="130432" y="58936"/>
                      <a:pt x="139303" y="58936"/>
                    </a:cubicBezTo>
                    <a:cubicBezTo>
                      <a:pt x="148174" y="58936"/>
                      <a:pt x="155377" y="66138"/>
                      <a:pt x="155377" y="75009"/>
                    </a:cubicBezTo>
                    <a:cubicBezTo>
                      <a:pt x="155377" y="83881"/>
                      <a:pt x="148174" y="91083"/>
                      <a:pt x="139303" y="91083"/>
                    </a:cubicBezTo>
                    <a:cubicBezTo>
                      <a:pt x="130432" y="91083"/>
                      <a:pt x="123230" y="83881"/>
                      <a:pt x="123230" y="75009"/>
                    </a:cubicBezTo>
                    <a:close/>
                    <a:moveTo>
                      <a:pt x="21431" y="75009"/>
                    </a:moveTo>
                    <a:cubicBezTo>
                      <a:pt x="21431" y="69082"/>
                      <a:pt x="16643" y="64294"/>
                      <a:pt x="10716" y="64294"/>
                    </a:cubicBezTo>
                    <a:cubicBezTo>
                      <a:pt x="4789" y="64294"/>
                      <a:pt x="0" y="69082"/>
                      <a:pt x="0" y="75009"/>
                    </a:cubicBezTo>
                    <a:lnTo>
                      <a:pt x="0" y="107156"/>
                    </a:lnTo>
                    <a:cubicBezTo>
                      <a:pt x="0" y="113083"/>
                      <a:pt x="4789" y="117872"/>
                      <a:pt x="10716" y="117872"/>
                    </a:cubicBezTo>
                    <a:cubicBezTo>
                      <a:pt x="16643" y="117872"/>
                      <a:pt x="21431" y="113083"/>
                      <a:pt x="21431" y="107156"/>
                    </a:cubicBezTo>
                    <a:lnTo>
                      <a:pt x="21431" y="75009"/>
                    </a:lnTo>
                    <a:close/>
                    <a:moveTo>
                      <a:pt x="203597" y="64294"/>
                    </a:moveTo>
                    <a:cubicBezTo>
                      <a:pt x="197670" y="64294"/>
                      <a:pt x="192881" y="69082"/>
                      <a:pt x="192881" y="75009"/>
                    </a:cubicBezTo>
                    <a:lnTo>
                      <a:pt x="192881" y="107156"/>
                    </a:lnTo>
                    <a:cubicBezTo>
                      <a:pt x="192881" y="113083"/>
                      <a:pt x="197670" y="117872"/>
                      <a:pt x="203597" y="117872"/>
                    </a:cubicBezTo>
                    <a:cubicBezTo>
                      <a:pt x="209524" y="117872"/>
                      <a:pt x="214313" y="113083"/>
                      <a:pt x="214313" y="107156"/>
                    </a:cubicBezTo>
                    <a:lnTo>
                      <a:pt x="214313" y="75009"/>
                    </a:lnTo>
                    <a:cubicBezTo>
                      <a:pt x="214313" y="69082"/>
                      <a:pt x="209524" y="64294"/>
                      <a:pt x="203597" y="64294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75" name="Text 26">
                <a:extLst>
                  <a:ext uri="{FF2B5EF4-FFF2-40B4-BE49-F238E27FC236}">
                    <a16:creationId xmlns:a16="http://schemas.microsoft.com/office/drawing/2014/main" id="{1800A103-1137-4CA0-ABD8-B878A143D874}"/>
                  </a:ext>
                </a:extLst>
              </p:cNvPr>
              <p:cNvSpPr/>
              <p:nvPr/>
            </p:nvSpPr>
            <p:spPr>
              <a:xfrm>
                <a:off x="6972300" y="1485900"/>
                <a:ext cx="2562225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18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Зачем ИИ-помощник?</a:t>
                </a:r>
                <a:endParaRPr lang="en-US" sz="1600" dirty="0"/>
              </a:p>
            </p:txBody>
          </p:sp>
        </p:grpSp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C20B8808-BC1F-4774-8BA5-E822040F5245}"/>
                </a:ext>
              </a:extLst>
            </p:cNvPr>
            <p:cNvGrpSpPr/>
            <p:nvPr/>
          </p:nvGrpSpPr>
          <p:grpSpPr>
            <a:xfrm>
              <a:off x="6496050" y="2136787"/>
              <a:ext cx="5086350" cy="923048"/>
              <a:chOff x="6496050" y="2057400"/>
              <a:chExt cx="5086350" cy="923048"/>
            </a:xfrm>
          </p:grpSpPr>
          <p:sp>
            <p:nvSpPr>
              <p:cNvPr id="68" name="Shape 27">
                <a:extLst>
                  <a:ext uri="{FF2B5EF4-FFF2-40B4-BE49-F238E27FC236}">
                    <a16:creationId xmlns:a16="http://schemas.microsoft.com/office/drawing/2014/main" id="{698BA164-D514-4C51-A7D3-BE01043487BD}"/>
                  </a:ext>
                </a:extLst>
              </p:cNvPr>
              <p:cNvSpPr/>
              <p:nvPr/>
            </p:nvSpPr>
            <p:spPr>
              <a:xfrm>
                <a:off x="6496050" y="20574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69" name="Shape 28">
                <a:extLst>
                  <a:ext uri="{FF2B5EF4-FFF2-40B4-BE49-F238E27FC236}">
                    <a16:creationId xmlns:a16="http://schemas.microsoft.com/office/drawing/2014/main" id="{C5917D01-FCD4-42DB-9F7C-264FDA248415}"/>
                  </a:ext>
                </a:extLst>
              </p:cNvPr>
              <p:cNvSpPr/>
              <p:nvPr/>
            </p:nvSpPr>
            <p:spPr>
              <a:xfrm>
                <a:off x="6496050" y="20574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70" name="Shape 29">
                <a:extLst>
                  <a:ext uri="{FF2B5EF4-FFF2-40B4-BE49-F238E27FC236}">
                    <a16:creationId xmlns:a16="http://schemas.microsoft.com/office/drawing/2014/main" id="{57B0075A-92E7-43FB-8D39-99B8FD972BF9}"/>
                  </a:ext>
                </a:extLst>
              </p:cNvPr>
              <p:cNvSpPr/>
              <p:nvPr/>
            </p:nvSpPr>
            <p:spPr>
              <a:xfrm>
                <a:off x="6703219" y="22479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83344" y="23812"/>
                    </a:moveTo>
                    <a:cubicBezTo>
                      <a:pt x="53950" y="23812"/>
                      <a:pt x="29505" y="45132"/>
                      <a:pt x="24668" y="73186"/>
                    </a:cubicBezTo>
                    <a:cubicBezTo>
                      <a:pt x="28129" y="72070"/>
                      <a:pt x="31849" y="71438"/>
                      <a:pt x="35719" y="71438"/>
                    </a:cubicBezTo>
                    <a:lnTo>
                      <a:pt x="41672" y="71438"/>
                    </a:lnTo>
                    <a:cubicBezTo>
                      <a:pt x="51532" y="71438"/>
                      <a:pt x="59531" y="79437"/>
                      <a:pt x="59531" y="89297"/>
                    </a:cubicBezTo>
                    <a:lnTo>
                      <a:pt x="59531" y="125016"/>
                    </a:lnTo>
                    <a:cubicBezTo>
                      <a:pt x="59531" y="134875"/>
                      <a:pt x="51532" y="142875"/>
                      <a:pt x="41672" y="142875"/>
                    </a:cubicBezTo>
                    <a:lnTo>
                      <a:pt x="35719" y="142875"/>
                    </a:lnTo>
                    <a:cubicBezTo>
                      <a:pt x="15999" y="142875"/>
                      <a:pt x="0" y="126876"/>
                      <a:pt x="0" y="107156"/>
                    </a:cubicBezTo>
                    <a:lnTo>
                      <a:pt x="0" y="83344"/>
                    </a:lnTo>
                    <a:cubicBezTo>
                      <a:pt x="0" y="37319"/>
                      <a:pt x="37319" y="0"/>
                      <a:pt x="83344" y="0"/>
                    </a:cubicBezTo>
                    <a:cubicBezTo>
                      <a:pt x="129369" y="0"/>
                      <a:pt x="166688" y="37319"/>
                      <a:pt x="166688" y="83344"/>
                    </a:cubicBezTo>
                    <a:lnTo>
                      <a:pt x="166688" y="145889"/>
                    </a:lnTo>
                    <a:cubicBezTo>
                      <a:pt x="166688" y="170557"/>
                      <a:pt x="146670" y="190537"/>
                      <a:pt x="122002" y="190537"/>
                    </a:cubicBezTo>
                    <a:lnTo>
                      <a:pt x="89297" y="190500"/>
                    </a:lnTo>
                    <a:lnTo>
                      <a:pt x="77391" y="190500"/>
                    </a:lnTo>
                    <a:cubicBezTo>
                      <a:pt x="67531" y="190500"/>
                      <a:pt x="59531" y="182500"/>
                      <a:pt x="59531" y="172641"/>
                    </a:cubicBezTo>
                    <a:cubicBezTo>
                      <a:pt x="59531" y="162781"/>
                      <a:pt x="67531" y="154781"/>
                      <a:pt x="77391" y="154781"/>
                    </a:cubicBezTo>
                    <a:lnTo>
                      <a:pt x="89297" y="154781"/>
                    </a:lnTo>
                    <a:cubicBezTo>
                      <a:pt x="99157" y="154781"/>
                      <a:pt x="107156" y="162781"/>
                      <a:pt x="107156" y="172641"/>
                    </a:cubicBezTo>
                    <a:lnTo>
                      <a:pt x="107156" y="172641"/>
                    </a:lnTo>
                    <a:lnTo>
                      <a:pt x="122039" y="172641"/>
                    </a:lnTo>
                    <a:cubicBezTo>
                      <a:pt x="136847" y="172641"/>
                      <a:pt x="148828" y="160660"/>
                      <a:pt x="148828" y="145852"/>
                    </a:cubicBezTo>
                    <a:lnTo>
                      <a:pt x="148828" y="138075"/>
                    </a:lnTo>
                    <a:cubicBezTo>
                      <a:pt x="143582" y="141126"/>
                      <a:pt x="137480" y="142838"/>
                      <a:pt x="130969" y="142838"/>
                    </a:cubicBezTo>
                    <a:lnTo>
                      <a:pt x="125016" y="142838"/>
                    </a:lnTo>
                    <a:cubicBezTo>
                      <a:pt x="115156" y="142838"/>
                      <a:pt x="107156" y="134838"/>
                      <a:pt x="107156" y="124978"/>
                    </a:cubicBezTo>
                    <a:lnTo>
                      <a:pt x="107156" y="89260"/>
                    </a:lnTo>
                    <a:cubicBezTo>
                      <a:pt x="107156" y="79400"/>
                      <a:pt x="115156" y="71400"/>
                      <a:pt x="125016" y="71400"/>
                    </a:cubicBezTo>
                    <a:lnTo>
                      <a:pt x="130969" y="71400"/>
                    </a:lnTo>
                    <a:cubicBezTo>
                      <a:pt x="134838" y="71400"/>
                      <a:pt x="138522" y="71996"/>
                      <a:pt x="142019" y="73149"/>
                    </a:cubicBezTo>
                    <a:cubicBezTo>
                      <a:pt x="137182" y="45132"/>
                      <a:pt x="112775" y="23775"/>
                      <a:pt x="83344" y="2377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71" name="Text 30">
                <a:extLst>
                  <a:ext uri="{FF2B5EF4-FFF2-40B4-BE49-F238E27FC236}">
                    <a16:creationId xmlns:a16="http://schemas.microsoft.com/office/drawing/2014/main" id="{5F6E507C-41FE-4DC3-A762-0E84A9C4B02B}"/>
                  </a:ext>
                </a:extLst>
              </p:cNvPr>
              <p:cNvSpPr/>
              <p:nvPr/>
            </p:nvSpPr>
            <p:spPr>
              <a:xfrm>
                <a:off x="7019925" y="2209800"/>
                <a:ext cx="31051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Снижение нагрузки</a:t>
                </a:r>
                <a:endParaRPr lang="en-US" sz="2000" dirty="0"/>
              </a:p>
            </p:txBody>
          </p:sp>
          <p:sp>
            <p:nvSpPr>
              <p:cNvPr id="72" name="Text 31">
                <a:extLst>
                  <a:ext uri="{FF2B5EF4-FFF2-40B4-BE49-F238E27FC236}">
                    <a16:creationId xmlns:a16="http://schemas.microsoft.com/office/drawing/2014/main" id="{FCEF4F35-F511-45BB-94A6-B8E2AA5EE12E}"/>
                  </a:ext>
                </a:extLst>
              </p:cNvPr>
              <p:cNvSpPr/>
              <p:nvPr/>
            </p:nvSpPr>
            <p:spPr>
              <a:xfrm>
                <a:off x="7019924" y="2476500"/>
                <a:ext cx="4490085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Меньше обращений в службу поддержки</a:t>
                </a:r>
                <a:endParaRPr lang="en-US" sz="2000" dirty="0"/>
              </a:p>
            </p:txBody>
          </p:sp>
        </p:grp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3C6EAE0B-FF92-4717-BFA0-DF46052DDC0A}"/>
                </a:ext>
              </a:extLst>
            </p:cNvPr>
            <p:cNvGrpSpPr/>
            <p:nvPr/>
          </p:nvGrpSpPr>
          <p:grpSpPr>
            <a:xfrm>
              <a:off x="6496050" y="3288435"/>
              <a:ext cx="5086350" cy="923048"/>
              <a:chOff x="6496050" y="3009900"/>
              <a:chExt cx="5086350" cy="923048"/>
            </a:xfrm>
          </p:grpSpPr>
          <p:sp>
            <p:nvSpPr>
              <p:cNvPr id="63" name="Shape 32">
                <a:extLst>
                  <a:ext uri="{FF2B5EF4-FFF2-40B4-BE49-F238E27FC236}">
                    <a16:creationId xmlns:a16="http://schemas.microsoft.com/office/drawing/2014/main" id="{1E35808E-988D-44F4-A5D5-6260CF00D835}"/>
                  </a:ext>
                </a:extLst>
              </p:cNvPr>
              <p:cNvSpPr/>
              <p:nvPr/>
            </p:nvSpPr>
            <p:spPr>
              <a:xfrm>
                <a:off x="6496050" y="30099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sz="2400" dirty="0"/>
              </a:p>
            </p:txBody>
          </p:sp>
          <p:sp>
            <p:nvSpPr>
              <p:cNvPr id="64" name="Shape 33">
                <a:extLst>
                  <a:ext uri="{FF2B5EF4-FFF2-40B4-BE49-F238E27FC236}">
                    <a16:creationId xmlns:a16="http://schemas.microsoft.com/office/drawing/2014/main" id="{E9A19C17-9A57-48C8-84F2-CC3EF08970FD}"/>
                  </a:ext>
                </a:extLst>
              </p:cNvPr>
              <p:cNvSpPr/>
              <p:nvPr/>
            </p:nvSpPr>
            <p:spPr>
              <a:xfrm>
                <a:off x="6496050" y="30099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5" name="Shape 34">
                <a:extLst>
                  <a:ext uri="{FF2B5EF4-FFF2-40B4-BE49-F238E27FC236}">
                    <a16:creationId xmlns:a16="http://schemas.microsoft.com/office/drawing/2014/main" id="{F1F4A3BB-3B1C-41E4-AC40-CDB3B8F7F342}"/>
                  </a:ext>
                </a:extLst>
              </p:cNvPr>
              <p:cNvSpPr/>
              <p:nvPr/>
            </p:nvSpPr>
            <p:spPr>
              <a:xfrm>
                <a:off x="6691313" y="3200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107156" y="35719"/>
                    </a:moveTo>
                    <a:cubicBezTo>
                      <a:pt x="107156" y="29148"/>
                      <a:pt x="101821" y="23812"/>
                      <a:pt x="95250" y="23812"/>
                    </a:cubicBezTo>
                    <a:cubicBezTo>
                      <a:pt x="88679" y="23812"/>
                      <a:pt x="83344" y="29148"/>
                      <a:pt x="83344" y="35719"/>
                    </a:cubicBezTo>
                    <a:cubicBezTo>
                      <a:pt x="83344" y="42290"/>
                      <a:pt x="88679" y="47625"/>
                      <a:pt x="95250" y="47625"/>
                    </a:cubicBezTo>
                    <a:cubicBezTo>
                      <a:pt x="101821" y="47625"/>
                      <a:pt x="107156" y="42290"/>
                      <a:pt x="107156" y="35719"/>
                    </a:cubicBezTo>
                    <a:close/>
                    <a:moveTo>
                      <a:pt x="95250" y="154781"/>
                    </a:moveTo>
                    <a:cubicBezTo>
                      <a:pt x="108384" y="154781"/>
                      <a:pt x="119063" y="144103"/>
                      <a:pt x="119063" y="130969"/>
                    </a:cubicBezTo>
                    <a:cubicBezTo>
                      <a:pt x="119063" y="124941"/>
                      <a:pt x="116830" y="119397"/>
                      <a:pt x="113109" y="115230"/>
                    </a:cubicBezTo>
                    <a:lnTo>
                      <a:pt x="138968" y="63550"/>
                    </a:lnTo>
                    <a:cubicBezTo>
                      <a:pt x="141163" y="59122"/>
                      <a:pt x="139378" y="53764"/>
                      <a:pt x="134987" y="51569"/>
                    </a:cubicBezTo>
                    <a:cubicBezTo>
                      <a:pt x="130597" y="49374"/>
                      <a:pt x="125202" y="51160"/>
                      <a:pt x="123006" y="55550"/>
                    </a:cubicBezTo>
                    <a:lnTo>
                      <a:pt x="97148" y="107231"/>
                    </a:lnTo>
                    <a:cubicBezTo>
                      <a:pt x="96515" y="107193"/>
                      <a:pt x="95883" y="107156"/>
                      <a:pt x="95250" y="107156"/>
                    </a:cubicBezTo>
                    <a:cubicBezTo>
                      <a:pt x="82116" y="107156"/>
                      <a:pt x="71438" y="117835"/>
                      <a:pt x="71438" y="130969"/>
                    </a:cubicBezTo>
                    <a:cubicBezTo>
                      <a:pt x="71438" y="144103"/>
                      <a:pt x="82116" y="154781"/>
                      <a:pt x="95250" y="154781"/>
                    </a:cubicBezTo>
                    <a:close/>
                    <a:moveTo>
                      <a:pt x="65484" y="53578"/>
                    </a:moveTo>
                    <a:cubicBezTo>
                      <a:pt x="65484" y="47007"/>
                      <a:pt x="60149" y="41672"/>
                      <a:pt x="53578" y="41672"/>
                    </a:cubicBezTo>
                    <a:cubicBezTo>
                      <a:pt x="47007" y="41672"/>
                      <a:pt x="41672" y="47007"/>
                      <a:pt x="41672" y="53578"/>
                    </a:cubicBezTo>
                    <a:cubicBezTo>
                      <a:pt x="41672" y="60149"/>
                      <a:pt x="47007" y="65484"/>
                      <a:pt x="53578" y="65484"/>
                    </a:cubicBezTo>
                    <a:cubicBezTo>
                      <a:pt x="60149" y="65484"/>
                      <a:pt x="65484" y="60149"/>
                      <a:pt x="65484" y="53578"/>
                    </a:cubicBezTo>
                    <a:close/>
                    <a:moveTo>
                      <a:pt x="35719" y="107156"/>
                    </a:moveTo>
                    <a:cubicBezTo>
                      <a:pt x="42290" y="107156"/>
                      <a:pt x="47625" y="101821"/>
                      <a:pt x="47625" y="95250"/>
                    </a:cubicBezTo>
                    <a:cubicBezTo>
                      <a:pt x="47625" y="88679"/>
                      <a:pt x="42290" y="83344"/>
                      <a:pt x="35719" y="83344"/>
                    </a:cubicBezTo>
                    <a:cubicBezTo>
                      <a:pt x="29148" y="83344"/>
                      <a:pt x="23812" y="88679"/>
                      <a:pt x="23812" y="95250"/>
                    </a:cubicBezTo>
                    <a:cubicBezTo>
                      <a:pt x="23812" y="101821"/>
                      <a:pt x="29148" y="107156"/>
                      <a:pt x="35719" y="107156"/>
                    </a:cubicBezTo>
                    <a:close/>
                    <a:moveTo>
                      <a:pt x="166688" y="95250"/>
                    </a:moveTo>
                    <a:cubicBezTo>
                      <a:pt x="166688" y="88679"/>
                      <a:pt x="161352" y="83344"/>
                      <a:pt x="154781" y="83344"/>
                    </a:cubicBezTo>
                    <a:cubicBezTo>
                      <a:pt x="148210" y="83344"/>
                      <a:pt x="142875" y="88679"/>
                      <a:pt x="142875" y="95250"/>
                    </a:cubicBezTo>
                    <a:cubicBezTo>
                      <a:pt x="142875" y="101821"/>
                      <a:pt x="148210" y="107156"/>
                      <a:pt x="154781" y="107156"/>
                    </a:cubicBezTo>
                    <a:cubicBezTo>
                      <a:pt x="161352" y="107156"/>
                      <a:pt x="166688" y="101821"/>
                      <a:pt x="166688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6" name="Text 35">
                <a:extLst>
                  <a:ext uri="{FF2B5EF4-FFF2-40B4-BE49-F238E27FC236}">
                    <a16:creationId xmlns:a16="http://schemas.microsoft.com/office/drawing/2014/main" id="{6801DD74-11EA-4DF5-8D49-6B55840A7CDF}"/>
                  </a:ext>
                </a:extLst>
              </p:cNvPr>
              <p:cNvSpPr/>
              <p:nvPr/>
            </p:nvSpPr>
            <p:spPr>
              <a:xfrm>
                <a:off x="7019925" y="3162300"/>
                <a:ext cx="33147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Ускорение работы</a:t>
                </a:r>
                <a:endParaRPr lang="en-US" sz="2000" dirty="0"/>
              </a:p>
            </p:txBody>
          </p:sp>
          <p:sp>
            <p:nvSpPr>
              <p:cNvPr id="67" name="Text 36">
                <a:extLst>
                  <a:ext uri="{FF2B5EF4-FFF2-40B4-BE49-F238E27FC236}">
                    <a16:creationId xmlns:a16="http://schemas.microsoft.com/office/drawing/2014/main" id="{82D7DE5B-450D-4CC3-9DA7-FE16338F7475}"/>
                  </a:ext>
                </a:extLst>
              </p:cNvPr>
              <p:cNvSpPr/>
              <p:nvPr/>
            </p:nvSpPr>
            <p:spPr>
              <a:xfrm>
                <a:off x="7019925" y="3429000"/>
                <a:ext cx="4367162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Мгновенный доступ к данным и документам</a:t>
                </a:r>
                <a:endParaRPr lang="en-US" sz="2000" dirty="0"/>
              </a:p>
            </p:txBody>
          </p:sp>
        </p:grpSp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145AEF90-754C-4CF3-9FA2-D09CDC641900}"/>
                </a:ext>
              </a:extLst>
            </p:cNvPr>
            <p:cNvGrpSpPr/>
            <p:nvPr/>
          </p:nvGrpSpPr>
          <p:grpSpPr>
            <a:xfrm>
              <a:off x="6508762" y="4437701"/>
              <a:ext cx="5086350" cy="928975"/>
              <a:chOff x="6496050" y="3833525"/>
              <a:chExt cx="5086350" cy="928975"/>
            </a:xfrm>
          </p:grpSpPr>
          <p:sp>
            <p:nvSpPr>
              <p:cNvPr id="58" name="Shape 37">
                <a:extLst>
                  <a:ext uri="{FF2B5EF4-FFF2-40B4-BE49-F238E27FC236}">
                    <a16:creationId xmlns:a16="http://schemas.microsoft.com/office/drawing/2014/main" id="{2BF49B7C-47FA-4BFD-B409-F15435F0BC01}"/>
                  </a:ext>
                </a:extLst>
              </p:cNvPr>
              <p:cNvSpPr/>
              <p:nvPr/>
            </p:nvSpPr>
            <p:spPr>
              <a:xfrm>
                <a:off x="6496050" y="3833525"/>
                <a:ext cx="5086350" cy="928975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59" name="Shape 38">
                <a:extLst>
                  <a:ext uri="{FF2B5EF4-FFF2-40B4-BE49-F238E27FC236}">
                    <a16:creationId xmlns:a16="http://schemas.microsoft.com/office/drawing/2014/main" id="{7E4B9E3A-399B-4909-9D0D-5FE706CEBC11}"/>
                  </a:ext>
                </a:extLst>
              </p:cNvPr>
              <p:cNvSpPr/>
              <p:nvPr/>
            </p:nvSpPr>
            <p:spPr>
              <a:xfrm>
                <a:off x="6496050" y="3833525"/>
                <a:ext cx="38100" cy="9289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0" name="Shape 39">
                <a:extLst>
                  <a:ext uri="{FF2B5EF4-FFF2-40B4-BE49-F238E27FC236}">
                    <a16:creationId xmlns:a16="http://schemas.microsoft.com/office/drawing/2014/main" id="{36754668-F8EF-4955-B266-DDA64A0E37E9}"/>
                  </a:ext>
                </a:extLst>
              </p:cNvPr>
              <p:cNvSpPr/>
              <p:nvPr/>
            </p:nvSpPr>
            <p:spPr>
              <a:xfrm>
                <a:off x="6675449" y="4055528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50602" y="47625"/>
                    </a:moveTo>
                    <a:cubicBezTo>
                      <a:pt x="50602" y="22983"/>
                      <a:pt x="70608" y="2977"/>
                      <a:pt x="95250" y="2977"/>
                    </a:cubicBezTo>
                    <a:cubicBezTo>
                      <a:pt x="119892" y="2977"/>
                      <a:pt x="139898" y="22983"/>
                      <a:pt x="139898" y="47625"/>
                    </a:cubicBezTo>
                    <a:cubicBezTo>
                      <a:pt x="139898" y="72267"/>
                      <a:pt x="119892" y="92273"/>
                      <a:pt x="95250" y="92273"/>
                    </a:cubicBezTo>
                    <a:cubicBezTo>
                      <a:pt x="70608" y="92273"/>
                      <a:pt x="50602" y="72267"/>
                      <a:pt x="50602" y="47625"/>
                    </a:cubicBezTo>
                    <a:close/>
                    <a:moveTo>
                      <a:pt x="17859" y="179450"/>
                    </a:moveTo>
                    <a:cubicBezTo>
                      <a:pt x="17859" y="142801"/>
                      <a:pt x="47551" y="113109"/>
                      <a:pt x="84200" y="113109"/>
                    </a:cubicBezTo>
                    <a:lnTo>
                      <a:pt x="106300" y="113109"/>
                    </a:lnTo>
                    <a:cubicBezTo>
                      <a:pt x="142949" y="113109"/>
                      <a:pt x="172641" y="142801"/>
                      <a:pt x="172641" y="179450"/>
                    </a:cubicBezTo>
                    <a:cubicBezTo>
                      <a:pt x="172641" y="185551"/>
                      <a:pt x="167692" y="190500"/>
                      <a:pt x="161590" y="190500"/>
                    </a:cubicBezTo>
                    <a:lnTo>
                      <a:pt x="28910" y="190500"/>
                    </a:lnTo>
                    <a:cubicBezTo>
                      <a:pt x="22808" y="190500"/>
                      <a:pt x="17859" y="185551"/>
                      <a:pt x="17859" y="179450"/>
                    </a:cubicBezTo>
                    <a:close/>
                    <a:moveTo>
                      <a:pt x="202406" y="35719"/>
                    </a:moveTo>
                    <a:cubicBezTo>
                      <a:pt x="207355" y="35719"/>
                      <a:pt x="211336" y="39700"/>
                      <a:pt x="211336" y="44648"/>
                    </a:cubicBezTo>
                    <a:lnTo>
                      <a:pt x="211336" y="62508"/>
                    </a:lnTo>
                    <a:lnTo>
                      <a:pt x="229195" y="62508"/>
                    </a:lnTo>
                    <a:cubicBezTo>
                      <a:pt x="234144" y="62508"/>
                      <a:pt x="238125" y="66489"/>
                      <a:pt x="238125" y="71438"/>
                    </a:cubicBezTo>
                    <a:cubicBezTo>
                      <a:pt x="238125" y="76386"/>
                      <a:pt x="234144" y="80367"/>
                      <a:pt x="229195" y="80367"/>
                    </a:cubicBezTo>
                    <a:lnTo>
                      <a:pt x="211336" y="80367"/>
                    </a:lnTo>
                    <a:lnTo>
                      <a:pt x="211336" y="98227"/>
                    </a:lnTo>
                    <a:cubicBezTo>
                      <a:pt x="211336" y="103175"/>
                      <a:pt x="207355" y="107156"/>
                      <a:pt x="202406" y="107156"/>
                    </a:cubicBezTo>
                    <a:cubicBezTo>
                      <a:pt x="197458" y="107156"/>
                      <a:pt x="193477" y="103175"/>
                      <a:pt x="193477" y="98227"/>
                    </a:cubicBezTo>
                    <a:lnTo>
                      <a:pt x="193477" y="80367"/>
                    </a:lnTo>
                    <a:lnTo>
                      <a:pt x="175617" y="80367"/>
                    </a:lnTo>
                    <a:cubicBezTo>
                      <a:pt x="170669" y="80367"/>
                      <a:pt x="166688" y="76386"/>
                      <a:pt x="166688" y="71438"/>
                    </a:cubicBezTo>
                    <a:cubicBezTo>
                      <a:pt x="166688" y="66489"/>
                      <a:pt x="170669" y="62508"/>
                      <a:pt x="175617" y="62508"/>
                    </a:cubicBezTo>
                    <a:lnTo>
                      <a:pt x="193477" y="62508"/>
                    </a:lnTo>
                    <a:lnTo>
                      <a:pt x="193477" y="44648"/>
                    </a:lnTo>
                    <a:cubicBezTo>
                      <a:pt x="193477" y="39700"/>
                      <a:pt x="197458" y="35719"/>
                      <a:pt x="202406" y="35719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1" name="Text 40">
                <a:extLst>
                  <a:ext uri="{FF2B5EF4-FFF2-40B4-BE49-F238E27FC236}">
                    <a16:creationId xmlns:a16="http://schemas.microsoft.com/office/drawing/2014/main" id="{EDB328AA-0604-4269-A4D7-9233BA3F6DF2}"/>
                  </a:ext>
                </a:extLst>
              </p:cNvPr>
              <p:cNvSpPr/>
              <p:nvPr/>
            </p:nvSpPr>
            <p:spPr>
              <a:xfrm>
                <a:off x="7019925" y="4018550"/>
                <a:ext cx="28479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Быстрая адаптация</a:t>
                </a:r>
                <a:endParaRPr lang="en-US" sz="2000" dirty="0"/>
              </a:p>
            </p:txBody>
          </p:sp>
          <p:sp>
            <p:nvSpPr>
              <p:cNvPr id="62" name="Text 41">
                <a:extLst>
                  <a:ext uri="{FF2B5EF4-FFF2-40B4-BE49-F238E27FC236}">
                    <a16:creationId xmlns:a16="http://schemas.microsoft.com/office/drawing/2014/main" id="{825D2F61-7E3C-4731-9AE3-916EE133D617}"/>
                  </a:ext>
                </a:extLst>
              </p:cNvPr>
              <p:cNvSpPr/>
              <p:nvPr/>
            </p:nvSpPr>
            <p:spPr>
              <a:xfrm>
                <a:off x="7007213" y="4312592"/>
                <a:ext cx="4477372" cy="2431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Снижение порога входа для новичков</a:t>
                </a:r>
                <a:endParaRPr lang="en-US" sz="2000" dirty="0"/>
              </a:p>
            </p:txBody>
          </p:sp>
        </p:grpSp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AA2B23A-16D4-4573-B328-FE6E9ED67CFD}"/>
              </a:ext>
            </a:extLst>
          </p:cNvPr>
          <p:cNvGrpSpPr/>
          <p:nvPr/>
        </p:nvGrpSpPr>
        <p:grpSpPr>
          <a:xfrm>
            <a:off x="381000" y="-1473200"/>
            <a:ext cx="9744074" cy="533400"/>
            <a:chOff x="381000" y="381000"/>
            <a:chExt cx="9744074" cy="533400"/>
          </a:xfrm>
        </p:grpSpPr>
        <p:sp>
          <p:nvSpPr>
            <p:cNvPr id="77" name="Shape 0">
              <a:extLst>
                <a:ext uri="{FF2B5EF4-FFF2-40B4-BE49-F238E27FC236}">
                  <a16:creationId xmlns:a16="http://schemas.microsoft.com/office/drawing/2014/main" id="{7EB55AEE-5F20-4F5B-9178-8D6E5A5398C2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8" name="Shape 1">
              <a:extLst>
                <a:ext uri="{FF2B5EF4-FFF2-40B4-BE49-F238E27FC236}">
                  <a16:creationId xmlns:a16="http://schemas.microsoft.com/office/drawing/2014/main" id="{4B68E4D6-97CF-4C48-A65A-BABF0BB5FE84}"/>
                </a:ext>
              </a:extLst>
            </p:cNvPr>
            <p:cNvSpPr/>
            <p:nvPr/>
          </p:nvSpPr>
          <p:spPr>
            <a:xfrm>
              <a:off x="561975" y="5334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30775" y="171450"/>
                  </a:moveTo>
                  <a:cubicBezTo>
                    <a:pt x="134035" y="161493"/>
                    <a:pt x="140553" y="152474"/>
                    <a:pt x="147920" y="144706"/>
                  </a:cubicBezTo>
                  <a:cubicBezTo>
                    <a:pt x="162520" y="129347"/>
                    <a:pt x="171450" y="108585"/>
                    <a:pt x="171450" y="85725"/>
                  </a:cubicBezTo>
                  <a:cubicBezTo>
                    <a:pt x="171450" y="38398"/>
                    <a:pt x="133052" y="0"/>
                    <a:pt x="85725" y="0"/>
                  </a:cubicBezTo>
                  <a:cubicBezTo>
                    <a:pt x="38398" y="0"/>
                    <a:pt x="0" y="38398"/>
                    <a:pt x="0" y="85725"/>
                  </a:cubicBezTo>
                  <a:cubicBezTo>
                    <a:pt x="0" y="108585"/>
                    <a:pt x="8930" y="129347"/>
                    <a:pt x="23530" y="144706"/>
                  </a:cubicBezTo>
                  <a:cubicBezTo>
                    <a:pt x="30897" y="152474"/>
                    <a:pt x="37460" y="161493"/>
                    <a:pt x="40675" y="171450"/>
                  </a:cubicBezTo>
                  <a:lnTo>
                    <a:pt x="130731" y="171450"/>
                  </a:lnTo>
                  <a:close/>
                  <a:moveTo>
                    <a:pt x="128588" y="192881"/>
                  </a:moveTo>
                  <a:lnTo>
                    <a:pt x="42863" y="192881"/>
                  </a:lnTo>
                  <a:lnTo>
                    <a:pt x="42863" y="200025"/>
                  </a:lnTo>
                  <a:cubicBezTo>
                    <a:pt x="42863" y="219760"/>
                    <a:pt x="58847" y="235744"/>
                    <a:pt x="78581" y="235744"/>
                  </a:cubicBezTo>
                  <a:lnTo>
                    <a:pt x="92869" y="235744"/>
                  </a:lnTo>
                  <a:cubicBezTo>
                    <a:pt x="112603" y="235744"/>
                    <a:pt x="128588" y="219760"/>
                    <a:pt x="128588" y="200025"/>
                  </a:cubicBezTo>
                  <a:lnTo>
                    <a:pt x="128588" y="192881"/>
                  </a:lnTo>
                  <a:close/>
                  <a:moveTo>
                    <a:pt x="82153" y="50006"/>
                  </a:moveTo>
                  <a:cubicBezTo>
                    <a:pt x="64383" y="50006"/>
                    <a:pt x="50006" y="64383"/>
                    <a:pt x="50006" y="82153"/>
                  </a:cubicBezTo>
                  <a:cubicBezTo>
                    <a:pt x="50006" y="88091"/>
                    <a:pt x="45229" y="92869"/>
                    <a:pt x="39291" y="92869"/>
                  </a:cubicBezTo>
                  <a:cubicBezTo>
                    <a:pt x="33352" y="92869"/>
                    <a:pt x="28575" y="88091"/>
                    <a:pt x="28575" y="82153"/>
                  </a:cubicBezTo>
                  <a:cubicBezTo>
                    <a:pt x="28575" y="52551"/>
                    <a:pt x="52551" y="28575"/>
                    <a:pt x="82153" y="28575"/>
                  </a:cubicBezTo>
                  <a:cubicBezTo>
                    <a:pt x="88091" y="28575"/>
                    <a:pt x="92869" y="33352"/>
                    <a:pt x="92869" y="39291"/>
                  </a:cubicBezTo>
                  <a:cubicBezTo>
                    <a:pt x="92869" y="45229"/>
                    <a:pt x="88091" y="50006"/>
                    <a:pt x="82153" y="5000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79" name="Text 2">
              <a:extLst>
                <a:ext uri="{FF2B5EF4-FFF2-40B4-BE49-F238E27FC236}">
                  <a16:creationId xmlns:a16="http://schemas.microsoft.com/office/drawing/2014/main" id="{3C115F0F-9448-490B-841E-B393C2F0A027}"/>
                </a:ext>
              </a:extLst>
            </p:cNvPr>
            <p:cNvSpPr/>
            <p:nvPr/>
          </p:nvSpPr>
          <p:spPr>
            <a:xfrm>
              <a:off x="1066799" y="400050"/>
              <a:ext cx="90582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4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Актуальность проекта</a:t>
              </a:r>
              <a:endParaRPr lang="en-US" sz="2800" dirty="0"/>
            </a:p>
          </p:txBody>
        </p:sp>
        <p:sp>
          <p:nvSpPr>
            <p:cNvPr id="80" name="Shape 3">
              <a:extLst>
                <a:ext uri="{FF2B5EF4-FFF2-40B4-BE49-F238E27FC236}">
                  <a16:creationId xmlns:a16="http://schemas.microsoft.com/office/drawing/2014/main" id="{00AFE855-4959-46D5-AE77-E00F7524CBC5}"/>
                </a:ext>
              </a:extLst>
            </p:cNvPr>
            <p:cNvSpPr/>
            <p:nvPr/>
          </p:nvSpPr>
          <p:spPr>
            <a:xfrm>
              <a:off x="704849" y="866699"/>
              <a:ext cx="5857875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EF814B1D-6A06-4F74-9212-A9C123666EAA}"/>
              </a:ext>
            </a:extLst>
          </p:cNvPr>
          <p:cNvGrpSpPr/>
          <p:nvPr/>
        </p:nvGrpSpPr>
        <p:grpSpPr>
          <a:xfrm>
            <a:off x="-12014200" y="5765132"/>
            <a:ext cx="11426825" cy="952500"/>
            <a:chOff x="381000" y="5524500"/>
            <a:chExt cx="11426825" cy="952500"/>
          </a:xfrm>
        </p:grpSpPr>
        <p:sp>
          <p:nvSpPr>
            <p:cNvPr id="82" name="Shape 42">
              <a:extLst>
                <a:ext uri="{FF2B5EF4-FFF2-40B4-BE49-F238E27FC236}">
                  <a16:creationId xmlns:a16="http://schemas.microsoft.com/office/drawing/2014/main" id="{C3134E34-0BC7-4E06-BF72-1DD6330D9BC4}"/>
                </a:ext>
              </a:extLst>
            </p:cNvPr>
            <p:cNvSpPr/>
            <p:nvPr/>
          </p:nvSpPr>
          <p:spPr>
            <a:xfrm>
              <a:off x="3810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3" name="Text 43">
              <a:extLst>
                <a:ext uri="{FF2B5EF4-FFF2-40B4-BE49-F238E27FC236}">
                  <a16:creationId xmlns:a16="http://schemas.microsoft.com/office/drawing/2014/main" id="{FE263DD3-5D8E-4799-B1BD-A03C3C55B62B}"/>
                </a:ext>
              </a:extLst>
            </p:cNvPr>
            <p:cNvSpPr/>
            <p:nvPr/>
          </p:nvSpPr>
          <p:spPr>
            <a:xfrm>
              <a:off x="4476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40%</a:t>
              </a:r>
              <a:endParaRPr lang="en-US" sz="2400" b="1" dirty="0"/>
            </a:p>
          </p:txBody>
        </p:sp>
        <p:sp>
          <p:nvSpPr>
            <p:cNvPr id="84" name="Text 44">
              <a:extLst>
                <a:ext uri="{FF2B5EF4-FFF2-40B4-BE49-F238E27FC236}">
                  <a16:creationId xmlns:a16="http://schemas.microsoft.com/office/drawing/2014/main" id="{82750949-E8ED-4775-B3DE-1A2DCE8FD036}"/>
                </a:ext>
              </a:extLst>
            </p:cNvPr>
            <p:cNvSpPr/>
            <p:nvPr/>
          </p:nvSpPr>
          <p:spPr>
            <a:xfrm>
              <a:off x="4953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времени на рутину</a:t>
              </a:r>
              <a:endParaRPr lang="en-US" sz="2400" b="1" dirty="0"/>
            </a:p>
          </p:txBody>
        </p:sp>
        <p:sp>
          <p:nvSpPr>
            <p:cNvPr id="85" name="Shape 45">
              <a:extLst>
                <a:ext uri="{FF2B5EF4-FFF2-40B4-BE49-F238E27FC236}">
                  <a16:creationId xmlns:a16="http://schemas.microsoft.com/office/drawing/2014/main" id="{1AC726F6-DAA6-4ED2-A71C-8EFDE9B51FEB}"/>
                </a:ext>
              </a:extLst>
            </p:cNvPr>
            <p:cNvSpPr/>
            <p:nvPr/>
          </p:nvSpPr>
          <p:spPr>
            <a:xfrm>
              <a:off x="42418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6" name="Text 46">
              <a:extLst>
                <a:ext uri="{FF2B5EF4-FFF2-40B4-BE49-F238E27FC236}">
                  <a16:creationId xmlns:a16="http://schemas.microsoft.com/office/drawing/2014/main" id="{1428EF86-A9CC-46F3-B644-6D7593019D9D}"/>
                </a:ext>
              </a:extLst>
            </p:cNvPr>
            <p:cNvSpPr/>
            <p:nvPr/>
          </p:nvSpPr>
          <p:spPr>
            <a:xfrm>
              <a:off x="43084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2-3</a:t>
              </a:r>
              <a:endParaRPr lang="en-US" sz="2400" b="1" dirty="0"/>
            </a:p>
          </p:txBody>
        </p:sp>
        <p:sp>
          <p:nvSpPr>
            <p:cNvPr id="87" name="Text 47">
              <a:extLst>
                <a:ext uri="{FF2B5EF4-FFF2-40B4-BE49-F238E27FC236}">
                  <a16:creationId xmlns:a16="http://schemas.microsoft.com/office/drawing/2014/main" id="{FAD4817E-F8C2-4B3D-B7E8-61761BFACB03}"/>
                </a:ext>
              </a:extLst>
            </p:cNvPr>
            <p:cNvSpPr/>
            <p:nvPr/>
          </p:nvSpPr>
          <p:spPr>
            <a:xfrm>
              <a:off x="43561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недели обучения</a:t>
              </a:r>
              <a:endParaRPr lang="en-US" sz="2400" b="1" dirty="0"/>
            </a:p>
          </p:txBody>
        </p:sp>
        <p:sp>
          <p:nvSpPr>
            <p:cNvPr id="88" name="Shape 48">
              <a:extLst>
                <a:ext uri="{FF2B5EF4-FFF2-40B4-BE49-F238E27FC236}">
                  <a16:creationId xmlns:a16="http://schemas.microsoft.com/office/drawing/2014/main" id="{CFC7DD18-5183-4E03-8CA0-B5C14B3DF596}"/>
                </a:ext>
              </a:extLst>
            </p:cNvPr>
            <p:cNvSpPr/>
            <p:nvPr/>
          </p:nvSpPr>
          <p:spPr>
            <a:xfrm>
              <a:off x="81026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9" name="Text 49">
              <a:extLst>
                <a:ext uri="{FF2B5EF4-FFF2-40B4-BE49-F238E27FC236}">
                  <a16:creationId xmlns:a16="http://schemas.microsoft.com/office/drawing/2014/main" id="{1FE80633-94F4-44AD-A930-1AE60D51504D}"/>
                </a:ext>
              </a:extLst>
            </p:cNvPr>
            <p:cNvSpPr/>
            <p:nvPr/>
          </p:nvSpPr>
          <p:spPr>
            <a:xfrm>
              <a:off x="81692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50%</a:t>
              </a:r>
              <a:endParaRPr lang="en-US" sz="2400" b="1" dirty="0"/>
            </a:p>
          </p:txBody>
        </p:sp>
        <p:sp>
          <p:nvSpPr>
            <p:cNvPr id="90" name="Text 50">
              <a:extLst>
                <a:ext uri="{FF2B5EF4-FFF2-40B4-BE49-F238E27FC236}">
                  <a16:creationId xmlns:a16="http://schemas.microsoft.com/office/drawing/2014/main" id="{1C021237-5634-4FAC-85CB-D82250A1FAEB}"/>
                </a:ext>
              </a:extLst>
            </p:cNvPr>
            <p:cNvSpPr/>
            <p:nvPr/>
          </p:nvSpPr>
          <p:spPr>
            <a:xfrm>
              <a:off x="82169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обращений типовые</a:t>
              </a:r>
              <a:endParaRPr lang="en-US" sz="2400" b="1" dirty="0"/>
            </a:p>
          </p:txBody>
        </p:sp>
      </p:grpSp>
      <p:sp>
        <p:nvSpPr>
          <p:cNvPr id="91" name="Text 7">
            <a:extLst>
              <a:ext uri="{FF2B5EF4-FFF2-40B4-BE49-F238E27FC236}">
                <a16:creationId xmlns:a16="http://schemas.microsoft.com/office/drawing/2014/main" id="{58AA5217-271B-4ED0-879D-DCB914C2AC13}"/>
              </a:ext>
            </a:extLst>
          </p:cNvPr>
          <p:cNvSpPr/>
          <p:nvPr/>
        </p:nvSpPr>
        <p:spPr>
          <a:xfrm>
            <a:off x="11127263" y="-135493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2EA16DC7-51E2-47BD-8414-0393F06A4516}"/>
              </a:ext>
            </a:extLst>
          </p:cNvPr>
          <p:cNvGrpSpPr/>
          <p:nvPr/>
        </p:nvGrpSpPr>
        <p:grpSpPr>
          <a:xfrm>
            <a:off x="381000" y="381000"/>
            <a:ext cx="9744074" cy="533400"/>
            <a:chOff x="381000" y="381000"/>
            <a:chExt cx="9744074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61975" y="5334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30775" y="171450"/>
                  </a:moveTo>
                  <a:cubicBezTo>
                    <a:pt x="134035" y="161493"/>
                    <a:pt x="140553" y="152474"/>
                    <a:pt x="147920" y="144706"/>
                  </a:cubicBezTo>
                  <a:cubicBezTo>
                    <a:pt x="162520" y="129347"/>
                    <a:pt x="171450" y="108585"/>
                    <a:pt x="171450" y="85725"/>
                  </a:cubicBezTo>
                  <a:cubicBezTo>
                    <a:pt x="171450" y="38398"/>
                    <a:pt x="133052" y="0"/>
                    <a:pt x="85725" y="0"/>
                  </a:cubicBezTo>
                  <a:cubicBezTo>
                    <a:pt x="38398" y="0"/>
                    <a:pt x="0" y="38398"/>
                    <a:pt x="0" y="85725"/>
                  </a:cubicBezTo>
                  <a:cubicBezTo>
                    <a:pt x="0" y="108585"/>
                    <a:pt x="8930" y="129347"/>
                    <a:pt x="23530" y="144706"/>
                  </a:cubicBezTo>
                  <a:cubicBezTo>
                    <a:pt x="30897" y="152474"/>
                    <a:pt x="37460" y="161493"/>
                    <a:pt x="40675" y="171450"/>
                  </a:cubicBezTo>
                  <a:lnTo>
                    <a:pt x="130731" y="171450"/>
                  </a:lnTo>
                  <a:close/>
                  <a:moveTo>
                    <a:pt x="128588" y="192881"/>
                  </a:moveTo>
                  <a:lnTo>
                    <a:pt x="42863" y="192881"/>
                  </a:lnTo>
                  <a:lnTo>
                    <a:pt x="42863" y="200025"/>
                  </a:lnTo>
                  <a:cubicBezTo>
                    <a:pt x="42863" y="219760"/>
                    <a:pt x="58847" y="235744"/>
                    <a:pt x="78581" y="235744"/>
                  </a:cubicBezTo>
                  <a:lnTo>
                    <a:pt x="92869" y="235744"/>
                  </a:lnTo>
                  <a:cubicBezTo>
                    <a:pt x="112603" y="235744"/>
                    <a:pt x="128588" y="219760"/>
                    <a:pt x="128588" y="200025"/>
                  </a:cubicBezTo>
                  <a:lnTo>
                    <a:pt x="128588" y="192881"/>
                  </a:lnTo>
                  <a:close/>
                  <a:moveTo>
                    <a:pt x="82153" y="50006"/>
                  </a:moveTo>
                  <a:cubicBezTo>
                    <a:pt x="64383" y="50006"/>
                    <a:pt x="50006" y="64383"/>
                    <a:pt x="50006" y="82153"/>
                  </a:cubicBezTo>
                  <a:cubicBezTo>
                    <a:pt x="50006" y="88091"/>
                    <a:pt x="45229" y="92869"/>
                    <a:pt x="39291" y="92869"/>
                  </a:cubicBezTo>
                  <a:cubicBezTo>
                    <a:pt x="33352" y="92869"/>
                    <a:pt x="28575" y="88091"/>
                    <a:pt x="28575" y="82153"/>
                  </a:cubicBezTo>
                  <a:cubicBezTo>
                    <a:pt x="28575" y="52551"/>
                    <a:pt x="52551" y="28575"/>
                    <a:pt x="82153" y="28575"/>
                  </a:cubicBezTo>
                  <a:cubicBezTo>
                    <a:pt x="88091" y="28575"/>
                    <a:pt x="92869" y="33352"/>
                    <a:pt x="92869" y="39291"/>
                  </a:cubicBezTo>
                  <a:cubicBezTo>
                    <a:pt x="92869" y="45229"/>
                    <a:pt x="88091" y="50006"/>
                    <a:pt x="82153" y="5000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799" y="400050"/>
              <a:ext cx="90582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4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Актуальность проекта</a:t>
              </a:r>
              <a:endParaRPr lang="en-US" sz="28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04849" y="866699"/>
              <a:ext cx="5857875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62" name="Text 7">
            <a:extLst>
              <a:ext uri="{FF2B5EF4-FFF2-40B4-BE49-F238E27FC236}">
                <a16:creationId xmlns:a16="http://schemas.microsoft.com/office/drawing/2014/main" id="{3B37C7AA-668F-46AD-9D66-CE60E88D35B3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2</a:t>
            </a:r>
            <a:endParaRPr lang="en-US" sz="1600" dirty="0"/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E4511F21-1D51-4D91-9E17-CDAE1537C737}"/>
              </a:ext>
            </a:extLst>
          </p:cNvPr>
          <p:cNvSpPr/>
          <p:nvPr/>
        </p:nvSpPr>
        <p:spPr>
          <a:xfrm>
            <a:off x="433387" y="-2095540"/>
            <a:ext cx="11430000" cy="1457325"/>
          </a:xfrm>
          <a:custGeom>
            <a:avLst/>
            <a:gdLst/>
            <a:ahLst/>
            <a:cxnLst/>
            <a:rect l="l" t="t" r="r" b="b"/>
            <a:pathLst>
              <a:path w="11430000" h="1457325">
                <a:moveTo>
                  <a:pt x="152407" y="0"/>
                </a:moveTo>
                <a:lnTo>
                  <a:pt x="11277593" y="0"/>
                </a:lnTo>
                <a:cubicBezTo>
                  <a:pt x="11361765" y="0"/>
                  <a:pt x="11430000" y="68235"/>
                  <a:pt x="11430000" y="152407"/>
                </a:cubicBezTo>
                <a:lnTo>
                  <a:pt x="11430000" y="1304918"/>
                </a:lnTo>
                <a:cubicBezTo>
                  <a:pt x="11430000" y="1389090"/>
                  <a:pt x="11361765" y="1457325"/>
                  <a:pt x="11277593" y="1457325"/>
                </a:cubicBezTo>
                <a:lnTo>
                  <a:pt x="152407" y="1457325"/>
                </a:lnTo>
                <a:cubicBezTo>
                  <a:pt x="68235" y="1457325"/>
                  <a:pt x="0" y="1389090"/>
                  <a:pt x="0" y="13049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700"/>
              </a:gs>
              <a:gs pos="100000">
                <a:srgbClr val="FF6B35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 anchor="b"/>
          <a:lstStyle/>
          <a:p>
            <a:pPr algn="ctr"/>
            <a:r>
              <a:rPr lang="ru-RU" dirty="0"/>
              <a:t>МИНИСТЕРСТВО НАУКИ И ВЫСШЕГО ОБРАЗОВАНИЯ РОССИЙСКОЙ ФЕДЕРАЦИИ МЦЕНСКИЙ ФИЛИАЛ ФЕДЕРАЛЬНОГО ГОСУДАРСТВЕННОГО БЮДЖЕТНОГО ОБРАЗОВАТЕЛЬНОГО УЧРЕЖДЕНИЯ ВЫСШЕГО ОБРАЗОВАНИЯ</a:t>
            </a:r>
          </a:p>
          <a:p>
            <a:pPr algn="ctr"/>
            <a:r>
              <a:rPr lang="ru-RU" dirty="0"/>
              <a:t>«ОРЛОВСКИЙ ГОСУДАРСТВЕННЫЙ УНИВЕРСИТЕТ имени И.С. ТУРГЕНЕВА</a:t>
            </a: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585ACEF7-9DF9-4B70-9341-05B647C0AECB}"/>
              </a:ext>
            </a:extLst>
          </p:cNvPr>
          <p:cNvGrpSpPr/>
          <p:nvPr/>
        </p:nvGrpSpPr>
        <p:grpSpPr>
          <a:xfrm>
            <a:off x="-12141200" y="1945104"/>
            <a:ext cx="11482387" cy="2236115"/>
            <a:chOff x="381000" y="1945104"/>
            <a:chExt cx="11482387" cy="2236115"/>
          </a:xfrm>
        </p:grpSpPr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73A156FE-A52F-4815-842C-D92C92E41E58}"/>
                </a:ext>
              </a:extLst>
            </p:cNvPr>
            <p:cNvGrpSpPr/>
            <p:nvPr/>
          </p:nvGrpSpPr>
          <p:grpSpPr>
            <a:xfrm>
              <a:off x="381000" y="1945104"/>
              <a:ext cx="2628900" cy="495300"/>
              <a:chOff x="381000" y="1945104"/>
              <a:chExt cx="2628900" cy="495300"/>
            </a:xfrm>
          </p:grpSpPr>
          <p:sp>
            <p:nvSpPr>
              <p:cNvPr id="68" name="Shape 1">
                <a:extLst>
                  <a:ext uri="{FF2B5EF4-FFF2-40B4-BE49-F238E27FC236}">
                    <a16:creationId xmlns:a16="http://schemas.microsoft.com/office/drawing/2014/main" id="{C1903E16-6E13-48D5-9203-995A518F44A4}"/>
                  </a:ext>
                </a:extLst>
              </p:cNvPr>
              <p:cNvSpPr/>
              <p:nvPr/>
            </p:nvSpPr>
            <p:spPr>
              <a:xfrm>
                <a:off x="381000" y="1945104"/>
                <a:ext cx="26289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495300">
                    <a:moveTo>
                      <a:pt x="76202" y="0"/>
                    </a:moveTo>
                    <a:lnTo>
                      <a:pt x="2552698" y="0"/>
                    </a:lnTo>
                    <a:cubicBezTo>
                      <a:pt x="2594783" y="0"/>
                      <a:pt x="2628900" y="34117"/>
                      <a:pt x="2628900" y="76202"/>
                    </a:cubicBezTo>
                    <a:lnTo>
                      <a:pt x="2628900" y="419098"/>
                    </a:lnTo>
                    <a:cubicBezTo>
                      <a:pt x="2628900" y="461183"/>
                      <a:pt x="2594783" y="495300"/>
                      <a:pt x="2552698" y="495300"/>
                    </a:cubicBezTo>
                    <a:lnTo>
                      <a:pt x="76202" y="495300"/>
                    </a:lnTo>
                    <a:cubicBezTo>
                      <a:pt x="34117" y="495300"/>
                      <a:pt x="0" y="461183"/>
                      <a:pt x="0" y="419098"/>
                    </a:cubicBezTo>
                    <a:lnTo>
                      <a:pt x="0" y="76202"/>
                    </a:lnTo>
                    <a:cubicBezTo>
                      <a:pt x="0" y="34117"/>
                      <a:pt x="34117" y="0"/>
                      <a:pt x="76202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69" name="Text 2">
                <a:extLst>
                  <a:ext uri="{FF2B5EF4-FFF2-40B4-BE49-F238E27FC236}">
                    <a16:creationId xmlns:a16="http://schemas.microsoft.com/office/drawing/2014/main" id="{384B0B41-EF33-458F-AEF1-FA09AA475EB8}"/>
                  </a:ext>
                </a:extLst>
              </p:cNvPr>
              <p:cNvSpPr/>
              <p:nvPr/>
            </p:nvSpPr>
            <p:spPr>
              <a:xfrm>
                <a:off x="609600" y="2097504"/>
                <a:ext cx="2270919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5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ДИПЛОМНЫЙ ПРОЕКТ</a:t>
                </a:r>
                <a:endParaRPr lang="en-US" sz="1600" dirty="0"/>
              </a:p>
            </p:txBody>
          </p:sp>
        </p:grpSp>
        <p:sp>
          <p:nvSpPr>
            <p:cNvPr id="67" name="Text 7">
              <a:extLst>
                <a:ext uri="{FF2B5EF4-FFF2-40B4-BE49-F238E27FC236}">
                  <a16:creationId xmlns:a16="http://schemas.microsoft.com/office/drawing/2014/main" id="{53E4D09D-2BF3-490F-9639-2D7BA6E869CD}"/>
                </a:ext>
              </a:extLst>
            </p:cNvPr>
            <p:cNvSpPr/>
            <p:nvPr/>
          </p:nvSpPr>
          <p:spPr>
            <a:xfrm>
              <a:off x="438150" y="2578517"/>
              <a:ext cx="11425237" cy="1602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4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Разработка интеллектуального ассистента</a:t>
              </a:r>
              <a:endParaRPr lang="en-US" dirty="0"/>
            </a:p>
            <a:p>
              <a:pPr>
                <a:lnSpc>
                  <a:spcPct val="100000"/>
                </a:lnSpc>
              </a:pPr>
              <a:r>
                <a:rPr lang="en-US" sz="4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для поддержки бухгалтера и менеджера</a:t>
              </a:r>
              <a:endParaRPr lang="en-US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AC8F97B2-FC31-40B5-9199-088720ABEA88}"/>
              </a:ext>
            </a:extLst>
          </p:cNvPr>
          <p:cNvGrpSpPr/>
          <p:nvPr/>
        </p:nvGrpSpPr>
        <p:grpSpPr>
          <a:xfrm>
            <a:off x="-18237201" y="4600319"/>
            <a:ext cx="8498305" cy="643194"/>
            <a:chOff x="380999" y="4600319"/>
            <a:chExt cx="8498305" cy="643194"/>
          </a:xfrm>
        </p:grpSpPr>
        <p:sp>
          <p:nvSpPr>
            <p:cNvPr id="71" name="Shape 8">
              <a:extLst>
                <a:ext uri="{FF2B5EF4-FFF2-40B4-BE49-F238E27FC236}">
                  <a16:creationId xmlns:a16="http://schemas.microsoft.com/office/drawing/2014/main" id="{680ABA67-E193-45FF-BC40-488F83E703A7}"/>
                </a:ext>
              </a:extLst>
            </p:cNvPr>
            <p:cNvSpPr/>
            <p:nvPr/>
          </p:nvSpPr>
          <p:spPr>
            <a:xfrm>
              <a:off x="381000" y="4600319"/>
              <a:ext cx="1219200" cy="38100"/>
            </a:xfrm>
            <a:custGeom>
              <a:avLst/>
              <a:gdLst/>
              <a:ahLst/>
              <a:cxnLst/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72" name="Text 9">
              <a:extLst>
                <a:ext uri="{FF2B5EF4-FFF2-40B4-BE49-F238E27FC236}">
                  <a16:creationId xmlns:a16="http://schemas.microsoft.com/office/drawing/2014/main" id="{218CE73C-09A2-4399-885D-C7CEF1C2B9E3}"/>
                </a:ext>
              </a:extLst>
            </p:cNvPr>
            <p:cNvSpPr/>
            <p:nvPr/>
          </p:nvSpPr>
          <p:spPr>
            <a:xfrm>
              <a:off x="380999" y="4686301"/>
              <a:ext cx="8498305" cy="557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Интеграция больших языковых моделей в корпоративную экосистему 1С</a:t>
              </a:r>
              <a:endParaRPr lang="en-US" sz="1600" dirty="0"/>
            </a:p>
            <a:p>
              <a:r>
                <a:rPr lang="en-US" sz="18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для повышения эффективности бизнес-процессов</a:t>
              </a:r>
              <a:endParaRPr lang="en-US" sz="1600" dirty="0"/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462D3547-EB00-45AC-AEFD-CBF1A7FD3421}"/>
              </a:ext>
            </a:extLst>
          </p:cNvPr>
          <p:cNvGrpSpPr/>
          <p:nvPr/>
        </p:nvGrpSpPr>
        <p:grpSpPr>
          <a:xfrm>
            <a:off x="400050" y="7099300"/>
            <a:ext cx="3638550" cy="876300"/>
            <a:chOff x="400050" y="5600700"/>
            <a:chExt cx="3638550" cy="876300"/>
          </a:xfrm>
        </p:grpSpPr>
        <p:sp>
          <p:nvSpPr>
            <p:cNvPr id="74" name="Shape 10">
              <a:extLst>
                <a:ext uri="{FF2B5EF4-FFF2-40B4-BE49-F238E27FC236}">
                  <a16:creationId xmlns:a16="http://schemas.microsoft.com/office/drawing/2014/main" id="{800D1A1C-33F5-4DC3-ABE6-02AA90D5ECCF}"/>
                </a:ext>
              </a:extLst>
            </p:cNvPr>
            <p:cNvSpPr/>
            <p:nvPr/>
          </p:nvSpPr>
          <p:spPr>
            <a:xfrm>
              <a:off x="400050" y="5600700"/>
              <a:ext cx="3638550" cy="876300"/>
            </a:xfrm>
            <a:custGeom>
              <a:avLst/>
              <a:gdLst/>
              <a:ahLst/>
              <a:cxnLst/>
              <a:rect l="l" t="t" r="r" b="b"/>
              <a:pathLst>
                <a:path w="3638550" h="876300">
                  <a:moveTo>
                    <a:pt x="38100" y="0"/>
                  </a:moveTo>
                  <a:lnTo>
                    <a:pt x="3524254" y="0"/>
                  </a:lnTo>
                  <a:cubicBezTo>
                    <a:pt x="3587378" y="0"/>
                    <a:pt x="3638550" y="51172"/>
                    <a:pt x="3638550" y="114296"/>
                  </a:cubicBezTo>
                  <a:lnTo>
                    <a:pt x="3638550" y="762004"/>
                  </a:lnTo>
                  <a:cubicBezTo>
                    <a:pt x="3638550" y="825128"/>
                    <a:pt x="3587378" y="876300"/>
                    <a:pt x="3524254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5" name="Shape 11">
              <a:extLst>
                <a:ext uri="{FF2B5EF4-FFF2-40B4-BE49-F238E27FC236}">
                  <a16:creationId xmlns:a16="http://schemas.microsoft.com/office/drawing/2014/main" id="{8D4CED92-2772-449C-8061-9B8371991F3D}"/>
                </a:ext>
              </a:extLst>
            </p:cNvPr>
            <p:cNvSpPr/>
            <p:nvPr/>
          </p:nvSpPr>
          <p:spPr>
            <a:xfrm>
              <a:off x="400050" y="5600700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76" name="Text 12">
              <a:extLst>
                <a:ext uri="{FF2B5EF4-FFF2-40B4-BE49-F238E27FC236}">
                  <a16:creationId xmlns:a16="http://schemas.microsoft.com/office/drawing/2014/main" id="{04870DD2-E558-4343-8E16-A1B867C034CA}"/>
                </a:ext>
              </a:extLst>
            </p:cNvPr>
            <p:cNvSpPr/>
            <p:nvPr/>
          </p:nvSpPr>
          <p:spPr>
            <a:xfrm>
              <a:off x="609600" y="5791200"/>
              <a:ext cx="3305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Студент</a:t>
              </a:r>
              <a:endParaRPr lang="en-US" sz="2400" dirty="0"/>
            </a:p>
          </p:txBody>
        </p:sp>
        <p:sp>
          <p:nvSpPr>
            <p:cNvPr id="77" name="Text 13">
              <a:extLst>
                <a:ext uri="{FF2B5EF4-FFF2-40B4-BE49-F238E27FC236}">
                  <a16:creationId xmlns:a16="http://schemas.microsoft.com/office/drawing/2014/main" id="{55D3822D-4B4D-486A-B910-8D0F0F67F2F6}"/>
                </a:ext>
              </a:extLst>
            </p:cNvPr>
            <p:cNvSpPr/>
            <p:nvPr/>
          </p:nvSpPr>
          <p:spPr>
            <a:xfrm>
              <a:off x="609600" y="6019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ru-RU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Кобзарев Андрей Андреевич</a:t>
              </a:r>
              <a:endParaRPr lang="en-US" sz="24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74795CD4-13AF-4DD9-B085-5D4C13AB70FC}"/>
              </a:ext>
            </a:extLst>
          </p:cNvPr>
          <p:cNvGrpSpPr/>
          <p:nvPr/>
        </p:nvGrpSpPr>
        <p:grpSpPr>
          <a:xfrm>
            <a:off x="4286250" y="9740900"/>
            <a:ext cx="3638550" cy="876300"/>
            <a:chOff x="4286250" y="5600700"/>
            <a:chExt cx="3638550" cy="876300"/>
          </a:xfrm>
        </p:grpSpPr>
        <p:sp>
          <p:nvSpPr>
            <p:cNvPr id="79" name="Shape 14">
              <a:extLst>
                <a:ext uri="{FF2B5EF4-FFF2-40B4-BE49-F238E27FC236}">
                  <a16:creationId xmlns:a16="http://schemas.microsoft.com/office/drawing/2014/main" id="{30169AB8-BC91-4807-83F2-A3916CC31C56}"/>
                </a:ext>
              </a:extLst>
            </p:cNvPr>
            <p:cNvSpPr/>
            <p:nvPr/>
          </p:nvSpPr>
          <p:spPr>
            <a:xfrm>
              <a:off x="4286250" y="5600700"/>
              <a:ext cx="3638550" cy="876300"/>
            </a:xfrm>
            <a:custGeom>
              <a:avLst/>
              <a:gdLst/>
              <a:ahLst/>
              <a:cxnLst/>
              <a:rect l="l" t="t" r="r" b="b"/>
              <a:pathLst>
                <a:path w="3638550" h="876300">
                  <a:moveTo>
                    <a:pt x="38100" y="0"/>
                  </a:moveTo>
                  <a:lnTo>
                    <a:pt x="3524254" y="0"/>
                  </a:lnTo>
                  <a:cubicBezTo>
                    <a:pt x="3587378" y="0"/>
                    <a:pt x="3638550" y="51172"/>
                    <a:pt x="3638550" y="114296"/>
                  </a:cubicBezTo>
                  <a:lnTo>
                    <a:pt x="3638550" y="762004"/>
                  </a:lnTo>
                  <a:cubicBezTo>
                    <a:pt x="3638550" y="825128"/>
                    <a:pt x="3587378" y="876300"/>
                    <a:pt x="3524254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1" name="Shape 15">
              <a:extLst>
                <a:ext uri="{FF2B5EF4-FFF2-40B4-BE49-F238E27FC236}">
                  <a16:creationId xmlns:a16="http://schemas.microsoft.com/office/drawing/2014/main" id="{FDEF4D69-32EE-470D-9756-DCEDDA9F7AAD}"/>
                </a:ext>
              </a:extLst>
            </p:cNvPr>
            <p:cNvSpPr/>
            <p:nvPr/>
          </p:nvSpPr>
          <p:spPr>
            <a:xfrm>
              <a:off x="4286250" y="5600700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2" name="Text 16">
              <a:extLst>
                <a:ext uri="{FF2B5EF4-FFF2-40B4-BE49-F238E27FC236}">
                  <a16:creationId xmlns:a16="http://schemas.microsoft.com/office/drawing/2014/main" id="{83E1981B-5881-4E9D-85E5-97D29CEA08F0}"/>
                </a:ext>
              </a:extLst>
            </p:cNvPr>
            <p:cNvSpPr/>
            <p:nvPr/>
          </p:nvSpPr>
          <p:spPr>
            <a:xfrm>
              <a:off x="4495800" y="5791200"/>
              <a:ext cx="3305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Руководитель</a:t>
              </a:r>
              <a:endParaRPr lang="en-US" sz="2400" dirty="0"/>
            </a:p>
          </p:txBody>
        </p:sp>
        <p:sp>
          <p:nvSpPr>
            <p:cNvPr id="83" name="Text 17">
              <a:extLst>
                <a:ext uri="{FF2B5EF4-FFF2-40B4-BE49-F238E27FC236}">
                  <a16:creationId xmlns:a16="http://schemas.microsoft.com/office/drawing/2014/main" id="{D82DE198-02A1-4317-8449-B0F82DEBE220}"/>
                </a:ext>
              </a:extLst>
            </p:cNvPr>
            <p:cNvSpPr/>
            <p:nvPr/>
          </p:nvSpPr>
          <p:spPr>
            <a:xfrm>
              <a:off x="4495800" y="6019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ru-RU" b="1" dirty="0">
                  <a:solidFill>
                    <a:srgbClr val="1A1A1A"/>
                  </a:solidFill>
                  <a:ea typeface="Alimama ShuHeiTi" pitchFamily="34" charset="-122"/>
                </a:rPr>
                <a:t>Мозгунова Нелли Николаевна</a:t>
              </a:r>
              <a:endParaRPr lang="en-US" sz="2400" dirty="0"/>
            </a:p>
          </p:txBody>
        </p: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C178976F-3A6C-4DCE-874C-D9EBD2CF3A3D}"/>
              </a:ext>
            </a:extLst>
          </p:cNvPr>
          <p:cNvGrpSpPr/>
          <p:nvPr/>
        </p:nvGrpSpPr>
        <p:grpSpPr>
          <a:xfrm>
            <a:off x="8172450" y="12280900"/>
            <a:ext cx="3638550" cy="876300"/>
            <a:chOff x="8172450" y="5600700"/>
            <a:chExt cx="3638550" cy="876300"/>
          </a:xfrm>
        </p:grpSpPr>
        <p:sp>
          <p:nvSpPr>
            <p:cNvPr id="85" name="Shape 18">
              <a:extLst>
                <a:ext uri="{FF2B5EF4-FFF2-40B4-BE49-F238E27FC236}">
                  <a16:creationId xmlns:a16="http://schemas.microsoft.com/office/drawing/2014/main" id="{46667D49-E9FE-4B01-A042-CEEC732393F5}"/>
                </a:ext>
              </a:extLst>
            </p:cNvPr>
            <p:cNvSpPr/>
            <p:nvPr/>
          </p:nvSpPr>
          <p:spPr>
            <a:xfrm>
              <a:off x="8172450" y="5600700"/>
              <a:ext cx="3638550" cy="876300"/>
            </a:xfrm>
            <a:custGeom>
              <a:avLst/>
              <a:gdLst/>
              <a:ahLst/>
              <a:cxnLst/>
              <a:rect l="l" t="t" r="r" b="b"/>
              <a:pathLst>
                <a:path w="3638550" h="876300">
                  <a:moveTo>
                    <a:pt x="38100" y="0"/>
                  </a:moveTo>
                  <a:lnTo>
                    <a:pt x="3524254" y="0"/>
                  </a:lnTo>
                  <a:cubicBezTo>
                    <a:pt x="3587378" y="0"/>
                    <a:pt x="3638550" y="51172"/>
                    <a:pt x="3638550" y="114296"/>
                  </a:cubicBezTo>
                  <a:lnTo>
                    <a:pt x="3638550" y="762004"/>
                  </a:lnTo>
                  <a:cubicBezTo>
                    <a:pt x="3638550" y="825128"/>
                    <a:pt x="3587378" y="876300"/>
                    <a:pt x="3524254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6" name="Shape 19">
              <a:extLst>
                <a:ext uri="{FF2B5EF4-FFF2-40B4-BE49-F238E27FC236}">
                  <a16:creationId xmlns:a16="http://schemas.microsoft.com/office/drawing/2014/main" id="{70A5356E-527E-461B-8C45-3AEFD3314AC5}"/>
                </a:ext>
              </a:extLst>
            </p:cNvPr>
            <p:cNvSpPr/>
            <p:nvPr/>
          </p:nvSpPr>
          <p:spPr>
            <a:xfrm>
              <a:off x="8172450" y="5600700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7" name="Text 20">
              <a:extLst>
                <a:ext uri="{FF2B5EF4-FFF2-40B4-BE49-F238E27FC236}">
                  <a16:creationId xmlns:a16="http://schemas.microsoft.com/office/drawing/2014/main" id="{2FB93E1E-E6C1-4AD0-AE7A-14FE48A025FC}"/>
                </a:ext>
              </a:extLst>
            </p:cNvPr>
            <p:cNvSpPr/>
            <p:nvPr/>
          </p:nvSpPr>
          <p:spPr>
            <a:xfrm>
              <a:off x="8382000" y="5791200"/>
              <a:ext cx="33051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Год защиты</a:t>
              </a:r>
              <a:endParaRPr lang="en-US" sz="2400" dirty="0"/>
            </a:p>
          </p:txBody>
        </p:sp>
        <p:sp>
          <p:nvSpPr>
            <p:cNvPr id="88" name="Text 21">
              <a:extLst>
                <a:ext uri="{FF2B5EF4-FFF2-40B4-BE49-F238E27FC236}">
                  <a16:creationId xmlns:a16="http://schemas.microsoft.com/office/drawing/2014/main" id="{0C402373-3AE7-47B6-B3D9-E3A70870664D}"/>
                </a:ext>
              </a:extLst>
            </p:cNvPr>
            <p:cNvSpPr/>
            <p:nvPr/>
          </p:nvSpPr>
          <p:spPr>
            <a:xfrm>
              <a:off x="8382000" y="6019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2026</a:t>
              </a:r>
              <a:endParaRPr lang="en-US" sz="2400" dirty="0"/>
            </a:p>
          </p:txBody>
        </p: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E54A0272-1C50-42B3-8F2E-D4D30FC58561}"/>
              </a:ext>
            </a:extLst>
          </p:cNvPr>
          <p:cNvGrpSpPr/>
          <p:nvPr/>
        </p:nvGrpSpPr>
        <p:grpSpPr>
          <a:xfrm>
            <a:off x="381000" y="1219200"/>
            <a:ext cx="5562600" cy="4393532"/>
            <a:chOff x="381000" y="1219200"/>
            <a:chExt cx="5562600" cy="4393532"/>
          </a:xfrm>
        </p:grpSpPr>
        <p:sp>
          <p:nvSpPr>
            <p:cNvPr id="6" name="Shape 4"/>
            <p:cNvSpPr/>
            <p:nvPr/>
          </p:nvSpPr>
          <p:spPr>
            <a:xfrm>
              <a:off x="381000" y="1219200"/>
              <a:ext cx="5562600" cy="4393532"/>
            </a:xfrm>
            <a:custGeom>
              <a:avLst/>
              <a:gdLst/>
              <a:ahLst/>
              <a:cxnLst/>
              <a:rect l="l" t="t" r="r" b="b"/>
              <a:pathLst>
                <a:path w="5562600" h="4076700">
                  <a:moveTo>
                    <a:pt x="152387" y="0"/>
                  </a:moveTo>
                  <a:lnTo>
                    <a:pt x="5410213" y="0"/>
                  </a:lnTo>
                  <a:cubicBezTo>
                    <a:pt x="5494374" y="0"/>
                    <a:pt x="5562600" y="68226"/>
                    <a:pt x="5562600" y="152387"/>
                  </a:cubicBezTo>
                  <a:lnTo>
                    <a:pt x="5562600" y="3924313"/>
                  </a:lnTo>
                  <a:cubicBezTo>
                    <a:pt x="5562600" y="4008474"/>
                    <a:pt x="5494374" y="4076700"/>
                    <a:pt x="5410213" y="4076700"/>
                  </a:cubicBezTo>
                  <a:lnTo>
                    <a:pt x="152387" y="4076700"/>
                  </a:lnTo>
                  <a:cubicBezTo>
                    <a:pt x="68226" y="4076700"/>
                    <a:pt x="0" y="4008474"/>
                    <a:pt x="0" y="3924313"/>
                  </a:cubicBezTo>
                  <a:lnTo>
                    <a:pt x="0" y="152387"/>
                  </a:lnTo>
                  <a:cubicBezTo>
                    <a:pt x="0" y="68226"/>
                    <a:pt x="68226" y="0"/>
                    <a:pt x="15238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09600" y="14478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716756" y="15525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cubicBezTo>
                    <a:pt x="90647" y="0"/>
                    <a:pt x="95168" y="2712"/>
                    <a:pt x="97512" y="7032"/>
                  </a:cubicBezTo>
                  <a:lnTo>
                    <a:pt x="169843" y="140977"/>
                  </a:lnTo>
                  <a:cubicBezTo>
                    <a:pt x="172086" y="145130"/>
                    <a:pt x="171986" y="150153"/>
                    <a:pt x="169575" y="154205"/>
                  </a:cubicBezTo>
                  <a:cubicBezTo>
                    <a:pt x="167164" y="158256"/>
                    <a:pt x="162777" y="160734"/>
                    <a:pt x="158055" y="160734"/>
                  </a:cubicBezTo>
                  <a:lnTo>
                    <a:pt x="13395" y="160734"/>
                  </a:lnTo>
                  <a:cubicBezTo>
                    <a:pt x="8673" y="160734"/>
                    <a:pt x="4320" y="158256"/>
                    <a:pt x="1875" y="154205"/>
                  </a:cubicBezTo>
                  <a:cubicBezTo>
                    <a:pt x="-569" y="150153"/>
                    <a:pt x="-636" y="145130"/>
                    <a:pt x="1607" y="140977"/>
                  </a:cubicBezTo>
                  <a:lnTo>
                    <a:pt x="73938" y="7032"/>
                  </a:lnTo>
                  <a:cubicBezTo>
                    <a:pt x="76282" y="2712"/>
                    <a:pt x="80803" y="0"/>
                    <a:pt x="85725" y="0"/>
                  </a:cubicBezTo>
                  <a:close/>
                  <a:moveTo>
                    <a:pt x="85725" y="56257"/>
                  </a:moveTo>
                  <a:cubicBezTo>
                    <a:pt x="81271" y="56257"/>
                    <a:pt x="77688" y="59840"/>
                    <a:pt x="77688" y="64294"/>
                  </a:cubicBezTo>
                  <a:lnTo>
                    <a:pt x="77688" y="101798"/>
                  </a:lnTo>
                  <a:cubicBezTo>
                    <a:pt x="77688" y="106252"/>
                    <a:pt x="81271" y="109835"/>
                    <a:pt x="85725" y="109835"/>
                  </a:cubicBezTo>
                  <a:cubicBezTo>
                    <a:pt x="90179" y="109835"/>
                    <a:pt x="93762" y="106252"/>
                    <a:pt x="93762" y="101798"/>
                  </a:cubicBezTo>
                  <a:lnTo>
                    <a:pt x="93762" y="64294"/>
                  </a:lnTo>
                  <a:cubicBezTo>
                    <a:pt x="93762" y="59840"/>
                    <a:pt x="90179" y="56257"/>
                    <a:pt x="85725" y="56257"/>
                  </a:cubicBezTo>
                  <a:close/>
                  <a:moveTo>
                    <a:pt x="94666" y="128588"/>
                  </a:moveTo>
                  <a:cubicBezTo>
                    <a:pt x="94869" y="125269"/>
                    <a:pt x="93214" y="122111"/>
                    <a:pt x="90369" y="120390"/>
                  </a:cubicBezTo>
                  <a:cubicBezTo>
                    <a:pt x="87524" y="118670"/>
                    <a:pt x="83959" y="118670"/>
                    <a:pt x="81114" y="120390"/>
                  </a:cubicBezTo>
                  <a:cubicBezTo>
                    <a:pt x="78269" y="122111"/>
                    <a:pt x="76614" y="125269"/>
                    <a:pt x="76818" y="128587"/>
                  </a:cubicBezTo>
                  <a:cubicBezTo>
                    <a:pt x="76614" y="131906"/>
                    <a:pt x="78269" y="135064"/>
                    <a:pt x="81114" y="136785"/>
                  </a:cubicBezTo>
                  <a:cubicBezTo>
                    <a:pt x="83959" y="138505"/>
                    <a:pt x="87524" y="138505"/>
                    <a:pt x="90369" y="136785"/>
                  </a:cubicBezTo>
                  <a:cubicBezTo>
                    <a:pt x="93214" y="135064"/>
                    <a:pt x="94869" y="131906"/>
                    <a:pt x="94666" y="1285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104900" y="1485900"/>
              <a:ext cx="23145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Почему 1С сложна?</a:t>
              </a:r>
              <a:endParaRPr lang="en-US" sz="1600" dirty="0"/>
            </a:p>
          </p:txBody>
        </p:sp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2A5805F2-DBFB-466B-AF52-7AB5B9B1D94A}"/>
                </a:ext>
              </a:extLst>
            </p:cNvPr>
            <p:cNvGrpSpPr/>
            <p:nvPr/>
          </p:nvGrpSpPr>
          <p:grpSpPr>
            <a:xfrm>
              <a:off x="681990" y="2064509"/>
              <a:ext cx="5086350" cy="923048"/>
              <a:chOff x="628650" y="1824366"/>
              <a:chExt cx="5086350" cy="923048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628650" y="1824366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1" name="Shape 9"/>
              <p:cNvSpPr/>
              <p:nvPr/>
            </p:nvSpPr>
            <p:spPr>
              <a:xfrm>
                <a:off x="628650" y="1824366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2" name="Shape 10"/>
              <p:cNvSpPr/>
              <p:nvPr/>
            </p:nvSpPr>
            <p:spPr>
              <a:xfrm>
                <a:off x="823913" y="2057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23812" y="23812"/>
                    </a:moveTo>
                    <a:cubicBezTo>
                      <a:pt x="10678" y="23812"/>
                      <a:pt x="0" y="34491"/>
                      <a:pt x="0" y="47625"/>
                    </a:cubicBezTo>
                    <a:lnTo>
                      <a:pt x="0" y="142875"/>
                    </a:lnTo>
                    <a:cubicBezTo>
                      <a:pt x="0" y="156009"/>
                      <a:pt x="10678" y="166688"/>
                      <a:pt x="23812" y="166688"/>
                    </a:cubicBezTo>
                    <a:lnTo>
                      <a:pt x="166688" y="166688"/>
                    </a:lnTo>
                    <a:cubicBezTo>
                      <a:pt x="179822" y="166688"/>
                      <a:pt x="190500" y="156009"/>
                      <a:pt x="190500" y="142875"/>
                    </a:cubicBezTo>
                    <a:lnTo>
                      <a:pt x="190500" y="47625"/>
                    </a:lnTo>
                    <a:cubicBezTo>
                      <a:pt x="190500" y="34491"/>
                      <a:pt x="179822" y="23812"/>
                      <a:pt x="166688" y="23812"/>
                    </a:cubicBezTo>
                    <a:lnTo>
                      <a:pt x="23812" y="23812"/>
                    </a:lnTo>
                    <a:close/>
                    <a:moveTo>
                      <a:pt x="32742" y="47625"/>
                    </a:moveTo>
                    <a:lnTo>
                      <a:pt x="157758" y="47625"/>
                    </a:lnTo>
                    <a:cubicBezTo>
                      <a:pt x="162706" y="47625"/>
                      <a:pt x="166688" y="51606"/>
                      <a:pt x="166688" y="56555"/>
                    </a:cubicBezTo>
                    <a:cubicBezTo>
                      <a:pt x="166688" y="61503"/>
                      <a:pt x="162706" y="65484"/>
                      <a:pt x="157758" y="65484"/>
                    </a:cubicBezTo>
                    <a:lnTo>
                      <a:pt x="32742" y="65484"/>
                    </a:lnTo>
                    <a:cubicBezTo>
                      <a:pt x="27794" y="65484"/>
                      <a:pt x="23812" y="61503"/>
                      <a:pt x="23812" y="56555"/>
                    </a:cubicBezTo>
                    <a:cubicBezTo>
                      <a:pt x="23812" y="51606"/>
                      <a:pt x="27794" y="47625"/>
                      <a:pt x="32742" y="4762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3" name="Text 11"/>
              <p:cNvSpPr/>
              <p:nvPr/>
            </p:nvSpPr>
            <p:spPr>
              <a:xfrm>
                <a:off x="1175385" y="1951925"/>
                <a:ext cx="35623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Множество форм</a:t>
                </a:r>
                <a:endParaRPr lang="en-US" sz="20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175384" y="2218625"/>
                <a:ext cx="4333875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Сотни окон и настроек, неочевидная навигация</a:t>
                </a:r>
                <a:endParaRPr lang="en-US" sz="2000" dirty="0"/>
              </a:p>
            </p:txBody>
          </p:sp>
        </p:grp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E07B3B23-0EEA-4DD8-B234-37F55A156FAA}"/>
                </a:ext>
              </a:extLst>
            </p:cNvPr>
            <p:cNvGrpSpPr/>
            <p:nvPr/>
          </p:nvGrpSpPr>
          <p:grpSpPr>
            <a:xfrm>
              <a:off x="685800" y="3288435"/>
              <a:ext cx="5086350" cy="923048"/>
              <a:chOff x="628650" y="3009900"/>
              <a:chExt cx="5086350" cy="923048"/>
            </a:xfrm>
          </p:grpSpPr>
          <p:sp>
            <p:nvSpPr>
              <p:cNvPr id="15" name="Shape 13"/>
              <p:cNvSpPr/>
              <p:nvPr/>
            </p:nvSpPr>
            <p:spPr>
              <a:xfrm>
                <a:off x="628650" y="30099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6" name="Shape 14"/>
              <p:cNvSpPr/>
              <p:nvPr/>
            </p:nvSpPr>
            <p:spPr>
              <a:xfrm>
                <a:off x="628650" y="30099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7" name="Shape 15"/>
              <p:cNvSpPr/>
              <p:nvPr/>
            </p:nvSpPr>
            <p:spPr>
              <a:xfrm>
                <a:off x="812006" y="3200400"/>
                <a:ext cx="2143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90500">
                    <a:moveTo>
                      <a:pt x="17859" y="72851"/>
                    </a:moveTo>
                    <a:lnTo>
                      <a:pt x="95696" y="104887"/>
                    </a:lnTo>
                    <a:cubicBezTo>
                      <a:pt x="99343" y="106375"/>
                      <a:pt x="103212" y="107156"/>
                      <a:pt x="107156" y="107156"/>
                    </a:cubicBezTo>
                    <a:cubicBezTo>
                      <a:pt x="111100" y="107156"/>
                      <a:pt x="114970" y="106375"/>
                      <a:pt x="118616" y="104887"/>
                    </a:cubicBezTo>
                    <a:lnTo>
                      <a:pt x="208806" y="67754"/>
                    </a:lnTo>
                    <a:cubicBezTo>
                      <a:pt x="212154" y="66377"/>
                      <a:pt x="214313" y="63140"/>
                      <a:pt x="214313" y="59531"/>
                    </a:cubicBezTo>
                    <a:cubicBezTo>
                      <a:pt x="214313" y="55922"/>
                      <a:pt x="212154" y="52685"/>
                      <a:pt x="208806" y="51308"/>
                    </a:cubicBezTo>
                    <a:lnTo>
                      <a:pt x="118616" y="14176"/>
                    </a:lnTo>
                    <a:cubicBezTo>
                      <a:pt x="114970" y="12688"/>
                      <a:pt x="111100" y="11906"/>
                      <a:pt x="107156" y="11906"/>
                    </a:cubicBezTo>
                    <a:cubicBezTo>
                      <a:pt x="103212" y="11906"/>
                      <a:pt x="99343" y="12688"/>
                      <a:pt x="95696" y="14176"/>
                    </a:cubicBezTo>
                    <a:lnTo>
                      <a:pt x="5507" y="51308"/>
                    </a:lnTo>
                    <a:cubicBezTo>
                      <a:pt x="2158" y="52685"/>
                      <a:pt x="0" y="55922"/>
                      <a:pt x="0" y="59531"/>
                    </a:cubicBezTo>
                    <a:lnTo>
                      <a:pt x="0" y="169664"/>
                    </a:lnTo>
                    <a:cubicBezTo>
                      <a:pt x="0" y="174613"/>
                      <a:pt x="3981" y="178594"/>
                      <a:pt x="8930" y="178594"/>
                    </a:cubicBezTo>
                    <a:cubicBezTo>
                      <a:pt x="13878" y="178594"/>
                      <a:pt x="17859" y="174613"/>
                      <a:pt x="17859" y="169664"/>
                    </a:cubicBezTo>
                    <a:lnTo>
                      <a:pt x="17859" y="72851"/>
                    </a:lnTo>
                    <a:close/>
                    <a:moveTo>
                      <a:pt x="35719" y="99529"/>
                    </a:moveTo>
                    <a:lnTo>
                      <a:pt x="35719" y="142875"/>
                    </a:lnTo>
                    <a:cubicBezTo>
                      <a:pt x="35719" y="162595"/>
                      <a:pt x="67717" y="178594"/>
                      <a:pt x="107156" y="178594"/>
                    </a:cubicBezTo>
                    <a:cubicBezTo>
                      <a:pt x="146596" y="178594"/>
                      <a:pt x="178594" y="162595"/>
                      <a:pt x="178594" y="142875"/>
                    </a:cubicBezTo>
                    <a:lnTo>
                      <a:pt x="178594" y="99492"/>
                    </a:lnTo>
                    <a:lnTo>
                      <a:pt x="125425" y="121407"/>
                    </a:lnTo>
                    <a:cubicBezTo>
                      <a:pt x="119621" y="123788"/>
                      <a:pt x="113444" y="125016"/>
                      <a:pt x="107156" y="125016"/>
                    </a:cubicBezTo>
                    <a:cubicBezTo>
                      <a:pt x="100868" y="125016"/>
                      <a:pt x="94692" y="123788"/>
                      <a:pt x="88888" y="121407"/>
                    </a:cubicBezTo>
                    <a:lnTo>
                      <a:pt x="35719" y="99492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8" name="Text 16"/>
              <p:cNvSpPr/>
              <p:nvPr/>
            </p:nvSpPr>
            <p:spPr>
              <a:xfrm>
                <a:off x="1152525" y="3162300"/>
                <a:ext cx="33718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Высокий порог входа</a:t>
                </a:r>
                <a:endParaRPr lang="en-US" sz="20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152524" y="3429000"/>
                <a:ext cx="4391025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2-3 недели обучения для новых сотрудников</a:t>
                </a:r>
                <a:endParaRPr lang="en-US" sz="2000" dirty="0"/>
              </a:p>
            </p:txBody>
          </p:sp>
        </p:grpSp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46FCBD06-3283-485E-AE8C-ACE2B0BEAD10}"/>
                </a:ext>
              </a:extLst>
            </p:cNvPr>
            <p:cNvGrpSpPr/>
            <p:nvPr/>
          </p:nvGrpSpPr>
          <p:grpSpPr>
            <a:xfrm>
              <a:off x="666750" y="4437701"/>
              <a:ext cx="5086350" cy="925420"/>
              <a:chOff x="628650" y="3837080"/>
              <a:chExt cx="5086350" cy="925420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628650" y="3837080"/>
                <a:ext cx="5086350" cy="925420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sz="2400" dirty="0"/>
              </a:p>
            </p:txBody>
          </p:sp>
          <p:sp>
            <p:nvSpPr>
              <p:cNvPr id="21" name="Shape 19"/>
              <p:cNvSpPr/>
              <p:nvPr/>
            </p:nvSpPr>
            <p:spPr>
              <a:xfrm>
                <a:off x="628650" y="3837080"/>
                <a:ext cx="38100" cy="92542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2" name="Shape 20"/>
              <p:cNvSpPr/>
              <p:nvPr/>
            </p:nvSpPr>
            <p:spPr>
              <a:xfrm>
                <a:off x="839153" y="406772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ubicBezTo>
                      <a:pt x="0" y="42680"/>
                      <a:pt x="42680" y="0"/>
                      <a:pt x="95250" y="0"/>
                    </a:cubicBezTo>
                    <a:close/>
                    <a:moveTo>
                      <a:pt x="86320" y="44648"/>
                    </a:moveTo>
                    <a:lnTo>
                      <a:pt x="86320" y="95250"/>
                    </a:lnTo>
                    <a:cubicBezTo>
                      <a:pt x="86320" y="98227"/>
                      <a:pt x="87809" y="101017"/>
                      <a:pt x="90301" y="102691"/>
                    </a:cubicBezTo>
                    <a:lnTo>
                      <a:pt x="126020" y="126504"/>
                    </a:lnTo>
                    <a:cubicBezTo>
                      <a:pt x="130113" y="129257"/>
                      <a:pt x="135657" y="128141"/>
                      <a:pt x="138410" y="124011"/>
                    </a:cubicBezTo>
                    <a:cubicBezTo>
                      <a:pt x="141163" y="119881"/>
                      <a:pt x="140047" y="114374"/>
                      <a:pt x="135917" y="111621"/>
                    </a:cubicBezTo>
                    <a:lnTo>
                      <a:pt x="104180" y="90488"/>
                    </a:lnTo>
                    <a:lnTo>
                      <a:pt x="104180" y="44648"/>
                    </a:lnTo>
                    <a:cubicBezTo>
                      <a:pt x="104180" y="39700"/>
                      <a:pt x="100199" y="35719"/>
                      <a:pt x="95250" y="35719"/>
                    </a:cubicBezTo>
                    <a:cubicBezTo>
                      <a:pt x="90301" y="35719"/>
                      <a:pt x="86320" y="39700"/>
                      <a:pt x="86320" y="4464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3" name="Text 21"/>
              <p:cNvSpPr/>
              <p:nvPr/>
            </p:nvSpPr>
            <p:spPr>
              <a:xfrm>
                <a:off x="1156000" y="4040033"/>
                <a:ext cx="31908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Рутинные операции</a:t>
                </a:r>
                <a:endParaRPr lang="en-US" sz="20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1156000" y="4306733"/>
                <a:ext cx="4406599" cy="3069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40% рабочего времени на типовые задачи</a:t>
                </a:r>
                <a:endParaRPr lang="en-US" sz="2000" dirty="0"/>
              </a:p>
            </p:txBody>
          </p:sp>
        </p:grp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468F367B-6B04-4A94-AACA-E5FF0D112620}"/>
              </a:ext>
            </a:extLst>
          </p:cNvPr>
          <p:cNvGrpSpPr/>
          <p:nvPr/>
        </p:nvGrpSpPr>
        <p:grpSpPr>
          <a:xfrm>
            <a:off x="6248400" y="1219200"/>
            <a:ext cx="5562600" cy="4393532"/>
            <a:chOff x="6248400" y="1219200"/>
            <a:chExt cx="5562600" cy="4393532"/>
          </a:xfrm>
        </p:grpSpPr>
        <p:sp>
          <p:nvSpPr>
            <p:cNvPr id="25" name="Shape 23"/>
            <p:cNvSpPr/>
            <p:nvPr/>
          </p:nvSpPr>
          <p:spPr>
            <a:xfrm>
              <a:off x="6248400" y="1219200"/>
              <a:ext cx="5562600" cy="4393532"/>
            </a:xfrm>
            <a:custGeom>
              <a:avLst/>
              <a:gdLst/>
              <a:ahLst/>
              <a:cxnLst/>
              <a:rect l="l" t="t" r="r" b="b"/>
              <a:pathLst>
                <a:path w="5562600" h="4076700">
                  <a:moveTo>
                    <a:pt x="152387" y="0"/>
                  </a:moveTo>
                  <a:lnTo>
                    <a:pt x="5410213" y="0"/>
                  </a:lnTo>
                  <a:cubicBezTo>
                    <a:pt x="5494374" y="0"/>
                    <a:pt x="5562600" y="68226"/>
                    <a:pt x="5562600" y="152387"/>
                  </a:cubicBezTo>
                  <a:lnTo>
                    <a:pt x="5562600" y="3924313"/>
                  </a:lnTo>
                  <a:cubicBezTo>
                    <a:pt x="5562600" y="4008474"/>
                    <a:pt x="5494374" y="4076700"/>
                    <a:pt x="5410213" y="4076700"/>
                  </a:cubicBezTo>
                  <a:lnTo>
                    <a:pt x="152387" y="4076700"/>
                  </a:lnTo>
                  <a:cubicBezTo>
                    <a:pt x="68226" y="4076700"/>
                    <a:pt x="0" y="4008474"/>
                    <a:pt x="0" y="3924313"/>
                  </a:cubicBezTo>
                  <a:lnTo>
                    <a:pt x="0" y="152387"/>
                  </a:lnTo>
                  <a:cubicBezTo>
                    <a:pt x="0" y="68226"/>
                    <a:pt x="68226" y="0"/>
                    <a:pt x="15238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80" name="Группа 79">
              <a:extLst>
                <a:ext uri="{FF2B5EF4-FFF2-40B4-BE49-F238E27FC236}">
                  <a16:creationId xmlns:a16="http://schemas.microsoft.com/office/drawing/2014/main" id="{6A0927A7-A742-4B9C-9959-DBF16EBAE428}"/>
                </a:ext>
              </a:extLst>
            </p:cNvPr>
            <p:cNvGrpSpPr/>
            <p:nvPr/>
          </p:nvGrpSpPr>
          <p:grpSpPr>
            <a:xfrm>
              <a:off x="6477000" y="1447800"/>
              <a:ext cx="3057525" cy="381000"/>
              <a:chOff x="6477000" y="1447800"/>
              <a:chExt cx="3057525" cy="381000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6477000" y="14478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76200" y="0"/>
                    </a:moveTo>
                    <a:lnTo>
                      <a:pt x="304800" y="0"/>
                    </a:lnTo>
                    <a:cubicBezTo>
                      <a:pt x="346856" y="0"/>
                      <a:pt x="381000" y="34144"/>
                      <a:pt x="381000" y="76200"/>
                    </a:cubicBezTo>
                    <a:lnTo>
                      <a:pt x="381000" y="304800"/>
                    </a:lnTo>
                    <a:cubicBezTo>
                      <a:pt x="381000" y="346856"/>
                      <a:pt x="346856" y="381000"/>
                      <a:pt x="304800" y="381000"/>
                    </a:cubicBezTo>
                    <a:lnTo>
                      <a:pt x="76200" y="381000"/>
                    </a:lnTo>
                    <a:cubicBezTo>
                      <a:pt x="34144" y="381000"/>
                      <a:pt x="0" y="346856"/>
                      <a:pt x="0" y="30480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7" name="Shape 25"/>
              <p:cNvSpPr/>
              <p:nvPr/>
            </p:nvSpPr>
            <p:spPr>
              <a:xfrm>
                <a:off x="6562725" y="1552575"/>
                <a:ext cx="21431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71450">
                    <a:moveTo>
                      <a:pt x="117872" y="0"/>
                    </a:moveTo>
                    <a:cubicBezTo>
                      <a:pt x="117872" y="-5927"/>
                      <a:pt x="113083" y="-10716"/>
                      <a:pt x="107156" y="-10716"/>
                    </a:cubicBezTo>
                    <a:cubicBezTo>
                      <a:pt x="101229" y="-10716"/>
                      <a:pt x="96441" y="-5927"/>
                      <a:pt x="96441" y="0"/>
                    </a:cubicBezTo>
                    <a:lnTo>
                      <a:pt x="96441" y="21431"/>
                    </a:lnTo>
                    <a:lnTo>
                      <a:pt x="64294" y="21431"/>
                    </a:lnTo>
                    <a:cubicBezTo>
                      <a:pt x="46546" y="21431"/>
                      <a:pt x="32147" y="35830"/>
                      <a:pt x="32147" y="53578"/>
                    </a:cubicBezTo>
                    <a:lnTo>
                      <a:pt x="32147" y="128588"/>
                    </a:lnTo>
                    <a:cubicBezTo>
                      <a:pt x="32147" y="146335"/>
                      <a:pt x="46546" y="160734"/>
                      <a:pt x="64294" y="160734"/>
                    </a:cubicBezTo>
                    <a:lnTo>
                      <a:pt x="150019" y="160734"/>
                    </a:lnTo>
                    <a:cubicBezTo>
                      <a:pt x="167767" y="160734"/>
                      <a:pt x="182166" y="146335"/>
                      <a:pt x="182166" y="128588"/>
                    </a:cubicBezTo>
                    <a:lnTo>
                      <a:pt x="182166" y="53578"/>
                    </a:lnTo>
                    <a:cubicBezTo>
                      <a:pt x="182166" y="35830"/>
                      <a:pt x="167767" y="21431"/>
                      <a:pt x="150019" y="21431"/>
                    </a:cubicBezTo>
                    <a:lnTo>
                      <a:pt x="117872" y="21431"/>
                    </a:lnTo>
                    <a:lnTo>
                      <a:pt x="117872" y="0"/>
                    </a:lnTo>
                    <a:close/>
                    <a:moveTo>
                      <a:pt x="53578" y="123230"/>
                    </a:moveTo>
                    <a:cubicBezTo>
                      <a:pt x="53578" y="118776"/>
                      <a:pt x="57161" y="115193"/>
                      <a:pt x="61615" y="115193"/>
                    </a:cubicBezTo>
                    <a:lnTo>
                      <a:pt x="72330" y="115193"/>
                    </a:lnTo>
                    <a:cubicBezTo>
                      <a:pt x="76784" y="115193"/>
                      <a:pt x="80367" y="118776"/>
                      <a:pt x="80367" y="123230"/>
                    </a:cubicBezTo>
                    <a:cubicBezTo>
                      <a:pt x="80367" y="127683"/>
                      <a:pt x="76784" y="131266"/>
                      <a:pt x="72330" y="131266"/>
                    </a:cubicBezTo>
                    <a:lnTo>
                      <a:pt x="61615" y="131266"/>
                    </a:lnTo>
                    <a:cubicBezTo>
                      <a:pt x="57161" y="131266"/>
                      <a:pt x="53578" y="127683"/>
                      <a:pt x="53578" y="123230"/>
                    </a:cubicBezTo>
                    <a:close/>
                    <a:moveTo>
                      <a:pt x="93762" y="123230"/>
                    </a:moveTo>
                    <a:cubicBezTo>
                      <a:pt x="93762" y="118776"/>
                      <a:pt x="97345" y="115193"/>
                      <a:pt x="101798" y="115193"/>
                    </a:cubicBezTo>
                    <a:lnTo>
                      <a:pt x="112514" y="115193"/>
                    </a:lnTo>
                    <a:cubicBezTo>
                      <a:pt x="116968" y="115193"/>
                      <a:pt x="120551" y="118776"/>
                      <a:pt x="120551" y="123230"/>
                    </a:cubicBezTo>
                    <a:cubicBezTo>
                      <a:pt x="120551" y="127683"/>
                      <a:pt x="116968" y="131266"/>
                      <a:pt x="112514" y="131266"/>
                    </a:cubicBezTo>
                    <a:lnTo>
                      <a:pt x="101798" y="131266"/>
                    </a:lnTo>
                    <a:cubicBezTo>
                      <a:pt x="97345" y="131266"/>
                      <a:pt x="93762" y="127683"/>
                      <a:pt x="93762" y="123230"/>
                    </a:cubicBezTo>
                    <a:close/>
                    <a:moveTo>
                      <a:pt x="133945" y="123230"/>
                    </a:moveTo>
                    <a:cubicBezTo>
                      <a:pt x="133945" y="118776"/>
                      <a:pt x="137528" y="115193"/>
                      <a:pt x="141982" y="115193"/>
                    </a:cubicBezTo>
                    <a:lnTo>
                      <a:pt x="152698" y="115193"/>
                    </a:lnTo>
                    <a:cubicBezTo>
                      <a:pt x="157151" y="115193"/>
                      <a:pt x="160734" y="118776"/>
                      <a:pt x="160734" y="123230"/>
                    </a:cubicBezTo>
                    <a:cubicBezTo>
                      <a:pt x="160734" y="127683"/>
                      <a:pt x="157151" y="131266"/>
                      <a:pt x="152698" y="131266"/>
                    </a:cubicBezTo>
                    <a:lnTo>
                      <a:pt x="141982" y="131266"/>
                    </a:lnTo>
                    <a:cubicBezTo>
                      <a:pt x="137528" y="131266"/>
                      <a:pt x="133945" y="127683"/>
                      <a:pt x="133945" y="123230"/>
                    </a:cubicBezTo>
                    <a:close/>
                    <a:moveTo>
                      <a:pt x="75009" y="58936"/>
                    </a:moveTo>
                    <a:cubicBezTo>
                      <a:pt x="83881" y="58936"/>
                      <a:pt x="91083" y="66138"/>
                      <a:pt x="91083" y="75009"/>
                    </a:cubicBezTo>
                    <a:cubicBezTo>
                      <a:pt x="91083" y="83881"/>
                      <a:pt x="83881" y="91083"/>
                      <a:pt x="75009" y="91083"/>
                    </a:cubicBezTo>
                    <a:cubicBezTo>
                      <a:pt x="66138" y="91083"/>
                      <a:pt x="58936" y="83881"/>
                      <a:pt x="58936" y="75009"/>
                    </a:cubicBezTo>
                    <a:cubicBezTo>
                      <a:pt x="58936" y="66138"/>
                      <a:pt x="66138" y="58936"/>
                      <a:pt x="75009" y="58936"/>
                    </a:cubicBezTo>
                    <a:close/>
                    <a:moveTo>
                      <a:pt x="123230" y="75009"/>
                    </a:moveTo>
                    <a:cubicBezTo>
                      <a:pt x="123230" y="66138"/>
                      <a:pt x="130432" y="58936"/>
                      <a:pt x="139303" y="58936"/>
                    </a:cubicBezTo>
                    <a:cubicBezTo>
                      <a:pt x="148174" y="58936"/>
                      <a:pt x="155377" y="66138"/>
                      <a:pt x="155377" y="75009"/>
                    </a:cubicBezTo>
                    <a:cubicBezTo>
                      <a:pt x="155377" y="83881"/>
                      <a:pt x="148174" y="91083"/>
                      <a:pt x="139303" y="91083"/>
                    </a:cubicBezTo>
                    <a:cubicBezTo>
                      <a:pt x="130432" y="91083"/>
                      <a:pt x="123230" y="83881"/>
                      <a:pt x="123230" y="75009"/>
                    </a:cubicBezTo>
                    <a:close/>
                    <a:moveTo>
                      <a:pt x="21431" y="75009"/>
                    </a:moveTo>
                    <a:cubicBezTo>
                      <a:pt x="21431" y="69082"/>
                      <a:pt x="16643" y="64294"/>
                      <a:pt x="10716" y="64294"/>
                    </a:cubicBezTo>
                    <a:cubicBezTo>
                      <a:pt x="4789" y="64294"/>
                      <a:pt x="0" y="69082"/>
                      <a:pt x="0" y="75009"/>
                    </a:cubicBezTo>
                    <a:lnTo>
                      <a:pt x="0" y="107156"/>
                    </a:lnTo>
                    <a:cubicBezTo>
                      <a:pt x="0" y="113083"/>
                      <a:pt x="4789" y="117872"/>
                      <a:pt x="10716" y="117872"/>
                    </a:cubicBezTo>
                    <a:cubicBezTo>
                      <a:pt x="16643" y="117872"/>
                      <a:pt x="21431" y="113083"/>
                      <a:pt x="21431" y="107156"/>
                    </a:cubicBezTo>
                    <a:lnTo>
                      <a:pt x="21431" y="75009"/>
                    </a:lnTo>
                    <a:close/>
                    <a:moveTo>
                      <a:pt x="203597" y="64294"/>
                    </a:moveTo>
                    <a:cubicBezTo>
                      <a:pt x="197670" y="64294"/>
                      <a:pt x="192881" y="69082"/>
                      <a:pt x="192881" y="75009"/>
                    </a:cubicBezTo>
                    <a:lnTo>
                      <a:pt x="192881" y="107156"/>
                    </a:lnTo>
                    <a:cubicBezTo>
                      <a:pt x="192881" y="113083"/>
                      <a:pt x="197670" y="117872"/>
                      <a:pt x="203597" y="117872"/>
                    </a:cubicBezTo>
                    <a:cubicBezTo>
                      <a:pt x="209524" y="117872"/>
                      <a:pt x="214313" y="113083"/>
                      <a:pt x="214313" y="107156"/>
                    </a:cubicBezTo>
                    <a:lnTo>
                      <a:pt x="214313" y="75009"/>
                    </a:lnTo>
                    <a:cubicBezTo>
                      <a:pt x="214313" y="69082"/>
                      <a:pt x="209524" y="64294"/>
                      <a:pt x="203597" y="64294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28" name="Text 26"/>
              <p:cNvSpPr/>
              <p:nvPr/>
            </p:nvSpPr>
            <p:spPr>
              <a:xfrm>
                <a:off x="6972300" y="1485900"/>
                <a:ext cx="2562225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18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Зачем ИИ-помощник?</a:t>
                </a:r>
                <a:endParaRPr lang="en-US" sz="1600" dirty="0"/>
              </a:p>
            </p:txBody>
          </p:sp>
        </p:grpSp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97317C40-B60A-4C3B-AFDB-A5C43A3075D9}"/>
                </a:ext>
              </a:extLst>
            </p:cNvPr>
            <p:cNvGrpSpPr/>
            <p:nvPr/>
          </p:nvGrpSpPr>
          <p:grpSpPr>
            <a:xfrm>
              <a:off x="6496050" y="2136787"/>
              <a:ext cx="5086350" cy="923048"/>
              <a:chOff x="6496050" y="2057400"/>
              <a:chExt cx="5086350" cy="923048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6496050" y="20574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30" name="Shape 28"/>
              <p:cNvSpPr/>
              <p:nvPr/>
            </p:nvSpPr>
            <p:spPr>
              <a:xfrm>
                <a:off x="6496050" y="20574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1" name="Shape 29"/>
              <p:cNvSpPr/>
              <p:nvPr/>
            </p:nvSpPr>
            <p:spPr>
              <a:xfrm>
                <a:off x="6703219" y="22479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83344" y="23812"/>
                    </a:moveTo>
                    <a:cubicBezTo>
                      <a:pt x="53950" y="23812"/>
                      <a:pt x="29505" y="45132"/>
                      <a:pt x="24668" y="73186"/>
                    </a:cubicBezTo>
                    <a:cubicBezTo>
                      <a:pt x="28129" y="72070"/>
                      <a:pt x="31849" y="71438"/>
                      <a:pt x="35719" y="71438"/>
                    </a:cubicBezTo>
                    <a:lnTo>
                      <a:pt x="41672" y="71438"/>
                    </a:lnTo>
                    <a:cubicBezTo>
                      <a:pt x="51532" y="71438"/>
                      <a:pt x="59531" y="79437"/>
                      <a:pt x="59531" y="89297"/>
                    </a:cubicBezTo>
                    <a:lnTo>
                      <a:pt x="59531" y="125016"/>
                    </a:lnTo>
                    <a:cubicBezTo>
                      <a:pt x="59531" y="134875"/>
                      <a:pt x="51532" y="142875"/>
                      <a:pt x="41672" y="142875"/>
                    </a:cubicBezTo>
                    <a:lnTo>
                      <a:pt x="35719" y="142875"/>
                    </a:lnTo>
                    <a:cubicBezTo>
                      <a:pt x="15999" y="142875"/>
                      <a:pt x="0" y="126876"/>
                      <a:pt x="0" y="107156"/>
                    </a:cubicBezTo>
                    <a:lnTo>
                      <a:pt x="0" y="83344"/>
                    </a:lnTo>
                    <a:cubicBezTo>
                      <a:pt x="0" y="37319"/>
                      <a:pt x="37319" y="0"/>
                      <a:pt x="83344" y="0"/>
                    </a:cubicBezTo>
                    <a:cubicBezTo>
                      <a:pt x="129369" y="0"/>
                      <a:pt x="166688" y="37319"/>
                      <a:pt x="166688" y="83344"/>
                    </a:cubicBezTo>
                    <a:lnTo>
                      <a:pt x="166688" y="145889"/>
                    </a:lnTo>
                    <a:cubicBezTo>
                      <a:pt x="166688" y="170557"/>
                      <a:pt x="146670" y="190537"/>
                      <a:pt x="122002" y="190537"/>
                    </a:cubicBezTo>
                    <a:lnTo>
                      <a:pt x="89297" y="190500"/>
                    </a:lnTo>
                    <a:lnTo>
                      <a:pt x="77391" y="190500"/>
                    </a:lnTo>
                    <a:cubicBezTo>
                      <a:pt x="67531" y="190500"/>
                      <a:pt x="59531" y="182500"/>
                      <a:pt x="59531" y="172641"/>
                    </a:cubicBezTo>
                    <a:cubicBezTo>
                      <a:pt x="59531" y="162781"/>
                      <a:pt x="67531" y="154781"/>
                      <a:pt x="77391" y="154781"/>
                    </a:cubicBezTo>
                    <a:lnTo>
                      <a:pt x="89297" y="154781"/>
                    </a:lnTo>
                    <a:cubicBezTo>
                      <a:pt x="99157" y="154781"/>
                      <a:pt x="107156" y="162781"/>
                      <a:pt x="107156" y="172641"/>
                    </a:cubicBezTo>
                    <a:lnTo>
                      <a:pt x="107156" y="172641"/>
                    </a:lnTo>
                    <a:lnTo>
                      <a:pt x="122039" y="172641"/>
                    </a:lnTo>
                    <a:cubicBezTo>
                      <a:pt x="136847" y="172641"/>
                      <a:pt x="148828" y="160660"/>
                      <a:pt x="148828" y="145852"/>
                    </a:cubicBezTo>
                    <a:lnTo>
                      <a:pt x="148828" y="138075"/>
                    </a:lnTo>
                    <a:cubicBezTo>
                      <a:pt x="143582" y="141126"/>
                      <a:pt x="137480" y="142838"/>
                      <a:pt x="130969" y="142838"/>
                    </a:cubicBezTo>
                    <a:lnTo>
                      <a:pt x="125016" y="142838"/>
                    </a:lnTo>
                    <a:cubicBezTo>
                      <a:pt x="115156" y="142838"/>
                      <a:pt x="107156" y="134838"/>
                      <a:pt x="107156" y="124978"/>
                    </a:cubicBezTo>
                    <a:lnTo>
                      <a:pt x="107156" y="89260"/>
                    </a:lnTo>
                    <a:cubicBezTo>
                      <a:pt x="107156" y="79400"/>
                      <a:pt x="115156" y="71400"/>
                      <a:pt x="125016" y="71400"/>
                    </a:cubicBezTo>
                    <a:lnTo>
                      <a:pt x="130969" y="71400"/>
                    </a:lnTo>
                    <a:cubicBezTo>
                      <a:pt x="134838" y="71400"/>
                      <a:pt x="138522" y="71996"/>
                      <a:pt x="142019" y="73149"/>
                    </a:cubicBezTo>
                    <a:cubicBezTo>
                      <a:pt x="137182" y="45132"/>
                      <a:pt x="112775" y="23775"/>
                      <a:pt x="83344" y="2377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2" name="Text 30"/>
              <p:cNvSpPr/>
              <p:nvPr/>
            </p:nvSpPr>
            <p:spPr>
              <a:xfrm>
                <a:off x="7019925" y="2209800"/>
                <a:ext cx="31051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Снижение нагрузки</a:t>
                </a:r>
                <a:endParaRPr lang="en-US" sz="200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7019924" y="2476500"/>
                <a:ext cx="4490085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Меньше обращений в службу поддержки</a:t>
                </a:r>
                <a:endParaRPr lang="en-US" sz="2000" dirty="0"/>
              </a:p>
            </p:txBody>
          </p:sp>
        </p:grpSp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CE67D199-E9B9-4776-9667-36A724E8F0DA}"/>
                </a:ext>
              </a:extLst>
            </p:cNvPr>
            <p:cNvGrpSpPr/>
            <p:nvPr/>
          </p:nvGrpSpPr>
          <p:grpSpPr>
            <a:xfrm>
              <a:off x="6496050" y="3288435"/>
              <a:ext cx="5086350" cy="923048"/>
              <a:chOff x="6496050" y="3009900"/>
              <a:chExt cx="5086350" cy="923048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6496050" y="30099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sz="2400" dirty="0"/>
              </a:p>
            </p:txBody>
          </p:sp>
          <p:sp>
            <p:nvSpPr>
              <p:cNvPr id="35" name="Shape 33"/>
              <p:cNvSpPr/>
              <p:nvPr/>
            </p:nvSpPr>
            <p:spPr>
              <a:xfrm>
                <a:off x="6496050" y="30099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6" name="Shape 34"/>
              <p:cNvSpPr/>
              <p:nvPr/>
            </p:nvSpPr>
            <p:spPr>
              <a:xfrm>
                <a:off x="6691313" y="3200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107156" y="35719"/>
                    </a:moveTo>
                    <a:cubicBezTo>
                      <a:pt x="107156" y="29148"/>
                      <a:pt x="101821" y="23812"/>
                      <a:pt x="95250" y="23812"/>
                    </a:cubicBezTo>
                    <a:cubicBezTo>
                      <a:pt x="88679" y="23812"/>
                      <a:pt x="83344" y="29148"/>
                      <a:pt x="83344" y="35719"/>
                    </a:cubicBezTo>
                    <a:cubicBezTo>
                      <a:pt x="83344" y="42290"/>
                      <a:pt x="88679" y="47625"/>
                      <a:pt x="95250" y="47625"/>
                    </a:cubicBezTo>
                    <a:cubicBezTo>
                      <a:pt x="101821" y="47625"/>
                      <a:pt x="107156" y="42290"/>
                      <a:pt x="107156" y="35719"/>
                    </a:cubicBezTo>
                    <a:close/>
                    <a:moveTo>
                      <a:pt x="95250" y="154781"/>
                    </a:moveTo>
                    <a:cubicBezTo>
                      <a:pt x="108384" y="154781"/>
                      <a:pt x="119063" y="144103"/>
                      <a:pt x="119063" y="130969"/>
                    </a:cubicBezTo>
                    <a:cubicBezTo>
                      <a:pt x="119063" y="124941"/>
                      <a:pt x="116830" y="119397"/>
                      <a:pt x="113109" y="115230"/>
                    </a:cubicBezTo>
                    <a:lnTo>
                      <a:pt x="138968" y="63550"/>
                    </a:lnTo>
                    <a:cubicBezTo>
                      <a:pt x="141163" y="59122"/>
                      <a:pt x="139378" y="53764"/>
                      <a:pt x="134987" y="51569"/>
                    </a:cubicBezTo>
                    <a:cubicBezTo>
                      <a:pt x="130597" y="49374"/>
                      <a:pt x="125202" y="51160"/>
                      <a:pt x="123006" y="55550"/>
                    </a:cubicBezTo>
                    <a:lnTo>
                      <a:pt x="97148" y="107231"/>
                    </a:lnTo>
                    <a:cubicBezTo>
                      <a:pt x="96515" y="107193"/>
                      <a:pt x="95883" y="107156"/>
                      <a:pt x="95250" y="107156"/>
                    </a:cubicBezTo>
                    <a:cubicBezTo>
                      <a:pt x="82116" y="107156"/>
                      <a:pt x="71438" y="117835"/>
                      <a:pt x="71438" y="130969"/>
                    </a:cubicBezTo>
                    <a:cubicBezTo>
                      <a:pt x="71438" y="144103"/>
                      <a:pt x="82116" y="154781"/>
                      <a:pt x="95250" y="154781"/>
                    </a:cubicBezTo>
                    <a:close/>
                    <a:moveTo>
                      <a:pt x="65484" y="53578"/>
                    </a:moveTo>
                    <a:cubicBezTo>
                      <a:pt x="65484" y="47007"/>
                      <a:pt x="60149" y="41672"/>
                      <a:pt x="53578" y="41672"/>
                    </a:cubicBezTo>
                    <a:cubicBezTo>
                      <a:pt x="47007" y="41672"/>
                      <a:pt x="41672" y="47007"/>
                      <a:pt x="41672" y="53578"/>
                    </a:cubicBezTo>
                    <a:cubicBezTo>
                      <a:pt x="41672" y="60149"/>
                      <a:pt x="47007" y="65484"/>
                      <a:pt x="53578" y="65484"/>
                    </a:cubicBezTo>
                    <a:cubicBezTo>
                      <a:pt x="60149" y="65484"/>
                      <a:pt x="65484" y="60149"/>
                      <a:pt x="65484" y="53578"/>
                    </a:cubicBezTo>
                    <a:close/>
                    <a:moveTo>
                      <a:pt x="35719" y="107156"/>
                    </a:moveTo>
                    <a:cubicBezTo>
                      <a:pt x="42290" y="107156"/>
                      <a:pt x="47625" y="101821"/>
                      <a:pt x="47625" y="95250"/>
                    </a:cubicBezTo>
                    <a:cubicBezTo>
                      <a:pt x="47625" y="88679"/>
                      <a:pt x="42290" y="83344"/>
                      <a:pt x="35719" y="83344"/>
                    </a:cubicBezTo>
                    <a:cubicBezTo>
                      <a:pt x="29148" y="83344"/>
                      <a:pt x="23812" y="88679"/>
                      <a:pt x="23812" y="95250"/>
                    </a:cubicBezTo>
                    <a:cubicBezTo>
                      <a:pt x="23812" y="101821"/>
                      <a:pt x="29148" y="107156"/>
                      <a:pt x="35719" y="107156"/>
                    </a:cubicBezTo>
                    <a:close/>
                    <a:moveTo>
                      <a:pt x="166688" y="95250"/>
                    </a:moveTo>
                    <a:cubicBezTo>
                      <a:pt x="166688" y="88679"/>
                      <a:pt x="161352" y="83344"/>
                      <a:pt x="154781" y="83344"/>
                    </a:cubicBezTo>
                    <a:cubicBezTo>
                      <a:pt x="148210" y="83344"/>
                      <a:pt x="142875" y="88679"/>
                      <a:pt x="142875" y="95250"/>
                    </a:cubicBezTo>
                    <a:cubicBezTo>
                      <a:pt x="142875" y="101821"/>
                      <a:pt x="148210" y="107156"/>
                      <a:pt x="154781" y="107156"/>
                    </a:cubicBezTo>
                    <a:cubicBezTo>
                      <a:pt x="161352" y="107156"/>
                      <a:pt x="166688" y="101821"/>
                      <a:pt x="166688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7" name="Text 35"/>
              <p:cNvSpPr/>
              <p:nvPr/>
            </p:nvSpPr>
            <p:spPr>
              <a:xfrm>
                <a:off x="7019925" y="3162300"/>
                <a:ext cx="33147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Ускорение работы</a:t>
                </a:r>
                <a:endParaRPr lang="en-US" sz="200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7019925" y="3429000"/>
                <a:ext cx="4367162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Мгновенный доступ к данным и документам</a:t>
                </a:r>
                <a:endParaRPr lang="en-US" sz="2000" dirty="0"/>
              </a:p>
            </p:txBody>
          </p:sp>
        </p:grp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D7C15F6E-D8DC-4AA7-AE54-1F7FFB478983}"/>
                </a:ext>
              </a:extLst>
            </p:cNvPr>
            <p:cNvGrpSpPr/>
            <p:nvPr/>
          </p:nvGrpSpPr>
          <p:grpSpPr>
            <a:xfrm>
              <a:off x="6508762" y="4437701"/>
              <a:ext cx="5086350" cy="928975"/>
              <a:chOff x="6496050" y="3833525"/>
              <a:chExt cx="5086350" cy="928975"/>
            </a:xfrm>
          </p:grpSpPr>
          <p:sp>
            <p:nvSpPr>
              <p:cNvPr id="39" name="Shape 37"/>
              <p:cNvSpPr/>
              <p:nvPr/>
            </p:nvSpPr>
            <p:spPr>
              <a:xfrm>
                <a:off x="6496050" y="3833525"/>
                <a:ext cx="5086350" cy="928975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0" name="Shape 38"/>
              <p:cNvSpPr/>
              <p:nvPr/>
            </p:nvSpPr>
            <p:spPr>
              <a:xfrm>
                <a:off x="6496050" y="3833525"/>
                <a:ext cx="38100" cy="9289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41" name="Shape 39"/>
              <p:cNvSpPr/>
              <p:nvPr/>
            </p:nvSpPr>
            <p:spPr>
              <a:xfrm>
                <a:off x="6675449" y="4055528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50602" y="47625"/>
                    </a:moveTo>
                    <a:cubicBezTo>
                      <a:pt x="50602" y="22983"/>
                      <a:pt x="70608" y="2977"/>
                      <a:pt x="95250" y="2977"/>
                    </a:cubicBezTo>
                    <a:cubicBezTo>
                      <a:pt x="119892" y="2977"/>
                      <a:pt x="139898" y="22983"/>
                      <a:pt x="139898" y="47625"/>
                    </a:cubicBezTo>
                    <a:cubicBezTo>
                      <a:pt x="139898" y="72267"/>
                      <a:pt x="119892" y="92273"/>
                      <a:pt x="95250" y="92273"/>
                    </a:cubicBezTo>
                    <a:cubicBezTo>
                      <a:pt x="70608" y="92273"/>
                      <a:pt x="50602" y="72267"/>
                      <a:pt x="50602" y="47625"/>
                    </a:cubicBezTo>
                    <a:close/>
                    <a:moveTo>
                      <a:pt x="17859" y="179450"/>
                    </a:moveTo>
                    <a:cubicBezTo>
                      <a:pt x="17859" y="142801"/>
                      <a:pt x="47551" y="113109"/>
                      <a:pt x="84200" y="113109"/>
                    </a:cubicBezTo>
                    <a:lnTo>
                      <a:pt x="106300" y="113109"/>
                    </a:lnTo>
                    <a:cubicBezTo>
                      <a:pt x="142949" y="113109"/>
                      <a:pt x="172641" y="142801"/>
                      <a:pt x="172641" y="179450"/>
                    </a:cubicBezTo>
                    <a:cubicBezTo>
                      <a:pt x="172641" y="185551"/>
                      <a:pt x="167692" y="190500"/>
                      <a:pt x="161590" y="190500"/>
                    </a:cubicBezTo>
                    <a:lnTo>
                      <a:pt x="28910" y="190500"/>
                    </a:lnTo>
                    <a:cubicBezTo>
                      <a:pt x="22808" y="190500"/>
                      <a:pt x="17859" y="185551"/>
                      <a:pt x="17859" y="179450"/>
                    </a:cubicBezTo>
                    <a:close/>
                    <a:moveTo>
                      <a:pt x="202406" y="35719"/>
                    </a:moveTo>
                    <a:cubicBezTo>
                      <a:pt x="207355" y="35719"/>
                      <a:pt x="211336" y="39700"/>
                      <a:pt x="211336" y="44648"/>
                    </a:cubicBezTo>
                    <a:lnTo>
                      <a:pt x="211336" y="62508"/>
                    </a:lnTo>
                    <a:lnTo>
                      <a:pt x="229195" y="62508"/>
                    </a:lnTo>
                    <a:cubicBezTo>
                      <a:pt x="234144" y="62508"/>
                      <a:pt x="238125" y="66489"/>
                      <a:pt x="238125" y="71438"/>
                    </a:cubicBezTo>
                    <a:cubicBezTo>
                      <a:pt x="238125" y="76386"/>
                      <a:pt x="234144" y="80367"/>
                      <a:pt x="229195" y="80367"/>
                    </a:cubicBezTo>
                    <a:lnTo>
                      <a:pt x="211336" y="80367"/>
                    </a:lnTo>
                    <a:lnTo>
                      <a:pt x="211336" y="98227"/>
                    </a:lnTo>
                    <a:cubicBezTo>
                      <a:pt x="211336" y="103175"/>
                      <a:pt x="207355" y="107156"/>
                      <a:pt x="202406" y="107156"/>
                    </a:cubicBezTo>
                    <a:cubicBezTo>
                      <a:pt x="197458" y="107156"/>
                      <a:pt x="193477" y="103175"/>
                      <a:pt x="193477" y="98227"/>
                    </a:cubicBezTo>
                    <a:lnTo>
                      <a:pt x="193477" y="80367"/>
                    </a:lnTo>
                    <a:lnTo>
                      <a:pt x="175617" y="80367"/>
                    </a:lnTo>
                    <a:cubicBezTo>
                      <a:pt x="170669" y="80367"/>
                      <a:pt x="166688" y="76386"/>
                      <a:pt x="166688" y="71438"/>
                    </a:cubicBezTo>
                    <a:cubicBezTo>
                      <a:pt x="166688" y="66489"/>
                      <a:pt x="170669" y="62508"/>
                      <a:pt x="175617" y="62508"/>
                    </a:cubicBezTo>
                    <a:lnTo>
                      <a:pt x="193477" y="62508"/>
                    </a:lnTo>
                    <a:lnTo>
                      <a:pt x="193477" y="44648"/>
                    </a:lnTo>
                    <a:cubicBezTo>
                      <a:pt x="193477" y="39700"/>
                      <a:pt x="197458" y="35719"/>
                      <a:pt x="202406" y="35719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42" name="Text 40"/>
              <p:cNvSpPr/>
              <p:nvPr/>
            </p:nvSpPr>
            <p:spPr>
              <a:xfrm>
                <a:off x="7019925" y="4018550"/>
                <a:ext cx="28479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Быстрая адаптация</a:t>
                </a:r>
                <a:endParaRPr lang="en-US" sz="200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7007213" y="4312592"/>
                <a:ext cx="4477372" cy="2431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Снижение порога входа для новичков</a:t>
                </a:r>
                <a:endParaRPr lang="en-US" sz="2000" dirty="0"/>
              </a:p>
            </p:txBody>
          </p:sp>
        </p:grp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DF4EC4F8-5E70-49B0-9CDF-0FBFAA70D08A}"/>
              </a:ext>
            </a:extLst>
          </p:cNvPr>
          <p:cNvGrpSpPr/>
          <p:nvPr/>
        </p:nvGrpSpPr>
        <p:grpSpPr>
          <a:xfrm>
            <a:off x="381000" y="5765132"/>
            <a:ext cx="11426825" cy="952500"/>
            <a:chOff x="381000" y="5524500"/>
            <a:chExt cx="11426825" cy="952500"/>
          </a:xfrm>
        </p:grpSpPr>
        <p:sp>
          <p:nvSpPr>
            <p:cNvPr id="44" name="Shape 42"/>
            <p:cNvSpPr/>
            <p:nvPr/>
          </p:nvSpPr>
          <p:spPr>
            <a:xfrm>
              <a:off x="3810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5" name="Text 43"/>
            <p:cNvSpPr/>
            <p:nvPr/>
          </p:nvSpPr>
          <p:spPr>
            <a:xfrm>
              <a:off x="4476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40%</a:t>
              </a:r>
              <a:endParaRPr lang="en-US" sz="2400" b="1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4953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времени на рутину</a:t>
              </a:r>
              <a:endParaRPr lang="en-US" sz="2400" b="1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42418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8" name="Text 46"/>
            <p:cNvSpPr/>
            <p:nvPr/>
          </p:nvSpPr>
          <p:spPr>
            <a:xfrm>
              <a:off x="43084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2-3</a:t>
              </a:r>
              <a:endParaRPr lang="en-US" sz="2400" b="1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43561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недели обучения</a:t>
              </a:r>
              <a:endParaRPr lang="en-US" sz="2400" b="1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81026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1" name="Text 49"/>
            <p:cNvSpPr/>
            <p:nvPr/>
          </p:nvSpPr>
          <p:spPr>
            <a:xfrm>
              <a:off x="81692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50%</a:t>
              </a:r>
              <a:endParaRPr lang="en-US" sz="2400" b="1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82169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обращений типовые</a:t>
              </a:r>
              <a:endParaRPr lang="en-US" sz="2400" b="1" dirty="0"/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1034200A-7267-4466-8A04-841061EEF12C}"/>
              </a:ext>
            </a:extLst>
          </p:cNvPr>
          <p:cNvGrpSpPr/>
          <p:nvPr/>
        </p:nvGrpSpPr>
        <p:grpSpPr>
          <a:xfrm>
            <a:off x="381000" y="-819150"/>
            <a:ext cx="3190875" cy="533400"/>
            <a:chOff x="381000" y="381000"/>
            <a:chExt cx="3190875" cy="533400"/>
          </a:xfrm>
        </p:grpSpPr>
        <p:sp>
          <p:nvSpPr>
            <p:cNvPr id="91" name="Shape 0">
              <a:extLst>
                <a:ext uri="{FF2B5EF4-FFF2-40B4-BE49-F238E27FC236}">
                  <a16:creationId xmlns:a16="http://schemas.microsoft.com/office/drawing/2014/main" id="{70BD8F9D-133B-495A-9F4C-F69F55FE0F2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2" name="Shape 1">
              <a:extLst>
                <a:ext uri="{FF2B5EF4-FFF2-40B4-BE49-F238E27FC236}">
                  <a16:creationId xmlns:a16="http://schemas.microsoft.com/office/drawing/2014/main" id="{E5D416DC-12F0-449E-B3EA-95E14BFF3029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0025" y="114300"/>
                  </a:moveTo>
                  <a:cubicBezTo>
                    <a:pt x="200025" y="66987"/>
                    <a:pt x="161613" y="28575"/>
                    <a:pt x="114300" y="28575"/>
                  </a:cubicBezTo>
                  <a:cubicBezTo>
                    <a:pt x="66987" y="28575"/>
                    <a:pt x="28575" y="66987"/>
                    <a:pt x="28575" y="114300"/>
                  </a:cubicBezTo>
                  <a:cubicBezTo>
                    <a:pt x="28575" y="161613"/>
                    <a:pt x="66987" y="200025"/>
                    <a:pt x="114300" y="200025"/>
                  </a:cubicBezTo>
                  <a:cubicBezTo>
                    <a:pt x="161613" y="200025"/>
                    <a:pt x="200025" y="161613"/>
                    <a:pt x="200025" y="114300"/>
                  </a:cubicBezTo>
                  <a:close/>
                  <a:moveTo>
                    <a:pt x="0" y="114300"/>
                  </a:moveTo>
                  <a:cubicBezTo>
                    <a:pt x="0" y="51216"/>
                    <a:pt x="51216" y="0"/>
                    <a:pt x="114300" y="0"/>
                  </a:cubicBezTo>
                  <a:cubicBezTo>
                    <a:pt x="177384" y="0"/>
                    <a:pt x="228600" y="51216"/>
                    <a:pt x="228600" y="114300"/>
                  </a:cubicBezTo>
                  <a:cubicBezTo>
                    <a:pt x="228600" y="177384"/>
                    <a:pt x="177384" y="228600"/>
                    <a:pt x="114300" y="228600"/>
                  </a:cubicBezTo>
                  <a:cubicBezTo>
                    <a:pt x="51216" y="228600"/>
                    <a:pt x="0" y="177384"/>
                    <a:pt x="0" y="114300"/>
                  </a:cubicBezTo>
                  <a:close/>
                  <a:moveTo>
                    <a:pt x="114300" y="150019"/>
                  </a:moveTo>
                  <a:cubicBezTo>
                    <a:pt x="134014" y="150019"/>
                    <a:pt x="150019" y="134014"/>
                    <a:pt x="150019" y="114300"/>
                  </a:cubicBezTo>
                  <a:cubicBezTo>
                    <a:pt x="150019" y="94586"/>
                    <a:pt x="134014" y="78581"/>
                    <a:pt x="114300" y="78581"/>
                  </a:cubicBezTo>
                  <a:cubicBezTo>
                    <a:pt x="94586" y="78581"/>
                    <a:pt x="78581" y="94586"/>
                    <a:pt x="78581" y="114300"/>
                  </a:cubicBezTo>
                  <a:cubicBezTo>
                    <a:pt x="78581" y="134014"/>
                    <a:pt x="94586" y="150019"/>
                    <a:pt x="114300" y="150019"/>
                  </a:cubicBezTo>
                  <a:close/>
                  <a:moveTo>
                    <a:pt x="114300" y="50006"/>
                  </a:moveTo>
                  <a:cubicBezTo>
                    <a:pt x="149785" y="50006"/>
                    <a:pt x="178594" y="78815"/>
                    <a:pt x="178594" y="114300"/>
                  </a:cubicBezTo>
                  <a:cubicBezTo>
                    <a:pt x="178594" y="149785"/>
                    <a:pt x="149785" y="178594"/>
                    <a:pt x="114300" y="178594"/>
                  </a:cubicBezTo>
                  <a:cubicBezTo>
                    <a:pt x="78815" y="178594"/>
                    <a:pt x="50006" y="149785"/>
                    <a:pt x="50006" y="114300"/>
                  </a:cubicBezTo>
                  <a:cubicBezTo>
                    <a:pt x="50006" y="78815"/>
                    <a:pt x="78815" y="50006"/>
                    <a:pt x="114300" y="50006"/>
                  </a:cubicBezTo>
                  <a:close/>
                  <a:moveTo>
                    <a:pt x="100013" y="114300"/>
                  </a:moveTo>
                  <a:cubicBezTo>
                    <a:pt x="100013" y="106415"/>
                    <a:pt x="106415" y="100013"/>
                    <a:pt x="114300" y="100013"/>
                  </a:cubicBezTo>
                  <a:cubicBezTo>
                    <a:pt x="122185" y="100013"/>
                    <a:pt x="128588" y="106415"/>
                    <a:pt x="128588" y="114300"/>
                  </a:cubicBezTo>
                  <a:cubicBezTo>
                    <a:pt x="128588" y="122185"/>
                    <a:pt x="122185" y="128588"/>
                    <a:pt x="114300" y="128588"/>
                  </a:cubicBezTo>
                  <a:cubicBezTo>
                    <a:pt x="106415" y="128588"/>
                    <a:pt x="100013" y="122185"/>
                    <a:pt x="100013" y="11430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3" name="Text 2">
              <a:extLst>
                <a:ext uri="{FF2B5EF4-FFF2-40B4-BE49-F238E27FC236}">
                  <a16:creationId xmlns:a16="http://schemas.microsoft.com/office/drawing/2014/main" id="{D4CFC14A-8A4D-44AE-AD56-A0F20026642A}"/>
                </a:ext>
              </a:extLst>
            </p:cNvPr>
            <p:cNvSpPr/>
            <p:nvPr/>
          </p:nvSpPr>
          <p:spPr>
            <a:xfrm>
              <a:off x="1066800" y="400050"/>
              <a:ext cx="25050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Цель и задачи</a:t>
              </a:r>
              <a:endParaRPr lang="en-US" sz="1600" dirty="0"/>
            </a:p>
          </p:txBody>
        </p:sp>
        <p:sp>
          <p:nvSpPr>
            <p:cNvPr id="94" name="Shape 3">
              <a:extLst>
                <a:ext uri="{FF2B5EF4-FFF2-40B4-BE49-F238E27FC236}">
                  <a16:creationId xmlns:a16="http://schemas.microsoft.com/office/drawing/2014/main" id="{7150DEE7-8A55-4AB3-81B3-F7B09FD0C080}"/>
                </a:ext>
              </a:extLst>
            </p:cNvPr>
            <p:cNvSpPr/>
            <p:nvPr/>
          </p:nvSpPr>
          <p:spPr>
            <a:xfrm>
              <a:off x="654050" y="868681"/>
              <a:ext cx="281940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0C280D43-71B6-4458-B01C-0C743EFB7E42}"/>
              </a:ext>
            </a:extLst>
          </p:cNvPr>
          <p:cNvGrpSpPr/>
          <p:nvPr/>
        </p:nvGrpSpPr>
        <p:grpSpPr>
          <a:xfrm>
            <a:off x="13258800" y="1219200"/>
            <a:ext cx="11430000" cy="1457325"/>
            <a:chOff x="381000" y="1219200"/>
            <a:chExt cx="11430000" cy="1457325"/>
          </a:xfrm>
        </p:grpSpPr>
        <p:sp>
          <p:nvSpPr>
            <p:cNvPr id="96" name="Shape 4">
              <a:extLst>
                <a:ext uri="{FF2B5EF4-FFF2-40B4-BE49-F238E27FC236}">
                  <a16:creationId xmlns:a16="http://schemas.microsoft.com/office/drawing/2014/main" id="{1BF6A8E6-48D0-46D6-8F2F-D4ECA6A9C5B6}"/>
                </a:ext>
              </a:extLst>
            </p:cNvPr>
            <p:cNvSpPr/>
            <p:nvPr/>
          </p:nvSpPr>
          <p:spPr>
            <a:xfrm>
              <a:off x="381000" y="1219200"/>
              <a:ext cx="11430000" cy="1457325"/>
            </a:xfrm>
            <a:custGeom>
              <a:avLst/>
              <a:gdLst/>
              <a:ahLst/>
              <a:cxnLst/>
              <a:rect l="l" t="t" r="r" b="b"/>
              <a:pathLst>
                <a:path w="11430000" h="1457325">
                  <a:moveTo>
                    <a:pt x="152407" y="0"/>
                  </a:moveTo>
                  <a:lnTo>
                    <a:pt x="11277593" y="0"/>
                  </a:lnTo>
                  <a:cubicBezTo>
                    <a:pt x="11361765" y="0"/>
                    <a:pt x="11430000" y="68235"/>
                    <a:pt x="11430000" y="152407"/>
                  </a:cubicBezTo>
                  <a:lnTo>
                    <a:pt x="11430000" y="1304918"/>
                  </a:lnTo>
                  <a:cubicBezTo>
                    <a:pt x="11430000" y="1389090"/>
                    <a:pt x="11361765" y="1457325"/>
                    <a:pt x="11277593" y="1457325"/>
                  </a:cubicBezTo>
                  <a:lnTo>
                    <a:pt x="152407" y="1457325"/>
                  </a:lnTo>
                  <a:cubicBezTo>
                    <a:pt x="68235" y="1457325"/>
                    <a:pt x="0" y="1389090"/>
                    <a:pt x="0" y="1304918"/>
                  </a:cubicBezTo>
                  <a:lnTo>
                    <a:pt x="0" y="152407"/>
                  </a:lnTo>
                  <a:cubicBezTo>
                    <a:pt x="0" y="68291"/>
                    <a:pt x="68291" y="0"/>
                    <a:pt x="15240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7" name="Shape 5">
              <a:extLst>
                <a:ext uri="{FF2B5EF4-FFF2-40B4-BE49-F238E27FC236}">
                  <a16:creationId xmlns:a16="http://schemas.microsoft.com/office/drawing/2014/main" id="{542F5687-8C76-476C-8D30-587785558883}"/>
                </a:ext>
              </a:extLst>
            </p:cNvPr>
            <p:cNvSpPr/>
            <p:nvPr/>
          </p:nvSpPr>
          <p:spPr>
            <a:xfrm>
              <a:off x="609600" y="1643063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14300" y="0"/>
                  </a:moveTo>
                  <a:lnTo>
                    <a:pt x="495300" y="0"/>
                  </a:lnTo>
                  <a:cubicBezTo>
                    <a:pt x="558384" y="0"/>
                    <a:pt x="609600" y="51216"/>
                    <a:pt x="609600" y="114300"/>
                  </a:cubicBezTo>
                  <a:lnTo>
                    <a:pt x="609600" y="495300"/>
                  </a:lnTo>
                  <a:cubicBezTo>
                    <a:pt x="609600" y="558384"/>
                    <a:pt x="558384" y="609600"/>
                    <a:pt x="495300" y="609600"/>
                  </a:cubicBezTo>
                  <a:lnTo>
                    <a:pt x="114300" y="609600"/>
                  </a:lnTo>
                  <a:cubicBezTo>
                    <a:pt x="51216" y="609600"/>
                    <a:pt x="0" y="558384"/>
                    <a:pt x="0" y="495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8" name="Shape 6">
              <a:extLst>
                <a:ext uri="{FF2B5EF4-FFF2-40B4-BE49-F238E27FC236}">
                  <a16:creationId xmlns:a16="http://schemas.microsoft.com/office/drawing/2014/main" id="{0628E31F-0C01-401C-903C-1B0350CD5746}"/>
                </a:ext>
              </a:extLst>
            </p:cNvPr>
            <p:cNvSpPr/>
            <p:nvPr/>
          </p:nvSpPr>
          <p:spPr>
            <a:xfrm>
              <a:off x="791766" y="1804988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7859" y="0"/>
                  </a:moveTo>
                  <a:cubicBezTo>
                    <a:pt x="27738" y="0"/>
                    <a:pt x="35719" y="7981"/>
                    <a:pt x="35719" y="17859"/>
                  </a:cubicBezTo>
                  <a:lnTo>
                    <a:pt x="35719" y="26789"/>
                  </a:lnTo>
                  <a:lnTo>
                    <a:pt x="74228" y="17190"/>
                  </a:lnTo>
                  <a:cubicBezTo>
                    <a:pt x="95492" y="11888"/>
                    <a:pt x="117928" y="14343"/>
                    <a:pt x="137573" y="24166"/>
                  </a:cubicBezTo>
                  <a:cubicBezTo>
                    <a:pt x="163413" y="37114"/>
                    <a:pt x="193830" y="37114"/>
                    <a:pt x="219670" y="24166"/>
                  </a:cubicBezTo>
                  <a:lnTo>
                    <a:pt x="225028" y="21487"/>
                  </a:lnTo>
                  <a:cubicBezTo>
                    <a:pt x="236525" y="15683"/>
                    <a:pt x="250031" y="24054"/>
                    <a:pt x="250031" y="36891"/>
                  </a:cubicBezTo>
                  <a:lnTo>
                    <a:pt x="250031" y="192993"/>
                  </a:lnTo>
                  <a:cubicBezTo>
                    <a:pt x="250031" y="200416"/>
                    <a:pt x="245399" y="207113"/>
                    <a:pt x="238423" y="209736"/>
                  </a:cubicBezTo>
                  <a:lnTo>
                    <a:pt x="219056" y="216991"/>
                  </a:lnTo>
                  <a:cubicBezTo>
                    <a:pt x="193272" y="226647"/>
                    <a:pt x="164585" y="225140"/>
                    <a:pt x="139973" y="212861"/>
                  </a:cubicBezTo>
                  <a:cubicBezTo>
                    <a:pt x="118821" y="202257"/>
                    <a:pt x="94543" y="199634"/>
                    <a:pt x="71605" y="205383"/>
                  </a:cubicBezTo>
                  <a:lnTo>
                    <a:pt x="35719" y="214313"/>
                  </a:lnTo>
                  <a:lnTo>
                    <a:pt x="35719" y="267891"/>
                  </a:lnTo>
                  <a:cubicBezTo>
                    <a:pt x="35719" y="277769"/>
                    <a:pt x="27738" y="285750"/>
                    <a:pt x="17859" y="285750"/>
                  </a:cubicBezTo>
                  <a:cubicBezTo>
                    <a:pt x="7981" y="285750"/>
                    <a:pt x="0" y="277769"/>
                    <a:pt x="0" y="267891"/>
                  </a:cubicBezTo>
                  <a:lnTo>
                    <a:pt x="0" y="17859"/>
                  </a:lnTo>
                  <a:cubicBezTo>
                    <a:pt x="0" y="7981"/>
                    <a:pt x="7981" y="0"/>
                    <a:pt x="17859" y="0"/>
                  </a:cubicBezTo>
                  <a:close/>
                  <a:moveTo>
                    <a:pt x="35719" y="104422"/>
                  </a:moveTo>
                  <a:lnTo>
                    <a:pt x="71438" y="96664"/>
                  </a:lnTo>
                  <a:lnTo>
                    <a:pt x="71438" y="133220"/>
                  </a:lnTo>
                  <a:lnTo>
                    <a:pt x="35719" y="140977"/>
                  </a:lnTo>
                  <a:lnTo>
                    <a:pt x="35719" y="177533"/>
                  </a:lnTo>
                  <a:lnTo>
                    <a:pt x="62954" y="170724"/>
                  </a:lnTo>
                  <a:cubicBezTo>
                    <a:pt x="65801" y="169999"/>
                    <a:pt x="68591" y="169385"/>
                    <a:pt x="71438" y="168883"/>
                  </a:cubicBezTo>
                  <a:lnTo>
                    <a:pt x="71438" y="133220"/>
                  </a:lnTo>
                  <a:lnTo>
                    <a:pt x="93148" y="128532"/>
                  </a:lnTo>
                  <a:cubicBezTo>
                    <a:pt x="97780" y="127527"/>
                    <a:pt x="102468" y="127136"/>
                    <a:pt x="107156" y="127360"/>
                  </a:cubicBezTo>
                  <a:lnTo>
                    <a:pt x="107156" y="91641"/>
                  </a:lnTo>
                  <a:cubicBezTo>
                    <a:pt x="114746" y="91864"/>
                    <a:pt x="122337" y="93092"/>
                    <a:pt x="129704" y="95213"/>
                  </a:cubicBezTo>
                  <a:lnTo>
                    <a:pt x="142875" y="99064"/>
                  </a:lnTo>
                  <a:lnTo>
                    <a:pt x="142875" y="136289"/>
                  </a:lnTo>
                  <a:lnTo>
                    <a:pt x="119602" y="129425"/>
                  </a:lnTo>
                  <a:cubicBezTo>
                    <a:pt x="115528" y="128253"/>
                    <a:pt x="111342" y="127527"/>
                    <a:pt x="107156" y="127304"/>
                  </a:cubicBezTo>
                  <a:lnTo>
                    <a:pt x="107156" y="167153"/>
                  </a:lnTo>
                  <a:cubicBezTo>
                    <a:pt x="119323" y="168213"/>
                    <a:pt x="131322" y="170892"/>
                    <a:pt x="142875" y="175189"/>
                  </a:cubicBezTo>
                  <a:lnTo>
                    <a:pt x="142875" y="136234"/>
                  </a:lnTo>
                  <a:lnTo>
                    <a:pt x="155544" y="139973"/>
                  </a:lnTo>
                  <a:cubicBezTo>
                    <a:pt x="163078" y="142205"/>
                    <a:pt x="170780" y="143545"/>
                    <a:pt x="178594" y="144103"/>
                  </a:cubicBezTo>
                  <a:lnTo>
                    <a:pt x="178594" y="108272"/>
                  </a:lnTo>
                  <a:cubicBezTo>
                    <a:pt x="174241" y="107826"/>
                    <a:pt x="169887" y="106989"/>
                    <a:pt x="165646" y="105761"/>
                  </a:cubicBezTo>
                  <a:lnTo>
                    <a:pt x="142875" y="99064"/>
                  </a:lnTo>
                  <a:lnTo>
                    <a:pt x="142875" y="64461"/>
                  </a:lnTo>
                  <a:cubicBezTo>
                    <a:pt x="135620" y="62340"/>
                    <a:pt x="128476" y="59550"/>
                    <a:pt x="121555" y="56090"/>
                  </a:cubicBezTo>
                  <a:cubicBezTo>
                    <a:pt x="116979" y="53801"/>
                    <a:pt x="112123" y="52183"/>
                    <a:pt x="107156" y="51178"/>
                  </a:cubicBezTo>
                  <a:lnTo>
                    <a:pt x="107156" y="91585"/>
                  </a:lnTo>
                  <a:cubicBezTo>
                    <a:pt x="99901" y="91362"/>
                    <a:pt x="92646" y="92032"/>
                    <a:pt x="85558" y="93594"/>
                  </a:cubicBezTo>
                  <a:lnTo>
                    <a:pt x="71438" y="96664"/>
                  </a:lnTo>
                  <a:lnTo>
                    <a:pt x="71438" y="54694"/>
                  </a:lnTo>
                  <a:lnTo>
                    <a:pt x="35719" y="63624"/>
                  </a:lnTo>
                  <a:lnTo>
                    <a:pt x="35719" y="104422"/>
                  </a:lnTo>
                  <a:close/>
                  <a:moveTo>
                    <a:pt x="178594" y="187356"/>
                  </a:moveTo>
                  <a:cubicBezTo>
                    <a:pt x="187970" y="188193"/>
                    <a:pt x="197514" y="186965"/>
                    <a:pt x="206499" y="183561"/>
                  </a:cubicBezTo>
                  <a:lnTo>
                    <a:pt x="214313" y="180659"/>
                  </a:lnTo>
                  <a:lnTo>
                    <a:pt x="214313" y="140643"/>
                  </a:lnTo>
                  <a:lnTo>
                    <a:pt x="209903" y="141647"/>
                  </a:lnTo>
                  <a:cubicBezTo>
                    <a:pt x="199634" y="144047"/>
                    <a:pt x="189086" y="144828"/>
                    <a:pt x="178594" y="144159"/>
                  </a:cubicBezTo>
                  <a:lnTo>
                    <a:pt x="178594" y="187356"/>
                  </a:lnTo>
                  <a:close/>
                  <a:moveTo>
                    <a:pt x="214313" y="103975"/>
                  </a:moveTo>
                  <a:lnTo>
                    <a:pt x="214313" y="64461"/>
                  </a:lnTo>
                  <a:cubicBezTo>
                    <a:pt x="202648" y="67866"/>
                    <a:pt x="190649" y="69540"/>
                    <a:pt x="178594" y="69540"/>
                  </a:cubicBezTo>
                  <a:lnTo>
                    <a:pt x="178594" y="108272"/>
                  </a:lnTo>
                  <a:cubicBezTo>
                    <a:pt x="186351" y="109054"/>
                    <a:pt x="194221" y="108552"/>
                    <a:pt x="201867" y="106821"/>
                  </a:cubicBezTo>
                  <a:lnTo>
                    <a:pt x="214313" y="103919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9" name="Text 7">
              <a:extLst>
                <a:ext uri="{FF2B5EF4-FFF2-40B4-BE49-F238E27FC236}">
                  <a16:creationId xmlns:a16="http://schemas.microsoft.com/office/drawing/2014/main" id="{18A807D4-7243-4CE2-BDEF-49E22550A1FF}"/>
                </a:ext>
              </a:extLst>
            </p:cNvPr>
            <p:cNvSpPr/>
            <p:nvPr/>
          </p:nvSpPr>
          <p:spPr>
            <a:xfrm>
              <a:off x="1371600" y="1447800"/>
              <a:ext cx="103251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Цель проекта</a:t>
              </a:r>
              <a:endParaRPr lang="en-US" sz="2000" dirty="0"/>
            </a:p>
          </p:txBody>
        </p:sp>
        <p:sp>
          <p:nvSpPr>
            <p:cNvPr id="100" name="Text 8">
              <a:extLst>
                <a:ext uri="{FF2B5EF4-FFF2-40B4-BE49-F238E27FC236}">
                  <a16:creationId xmlns:a16="http://schemas.microsoft.com/office/drawing/2014/main" id="{E4384109-FC5E-4A38-856B-C6DC3DB10308}"/>
                </a:ext>
              </a:extLst>
            </p:cNvPr>
            <p:cNvSpPr/>
            <p:nvPr/>
          </p:nvSpPr>
          <p:spPr>
            <a:xfrm>
              <a:off x="1371600" y="1828800"/>
              <a:ext cx="10306050" cy="619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Разработать и внедрить интеллектуального ассистента на базе LLM для автоматизации типовых операций в 1С:УНФ</a:t>
              </a:r>
              <a:endParaRPr lang="en-US" sz="2000" dirty="0"/>
            </a:p>
          </p:txBody>
        </p:sp>
      </p:grp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id="{80111D1C-CE2B-4D1A-AB99-AF1A99D22F8C}"/>
              </a:ext>
            </a:extLst>
          </p:cNvPr>
          <p:cNvGrpSpPr/>
          <p:nvPr/>
        </p:nvGrpSpPr>
        <p:grpSpPr>
          <a:xfrm>
            <a:off x="381000" y="12944475"/>
            <a:ext cx="5600700" cy="3495675"/>
            <a:chOff x="381000" y="2981325"/>
            <a:chExt cx="5600700" cy="3495675"/>
          </a:xfrm>
        </p:grpSpPr>
        <p:sp>
          <p:nvSpPr>
            <p:cNvPr id="102" name="Shape 9">
              <a:extLst>
                <a:ext uri="{FF2B5EF4-FFF2-40B4-BE49-F238E27FC236}">
                  <a16:creationId xmlns:a16="http://schemas.microsoft.com/office/drawing/2014/main" id="{188262E3-54AC-4912-A579-106E1A2815EA}"/>
                </a:ext>
              </a:extLst>
            </p:cNvPr>
            <p:cNvSpPr/>
            <p:nvPr/>
          </p:nvSpPr>
          <p:spPr>
            <a:xfrm>
              <a:off x="381000" y="2981325"/>
              <a:ext cx="5600700" cy="3495675"/>
            </a:xfrm>
            <a:custGeom>
              <a:avLst/>
              <a:gdLst/>
              <a:ahLst/>
              <a:cxnLst/>
              <a:rect l="l" t="t" r="r" b="b"/>
              <a:pathLst>
                <a:path w="5600700" h="3495675">
                  <a:moveTo>
                    <a:pt x="152411" y="0"/>
                  </a:moveTo>
                  <a:lnTo>
                    <a:pt x="5448289" y="0"/>
                  </a:lnTo>
                  <a:cubicBezTo>
                    <a:pt x="5532407" y="0"/>
                    <a:pt x="5600700" y="68293"/>
                    <a:pt x="5600700" y="152411"/>
                  </a:cubicBezTo>
                  <a:lnTo>
                    <a:pt x="5600700" y="3343264"/>
                  </a:lnTo>
                  <a:cubicBezTo>
                    <a:pt x="5600700" y="3427438"/>
                    <a:pt x="5532463" y="3495675"/>
                    <a:pt x="5448289" y="3495675"/>
                  </a:cubicBezTo>
                  <a:lnTo>
                    <a:pt x="152411" y="3495675"/>
                  </a:lnTo>
                  <a:cubicBezTo>
                    <a:pt x="68237" y="3495675"/>
                    <a:pt x="0" y="3427438"/>
                    <a:pt x="0" y="3343264"/>
                  </a:cubicBezTo>
                  <a:lnTo>
                    <a:pt x="0" y="152411"/>
                  </a:lnTo>
                  <a:cubicBezTo>
                    <a:pt x="0" y="68293"/>
                    <a:pt x="68293" y="0"/>
                    <a:pt x="15241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03" name="Text 10">
              <a:extLst>
                <a:ext uri="{FF2B5EF4-FFF2-40B4-BE49-F238E27FC236}">
                  <a16:creationId xmlns:a16="http://schemas.microsoft.com/office/drawing/2014/main" id="{BEC80060-B91E-49BA-A0ED-0D24EEC622A8}"/>
                </a:ext>
              </a:extLst>
            </p:cNvPr>
            <p:cNvSpPr/>
            <p:nvPr/>
          </p:nvSpPr>
          <p:spPr>
            <a:xfrm>
              <a:off x="609600" y="3209925"/>
              <a:ext cx="5257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Задачи исследования</a:t>
              </a:r>
              <a:endParaRPr lang="en-US" sz="2400" dirty="0"/>
            </a:p>
          </p:txBody>
        </p:sp>
        <p:sp>
          <p:nvSpPr>
            <p:cNvPr id="104" name="Shape 11">
              <a:extLst>
                <a:ext uri="{FF2B5EF4-FFF2-40B4-BE49-F238E27FC236}">
                  <a16:creationId xmlns:a16="http://schemas.microsoft.com/office/drawing/2014/main" id="{36737AD4-F09B-43F5-9CB2-9F6470B9AE1A}"/>
                </a:ext>
              </a:extLst>
            </p:cNvPr>
            <p:cNvSpPr/>
            <p:nvPr/>
          </p:nvSpPr>
          <p:spPr>
            <a:xfrm>
              <a:off x="609600" y="3857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05" name="Text 12">
              <a:extLst>
                <a:ext uri="{FF2B5EF4-FFF2-40B4-BE49-F238E27FC236}">
                  <a16:creationId xmlns:a16="http://schemas.microsoft.com/office/drawing/2014/main" id="{E72478B5-36F1-4D76-B31A-1645E060436E}"/>
                </a:ext>
              </a:extLst>
            </p:cNvPr>
            <p:cNvSpPr/>
            <p:nvPr/>
          </p:nvSpPr>
          <p:spPr>
            <a:xfrm>
              <a:off x="729615" y="3895725"/>
              <a:ext cx="142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06" name="Text 13">
              <a:extLst>
                <a:ext uri="{FF2B5EF4-FFF2-40B4-BE49-F238E27FC236}">
                  <a16:creationId xmlns:a16="http://schemas.microsoft.com/office/drawing/2014/main" id="{DF264969-1C38-4DC4-B3F8-29071F9CA7F7}"/>
                </a:ext>
              </a:extLst>
            </p:cNvPr>
            <p:cNvSpPr/>
            <p:nvPr/>
          </p:nvSpPr>
          <p:spPr>
            <a:xfrm>
              <a:off x="1066800" y="3819524"/>
              <a:ext cx="4844506" cy="700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Проанализировать проблемы пользователей 1С:УНФ</a:t>
              </a:r>
              <a:endParaRPr lang="en-US" sz="2800" dirty="0"/>
            </a:p>
          </p:txBody>
        </p:sp>
        <p:sp>
          <p:nvSpPr>
            <p:cNvPr id="107" name="Shape 14">
              <a:extLst>
                <a:ext uri="{FF2B5EF4-FFF2-40B4-BE49-F238E27FC236}">
                  <a16:creationId xmlns:a16="http://schemas.microsoft.com/office/drawing/2014/main" id="{7D209AEC-DC01-4F92-9308-A54E32B7ABD4}"/>
                </a:ext>
              </a:extLst>
            </p:cNvPr>
            <p:cNvSpPr/>
            <p:nvPr/>
          </p:nvSpPr>
          <p:spPr>
            <a:xfrm>
              <a:off x="609600" y="47202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08" name="Text 15">
              <a:extLst>
                <a:ext uri="{FF2B5EF4-FFF2-40B4-BE49-F238E27FC236}">
                  <a16:creationId xmlns:a16="http://schemas.microsoft.com/office/drawing/2014/main" id="{12FBDAF3-6C8F-47DD-91EC-BCB728D4F4D9}"/>
                </a:ext>
              </a:extLst>
            </p:cNvPr>
            <p:cNvSpPr/>
            <p:nvPr/>
          </p:nvSpPr>
          <p:spPr>
            <a:xfrm>
              <a:off x="716756" y="475836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09" name="Text 16">
              <a:extLst>
                <a:ext uri="{FF2B5EF4-FFF2-40B4-BE49-F238E27FC236}">
                  <a16:creationId xmlns:a16="http://schemas.microsoft.com/office/drawing/2014/main" id="{E816A7AF-BE8A-476F-BE35-18E61DFBEC03}"/>
                </a:ext>
              </a:extLst>
            </p:cNvPr>
            <p:cNvSpPr/>
            <p:nvPr/>
          </p:nvSpPr>
          <p:spPr>
            <a:xfrm>
              <a:off x="1045778" y="4714806"/>
              <a:ext cx="3950455" cy="62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Изучить существующие решения на рынке</a:t>
              </a:r>
              <a:endParaRPr lang="en-US" sz="2800" dirty="0"/>
            </a:p>
          </p:txBody>
        </p:sp>
        <p:sp>
          <p:nvSpPr>
            <p:cNvPr id="110" name="Shape 17">
              <a:extLst>
                <a:ext uri="{FF2B5EF4-FFF2-40B4-BE49-F238E27FC236}">
                  <a16:creationId xmlns:a16="http://schemas.microsoft.com/office/drawing/2014/main" id="{29C81EA2-C6B7-4909-AC9F-6B352FF28CFA}"/>
                </a:ext>
              </a:extLst>
            </p:cNvPr>
            <p:cNvSpPr/>
            <p:nvPr/>
          </p:nvSpPr>
          <p:spPr>
            <a:xfrm>
              <a:off x="609600" y="55836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11" name="Text 18">
              <a:extLst>
                <a:ext uri="{FF2B5EF4-FFF2-40B4-BE49-F238E27FC236}">
                  <a16:creationId xmlns:a16="http://schemas.microsoft.com/office/drawing/2014/main" id="{324CE929-7D1D-4B3F-ABC2-1B0F011CDB58}"/>
                </a:ext>
              </a:extLst>
            </p:cNvPr>
            <p:cNvSpPr/>
            <p:nvPr/>
          </p:nvSpPr>
          <p:spPr>
            <a:xfrm>
              <a:off x="714851" y="5621737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12" name="Text 19">
              <a:extLst>
                <a:ext uri="{FF2B5EF4-FFF2-40B4-BE49-F238E27FC236}">
                  <a16:creationId xmlns:a16="http://schemas.microsoft.com/office/drawing/2014/main" id="{33BA724E-185A-4011-B8C3-914429269725}"/>
                </a:ext>
              </a:extLst>
            </p:cNvPr>
            <p:cNvSpPr/>
            <p:nvPr/>
          </p:nvSpPr>
          <p:spPr>
            <a:xfrm>
              <a:off x="1066800" y="5579863"/>
              <a:ext cx="3513826" cy="653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Спроектировать архитектуру системы</a:t>
              </a:r>
              <a:endParaRPr lang="en-US" sz="2800" dirty="0"/>
            </a:p>
          </p:txBody>
        </p:sp>
      </p:grpSp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E5FB9644-B740-4EE4-B4F7-505BFA651109}"/>
              </a:ext>
            </a:extLst>
          </p:cNvPr>
          <p:cNvGrpSpPr/>
          <p:nvPr/>
        </p:nvGrpSpPr>
        <p:grpSpPr>
          <a:xfrm>
            <a:off x="6210300" y="7305675"/>
            <a:ext cx="5600700" cy="3495675"/>
            <a:chOff x="6210300" y="2981325"/>
            <a:chExt cx="5600700" cy="3495675"/>
          </a:xfrm>
        </p:grpSpPr>
        <p:sp>
          <p:nvSpPr>
            <p:cNvPr id="114" name="Shape 20">
              <a:extLst>
                <a:ext uri="{FF2B5EF4-FFF2-40B4-BE49-F238E27FC236}">
                  <a16:creationId xmlns:a16="http://schemas.microsoft.com/office/drawing/2014/main" id="{51CAEAEB-C322-4E64-A5B9-ECAE7C49D7D8}"/>
                </a:ext>
              </a:extLst>
            </p:cNvPr>
            <p:cNvSpPr/>
            <p:nvPr/>
          </p:nvSpPr>
          <p:spPr>
            <a:xfrm>
              <a:off x="6210300" y="2981325"/>
              <a:ext cx="5600700" cy="3495675"/>
            </a:xfrm>
            <a:custGeom>
              <a:avLst/>
              <a:gdLst/>
              <a:ahLst/>
              <a:cxnLst/>
              <a:rect l="l" t="t" r="r" b="b"/>
              <a:pathLst>
                <a:path w="5600700" h="3495675">
                  <a:moveTo>
                    <a:pt x="152411" y="0"/>
                  </a:moveTo>
                  <a:lnTo>
                    <a:pt x="5448289" y="0"/>
                  </a:lnTo>
                  <a:cubicBezTo>
                    <a:pt x="5532407" y="0"/>
                    <a:pt x="5600700" y="68293"/>
                    <a:pt x="5600700" y="152411"/>
                  </a:cubicBezTo>
                  <a:lnTo>
                    <a:pt x="5600700" y="3343264"/>
                  </a:lnTo>
                  <a:cubicBezTo>
                    <a:pt x="5600700" y="3427438"/>
                    <a:pt x="5532463" y="3495675"/>
                    <a:pt x="5448289" y="3495675"/>
                  </a:cubicBezTo>
                  <a:lnTo>
                    <a:pt x="152411" y="3495675"/>
                  </a:lnTo>
                  <a:cubicBezTo>
                    <a:pt x="68237" y="3495675"/>
                    <a:pt x="0" y="3427438"/>
                    <a:pt x="0" y="3343264"/>
                  </a:cubicBezTo>
                  <a:lnTo>
                    <a:pt x="0" y="152411"/>
                  </a:lnTo>
                  <a:cubicBezTo>
                    <a:pt x="0" y="68293"/>
                    <a:pt x="68293" y="0"/>
                    <a:pt x="15241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15" name="Text 21">
              <a:extLst>
                <a:ext uri="{FF2B5EF4-FFF2-40B4-BE49-F238E27FC236}">
                  <a16:creationId xmlns:a16="http://schemas.microsoft.com/office/drawing/2014/main" id="{43250B97-472C-4FCE-97FC-ACFE7FF68FEC}"/>
                </a:ext>
              </a:extLst>
            </p:cNvPr>
            <p:cNvSpPr/>
            <p:nvPr/>
          </p:nvSpPr>
          <p:spPr>
            <a:xfrm>
              <a:off x="6438900" y="3209925"/>
              <a:ext cx="5257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Задачи разработки</a:t>
              </a:r>
              <a:endParaRPr lang="en-US" sz="2400" dirty="0"/>
            </a:p>
          </p:txBody>
        </p:sp>
        <p:sp>
          <p:nvSpPr>
            <p:cNvPr id="116" name="Shape 22">
              <a:extLst>
                <a:ext uri="{FF2B5EF4-FFF2-40B4-BE49-F238E27FC236}">
                  <a16:creationId xmlns:a16="http://schemas.microsoft.com/office/drawing/2014/main" id="{B91FBF76-55D0-4A1C-BDE7-68E3AB974585}"/>
                </a:ext>
              </a:extLst>
            </p:cNvPr>
            <p:cNvSpPr/>
            <p:nvPr/>
          </p:nvSpPr>
          <p:spPr>
            <a:xfrm>
              <a:off x="6438900" y="3857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17" name="Text 23">
              <a:extLst>
                <a:ext uri="{FF2B5EF4-FFF2-40B4-BE49-F238E27FC236}">
                  <a16:creationId xmlns:a16="http://schemas.microsoft.com/office/drawing/2014/main" id="{8278BDAD-544D-40F7-8DC8-A5BA5AC61602}"/>
                </a:ext>
              </a:extLst>
            </p:cNvPr>
            <p:cNvSpPr/>
            <p:nvPr/>
          </p:nvSpPr>
          <p:spPr>
            <a:xfrm>
              <a:off x="6544151" y="389572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118" name="Text 24">
              <a:extLst>
                <a:ext uri="{FF2B5EF4-FFF2-40B4-BE49-F238E27FC236}">
                  <a16:creationId xmlns:a16="http://schemas.microsoft.com/office/drawing/2014/main" id="{98C0B5F8-BB8B-4B10-986D-A6B6CD49E4B3}"/>
                </a:ext>
              </a:extLst>
            </p:cNvPr>
            <p:cNvSpPr/>
            <p:nvPr/>
          </p:nvSpPr>
          <p:spPr>
            <a:xfrm>
              <a:off x="6896100" y="3855646"/>
              <a:ext cx="3409867" cy="6762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Разработать модуль интеграции с 1С</a:t>
              </a:r>
              <a:endParaRPr lang="en-US" sz="2800" dirty="0"/>
            </a:p>
          </p:txBody>
        </p:sp>
        <p:sp>
          <p:nvSpPr>
            <p:cNvPr id="119" name="Shape 25">
              <a:extLst>
                <a:ext uri="{FF2B5EF4-FFF2-40B4-BE49-F238E27FC236}">
                  <a16:creationId xmlns:a16="http://schemas.microsoft.com/office/drawing/2014/main" id="{4A1B7B49-30AF-45C5-8BCA-1972B79DAB32}"/>
                </a:ext>
              </a:extLst>
            </p:cNvPr>
            <p:cNvSpPr/>
            <p:nvPr/>
          </p:nvSpPr>
          <p:spPr>
            <a:xfrm>
              <a:off x="6439693" y="47583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20" name="Text 26">
              <a:extLst>
                <a:ext uri="{FF2B5EF4-FFF2-40B4-BE49-F238E27FC236}">
                  <a16:creationId xmlns:a16="http://schemas.microsoft.com/office/drawing/2014/main" id="{335289D5-6114-4329-AA0F-105F13D2BE60}"/>
                </a:ext>
              </a:extLst>
            </p:cNvPr>
            <p:cNvSpPr/>
            <p:nvPr/>
          </p:nvSpPr>
          <p:spPr>
            <a:xfrm>
              <a:off x="6544151" y="479646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121" name="Text 27">
              <a:extLst>
                <a:ext uri="{FF2B5EF4-FFF2-40B4-BE49-F238E27FC236}">
                  <a16:creationId xmlns:a16="http://schemas.microsoft.com/office/drawing/2014/main" id="{A1DD7406-C324-4A80-B77A-81022DF77DB0}"/>
                </a:ext>
              </a:extLst>
            </p:cNvPr>
            <p:cNvSpPr/>
            <p:nvPr/>
          </p:nvSpPr>
          <p:spPr>
            <a:xfrm>
              <a:off x="6896100" y="4619625"/>
              <a:ext cx="2588588" cy="926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Реализовать RAG-механизм</a:t>
              </a:r>
              <a:endParaRPr lang="en-US" sz="2800" dirty="0"/>
            </a:p>
          </p:txBody>
        </p:sp>
        <p:sp>
          <p:nvSpPr>
            <p:cNvPr id="122" name="Shape 28">
              <a:extLst>
                <a:ext uri="{FF2B5EF4-FFF2-40B4-BE49-F238E27FC236}">
                  <a16:creationId xmlns:a16="http://schemas.microsoft.com/office/drawing/2014/main" id="{16C521E6-BB27-49AF-9B6E-7CFF56F4C230}"/>
                </a:ext>
              </a:extLst>
            </p:cNvPr>
            <p:cNvSpPr/>
            <p:nvPr/>
          </p:nvSpPr>
          <p:spPr>
            <a:xfrm>
              <a:off x="6438900" y="561669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23" name="Text 29">
              <a:extLst>
                <a:ext uri="{FF2B5EF4-FFF2-40B4-BE49-F238E27FC236}">
                  <a16:creationId xmlns:a16="http://schemas.microsoft.com/office/drawing/2014/main" id="{6347D28B-42E2-4C77-9A46-1D8A0A0592E9}"/>
                </a:ext>
              </a:extLst>
            </p:cNvPr>
            <p:cNvSpPr/>
            <p:nvPr/>
          </p:nvSpPr>
          <p:spPr>
            <a:xfrm>
              <a:off x="6543040" y="565479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</a:t>
              </a:r>
              <a:endParaRPr lang="en-US" sz="1600" dirty="0"/>
            </a:p>
          </p:txBody>
        </p:sp>
        <p:sp>
          <p:nvSpPr>
            <p:cNvPr id="124" name="Text 30">
              <a:extLst>
                <a:ext uri="{FF2B5EF4-FFF2-40B4-BE49-F238E27FC236}">
                  <a16:creationId xmlns:a16="http://schemas.microsoft.com/office/drawing/2014/main" id="{AE6202AA-45E9-4BFE-BE94-632E4F7027C7}"/>
                </a:ext>
              </a:extLst>
            </p:cNvPr>
            <p:cNvSpPr/>
            <p:nvPr/>
          </p:nvSpPr>
          <p:spPr>
            <a:xfrm>
              <a:off x="6896100" y="5468339"/>
              <a:ext cx="4740546" cy="926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Создать чат-интерфейс и обеспечить безопасность</a:t>
              </a:r>
              <a:endParaRPr lang="en-US" sz="2800" dirty="0"/>
            </a:p>
          </p:txBody>
        </p:sp>
      </p:grpSp>
      <p:sp>
        <p:nvSpPr>
          <p:cNvPr id="125" name="Text 7">
            <a:extLst>
              <a:ext uri="{FF2B5EF4-FFF2-40B4-BE49-F238E27FC236}">
                <a16:creationId xmlns:a16="http://schemas.microsoft.com/office/drawing/2014/main" id="{6BF72BEF-168C-469A-8D43-B0B8A7F066D2}"/>
              </a:ext>
            </a:extLst>
          </p:cNvPr>
          <p:cNvSpPr/>
          <p:nvPr/>
        </p:nvSpPr>
        <p:spPr>
          <a:xfrm>
            <a:off x="11279663" y="-103108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3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04428BDD-7341-4240-A460-D8958827453E}"/>
              </a:ext>
            </a:extLst>
          </p:cNvPr>
          <p:cNvGrpSpPr/>
          <p:nvPr/>
        </p:nvGrpSpPr>
        <p:grpSpPr>
          <a:xfrm>
            <a:off x="-11753850" y="5765132"/>
            <a:ext cx="11426825" cy="952500"/>
            <a:chOff x="381000" y="5524500"/>
            <a:chExt cx="11426825" cy="952500"/>
          </a:xfrm>
        </p:grpSpPr>
        <p:sp>
          <p:nvSpPr>
            <p:cNvPr id="39" name="Shape 42">
              <a:extLst>
                <a:ext uri="{FF2B5EF4-FFF2-40B4-BE49-F238E27FC236}">
                  <a16:creationId xmlns:a16="http://schemas.microsoft.com/office/drawing/2014/main" id="{77B87BA7-BC8C-4861-AFBF-6E64075ABA1D}"/>
                </a:ext>
              </a:extLst>
            </p:cNvPr>
            <p:cNvSpPr/>
            <p:nvPr/>
          </p:nvSpPr>
          <p:spPr>
            <a:xfrm>
              <a:off x="3810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0" name="Text 43">
              <a:extLst>
                <a:ext uri="{FF2B5EF4-FFF2-40B4-BE49-F238E27FC236}">
                  <a16:creationId xmlns:a16="http://schemas.microsoft.com/office/drawing/2014/main" id="{A60B0FE4-06EE-4CD8-A8AD-A62EEB94D2C7}"/>
                </a:ext>
              </a:extLst>
            </p:cNvPr>
            <p:cNvSpPr/>
            <p:nvPr/>
          </p:nvSpPr>
          <p:spPr>
            <a:xfrm>
              <a:off x="4476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40%</a:t>
              </a:r>
              <a:endParaRPr lang="en-US" sz="2400" b="1" dirty="0"/>
            </a:p>
          </p:txBody>
        </p:sp>
        <p:sp>
          <p:nvSpPr>
            <p:cNvPr id="41" name="Text 44">
              <a:extLst>
                <a:ext uri="{FF2B5EF4-FFF2-40B4-BE49-F238E27FC236}">
                  <a16:creationId xmlns:a16="http://schemas.microsoft.com/office/drawing/2014/main" id="{82178FF1-7BB0-437B-8911-6C6BDA744F2F}"/>
                </a:ext>
              </a:extLst>
            </p:cNvPr>
            <p:cNvSpPr/>
            <p:nvPr/>
          </p:nvSpPr>
          <p:spPr>
            <a:xfrm>
              <a:off x="4953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времени на рутину</a:t>
              </a:r>
              <a:endParaRPr lang="en-US" sz="2400" b="1" dirty="0"/>
            </a:p>
          </p:txBody>
        </p:sp>
        <p:sp>
          <p:nvSpPr>
            <p:cNvPr id="42" name="Shape 45">
              <a:extLst>
                <a:ext uri="{FF2B5EF4-FFF2-40B4-BE49-F238E27FC236}">
                  <a16:creationId xmlns:a16="http://schemas.microsoft.com/office/drawing/2014/main" id="{6184301F-B26A-48E6-A0B2-00527BD59E61}"/>
                </a:ext>
              </a:extLst>
            </p:cNvPr>
            <p:cNvSpPr/>
            <p:nvPr/>
          </p:nvSpPr>
          <p:spPr>
            <a:xfrm>
              <a:off x="42418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3" name="Text 46">
              <a:extLst>
                <a:ext uri="{FF2B5EF4-FFF2-40B4-BE49-F238E27FC236}">
                  <a16:creationId xmlns:a16="http://schemas.microsoft.com/office/drawing/2014/main" id="{C7B5681F-496C-4387-85BF-9067BF697C24}"/>
                </a:ext>
              </a:extLst>
            </p:cNvPr>
            <p:cNvSpPr/>
            <p:nvPr/>
          </p:nvSpPr>
          <p:spPr>
            <a:xfrm>
              <a:off x="43084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2-3</a:t>
              </a:r>
              <a:endParaRPr lang="en-US" sz="2400" b="1" dirty="0"/>
            </a:p>
          </p:txBody>
        </p:sp>
        <p:sp>
          <p:nvSpPr>
            <p:cNvPr id="44" name="Text 47">
              <a:extLst>
                <a:ext uri="{FF2B5EF4-FFF2-40B4-BE49-F238E27FC236}">
                  <a16:creationId xmlns:a16="http://schemas.microsoft.com/office/drawing/2014/main" id="{CFE51A22-931A-4EE0-AAB3-8571CD292933}"/>
                </a:ext>
              </a:extLst>
            </p:cNvPr>
            <p:cNvSpPr/>
            <p:nvPr/>
          </p:nvSpPr>
          <p:spPr>
            <a:xfrm>
              <a:off x="43561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недели обучения</a:t>
              </a:r>
              <a:endParaRPr lang="en-US" sz="2400" b="1" dirty="0"/>
            </a:p>
          </p:txBody>
        </p:sp>
        <p:sp>
          <p:nvSpPr>
            <p:cNvPr id="45" name="Shape 48">
              <a:extLst>
                <a:ext uri="{FF2B5EF4-FFF2-40B4-BE49-F238E27FC236}">
                  <a16:creationId xmlns:a16="http://schemas.microsoft.com/office/drawing/2014/main" id="{32E5DE15-58D4-408B-AAEF-3092CC7751AB}"/>
                </a:ext>
              </a:extLst>
            </p:cNvPr>
            <p:cNvSpPr/>
            <p:nvPr/>
          </p:nvSpPr>
          <p:spPr>
            <a:xfrm>
              <a:off x="8102600" y="5524500"/>
              <a:ext cx="3705225" cy="952500"/>
            </a:xfrm>
            <a:custGeom>
              <a:avLst/>
              <a:gdLst/>
              <a:ahLst/>
              <a:cxnLst/>
              <a:rect l="l" t="t" r="r" b="b"/>
              <a:pathLst>
                <a:path w="3705225" h="952500">
                  <a:moveTo>
                    <a:pt x="114300" y="0"/>
                  </a:moveTo>
                  <a:lnTo>
                    <a:pt x="3590925" y="0"/>
                  </a:lnTo>
                  <a:cubicBezTo>
                    <a:pt x="3654009" y="0"/>
                    <a:pt x="3705225" y="51216"/>
                    <a:pt x="3705225" y="114300"/>
                  </a:cubicBezTo>
                  <a:lnTo>
                    <a:pt x="3705225" y="838200"/>
                  </a:lnTo>
                  <a:cubicBezTo>
                    <a:pt x="3705225" y="901284"/>
                    <a:pt x="3654009" y="952500"/>
                    <a:pt x="3590925" y="952500"/>
                  </a:cubicBezTo>
                  <a:lnTo>
                    <a:pt x="114300" y="952500"/>
                  </a:lnTo>
                  <a:cubicBezTo>
                    <a:pt x="51216" y="952500"/>
                    <a:pt x="0" y="901284"/>
                    <a:pt x="0" y="838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6" name="Text 49">
              <a:extLst>
                <a:ext uri="{FF2B5EF4-FFF2-40B4-BE49-F238E27FC236}">
                  <a16:creationId xmlns:a16="http://schemas.microsoft.com/office/drawing/2014/main" id="{43536D4C-8301-46E9-B82A-B23D8B81FC0E}"/>
                </a:ext>
              </a:extLst>
            </p:cNvPr>
            <p:cNvSpPr/>
            <p:nvPr/>
          </p:nvSpPr>
          <p:spPr>
            <a:xfrm>
              <a:off x="8169275" y="5676900"/>
              <a:ext cx="35718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50%</a:t>
              </a:r>
              <a:endParaRPr lang="en-US" sz="2400" b="1" dirty="0"/>
            </a:p>
          </p:txBody>
        </p:sp>
        <p:sp>
          <p:nvSpPr>
            <p:cNvPr id="47" name="Text 50">
              <a:extLst>
                <a:ext uri="{FF2B5EF4-FFF2-40B4-BE49-F238E27FC236}">
                  <a16:creationId xmlns:a16="http://schemas.microsoft.com/office/drawing/2014/main" id="{3A94DA92-8625-47FD-A985-5F01378420F9}"/>
                </a:ext>
              </a:extLst>
            </p:cNvPr>
            <p:cNvSpPr/>
            <p:nvPr/>
          </p:nvSpPr>
          <p:spPr>
            <a:xfrm>
              <a:off x="8216900" y="6096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обращений типовые</a:t>
              </a:r>
              <a:endParaRPr lang="en-US" sz="2400" b="1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91200B37-4C8A-49B2-A830-11D1F9DA4EED}"/>
              </a:ext>
            </a:extLst>
          </p:cNvPr>
          <p:cNvGrpSpPr/>
          <p:nvPr/>
        </p:nvGrpSpPr>
        <p:grpSpPr>
          <a:xfrm>
            <a:off x="-6400800" y="1219200"/>
            <a:ext cx="5562600" cy="4393532"/>
            <a:chOff x="381000" y="1219200"/>
            <a:chExt cx="5562600" cy="4393532"/>
          </a:xfrm>
        </p:grpSpPr>
        <p:sp>
          <p:nvSpPr>
            <p:cNvPr id="49" name="Shape 4">
              <a:extLst>
                <a:ext uri="{FF2B5EF4-FFF2-40B4-BE49-F238E27FC236}">
                  <a16:creationId xmlns:a16="http://schemas.microsoft.com/office/drawing/2014/main" id="{5DB3985A-34D6-4681-B0FD-7A4899460899}"/>
                </a:ext>
              </a:extLst>
            </p:cNvPr>
            <p:cNvSpPr/>
            <p:nvPr/>
          </p:nvSpPr>
          <p:spPr>
            <a:xfrm>
              <a:off x="381000" y="1219200"/>
              <a:ext cx="5562600" cy="4393532"/>
            </a:xfrm>
            <a:custGeom>
              <a:avLst/>
              <a:gdLst/>
              <a:ahLst/>
              <a:cxnLst/>
              <a:rect l="l" t="t" r="r" b="b"/>
              <a:pathLst>
                <a:path w="5562600" h="4076700">
                  <a:moveTo>
                    <a:pt x="152387" y="0"/>
                  </a:moveTo>
                  <a:lnTo>
                    <a:pt x="5410213" y="0"/>
                  </a:lnTo>
                  <a:cubicBezTo>
                    <a:pt x="5494374" y="0"/>
                    <a:pt x="5562600" y="68226"/>
                    <a:pt x="5562600" y="152387"/>
                  </a:cubicBezTo>
                  <a:lnTo>
                    <a:pt x="5562600" y="3924313"/>
                  </a:lnTo>
                  <a:cubicBezTo>
                    <a:pt x="5562600" y="4008474"/>
                    <a:pt x="5494374" y="4076700"/>
                    <a:pt x="5410213" y="4076700"/>
                  </a:cubicBezTo>
                  <a:lnTo>
                    <a:pt x="152387" y="4076700"/>
                  </a:lnTo>
                  <a:cubicBezTo>
                    <a:pt x="68226" y="4076700"/>
                    <a:pt x="0" y="4008474"/>
                    <a:pt x="0" y="3924313"/>
                  </a:cubicBezTo>
                  <a:lnTo>
                    <a:pt x="0" y="152387"/>
                  </a:lnTo>
                  <a:cubicBezTo>
                    <a:pt x="0" y="68226"/>
                    <a:pt x="68226" y="0"/>
                    <a:pt x="15238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50" name="Shape 5">
              <a:extLst>
                <a:ext uri="{FF2B5EF4-FFF2-40B4-BE49-F238E27FC236}">
                  <a16:creationId xmlns:a16="http://schemas.microsoft.com/office/drawing/2014/main" id="{A5E6218D-C9DF-45BE-B3F7-67A1FFE3BEC3}"/>
                </a:ext>
              </a:extLst>
            </p:cNvPr>
            <p:cNvSpPr/>
            <p:nvPr/>
          </p:nvSpPr>
          <p:spPr>
            <a:xfrm>
              <a:off x="609600" y="14478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51" name="Shape 6">
              <a:extLst>
                <a:ext uri="{FF2B5EF4-FFF2-40B4-BE49-F238E27FC236}">
                  <a16:creationId xmlns:a16="http://schemas.microsoft.com/office/drawing/2014/main" id="{AA7F4F85-1E1A-42AC-B3D6-4EE3CFC19C50}"/>
                </a:ext>
              </a:extLst>
            </p:cNvPr>
            <p:cNvSpPr/>
            <p:nvPr/>
          </p:nvSpPr>
          <p:spPr>
            <a:xfrm>
              <a:off x="716756" y="15525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cubicBezTo>
                    <a:pt x="90647" y="0"/>
                    <a:pt x="95168" y="2712"/>
                    <a:pt x="97512" y="7032"/>
                  </a:cubicBezTo>
                  <a:lnTo>
                    <a:pt x="169843" y="140977"/>
                  </a:lnTo>
                  <a:cubicBezTo>
                    <a:pt x="172086" y="145130"/>
                    <a:pt x="171986" y="150153"/>
                    <a:pt x="169575" y="154205"/>
                  </a:cubicBezTo>
                  <a:cubicBezTo>
                    <a:pt x="167164" y="158256"/>
                    <a:pt x="162777" y="160734"/>
                    <a:pt x="158055" y="160734"/>
                  </a:cubicBezTo>
                  <a:lnTo>
                    <a:pt x="13395" y="160734"/>
                  </a:lnTo>
                  <a:cubicBezTo>
                    <a:pt x="8673" y="160734"/>
                    <a:pt x="4320" y="158256"/>
                    <a:pt x="1875" y="154205"/>
                  </a:cubicBezTo>
                  <a:cubicBezTo>
                    <a:pt x="-569" y="150153"/>
                    <a:pt x="-636" y="145130"/>
                    <a:pt x="1607" y="140977"/>
                  </a:cubicBezTo>
                  <a:lnTo>
                    <a:pt x="73938" y="7032"/>
                  </a:lnTo>
                  <a:cubicBezTo>
                    <a:pt x="76282" y="2712"/>
                    <a:pt x="80803" y="0"/>
                    <a:pt x="85725" y="0"/>
                  </a:cubicBezTo>
                  <a:close/>
                  <a:moveTo>
                    <a:pt x="85725" y="56257"/>
                  </a:moveTo>
                  <a:cubicBezTo>
                    <a:pt x="81271" y="56257"/>
                    <a:pt x="77688" y="59840"/>
                    <a:pt x="77688" y="64294"/>
                  </a:cubicBezTo>
                  <a:lnTo>
                    <a:pt x="77688" y="101798"/>
                  </a:lnTo>
                  <a:cubicBezTo>
                    <a:pt x="77688" y="106252"/>
                    <a:pt x="81271" y="109835"/>
                    <a:pt x="85725" y="109835"/>
                  </a:cubicBezTo>
                  <a:cubicBezTo>
                    <a:pt x="90179" y="109835"/>
                    <a:pt x="93762" y="106252"/>
                    <a:pt x="93762" y="101798"/>
                  </a:cubicBezTo>
                  <a:lnTo>
                    <a:pt x="93762" y="64294"/>
                  </a:lnTo>
                  <a:cubicBezTo>
                    <a:pt x="93762" y="59840"/>
                    <a:pt x="90179" y="56257"/>
                    <a:pt x="85725" y="56257"/>
                  </a:cubicBezTo>
                  <a:close/>
                  <a:moveTo>
                    <a:pt x="94666" y="128588"/>
                  </a:moveTo>
                  <a:cubicBezTo>
                    <a:pt x="94869" y="125269"/>
                    <a:pt x="93214" y="122111"/>
                    <a:pt x="90369" y="120390"/>
                  </a:cubicBezTo>
                  <a:cubicBezTo>
                    <a:pt x="87524" y="118670"/>
                    <a:pt x="83959" y="118670"/>
                    <a:pt x="81114" y="120390"/>
                  </a:cubicBezTo>
                  <a:cubicBezTo>
                    <a:pt x="78269" y="122111"/>
                    <a:pt x="76614" y="125269"/>
                    <a:pt x="76818" y="128587"/>
                  </a:cubicBezTo>
                  <a:cubicBezTo>
                    <a:pt x="76614" y="131906"/>
                    <a:pt x="78269" y="135064"/>
                    <a:pt x="81114" y="136785"/>
                  </a:cubicBezTo>
                  <a:cubicBezTo>
                    <a:pt x="83959" y="138505"/>
                    <a:pt x="87524" y="138505"/>
                    <a:pt x="90369" y="136785"/>
                  </a:cubicBezTo>
                  <a:cubicBezTo>
                    <a:pt x="93214" y="135064"/>
                    <a:pt x="94869" y="131906"/>
                    <a:pt x="94666" y="1285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52" name="Text 7">
              <a:extLst>
                <a:ext uri="{FF2B5EF4-FFF2-40B4-BE49-F238E27FC236}">
                  <a16:creationId xmlns:a16="http://schemas.microsoft.com/office/drawing/2014/main" id="{A3A91F57-A3DE-4DED-8F1D-859F7BADD7A9}"/>
                </a:ext>
              </a:extLst>
            </p:cNvPr>
            <p:cNvSpPr/>
            <p:nvPr/>
          </p:nvSpPr>
          <p:spPr>
            <a:xfrm>
              <a:off x="1104900" y="1485900"/>
              <a:ext cx="23145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Почему 1С сложна?</a:t>
              </a:r>
              <a:endParaRPr lang="en-US" sz="1600" dirty="0"/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57E077E5-EFE6-4EBD-9FC2-E0FDAED46FC6}"/>
                </a:ext>
              </a:extLst>
            </p:cNvPr>
            <p:cNvGrpSpPr/>
            <p:nvPr/>
          </p:nvGrpSpPr>
          <p:grpSpPr>
            <a:xfrm>
              <a:off x="681990" y="2064509"/>
              <a:ext cx="5086350" cy="923048"/>
              <a:chOff x="628650" y="1824366"/>
              <a:chExt cx="5086350" cy="923048"/>
            </a:xfrm>
          </p:grpSpPr>
          <p:sp>
            <p:nvSpPr>
              <p:cNvPr id="66" name="Shape 8">
                <a:extLst>
                  <a:ext uri="{FF2B5EF4-FFF2-40B4-BE49-F238E27FC236}">
                    <a16:creationId xmlns:a16="http://schemas.microsoft.com/office/drawing/2014/main" id="{76E77958-67B0-42E9-96E7-5C546BCF8A99}"/>
                  </a:ext>
                </a:extLst>
              </p:cNvPr>
              <p:cNvSpPr/>
              <p:nvPr/>
            </p:nvSpPr>
            <p:spPr>
              <a:xfrm>
                <a:off x="628650" y="1824366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67" name="Shape 9">
                <a:extLst>
                  <a:ext uri="{FF2B5EF4-FFF2-40B4-BE49-F238E27FC236}">
                    <a16:creationId xmlns:a16="http://schemas.microsoft.com/office/drawing/2014/main" id="{8D2F0640-011F-45CC-9FF5-DD1F4613BF0A}"/>
                  </a:ext>
                </a:extLst>
              </p:cNvPr>
              <p:cNvSpPr/>
              <p:nvPr/>
            </p:nvSpPr>
            <p:spPr>
              <a:xfrm>
                <a:off x="628650" y="1824366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8" name="Shape 10">
                <a:extLst>
                  <a:ext uri="{FF2B5EF4-FFF2-40B4-BE49-F238E27FC236}">
                    <a16:creationId xmlns:a16="http://schemas.microsoft.com/office/drawing/2014/main" id="{2166C587-81B2-4E75-AE67-2C675D5C07FB}"/>
                  </a:ext>
                </a:extLst>
              </p:cNvPr>
              <p:cNvSpPr/>
              <p:nvPr/>
            </p:nvSpPr>
            <p:spPr>
              <a:xfrm>
                <a:off x="823913" y="2057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23812" y="23812"/>
                    </a:moveTo>
                    <a:cubicBezTo>
                      <a:pt x="10678" y="23812"/>
                      <a:pt x="0" y="34491"/>
                      <a:pt x="0" y="47625"/>
                    </a:cubicBezTo>
                    <a:lnTo>
                      <a:pt x="0" y="142875"/>
                    </a:lnTo>
                    <a:cubicBezTo>
                      <a:pt x="0" y="156009"/>
                      <a:pt x="10678" y="166688"/>
                      <a:pt x="23812" y="166688"/>
                    </a:cubicBezTo>
                    <a:lnTo>
                      <a:pt x="166688" y="166688"/>
                    </a:lnTo>
                    <a:cubicBezTo>
                      <a:pt x="179822" y="166688"/>
                      <a:pt x="190500" y="156009"/>
                      <a:pt x="190500" y="142875"/>
                    </a:cubicBezTo>
                    <a:lnTo>
                      <a:pt x="190500" y="47625"/>
                    </a:lnTo>
                    <a:cubicBezTo>
                      <a:pt x="190500" y="34491"/>
                      <a:pt x="179822" y="23812"/>
                      <a:pt x="166688" y="23812"/>
                    </a:cubicBezTo>
                    <a:lnTo>
                      <a:pt x="23812" y="23812"/>
                    </a:lnTo>
                    <a:close/>
                    <a:moveTo>
                      <a:pt x="32742" y="47625"/>
                    </a:moveTo>
                    <a:lnTo>
                      <a:pt x="157758" y="47625"/>
                    </a:lnTo>
                    <a:cubicBezTo>
                      <a:pt x="162706" y="47625"/>
                      <a:pt x="166688" y="51606"/>
                      <a:pt x="166688" y="56555"/>
                    </a:cubicBezTo>
                    <a:cubicBezTo>
                      <a:pt x="166688" y="61503"/>
                      <a:pt x="162706" y="65484"/>
                      <a:pt x="157758" y="65484"/>
                    </a:cubicBezTo>
                    <a:lnTo>
                      <a:pt x="32742" y="65484"/>
                    </a:lnTo>
                    <a:cubicBezTo>
                      <a:pt x="27794" y="65484"/>
                      <a:pt x="23812" y="61503"/>
                      <a:pt x="23812" y="56555"/>
                    </a:cubicBezTo>
                    <a:cubicBezTo>
                      <a:pt x="23812" y="51606"/>
                      <a:pt x="27794" y="47625"/>
                      <a:pt x="32742" y="4762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9" name="Text 11">
                <a:extLst>
                  <a:ext uri="{FF2B5EF4-FFF2-40B4-BE49-F238E27FC236}">
                    <a16:creationId xmlns:a16="http://schemas.microsoft.com/office/drawing/2014/main" id="{14BCE039-316E-4999-B885-37B37CCB4679}"/>
                  </a:ext>
                </a:extLst>
              </p:cNvPr>
              <p:cNvSpPr/>
              <p:nvPr/>
            </p:nvSpPr>
            <p:spPr>
              <a:xfrm>
                <a:off x="1175385" y="1951925"/>
                <a:ext cx="35623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Множество форм</a:t>
                </a:r>
                <a:endParaRPr lang="en-US" sz="2000" dirty="0"/>
              </a:p>
            </p:txBody>
          </p:sp>
          <p:sp>
            <p:nvSpPr>
              <p:cNvPr id="70" name="Text 12">
                <a:extLst>
                  <a:ext uri="{FF2B5EF4-FFF2-40B4-BE49-F238E27FC236}">
                    <a16:creationId xmlns:a16="http://schemas.microsoft.com/office/drawing/2014/main" id="{5ED15681-C0AE-48D4-A43D-7AFC0DC4A9F3}"/>
                  </a:ext>
                </a:extLst>
              </p:cNvPr>
              <p:cNvSpPr/>
              <p:nvPr/>
            </p:nvSpPr>
            <p:spPr>
              <a:xfrm>
                <a:off x="1175384" y="2218625"/>
                <a:ext cx="4333875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Сотни окон и настроек, неочевидная навигация</a:t>
                </a:r>
                <a:endParaRPr lang="en-US" sz="2000" dirty="0"/>
              </a:p>
            </p:txBody>
          </p:sp>
        </p:grpSp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59CE0FC1-218B-45D4-BB7B-5E848185BFEB}"/>
                </a:ext>
              </a:extLst>
            </p:cNvPr>
            <p:cNvGrpSpPr/>
            <p:nvPr/>
          </p:nvGrpSpPr>
          <p:grpSpPr>
            <a:xfrm>
              <a:off x="685800" y="3288435"/>
              <a:ext cx="5086350" cy="923048"/>
              <a:chOff x="628650" y="3009900"/>
              <a:chExt cx="5086350" cy="923048"/>
            </a:xfrm>
          </p:grpSpPr>
          <p:sp>
            <p:nvSpPr>
              <p:cNvPr id="61" name="Shape 13">
                <a:extLst>
                  <a:ext uri="{FF2B5EF4-FFF2-40B4-BE49-F238E27FC236}">
                    <a16:creationId xmlns:a16="http://schemas.microsoft.com/office/drawing/2014/main" id="{DBC44F78-3E1D-40EB-9234-A8889D027011}"/>
                  </a:ext>
                </a:extLst>
              </p:cNvPr>
              <p:cNvSpPr/>
              <p:nvPr/>
            </p:nvSpPr>
            <p:spPr>
              <a:xfrm>
                <a:off x="628650" y="30099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62" name="Shape 14">
                <a:extLst>
                  <a:ext uri="{FF2B5EF4-FFF2-40B4-BE49-F238E27FC236}">
                    <a16:creationId xmlns:a16="http://schemas.microsoft.com/office/drawing/2014/main" id="{FB27638E-1966-4451-8189-A9BB09A0577C}"/>
                  </a:ext>
                </a:extLst>
              </p:cNvPr>
              <p:cNvSpPr/>
              <p:nvPr/>
            </p:nvSpPr>
            <p:spPr>
              <a:xfrm>
                <a:off x="628650" y="30099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3" name="Shape 15">
                <a:extLst>
                  <a:ext uri="{FF2B5EF4-FFF2-40B4-BE49-F238E27FC236}">
                    <a16:creationId xmlns:a16="http://schemas.microsoft.com/office/drawing/2014/main" id="{0BBF226F-E5CA-4C5B-A46E-375970F624D1}"/>
                  </a:ext>
                </a:extLst>
              </p:cNvPr>
              <p:cNvSpPr/>
              <p:nvPr/>
            </p:nvSpPr>
            <p:spPr>
              <a:xfrm>
                <a:off x="812006" y="3200400"/>
                <a:ext cx="2143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90500">
                    <a:moveTo>
                      <a:pt x="17859" y="72851"/>
                    </a:moveTo>
                    <a:lnTo>
                      <a:pt x="95696" y="104887"/>
                    </a:lnTo>
                    <a:cubicBezTo>
                      <a:pt x="99343" y="106375"/>
                      <a:pt x="103212" y="107156"/>
                      <a:pt x="107156" y="107156"/>
                    </a:cubicBezTo>
                    <a:cubicBezTo>
                      <a:pt x="111100" y="107156"/>
                      <a:pt x="114970" y="106375"/>
                      <a:pt x="118616" y="104887"/>
                    </a:cubicBezTo>
                    <a:lnTo>
                      <a:pt x="208806" y="67754"/>
                    </a:lnTo>
                    <a:cubicBezTo>
                      <a:pt x="212154" y="66377"/>
                      <a:pt x="214313" y="63140"/>
                      <a:pt x="214313" y="59531"/>
                    </a:cubicBezTo>
                    <a:cubicBezTo>
                      <a:pt x="214313" y="55922"/>
                      <a:pt x="212154" y="52685"/>
                      <a:pt x="208806" y="51308"/>
                    </a:cubicBezTo>
                    <a:lnTo>
                      <a:pt x="118616" y="14176"/>
                    </a:lnTo>
                    <a:cubicBezTo>
                      <a:pt x="114970" y="12688"/>
                      <a:pt x="111100" y="11906"/>
                      <a:pt x="107156" y="11906"/>
                    </a:cubicBezTo>
                    <a:cubicBezTo>
                      <a:pt x="103212" y="11906"/>
                      <a:pt x="99343" y="12688"/>
                      <a:pt x="95696" y="14176"/>
                    </a:cubicBezTo>
                    <a:lnTo>
                      <a:pt x="5507" y="51308"/>
                    </a:lnTo>
                    <a:cubicBezTo>
                      <a:pt x="2158" y="52685"/>
                      <a:pt x="0" y="55922"/>
                      <a:pt x="0" y="59531"/>
                    </a:cubicBezTo>
                    <a:lnTo>
                      <a:pt x="0" y="169664"/>
                    </a:lnTo>
                    <a:cubicBezTo>
                      <a:pt x="0" y="174613"/>
                      <a:pt x="3981" y="178594"/>
                      <a:pt x="8930" y="178594"/>
                    </a:cubicBezTo>
                    <a:cubicBezTo>
                      <a:pt x="13878" y="178594"/>
                      <a:pt x="17859" y="174613"/>
                      <a:pt x="17859" y="169664"/>
                    </a:cubicBezTo>
                    <a:lnTo>
                      <a:pt x="17859" y="72851"/>
                    </a:lnTo>
                    <a:close/>
                    <a:moveTo>
                      <a:pt x="35719" y="99529"/>
                    </a:moveTo>
                    <a:lnTo>
                      <a:pt x="35719" y="142875"/>
                    </a:lnTo>
                    <a:cubicBezTo>
                      <a:pt x="35719" y="162595"/>
                      <a:pt x="67717" y="178594"/>
                      <a:pt x="107156" y="178594"/>
                    </a:cubicBezTo>
                    <a:cubicBezTo>
                      <a:pt x="146596" y="178594"/>
                      <a:pt x="178594" y="162595"/>
                      <a:pt x="178594" y="142875"/>
                    </a:cubicBezTo>
                    <a:lnTo>
                      <a:pt x="178594" y="99492"/>
                    </a:lnTo>
                    <a:lnTo>
                      <a:pt x="125425" y="121407"/>
                    </a:lnTo>
                    <a:cubicBezTo>
                      <a:pt x="119621" y="123788"/>
                      <a:pt x="113444" y="125016"/>
                      <a:pt x="107156" y="125016"/>
                    </a:cubicBezTo>
                    <a:cubicBezTo>
                      <a:pt x="100868" y="125016"/>
                      <a:pt x="94692" y="123788"/>
                      <a:pt x="88888" y="121407"/>
                    </a:cubicBezTo>
                    <a:lnTo>
                      <a:pt x="35719" y="99492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64" name="Text 16">
                <a:extLst>
                  <a:ext uri="{FF2B5EF4-FFF2-40B4-BE49-F238E27FC236}">
                    <a16:creationId xmlns:a16="http://schemas.microsoft.com/office/drawing/2014/main" id="{67DA42EC-2BC4-464A-BAB7-815EC67CE0D6}"/>
                  </a:ext>
                </a:extLst>
              </p:cNvPr>
              <p:cNvSpPr/>
              <p:nvPr/>
            </p:nvSpPr>
            <p:spPr>
              <a:xfrm>
                <a:off x="1152525" y="3162300"/>
                <a:ext cx="33718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Высокий порог входа</a:t>
                </a:r>
                <a:endParaRPr lang="en-US" sz="2000" dirty="0"/>
              </a:p>
            </p:txBody>
          </p:sp>
          <p:sp>
            <p:nvSpPr>
              <p:cNvPr id="65" name="Text 17">
                <a:extLst>
                  <a:ext uri="{FF2B5EF4-FFF2-40B4-BE49-F238E27FC236}">
                    <a16:creationId xmlns:a16="http://schemas.microsoft.com/office/drawing/2014/main" id="{C475E70F-AFF4-466D-809F-B1F4CB3D9543}"/>
                  </a:ext>
                </a:extLst>
              </p:cNvPr>
              <p:cNvSpPr/>
              <p:nvPr/>
            </p:nvSpPr>
            <p:spPr>
              <a:xfrm>
                <a:off x="1152524" y="3429000"/>
                <a:ext cx="4391025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2-3 недели обучения для новых сотрудников</a:t>
                </a:r>
                <a:endParaRPr lang="en-US" sz="2000" dirty="0"/>
              </a:p>
            </p:txBody>
          </p:sp>
        </p:grpSp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529CF98C-B62B-49B3-AB8E-76A1E97BFE7C}"/>
                </a:ext>
              </a:extLst>
            </p:cNvPr>
            <p:cNvGrpSpPr/>
            <p:nvPr/>
          </p:nvGrpSpPr>
          <p:grpSpPr>
            <a:xfrm>
              <a:off x="666750" y="4437701"/>
              <a:ext cx="5086350" cy="925420"/>
              <a:chOff x="628650" y="3837080"/>
              <a:chExt cx="5086350" cy="925420"/>
            </a:xfrm>
          </p:grpSpPr>
          <p:sp>
            <p:nvSpPr>
              <p:cNvPr id="56" name="Shape 18">
                <a:extLst>
                  <a:ext uri="{FF2B5EF4-FFF2-40B4-BE49-F238E27FC236}">
                    <a16:creationId xmlns:a16="http://schemas.microsoft.com/office/drawing/2014/main" id="{E3551AB0-E5E9-4EA3-B4EB-75E07073B016}"/>
                  </a:ext>
                </a:extLst>
              </p:cNvPr>
              <p:cNvSpPr/>
              <p:nvPr/>
            </p:nvSpPr>
            <p:spPr>
              <a:xfrm>
                <a:off x="628650" y="3837080"/>
                <a:ext cx="5086350" cy="925420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sz="2400" dirty="0"/>
              </a:p>
            </p:txBody>
          </p:sp>
          <p:sp>
            <p:nvSpPr>
              <p:cNvPr id="57" name="Shape 19">
                <a:extLst>
                  <a:ext uri="{FF2B5EF4-FFF2-40B4-BE49-F238E27FC236}">
                    <a16:creationId xmlns:a16="http://schemas.microsoft.com/office/drawing/2014/main" id="{D70B0D4B-B3B3-4CB0-8B2C-603B065E15E4}"/>
                  </a:ext>
                </a:extLst>
              </p:cNvPr>
              <p:cNvSpPr/>
              <p:nvPr/>
            </p:nvSpPr>
            <p:spPr>
              <a:xfrm>
                <a:off x="628650" y="3837080"/>
                <a:ext cx="38100" cy="92542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58" name="Shape 20">
                <a:extLst>
                  <a:ext uri="{FF2B5EF4-FFF2-40B4-BE49-F238E27FC236}">
                    <a16:creationId xmlns:a16="http://schemas.microsoft.com/office/drawing/2014/main" id="{08434C40-58DE-4E98-BB71-90E4D6FAD6DF}"/>
                  </a:ext>
                </a:extLst>
              </p:cNvPr>
              <p:cNvSpPr/>
              <p:nvPr/>
            </p:nvSpPr>
            <p:spPr>
              <a:xfrm>
                <a:off x="839153" y="406772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ubicBezTo>
                      <a:pt x="0" y="42680"/>
                      <a:pt x="42680" y="0"/>
                      <a:pt x="95250" y="0"/>
                    </a:cubicBezTo>
                    <a:close/>
                    <a:moveTo>
                      <a:pt x="86320" y="44648"/>
                    </a:moveTo>
                    <a:lnTo>
                      <a:pt x="86320" y="95250"/>
                    </a:lnTo>
                    <a:cubicBezTo>
                      <a:pt x="86320" y="98227"/>
                      <a:pt x="87809" y="101017"/>
                      <a:pt x="90301" y="102691"/>
                    </a:cubicBezTo>
                    <a:lnTo>
                      <a:pt x="126020" y="126504"/>
                    </a:lnTo>
                    <a:cubicBezTo>
                      <a:pt x="130113" y="129257"/>
                      <a:pt x="135657" y="128141"/>
                      <a:pt x="138410" y="124011"/>
                    </a:cubicBezTo>
                    <a:cubicBezTo>
                      <a:pt x="141163" y="119881"/>
                      <a:pt x="140047" y="114374"/>
                      <a:pt x="135917" y="111621"/>
                    </a:cubicBezTo>
                    <a:lnTo>
                      <a:pt x="104180" y="90488"/>
                    </a:lnTo>
                    <a:lnTo>
                      <a:pt x="104180" y="44648"/>
                    </a:lnTo>
                    <a:cubicBezTo>
                      <a:pt x="104180" y="39700"/>
                      <a:pt x="100199" y="35719"/>
                      <a:pt x="95250" y="35719"/>
                    </a:cubicBezTo>
                    <a:cubicBezTo>
                      <a:pt x="90301" y="35719"/>
                      <a:pt x="86320" y="39700"/>
                      <a:pt x="86320" y="4464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59" name="Text 21">
                <a:extLst>
                  <a:ext uri="{FF2B5EF4-FFF2-40B4-BE49-F238E27FC236}">
                    <a16:creationId xmlns:a16="http://schemas.microsoft.com/office/drawing/2014/main" id="{7B1EF090-C25D-42B8-B8E4-B14F44872882}"/>
                  </a:ext>
                </a:extLst>
              </p:cNvPr>
              <p:cNvSpPr/>
              <p:nvPr/>
            </p:nvSpPr>
            <p:spPr>
              <a:xfrm>
                <a:off x="1156000" y="4040033"/>
                <a:ext cx="31908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Рутинные операции</a:t>
                </a:r>
                <a:endParaRPr lang="en-US" sz="2000" dirty="0"/>
              </a:p>
            </p:txBody>
          </p:sp>
          <p:sp>
            <p:nvSpPr>
              <p:cNvPr id="60" name="Text 22">
                <a:extLst>
                  <a:ext uri="{FF2B5EF4-FFF2-40B4-BE49-F238E27FC236}">
                    <a16:creationId xmlns:a16="http://schemas.microsoft.com/office/drawing/2014/main" id="{1FFAC579-B302-4072-89E1-CF547AC4496D}"/>
                  </a:ext>
                </a:extLst>
              </p:cNvPr>
              <p:cNvSpPr/>
              <p:nvPr/>
            </p:nvSpPr>
            <p:spPr>
              <a:xfrm>
                <a:off x="1156000" y="4306733"/>
                <a:ext cx="4406599" cy="3069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40% рабочего времени на типовые задачи</a:t>
                </a:r>
                <a:endParaRPr lang="en-US" sz="2000" dirty="0"/>
              </a:p>
            </p:txBody>
          </p:sp>
        </p:grp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D9651ADE-2D22-4D32-B24D-B396544093AF}"/>
              </a:ext>
            </a:extLst>
          </p:cNvPr>
          <p:cNvGrpSpPr/>
          <p:nvPr/>
        </p:nvGrpSpPr>
        <p:grpSpPr>
          <a:xfrm>
            <a:off x="13220700" y="1219200"/>
            <a:ext cx="5562600" cy="4393532"/>
            <a:chOff x="6248400" y="1219200"/>
            <a:chExt cx="5562600" cy="4393532"/>
          </a:xfrm>
        </p:grpSpPr>
        <p:sp>
          <p:nvSpPr>
            <p:cNvPr id="72" name="Shape 23">
              <a:extLst>
                <a:ext uri="{FF2B5EF4-FFF2-40B4-BE49-F238E27FC236}">
                  <a16:creationId xmlns:a16="http://schemas.microsoft.com/office/drawing/2014/main" id="{4D377E4F-4512-48F5-B55E-601068AB97BF}"/>
                </a:ext>
              </a:extLst>
            </p:cNvPr>
            <p:cNvSpPr/>
            <p:nvPr/>
          </p:nvSpPr>
          <p:spPr>
            <a:xfrm>
              <a:off x="6248400" y="1219200"/>
              <a:ext cx="5562600" cy="4393532"/>
            </a:xfrm>
            <a:custGeom>
              <a:avLst/>
              <a:gdLst/>
              <a:ahLst/>
              <a:cxnLst/>
              <a:rect l="l" t="t" r="r" b="b"/>
              <a:pathLst>
                <a:path w="5562600" h="4076700">
                  <a:moveTo>
                    <a:pt x="152387" y="0"/>
                  </a:moveTo>
                  <a:lnTo>
                    <a:pt x="5410213" y="0"/>
                  </a:lnTo>
                  <a:cubicBezTo>
                    <a:pt x="5494374" y="0"/>
                    <a:pt x="5562600" y="68226"/>
                    <a:pt x="5562600" y="152387"/>
                  </a:cubicBezTo>
                  <a:lnTo>
                    <a:pt x="5562600" y="3924313"/>
                  </a:lnTo>
                  <a:cubicBezTo>
                    <a:pt x="5562600" y="4008474"/>
                    <a:pt x="5494374" y="4076700"/>
                    <a:pt x="5410213" y="4076700"/>
                  </a:cubicBezTo>
                  <a:lnTo>
                    <a:pt x="152387" y="4076700"/>
                  </a:lnTo>
                  <a:cubicBezTo>
                    <a:pt x="68226" y="4076700"/>
                    <a:pt x="0" y="4008474"/>
                    <a:pt x="0" y="3924313"/>
                  </a:cubicBezTo>
                  <a:lnTo>
                    <a:pt x="0" y="152387"/>
                  </a:lnTo>
                  <a:cubicBezTo>
                    <a:pt x="0" y="68226"/>
                    <a:pt x="68226" y="0"/>
                    <a:pt x="15238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73" name="Группа 72">
              <a:extLst>
                <a:ext uri="{FF2B5EF4-FFF2-40B4-BE49-F238E27FC236}">
                  <a16:creationId xmlns:a16="http://schemas.microsoft.com/office/drawing/2014/main" id="{F83FB78D-E3B6-41B2-894D-3B1E9E4DF308}"/>
                </a:ext>
              </a:extLst>
            </p:cNvPr>
            <p:cNvGrpSpPr/>
            <p:nvPr/>
          </p:nvGrpSpPr>
          <p:grpSpPr>
            <a:xfrm>
              <a:off x="6477000" y="1447800"/>
              <a:ext cx="3057525" cy="381000"/>
              <a:chOff x="6477000" y="1447800"/>
              <a:chExt cx="3057525" cy="381000"/>
            </a:xfrm>
          </p:grpSpPr>
          <p:sp>
            <p:nvSpPr>
              <p:cNvPr id="92" name="Shape 24">
                <a:extLst>
                  <a:ext uri="{FF2B5EF4-FFF2-40B4-BE49-F238E27FC236}">
                    <a16:creationId xmlns:a16="http://schemas.microsoft.com/office/drawing/2014/main" id="{8405DA14-7547-4E72-8A2C-26A1BDC954D5}"/>
                  </a:ext>
                </a:extLst>
              </p:cNvPr>
              <p:cNvSpPr/>
              <p:nvPr/>
            </p:nvSpPr>
            <p:spPr>
              <a:xfrm>
                <a:off x="6477000" y="14478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76200" y="0"/>
                    </a:moveTo>
                    <a:lnTo>
                      <a:pt x="304800" y="0"/>
                    </a:lnTo>
                    <a:cubicBezTo>
                      <a:pt x="346856" y="0"/>
                      <a:pt x="381000" y="34144"/>
                      <a:pt x="381000" y="76200"/>
                    </a:cubicBezTo>
                    <a:lnTo>
                      <a:pt x="381000" y="304800"/>
                    </a:lnTo>
                    <a:cubicBezTo>
                      <a:pt x="381000" y="346856"/>
                      <a:pt x="346856" y="381000"/>
                      <a:pt x="304800" y="381000"/>
                    </a:cubicBezTo>
                    <a:lnTo>
                      <a:pt x="76200" y="381000"/>
                    </a:lnTo>
                    <a:cubicBezTo>
                      <a:pt x="34144" y="381000"/>
                      <a:pt x="0" y="346856"/>
                      <a:pt x="0" y="30480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93" name="Shape 25">
                <a:extLst>
                  <a:ext uri="{FF2B5EF4-FFF2-40B4-BE49-F238E27FC236}">
                    <a16:creationId xmlns:a16="http://schemas.microsoft.com/office/drawing/2014/main" id="{7B441584-5393-4F00-A2DE-65575D8320B9}"/>
                  </a:ext>
                </a:extLst>
              </p:cNvPr>
              <p:cNvSpPr/>
              <p:nvPr/>
            </p:nvSpPr>
            <p:spPr>
              <a:xfrm>
                <a:off x="6562725" y="1552575"/>
                <a:ext cx="21431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71450">
                    <a:moveTo>
                      <a:pt x="117872" y="0"/>
                    </a:moveTo>
                    <a:cubicBezTo>
                      <a:pt x="117872" y="-5927"/>
                      <a:pt x="113083" y="-10716"/>
                      <a:pt x="107156" y="-10716"/>
                    </a:cubicBezTo>
                    <a:cubicBezTo>
                      <a:pt x="101229" y="-10716"/>
                      <a:pt x="96441" y="-5927"/>
                      <a:pt x="96441" y="0"/>
                    </a:cubicBezTo>
                    <a:lnTo>
                      <a:pt x="96441" y="21431"/>
                    </a:lnTo>
                    <a:lnTo>
                      <a:pt x="64294" y="21431"/>
                    </a:lnTo>
                    <a:cubicBezTo>
                      <a:pt x="46546" y="21431"/>
                      <a:pt x="32147" y="35830"/>
                      <a:pt x="32147" y="53578"/>
                    </a:cubicBezTo>
                    <a:lnTo>
                      <a:pt x="32147" y="128588"/>
                    </a:lnTo>
                    <a:cubicBezTo>
                      <a:pt x="32147" y="146335"/>
                      <a:pt x="46546" y="160734"/>
                      <a:pt x="64294" y="160734"/>
                    </a:cubicBezTo>
                    <a:lnTo>
                      <a:pt x="150019" y="160734"/>
                    </a:lnTo>
                    <a:cubicBezTo>
                      <a:pt x="167767" y="160734"/>
                      <a:pt x="182166" y="146335"/>
                      <a:pt x="182166" y="128588"/>
                    </a:cubicBezTo>
                    <a:lnTo>
                      <a:pt x="182166" y="53578"/>
                    </a:lnTo>
                    <a:cubicBezTo>
                      <a:pt x="182166" y="35830"/>
                      <a:pt x="167767" y="21431"/>
                      <a:pt x="150019" y="21431"/>
                    </a:cubicBezTo>
                    <a:lnTo>
                      <a:pt x="117872" y="21431"/>
                    </a:lnTo>
                    <a:lnTo>
                      <a:pt x="117872" y="0"/>
                    </a:lnTo>
                    <a:close/>
                    <a:moveTo>
                      <a:pt x="53578" y="123230"/>
                    </a:moveTo>
                    <a:cubicBezTo>
                      <a:pt x="53578" y="118776"/>
                      <a:pt x="57161" y="115193"/>
                      <a:pt x="61615" y="115193"/>
                    </a:cubicBezTo>
                    <a:lnTo>
                      <a:pt x="72330" y="115193"/>
                    </a:lnTo>
                    <a:cubicBezTo>
                      <a:pt x="76784" y="115193"/>
                      <a:pt x="80367" y="118776"/>
                      <a:pt x="80367" y="123230"/>
                    </a:cubicBezTo>
                    <a:cubicBezTo>
                      <a:pt x="80367" y="127683"/>
                      <a:pt x="76784" y="131266"/>
                      <a:pt x="72330" y="131266"/>
                    </a:cubicBezTo>
                    <a:lnTo>
                      <a:pt x="61615" y="131266"/>
                    </a:lnTo>
                    <a:cubicBezTo>
                      <a:pt x="57161" y="131266"/>
                      <a:pt x="53578" y="127683"/>
                      <a:pt x="53578" y="123230"/>
                    </a:cubicBezTo>
                    <a:close/>
                    <a:moveTo>
                      <a:pt x="93762" y="123230"/>
                    </a:moveTo>
                    <a:cubicBezTo>
                      <a:pt x="93762" y="118776"/>
                      <a:pt x="97345" y="115193"/>
                      <a:pt x="101798" y="115193"/>
                    </a:cubicBezTo>
                    <a:lnTo>
                      <a:pt x="112514" y="115193"/>
                    </a:lnTo>
                    <a:cubicBezTo>
                      <a:pt x="116968" y="115193"/>
                      <a:pt x="120551" y="118776"/>
                      <a:pt x="120551" y="123230"/>
                    </a:cubicBezTo>
                    <a:cubicBezTo>
                      <a:pt x="120551" y="127683"/>
                      <a:pt x="116968" y="131266"/>
                      <a:pt x="112514" y="131266"/>
                    </a:cubicBezTo>
                    <a:lnTo>
                      <a:pt x="101798" y="131266"/>
                    </a:lnTo>
                    <a:cubicBezTo>
                      <a:pt x="97345" y="131266"/>
                      <a:pt x="93762" y="127683"/>
                      <a:pt x="93762" y="123230"/>
                    </a:cubicBezTo>
                    <a:close/>
                    <a:moveTo>
                      <a:pt x="133945" y="123230"/>
                    </a:moveTo>
                    <a:cubicBezTo>
                      <a:pt x="133945" y="118776"/>
                      <a:pt x="137528" y="115193"/>
                      <a:pt x="141982" y="115193"/>
                    </a:cubicBezTo>
                    <a:lnTo>
                      <a:pt x="152698" y="115193"/>
                    </a:lnTo>
                    <a:cubicBezTo>
                      <a:pt x="157151" y="115193"/>
                      <a:pt x="160734" y="118776"/>
                      <a:pt x="160734" y="123230"/>
                    </a:cubicBezTo>
                    <a:cubicBezTo>
                      <a:pt x="160734" y="127683"/>
                      <a:pt x="157151" y="131266"/>
                      <a:pt x="152698" y="131266"/>
                    </a:cubicBezTo>
                    <a:lnTo>
                      <a:pt x="141982" y="131266"/>
                    </a:lnTo>
                    <a:cubicBezTo>
                      <a:pt x="137528" y="131266"/>
                      <a:pt x="133945" y="127683"/>
                      <a:pt x="133945" y="123230"/>
                    </a:cubicBezTo>
                    <a:close/>
                    <a:moveTo>
                      <a:pt x="75009" y="58936"/>
                    </a:moveTo>
                    <a:cubicBezTo>
                      <a:pt x="83881" y="58936"/>
                      <a:pt x="91083" y="66138"/>
                      <a:pt x="91083" y="75009"/>
                    </a:cubicBezTo>
                    <a:cubicBezTo>
                      <a:pt x="91083" y="83881"/>
                      <a:pt x="83881" y="91083"/>
                      <a:pt x="75009" y="91083"/>
                    </a:cubicBezTo>
                    <a:cubicBezTo>
                      <a:pt x="66138" y="91083"/>
                      <a:pt x="58936" y="83881"/>
                      <a:pt x="58936" y="75009"/>
                    </a:cubicBezTo>
                    <a:cubicBezTo>
                      <a:pt x="58936" y="66138"/>
                      <a:pt x="66138" y="58936"/>
                      <a:pt x="75009" y="58936"/>
                    </a:cubicBezTo>
                    <a:close/>
                    <a:moveTo>
                      <a:pt x="123230" y="75009"/>
                    </a:moveTo>
                    <a:cubicBezTo>
                      <a:pt x="123230" y="66138"/>
                      <a:pt x="130432" y="58936"/>
                      <a:pt x="139303" y="58936"/>
                    </a:cubicBezTo>
                    <a:cubicBezTo>
                      <a:pt x="148174" y="58936"/>
                      <a:pt x="155377" y="66138"/>
                      <a:pt x="155377" y="75009"/>
                    </a:cubicBezTo>
                    <a:cubicBezTo>
                      <a:pt x="155377" y="83881"/>
                      <a:pt x="148174" y="91083"/>
                      <a:pt x="139303" y="91083"/>
                    </a:cubicBezTo>
                    <a:cubicBezTo>
                      <a:pt x="130432" y="91083"/>
                      <a:pt x="123230" y="83881"/>
                      <a:pt x="123230" y="75009"/>
                    </a:cubicBezTo>
                    <a:close/>
                    <a:moveTo>
                      <a:pt x="21431" y="75009"/>
                    </a:moveTo>
                    <a:cubicBezTo>
                      <a:pt x="21431" y="69082"/>
                      <a:pt x="16643" y="64294"/>
                      <a:pt x="10716" y="64294"/>
                    </a:cubicBezTo>
                    <a:cubicBezTo>
                      <a:pt x="4789" y="64294"/>
                      <a:pt x="0" y="69082"/>
                      <a:pt x="0" y="75009"/>
                    </a:cubicBezTo>
                    <a:lnTo>
                      <a:pt x="0" y="107156"/>
                    </a:lnTo>
                    <a:cubicBezTo>
                      <a:pt x="0" y="113083"/>
                      <a:pt x="4789" y="117872"/>
                      <a:pt x="10716" y="117872"/>
                    </a:cubicBezTo>
                    <a:cubicBezTo>
                      <a:pt x="16643" y="117872"/>
                      <a:pt x="21431" y="113083"/>
                      <a:pt x="21431" y="107156"/>
                    </a:cubicBezTo>
                    <a:lnTo>
                      <a:pt x="21431" y="75009"/>
                    </a:lnTo>
                    <a:close/>
                    <a:moveTo>
                      <a:pt x="203597" y="64294"/>
                    </a:moveTo>
                    <a:cubicBezTo>
                      <a:pt x="197670" y="64294"/>
                      <a:pt x="192881" y="69082"/>
                      <a:pt x="192881" y="75009"/>
                    </a:cubicBezTo>
                    <a:lnTo>
                      <a:pt x="192881" y="107156"/>
                    </a:lnTo>
                    <a:cubicBezTo>
                      <a:pt x="192881" y="113083"/>
                      <a:pt x="197670" y="117872"/>
                      <a:pt x="203597" y="117872"/>
                    </a:cubicBezTo>
                    <a:cubicBezTo>
                      <a:pt x="209524" y="117872"/>
                      <a:pt x="214313" y="113083"/>
                      <a:pt x="214313" y="107156"/>
                    </a:cubicBezTo>
                    <a:lnTo>
                      <a:pt x="214313" y="75009"/>
                    </a:lnTo>
                    <a:cubicBezTo>
                      <a:pt x="214313" y="69082"/>
                      <a:pt x="209524" y="64294"/>
                      <a:pt x="203597" y="64294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94" name="Text 26">
                <a:extLst>
                  <a:ext uri="{FF2B5EF4-FFF2-40B4-BE49-F238E27FC236}">
                    <a16:creationId xmlns:a16="http://schemas.microsoft.com/office/drawing/2014/main" id="{9AC72989-21B4-45AA-B0D7-9C5829B4DB79}"/>
                  </a:ext>
                </a:extLst>
              </p:cNvPr>
              <p:cNvSpPr/>
              <p:nvPr/>
            </p:nvSpPr>
            <p:spPr>
              <a:xfrm>
                <a:off x="6972300" y="1485900"/>
                <a:ext cx="2562225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18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Зачем ИИ-помощник?</a:t>
                </a:r>
                <a:endParaRPr lang="en-US" sz="1600" dirty="0"/>
              </a:p>
            </p:txBody>
          </p:sp>
        </p:grpSp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52260CE4-59B7-4230-990D-781921E18D23}"/>
                </a:ext>
              </a:extLst>
            </p:cNvPr>
            <p:cNvGrpSpPr/>
            <p:nvPr/>
          </p:nvGrpSpPr>
          <p:grpSpPr>
            <a:xfrm>
              <a:off x="6496050" y="2136787"/>
              <a:ext cx="5086350" cy="923048"/>
              <a:chOff x="6496050" y="2057400"/>
              <a:chExt cx="5086350" cy="923048"/>
            </a:xfrm>
          </p:grpSpPr>
          <p:sp>
            <p:nvSpPr>
              <p:cNvPr id="87" name="Shape 27">
                <a:extLst>
                  <a:ext uri="{FF2B5EF4-FFF2-40B4-BE49-F238E27FC236}">
                    <a16:creationId xmlns:a16="http://schemas.microsoft.com/office/drawing/2014/main" id="{A70E5941-4229-4F38-B140-15CA519A8C3F}"/>
                  </a:ext>
                </a:extLst>
              </p:cNvPr>
              <p:cNvSpPr/>
              <p:nvPr/>
            </p:nvSpPr>
            <p:spPr>
              <a:xfrm>
                <a:off x="6496050" y="20574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88" name="Shape 28">
                <a:extLst>
                  <a:ext uri="{FF2B5EF4-FFF2-40B4-BE49-F238E27FC236}">
                    <a16:creationId xmlns:a16="http://schemas.microsoft.com/office/drawing/2014/main" id="{4E0585EC-1F87-469D-B723-68D5CB834A32}"/>
                  </a:ext>
                </a:extLst>
              </p:cNvPr>
              <p:cNvSpPr/>
              <p:nvPr/>
            </p:nvSpPr>
            <p:spPr>
              <a:xfrm>
                <a:off x="6496050" y="20574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89" name="Shape 29">
                <a:extLst>
                  <a:ext uri="{FF2B5EF4-FFF2-40B4-BE49-F238E27FC236}">
                    <a16:creationId xmlns:a16="http://schemas.microsoft.com/office/drawing/2014/main" id="{B265DF24-9FF3-4410-9926-C5A4EFEFF9C0}"/>
                  </a:ext>
                </a:extLst>
              </p:cNvPr>
              <p:cNvSpPr/>
              <p:nvPr/>
            </p:nvSpPr>
            <p:spPr>
              <a:xfrm>
                <a:off x="6703219" y="22479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83344" y="23812"/>
                    </a:moveTo>
                    <a:cubicBezTo>
                      <a:pt x="53950" y="23812"/>
                      <a:pt x="29505" y="45132"/>
                      <a:pt x="24668" y="73186"/>
                    </a:cubicBezTo>
                    <a:cubicBezTo>
                      <a:pt x="28129" y="72070"/>
                      <a:pt x="31849" y="71438"/>
                      <a:pt x="35719" y="71438"/>
                    </a:cubicBezTo>
                    <a:lnTo>
                      <a:pt x="41672" y="71438"/>
                    </a:lnTo>
                    <a:cubicBezTo>
                      <a:pt x="51532" y="71438"/>
                      <a:pt x="59531" y="79437"/>
                      <a:pt x="59531" y="89297"/>
                    </a:cubicBezTo>
                    <a:lnTo>
                      <a:pt x="59531" y="125016"/>
                    </a:lnTo>
                    <a:cubicBezTo>
                      <a:pt x="59531" y="134875"/>
                      <a:pt x="51532" y="142875"/>
                      <a:pt x="41672" y="142875"/>
                    </a:cubicBezTo>
                    <a:lnTo>
                      <a:pt x="35719" y="142875"/>
                    </a:lnTo>
                    <a:cubicBezTo>
                      <a:pt x="15999" y="142875"/>
                      <a:pt x="0" y="126876"/>
                      <a:pt x="0" y="107156"/>
                    </a:cubicBezTo>
                    <a:lnTo>
                      <a:pt x="0" y="83344"/>
                    </a:lnTo>
                    <a:cubicBezTo>
                      <a:pt x="0" y="37319"/>
                      <a:pt x="37319" y="0"/>
                      <a:pt x="83344" y="0"/>
                    </a:cubicBezTo>
                    <a:cubicBezTo>
                      <a:pt x="129369" y="0"/>
                      <a:pt x="166688" y="37319"/>
                      <a:pt x="166688" y="83344"/>
                    </a:cubicBezTo>
                    <a:lnTo>
                      <a:pt x="166688" y="145889"/>
                    </a:lnTo>
                    <a:cubicBezTo>
                      <a:pt x="166688" y="170557"/>
                      <a:pt x="146670" y="190537"/>
                      <a:pt x="122002" y="190537"/>
                    </a:cubicBezTo>
                    <a:lnTo>
                      <a:pt x="89297" y="190500"/>
                    </a:lnTo>
                    <a:lnTo>
                      <a:pt x="77391" y="190500"/>
                    </a:lnTo>
                    <a:cubicBezTo>
                      <a:pt x="67531" y="190500"/>
                      <a:pt x="59531" y="182500"/>
                      <a:pt x="59531" y="172641"/>
                    </a:cubicBezTo>
                    <a:cubicBezTo>
                      <a:pt x="59531" y="162781"/>
                      <a:pt x="67531" y="154781"/>
                      <a:pt x="77391" y="154781"/>
                    </a:cubicBezTo>
                    <a:lnTo>
                      <a:pt x="89297" y="154781"/>
                    </a:lnTo>
                    <a:cubicBezTo>
                      <a:pt x="99157" y="154781"/>
                      <a:pt x="107156" y="162781"/>
                      <a:pt x="107156" y="172641"/>
                    </a:cubicBezTo>
                    <a:lnTo>
                      <a:pt x="107156" y="172641"/>
                    </a:lnTo>
                    <a:lnTo>
                      <a:pt x="122039" y="172641"/>
                    </a:lnTo>
                    <a:cubicBezTo>
                      <a:pt x="136847" y="172641"/>
                      <a:pt x="148828" y="160660"/>
                      <a:pt x="148828" y="145852"/>
                    </a:cubicBezTo>
                    <a:lnTo>
                      <a:pt x="148828" y="138075"/>
                    </a:lnTo>
                    <a:cubicBezTo>
                      <a:pt x="143582" y="141126"/>
                      <a:pt x="137480" y="142838"/>
                      <a:pt x="130969" y="142838"/>
                    </a:cubicBezTo>
                    <a:lnTo>
                      <a:pt x="125016" y="142838"/>
                    </a:lnTo>
                    <a:cubicBezTo>
                      <a:pt x="115156" y="142838"/>
                      <a:pt x="107156" y="134838"/>
                      <a:pt x="107156" y="124978"/>
                    </a:cubicBezTo>
                    <a:lnTo>
                      <a:pt x="107156" y="89260"/>
                    </a:lnTo>
                    <a:cubicBezTo>
                      <a:pt x="107156" y="79400"/>
                      <a:pt x="115156" y="71400"/>
                      <a:pt x="125016" y="71400"/>
                    </a:cubicBezTo>
                    <a:lnTo>
                      <a:pt x="130969" y="71400"/>
                    </a:lnTo>
                    <a:cubicBezTo>
                      <a:pt x="134838" y="71400"/>
                      <a:pt x="138522" y="71996"/>
                      <a:pt x="142019" y="73149"/>
                    </a:cubicBezTo>
                    <a:cubicBezTo>
                      <a:pt x="137182" y="45132"/>
                      <a:pt x="112775" y="23775"/>
                      <a:pt x="83344" y="2377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90" name="Text 30">
                <a:extLst>
                  <a:ext uri="{FF2B5EF4-FFF2-40B4-BE49-F238E27FC236}">
                    <a16:creationId xmlns:a16="http://schemas.microsoft.com/office/drawing/2014/main" id="{9199B1BE-7DD3-45F5-B40F-8C1510F83478}"/>
                  </a:ext>
                </a:extLst>
              </p:cNvPr>
              <p:cNvSpPr/>
              <p:nvPr/>
            </p:nvSpPr>
            <p:spPr>
              <a:xfrm>
                <a:off x="7019925" y="2209800"/>
                <a:ext cx="31051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Снижение нагрузки</a:t>
                </a:r>
                <a:endParaRPr lang="en-US" sz="2000" dirty="0"/>
              </a:p>
            </p:txBody>
          </p:sp>
          <p:sp>
            <p:nvSpPr>
              <p:cNvPr id="91" name="Text 31">
                <a:extLst>
                  <a:ext uri="{FF2B5EF4-FFF2-40B4-BE49-F238E27FC236}">
                    <a16:creationId xmlns:a16="http://schemas.microsoft.com/office/drawing/2014/main" id="{3B1C5066-8311-486C-A6E1-FB7E7E00C699}"/>
                  </a:ext>
                </a:extLst>
              </p:cNvPr>
              <p:cNvSpPr/>
              <p:nvPr/>
            </p:nvSpPr>
            <p:spPr>
              <a:xfrm>
                <a:off x="7019924" y="2476500"/>
                <a:ext cx="4490085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Меньше обращений в службу поддержки</a:t>
                </a:r>
                <a:endParaRPr lang="en-US" sz="2000" dirty="0"/>
              </a:p>
            </p:txBody>
          </p:sp>
        </p:grpSp>
        <p:grpSp>
          <p:nvGrpSpPr>
            <p:cNvPr id="75" name="Группа 74">
              <a:extLst>
                <a:ext uri="{FF2B5EF4-FFF2-40B4-BE49-F238E27FC236}">
                  <a16:creationId xmlns:a16="http://schemas.microsoft.com/office/drawing/2014/main" id="{57FC5F42-614A-4DC4-A4E9-33C15EB4B5F6}"/>
                </a:ext>
              </a:extLst>
            </p:cNvPr>
            <p:cNvGrpSpPr/>
            <p:nvPr/>
          </p:nvGrpSpPr>
          <p:grpSpPr>
            <a:xfrm>
              <a:off x="6496050" y="3288435"/>
              <a:ext cx="5086350" cy="923048"/>
              <a:chOff x="6496050" y="3009900"/>
              <a:chExt cx="5086350" cy="923048"/>
            </a:xfrm>
          </p:grpSpPr>
          <p:sp>
            <p:nvSpPr>
              <p:cNvPr id="82" name="Shape 32">
                <a:extLst>
                  <a:ext uri="{FF2B5EF4-FFF2-40B4-BE49-F238E27FC236}">
                    <a16:creationId xmlns:a16="http://schemas.microsoft.com/office/drawing/2014/main" id="{B0FFA38C-2051-41B2-B499-2CF06932B7E3}"/>
                  </a:ext>
                </a:extLst>
              </p:cNvPr>
              <p:cNvSpPr/>
              <p:nvPr/>
            </p:nvSpPr>
            <p:spPr>
              <a:xfrm>
                <a:off x="6496050" y="3009900"/>
                <a:ext cx="508635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sz="2400" dirty="0"/>
              </a:p>
            </p:txBody>
          </p:sp>
          <p:sp>
            <p:nvSpPr>
              <p:cNvPr id="83" name="Shape 33">
                <a:extLst>
                  <a:ext uri="{FF2B5EF4-FFF2-40B4-BE49-F238E27FC236}">
                    <a16:creationId xmlns:a16="http://schemas.microsoft.com/office/drawing/2014/main" id="{4DB00CFC-0044-4001-871C-9906E0B01692}"/>
                  </a:ext>
                </a:extLst>
              </p:cNvPr>
              <p:cNvSpPr/>
              <p:nvPr/>
            </p:nvSpPr>
            <p:spPr>
              <a:xfrm>
                <a:off x="6496050" y="3009900"/>
                <a:ext cx="38100" cy="923048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84" name="Shape 34">
                <a:extLst>
                  <a:ext uri="{FF2B5EF4-FFF2-40B4-BE49-F238E27FC236}">
                    <a16:creationId xmlns:a16="http://schemas.microsoft.com/office/drawing/2014/main" id="{3F65C200-5D83-43E2-8BF8-F7BB6BA8C909}"/>
                  </a:ext>
                </a:extLst>
              </p:cNvPr>
              <p:cNvSpPr/>
              <p:nvPr/>
            </p:nvSpPr>
            <p:spPr>
              <a:xfrm>
                <a:off x="6691313" y="3200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107156" y="35719"/>
                    </a:moveTo>
                    <a:cubicBezTo>
                      <a:pt x="107156" y="29148"/>
                      <a:pt x="101821" y="23812"/>
                      <a:pt x="95250" y="23812"/>
                    </a:cubicBezTo>
                    <a:cubicBezTo>
                      <a:pt x="88679" y="23812"/>
                      <a:pt x="83344" y="29148"/>
                      <a:pt x="83344" y="35719"/>
                    </a:cubicBezTo>
                    <a:cubicBezTo>
                      <a:pt x="83344" y="42290"/>
                      <a:pt x="88679" y="47625"/>
                      <a:pt x="95250" y="47625"/>
                    </a:cubicBezTo>
                    <a:cubicBezTo>
                      <a:pt x="101821" y="47625"/>
                      <a:pt x="107156" y="42290"/>
                      <a:pt x="107156" y="35719"/>
                    </a:cubicBezTo>
                    <a:close/>
                    <a:moveTo>
                      <a:pt x="95250" y="154781"/>
                    </a:moveTo>
                    <a:cubicBezTo>
                      <a:pt x="108384" y="154781"/>
                      <a:pt x="119063" y="144103"/>
                      <a:pt x="119063" y="130969"/>
                    </a:cubicBezTo>
                    <a:cubicBezTo>
                      <a:pt x="119063" y="124941"/>
                      <a:pt x="116830" y="119397"/>
                      <a:pt x="113109" y="115230"/>
                    </a:cubicBezTo>
                    <a:lnTo>
                      <a:pt x="138968" y="63550"/>
                    </a:lnTo>
                    <a:cubicBezTo>
                      <a:pt x="141163" y="59122"/>
                      <a:pt x="139378" y="53764"/>
                      <a:pt x="134987" y="51569"/>
                    </a:cubicBezTo>
                    <a:cubicBezTo>
                      <a:pt x="130597" y="49374"/>
                      <a:pt x="125202" y="51160"/>
                      <a:pt x="123006" y="55550"/>
                    </a:cubicBezTo>
                    <a:lnTo>
                      <a:pt x="97148" y="107231"/>
                    </a:lnTo>
                    <a:cubicBezTo>
                      <a:pt x="96515" y="107193"/>
                      <a:pt x="95883" y="107156"/>
                      <a:pt x="95250" y="107156"/>
                    </a:cubicBezTo>
                    <a:cubicBezTo>
                      <a:pt x="82116" y="107156"/>
                      <a:pt x="71438" y="117835"/>
                      <a:pt x="71438" y="130969"/>
                    </a:cubicBezTo>
                    <a:cubicBezTo>
                      <a:pt x="71438" y="144103"/>
                      <a:pt x="82116" y="154781"/>
                      <a:pt x="95250" y="154781"/>
                    </a:cubicBezTo>
                    <a:close/>
                    <a:moveTo>
                      <a:pt x="65484" y="53578"/>
                    </a:moveTo>
                    <a:cubicBezTo>
                      <a:pt x="65484" y="47007"/>
                      <a:pt x="60149" y="41672"/>
                      <a:pt x="53578" y="41672"/>
                    </a:cubicBezTo>
                    <a:cubicBezTo>
                      <a:pt x="47007" y="41672"/>
                      <a:pt x="41672" y="47007"/>
                      <a:pt x="41672" y="53578"/>
                    </a:cubicBezTo>
                    <a:cubicBezTo>
                      <a:pt x="41672" y="60149"/>
                      <a:pt x="47007" y="65484"/>
                      <a:pt x="53578" y="65484"/>
                    </a:cubicBezTo>
                    <a:cubicBezTo>
                      <a:pt x="60149" y="65484"/>
                      <a:pt x="65484" y="60149"/>
                      <a:pt x="65484" y="53578"/>
                    </a:cubicBezTo>
                    <a:close/>
                    <a:moveTo>
                      <a:pt x="35719" y="107156"/>
                    </a:moveTo>
                    <a:cubicBezTo>
                      <a:pt x="42290" y="107156"/>
                      <a:pt x="47625" y="101821"/>
                      <a:pt x="47625" y="95250"/>
                    </a:cubicBezTo>
                    <a:cubicBezTo>
                      <a:pt x="47625" y="88679"/>
                      <a:pt x="42290" y="83344"/>
                      <a:pt x="35719" y="83344"/>
                    </a:cubicBezTo>
                    <a:cubicBezTo>
                      <a:pt x="29148" y="83344"/>
                      <a:pt x="23812" y="88679"/>
                      <a:pt x="23812" y="95250"/>
                    </a:cubicBezTo>
                    <a:cubicBezTo>
                      <a:pt x="23812" y="101821"/>
                      <a:pt x="29148" y="107156"/>
                      <a:pt x="35719" y="107156"/>
                    </a:cubicBezTo>
                    <a:close/>
                    <a:moveTo>
                      <a:pt x="166688" y="95250"/>
                    </a:moveTo>
                    <a:cubicBezTo>
                      <a:pt x="166688" y="88679"/>
                      <a:pt x="161352" y="83344"/>
                      <a:pt x="154781" y="83344"/>
                    </a:cubicBezTo>
                    <a:cubicBezTo>
                      <a:pt x="148210" y="83344"/>
                      <a:pt x="142875" y="88679"/>
                      <a:pt x="142875" y="95250"/>
                    </a:cubicBezTo>
                    <a:cubicBezTo>
                      <a:pt x="142875" y="101821"/>
                      <a:pt x="148210" y="107156"/>
                      <a:pt x="154781" y="107156"/>
                    </a:cubicBezTo>
                    <a:cubicBezTo>
                      <a:pt x="161352" y="107156"/>
                      <a:pt x="166688" y="101821"/>
                      <a:pt x="166688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85" name="Text 35">
                <a:extLst>
                  <a:ext uri="{FF2B5EF4-FFF2-40B4-BE49-F238E27FC236}">
                    <a16:creationId xmlns:a16="http://schemas.microsoft.com/office/drawing/2014/main" id="{A339F43A-306B-467A-BB97-4132505426EA}"/>
                  </a:ext>
                </a:extLst>
              </p:cNvPr>
              <p:cNvSpPr/>
              <p:nvPr/>
            </p:nvSpPr>
            <p:spPr>
              <a:xfrm>
                <a:off x="7019925" y="3162300"/>
                <a:ext cx="33147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Ускорение работы</a:t>
                </a:r>
                <a:endParaRPr lang="en-US" sz="2000" dirty="0"/>
              </a:p>
            </p:txBody>
          </p:sp>
          <p:sp>
            <p:nvSpPr>
              <p:cNvPr id="86" name="Text 36">
                <a:extLst>
                  <a:ext uri="{FF2B5EF4-FFF2-40B4-BE49-F238E27FC236}">
                    <a16:creationId xmlns:a16="http://schemas.microsoft.com/office/drawing/2014/main" id="{34C1BEDB-6198-4BEA-A1F3-5D78B4F6D10D}"/>
                  </a:ext>
                </a:extLst>
              </p:cNvPr>
              <p:cNvSpPr/>
              <p:nvPr/>
            </p:nvSpPr>
            <p:spPr>
              <a:xfrm>
                <a:off x="7019925" y="3429000"/>
                <a:ext cx="4367162" cy="400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Мгновенный доступ к данным и документам</a:t>
                </a:r>
                <a:endParaRPr lang="en-US" sz="2000" dirty="0"/>
              </a:p>
            </p:txBody>
          </p:sp>
        </p:grpSp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962B380C-6C5C-47EB-9B42-0579D5CB37F8}"/>
                </a:ext>
              </a:extLst>
            </p:cNvPr>
            <p:cNvGrpSpPr/>
            <p:nvPr/>
          </p:nvGrpSpPr>
          <p:grpSpPr>
            <a:xfrm>
              <a:off x="6508762" y="4437701"/>
              <a:ext cx="5086350" cy="928975"/>
              <a:chOff x="6496050" y="3833525"/>
              <a:chExt cx="5086350" cy="928975"/>
            </a:xfrm>
          </p:grpSpPr>
          <p:sp>
            <p:nvSpPr>
              <p:cNvPr id="77" name="Shape 37">
                <a:extLst>
                  <a:ext uri="{FF2B5EF4-FFF2-40B4-BE49-F238E27FC236}">
                    <a16:creationId xmlns:a16="http://schemas.microsoft.com/office/drawing/2014/main" id="{46345A3D-EFC6-4F5D-ABA3-DE0FC50D2CAB}"/>
                  </a:ext>
                </a:extLst>
              </p:cNvPr>
              <p:cNvSpPr/>
              <p:nvPr/>
            </p:nvSpPr>
            <p:spPr>
              <a:xfrm>
                <a:off x="6496050" y="3833525"/>
                <a:ext cx="5086350" cy="928975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800100">
                    <a:moveTo>
                      <a:pt x="38100" y="0"/>
                    </a:moveTo>
                    <a:lnTo>
                      <a:pt x="4972048" y="0"/>
                    </a:lnTo>
                    <a:cubicBezTo>
                      <a:pt x="5035133" y="0"/>
                      <a:pt x="5086350" y="51217"/>
                      <a:pt x="5086350" y="114302"/>
                    </a:cubicBezTo>
                    <a:lnTo>
                      <a:pt x="5086350" y="685798"/>
                    </a:lnTo>
                    <a:cubicBezTo>
                      <a:pt x="5086350" y="748883"/>
                      <a:pt x="5035133" y="800100"/>
                      <a:pt x="4972048" y="800100"/>
                    </a:cubicBez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78" name="Shape 38">
                <a:extLst>
                  <a:ext uri="{FF2B5EF4-FFF2-40B4-BE49-F238E27FC236}">
                    <a16:creationId xmlns:a16="http://schemas.microsoft.com/office/drawing/2014/main" id="{10FADEA1-14D2-4BB7-A500-3ADF4993D8FB}"/>
                  </a:ext>
                </a:extLst>
              </p:cNvPr>
              <p:cNvSpPr/>
              <p:nvPr/>
            </p:nvSpPr>
            <p:spPr>
              <a:xfrm>
                <a:off x="6496050" y="3833525"/>
                <a:ext cx="38100" cy="9289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8001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800100"/>
                    </a:lnTo>
                    <a:lnTo>
                      <a:pt x="38100" y="800100"/>
                    </a:lnTo>
                    <a:cubicBezTo>
                      <a:pt x="17072" y="800100"/>
                      <a:pt x="0" y="783028"/>
                      <a:pt x="0" y="7620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79" name="Shape 39">
                <a:extLst>
                  <a:ext uri="{FF2B5EF4-FFF2-40B4-BE49-F238E27FC236}">
                    <a16:creationId xmlns:a16="http://schemas.microsoft.com/office/drawing/2014/main" id="{B1C1D175-FE50-48F7-848E-D378EB652EF7}"/>
                  </a:ext>
                </a:extLst>
              </p:cNvPr>
              <p:cNvSpPr/>
              <p:nvPr/>
            </p:nvSpPr>
            <p:spPr>
              <a:xfrm>
                <a:off x="6675449" y="4055528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50602" y="47625"/>
                    </a:moveTo>
                    <a:cubicBezTo>
                      <a:pt x="50602" y="22983"/>
                      <a:pt x="70608" y="2977"/>
                      <a:pt x="95250" y="2977"/>
                    </a:cubicBezTo>
                    <a:cubicBezTo>
                      <a:pt x="119892" y="2977"/>
                      <a:pt x="139898" y="22983"/>
                      <a:pt x="139898" y="47625"/>
                    </a:cubicBezTo>
                    <a:cubicBezTo>
                      <a:pt x="139898" y="72267"/>
                      <a:pt x="119892" y="92273"/>
                      <a:pt x="95250" y="92273"/>
                    </a:cubicBezTo>
                    <a:cubicBezTo>
                      <a:pt x="70608" y="92273"/>
                      <a:pt x="50602" y="72267"/>
                      <a:pt x="50602" y="47625"/>
                    </a:cubicBezTo>
                    <a:close/>
                    <a:moveTo>
                      <a:pt x="17859" y="179450"/>
                    </a:moveTo>
                    <a:cubicBezTo>
                      <a:pt x="17859" y="142801"/>
                      <a:pt x="47551" y="113109"/>
                      <a:pt x="84200" y="113109"/>
                    </a:cubicBezTo>
                    <a:lnTo>
                      <a:pt x="106300" y="113109"/>
                    </a:lnTo>
                    <a:cubicBezTo>
                      <a:pt x="142949" y="113109"/>
                      <a:pt x="172641" y="142801"/>
                      <a:pt x="172641" y="179450"/>
                    </a:cubicBezTo>
                    <a:cubicBezTo>
                      <a:pt x="172641" y="185551"/>
                      <a:pt x="167692" y="190500"/>
                      <a:pt x="161590" y="190500"/>
                    </a:cubicBezTo>
                    <a:lnTo>
                      <a:pt x="28910" y="190500"/>
                    </a:lnTo>
                    <a:cubicBezTo>
                      <a:pt x="22808" y="190500"/>
                      <a:pt x="17859" y="185551"/>
                      <a:pt x="17859" y="179450"/>
                    </a:cubicBezTo>
                    <a:close/>
                    <a:moveTo>
                      <a:pt x="202406" y="35719"/>
                    </a:moveTo>
                    <a:cubicBezTo>
                      <a:pt x="207355" y="35719"/>
                      <a:pt x="211336" y="39700"/>
                      <a:pt x="211336" y="44648"/>
                    </a:cubicBezTo>
                    <a:lnTo>
                      <a:pt x="211336" y="62508"/>
                    </a:lnTo>
                    <a:lnTo>
                      <a:pt x="229195" y="62508"/>
                    </a:lnTo>
                    <a:cubicBezTo>
                      <a:pt x="234144" y="62508"/>
                      <a:pt x="238125" y="66489"/>
                      <a:pt x="238125" y="71438"/>
                    </a:cubicBezTo>
                    <a:cubicBezTo>
                      <a:pt x="238125" y="76386"/>
                      <a:pt x="234144" y="80367"/>
                      <a:pt x="229195" y="80367"/>
                    </a:cubicBezTo>
                    <a:lnTo>
                      <a:pt x="211336" y="80367"/>
                    </a:lnTo>
                    <a:lnTo>
                      <a:pt x="211336" y="98227"/>
                    </a:lnTo>
                    <a:cubicBezTo>
                      <a:pt x="211336" y="103175"/>
                      <a:pt x="207355" y="107156"/>
                      <a:pt x="202406" y="107156"/>
                    </a:cubicBezTo>
                    <a:cubicBezTo>
                      <a:pt x="197458" y="107156"/>
                      <a:pt x="193477" y="103175"/>
                      <a:pt x="193477" y="98227"/>
                    </a:cubicBezTo>
                    <a:lnTo>
                      <a:pt x="193477" y="80367"/>
                    </a:lnTo>
                    <a:lnTo>
                      <a:pt x="175617" y="80367"/>
                    </a:lnTo>
                    <a:cubicBezTo>
                      <a:pt x="170669" y="80367"/>
                      <a:pt x="166688" y="76386"/>
                      <a:pt x="166688" y="71438"/>
                    </a:cubicBezTo>
                    <a:cubicBezTo>
                      <a:pt x="166688" y="66489"/>
                      <a:pt x="170669" y="62508"/>
                      <a:pt x="175617" y="62508"/>
                    </a:cubicBezTo>
                    <a:lnTo>
                      <a:pt x="193477" y="62508"/>
                    </a:lnTo>
                    <a:lnTo>
                      <a:pt x="193477" y="44648"/>
                    </a:lnTo>
                    <a:cubicBezTo>
                      <a:pt x="193477" y="39700"/>
                      <a:pt x="197458" y="35719"/>
                      <a:pt x="202406" y="35719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80" name="Text 40">
                <a:extLst>
                  <a:ext uri="{FF2B5EF4-FFF2-40B4-BE49-F238E27FC236}">
                    <a16:creationId xmlns:a16="http://schemas.microsoft.com/office/drawing/2014/main" id="{23F31590-736A-4162-823A-6FA089961160}"/>
                  </a:ext>
                </a:extLst>
              </p:cNvPr>
              <p:cNvSpPr/>
              <p:nvPr/>
            </p:nvSpPr>
            <p:spPr>
              <a:xfrm>
                <a:off x="7019925" y="4018550"/>
                <a:ext cx="28479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Быстрая адаптация</a:t>
                </a:r>
                <a:endParaRPr lang="en-US" sz="2000" dirty="0"/>
              </a:p>
            </p:txBody>
          </p:sp>
          <p:sp>
            <p:nvSpPr>
              <p:cNvPr id="81" name="Text 41">
                <a:extLst>
                  <a:ext uri="{FF2B5EF4-FFF2-40B4-BE49-F238E27FC236}">
                    <a16:creationId xmlns:a16="http://schemas.microsoft.com/office/drawing/2014/main" id="{C51B6940-A56A-4DEC-9672-461AF1C2D69C}"/>
                  </a:ext>
                </a:extLst>
              </p:cNvPr>
              <p:cNvSpPr/>
              <p:nvPr/>
            </p:nvSpPr>
            <p:spPr>
              <a:xfrm>
                <a:off x="7007213" y="4312592"/>
                <a:ext cx="4477372" cy="2431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Снижение порога входа для новичков</a:t>
                </a:r>
                <a:endParaRPr lang="en-US" sz="2000" dirty="0"/>
              </a:p>
            </p:txBody>
          </p:sp>
        </p:grp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7FD3B94A-3C15-4136-BF3C-E583101508CB}"/>
              </a:ext>
            </a:extLst>
          </p:cNvPr>
          <p:cNvGrpSpPr/>
          <p:nvPr/>
        </p:nvGrpSpPr>
        <p:grpSpPr>
          <a:xfrm>
            <a:off x="-8115300" y="381000"/>
            <a:ext cx="9744074" cy="533400"/>
            <a:chOff x="381000" y="381000"/>
            <a:chExt cx="9744074" cy="533400"/>
          </a:xfrm>
        </p:grpSpPr>
        <p:sp>
          <p:nvSpPr>
            <p:cNvPr id="96" name="Shape 0">
              <a:extLst>
                <a:ext uri="{FF2B5EF4-FFF2-40B4-BE49-F238E27FC236}">
                  <a16:creationId xmlns:a16="http://schemas.microsoft.com/office/drawing/2014/main" id="{98A6B785-7335-461B-901B-E6DC1935E3EF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7" name="Shape 1">
              <a:extLst>
                <a:ext uri="{FF2B5EF4-FFF2-40B4-BE49-F238E27FC236}">
                  <a16:creationId xmlns:a16="http://schemas.microsoft.com/office/drawing/2014/main" id="{A6D6F7C9-085C-4B3E-BF38-9EF7CE237556}"/>
                </a:ext>
              </a:extLst>
            </p:cNvPr>
            <p:cNvSpPr/>
            <p:nvPr/>
          </p:nvSpPr>
          <p:spPr>
            <a:xfrm>
              <a:off x="561975" y="5334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30775" y="171450"/>
                  </a:moveTo>
                  <a:cubicBezTo>
                    <a:pt x="134035" y="161493"/>
                    <a:pt x="140553" y="152474"/>
                    <a:pt x="147920" y="144706"/>
                  </a:cubicBezTo>
                  <a:cubicBezTo>
                    <a:pt x="162520" y="129347"/>
                    <a:pt x="171450" y="108585"/>
                    <a:pt x="171450" y="85725"/>
                  </a:cubicBezTo>
                  <a:cubicBezTo>
                    <a:pt x="171450" y="38398"/>
                    <a:pt x="133052" y="0"/>
                    <a:pt x="85725" y="0"/>
                  </a:cubicBezTo>
                  <a:cubicBezTo>
                    <a:pt x="38398" y="0"/>
                    <a:pt x="0" y="38398"/>
                    <a:pt x="0" y="85725"/>
                  </a:cubicBezTo>
                  <a:cubicBezTo>
                    <a:pt x="0" y="108585"/>
                    <a:pt x="8930" y="129347"/>
                    <a:pt x="23530" y="144706"/>
                  </a:cubicBezTo>
                  <a:cubicBezTo>
                    <a:pt x="30897" y="152474"/>
                    <a:pt x="37460" y="161493"/>
                    <a:pt x="40675" y="171450"/>
                  </a:cubicBezTo>
                  <a:lnTo>
                    <a:pt x="130731" y="171450"/>
                  </a:lnTo>
                  <a:close/>
                  <a:moveTo>
                    <a:pt x="128588" y="192881"/>
                  </a:moveTo>
                  <a:lnTo>
                    <a:pt x="42863" y="192881"/>
                  </a:lnTo>
                  <a:lnTo>
                    <a:pt x="42863" y="200025"/>
                  </a:lnTo>
                  <a:cubicBezTo>
                    <a:pt x="42863" y="219760"/>
                    <a:pt x="58847" y="235744"/>
                    <a:pt x="78581" y="235744"/>
                  </a:cubicBezTo>
                  <a:lnTo>
                    <a:pt x="92869" y="235744"/>
                  </a:lnTo>
                  <a:cubicBezTo>
                    <a:pt x="112603" y="235744"/>
                    <a:pt x="128588" y="219760"/>
                    <a:pt x="128588" y="200025"/>
                  </a:cubicBezTo>
                  <a:lnTo>
                    <a:pt x="128588" y="192881"/>
                  </a:lnTo>
                  <a:close/>
                  <a:moveTo>
                    <a:pt x="82153" y="50006"/>
                  </a:moveTo>
                  <a:cubicBezTo>
                    <a:pt x="64383" y="50006"/>
                    <a:pt x="50006" y="64383"/>
                    <a:pt x="50006" y="82153"/>
                  </a:cubicBezTo>
                  <a:cubicBezTo>
                    <a:pt x="50006" y="88091"/>
                    <a:pt x="45229" y="92869"/>
                    <a:pt x="39291" y="92869"/>
                  </a:cubicBezTo>
                  <a:cubicBezTo>
                    <a:pt x="33352" y="92869"/>
                    <a:pt x="28575" y="88091"/>
                    <a:pt x="28575" y="82153"/>
                  </a:cubicBezTo>
                  <a:cubicBezTo>
                    <a:pt x="28575" y="52551"/>
                    <a:pt x="52551" y="28575"/>
                    <a:pt x="82153" y="28575"/>
                  </a:cubicBezTo>
                  <a:cubicBezTo>
                    <a:pt x="88091" y="28575"/>
                    <a:pt x="92869" y="33352"/>
                    <a:pt x="92869" y="39291"/>
                  </a:cubicBezTo>
                  <a:cubicBezTo>
                    <a:pt x="92869" y="45229"/>
                    <a:pt x="88091" y="50006"/>
                    <a:pt x="82153" y="5000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8" name="Text 2">
              <a:extLst>
                <a:ext uri="{FF2B5EF4-FFF2-40B4-BE49-F238E27FC236}">
                  <a16:creationId xmlns:a16="http://schemas.microsoft.com/office/drawing/2014/main" id="{975B9E88-53E4-41CD-A73C-178D0CA1C4A2}"/>
                </a:ext>
              </a:extLst>
            </p:cNvPr>
            <p:cNvSpPr/>
            <p:nvPr/>
          </p:nvSpPr>
          <p:spPr>
            <a:xfrm>
              <a:off x="1066799" y="400050"/>
              <a:ext cx="90582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4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Актуальность проекта</a:t>
              </a:r>
              <a:endParaRPr lang="en-US" sz="2800" dirty="0"/>
            </a:p>
          </p:txBody>
        </p:sp>
        <p:sp>
          <p:nvSpPr>
            <p:cNvPr id="99" name="Shape 3">
              <a:extLst>
                <a:ext uri="{FF2B5EF4-FFF2-40B4-BE49-F238E27FC236}">
                  <a16:creationId xmlns:a16="http://schemas.microsoft.com/office/drawing/2014/main" id="{6D2A92D9-D54C-4EA9-9A5E-AEC6DF176336}"/>
                </a:ext>
              </a:extLst>
            </p:cNvPr>
            <p:cNvSpPr/>
            <p:nvPr/>
          </p:nvSpPr>
          <p:spPr>
            <a:xfrm>
              <a:off x="704849" y="866699"/>
              <a:ext cx="5857875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E38ECBA3-CE42-46BC-86C7-27ED5FB38EB6}"/>
              </a:ext>
            </a:extLst>
          </p:cNvPr>
          <p:cNvGrpSpPr/>
          <p:nvPr/>
        </p:nvGrpSpPr>
        <p:grpSpPr>
          <a:xfrm>
            <a:off x="381000" y="381000"/>
            <a:ext cx="3190875" cy="533400"/>
            <a:chOff x="381000" y="381000"/>
            <a:chExt cx="3190875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0025" y="114300"/>
                  </a:moveTo>
                  <a:cubicBezTo>
                    <a:pt x="200025" y="66987"/>
                    <a:pt x="161613" y="28575"/>
                    <a:pt x="114300" y="28575"/>
                  </a:cubicBezTo>
                  <a:cubicBezTo>
                    <a:pt x="66987" y="28575"/>
                    <a:pt x="28575" y="66987"/>
                    <a:pt x="28575" y="114300"/>
                  </a:cubicBezTo>
                  <a:cubicBezTo>
                    <a:pt x="28575" y="161613"/>
                    <a:pt x="66987" y="200025"/>
                    <a:pt x="114300" y="200025"/>
                  </a:cubicBezTo>
                  <a:cubicBezTo>
                    <a:pt x="161613" y="200025"/>
                    <a:pt x="200025" y="161613"/>
                    <a:pt x="200025" y="114300"/>
                  </a:cubicBezTo>
                  <a:close/>
                  <a:moveTo>
                    <a:pt x="0" y="114300"/>
                  </a:moveTo>
                  <a:cubicBezTo>
                    <a:pt x="0" y="51216"/>
                    <a:pt x="51216" y="0"/>
                    <a:pt x="114300" y="0"/>
                  </a:cubicBezTo>
                  <a:cubicBezTo>
                    <a:pt x="177384" y="0"/>
                    <a:pt x="228600" y="51216"/>
                    <a:pt x="228600" y="114300"/>
                  </a:cubicBezTo>
                  <a:cubicBezTo>
                    <a:pt x="228600" y="177384"/>
                    <a:pt x="177384" y="228600"/>
                    <a:pt x="114300" y="228600"/>
                  </a:cubicBezTo>
                  <a:cubicBezTo>
                    <a:pt x="51216" y="228600"/>
                    <a:pt x="0" y="177384"/>
                    <a:pt x="0" y="114300"/>
                  </a:cubicBezTo>
                  <a:close/>
                  <a:moveTo>
                    <a:pt x="114300" y="150019"/>
                  </a:moveTo>
                  <a:cubicBezTo>
                    <a:pt x="134014" y="150019"/>
                    <a:pt x="150019" y="134014"/>
                    <a:pt x="150019" y="114300"/>
                  </a:cubicBezTo>
                  <a:cubicBezTo>
                    <a:pt x="150019" y="94586"/>
                    <a:pt x="134014" y="78581"/>
                    <a:pt x="114300" y="78581"/>
                  </a:cubicBezTo>
                  <a:cubicBezTo>
                    <a:pt x="94586" y="78581"/>
                    <a:pt x="78581" y="94586"/>
                    <a:pt x="78581" y="114300"/>
                  </a:cubicBezTo>
                  <a:cubicBezTo>
                    <a:pt x="78581" y="134014"/>
                    <a:pt x="94586" y="150019"/>
                    <a:pt x="114300" y="150019"/>
                  </a:cubicBezTo>
                  <a:close/>
                  <a:moveTo>
                    <a:pt x="114300" y="50006"/>
                  </a:moveTo>
                  <a:cubicBezTo>
                    <a:pt x="149785" y="50006"/>
                    <a:pt x="178594" y="78815"/>
                    <a:pt x="178594" y="114300"/>
                  </a:cubicBezTo>
                  <a:cubicBezTo>
                    <a:pt x="178594" y="149785"/>
                    <a:pt x="149785" y="178594"/>
                    <a:pt x="114300" y="178594"/>
                  </a:cubicBezTo>
                  <a:cubicBezTo>
                    <a:pt x="78815" y="178594"/>
                    <a:pt x="50006" y="149785"/>
                    <a:pt x="50006" y="114300"/>
                  </a:cubicBezTo>
                  <a:cubicBezTo>
                    <a:pt x="50006" y="78815"/>
                    <a:pt x="78815" y="50006"/>
                    <a:pt x="114300" y="50006"/>
                  </a:cubicBezTo>
                  <a:close/>
                  <a:moveTo>
                    <a:pt x="100013" y="114300"/>
                  </a:moveTo>
                  <a:cubicBezTo>
                    <a:pt x="100013" y="106415"/>
                    <a:pt x="106415" y="100013"/>
                    <a:pt x="114300" y="100013"/>
                  </a:cubicBezTo>
                  <a:cubicBezTo>
                    <a:pt x="122185" y="100013"/>
                    <a:pt x="128588" y="106415"/>
                    <a:pt x="128588" y="114300"/>
                  </a:cubicBezTo>
                  <a:cubicBezTo>
                    <a:pt x="128588" y="122185"/>
                    <a:pt x="122185" y="128588"/>
                    <a:pt x="114300" y="128588"/>
                  </a:cubicBezTo>
                  <a:cubicBezTo>
                    <a:pt x="106415" y="128588"/>
                    <a:pt x="100013" y="122185"/>
                    <a:pt x="100013" y="11430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25050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Цель и задачи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54050" y="868681"/>
              <a:ext cx="281940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2E734B93-23DE-479F-A6E2-8426117DA227}"/>
              </a:ext>
            </a:extLst>
          </p:cNvPr>
          <p:cNvGrpSpPr/>
          <p:nvPr/>
        </p:nvGrpSpPr>
        <p:grpSpPr>
          <a:xfrm>
            <a:off x="381000" y="1219200"/>
            <a:ext cx="11430000" cy="1457325"/>
            <a:chOff x="381000" y="1219200"/>
            <a:chExt cx="11430000" cy="1457325"/>
          </a:xfrm>
        </p:grpSpPr>
        <p:sp>
          <p:nvSpPr>
            <p:cNvPr id="6" name="Shape 4"/>
            <p:cNvSpPr/>
            <p:nvPr/>
          </p:nvSpPr>
          <p:spPr>
            <a:xfrm>
              <a:off x="381000" y="1219200"/>
              <a:ext cx="11430000" cy="1457325"/>
            </a:xfrm>
            <a:custGeom>
              <a:avLst/>
              <a:gdLst/>
              <a:ahLst/>
              <a:cxnLst/>
              <a:rect l="l" t="t" r="r" b="b"/>
              <a:pathLst>
                <a:path w="11430000" h="1457325">
                  <a:moveTo>
                    <a:pt x="152407" y="0"/>
                  </a:moveTo>
                  <a:lnTo>
                    <a:pt x="11277593" y="0"/>
                  </a:lnTo>
                  <a:cubicBezTo>
                    <a:pt x="11361765" y="0"/>
                    <a:pt x="11430000" y="68235"/>
                    <a:pt x="11430000" y="152407"/>
                  </a:cubicBezTo>
                  <a:lnTo>
                    <a:pt x="11430000" y="1304918"/>
                  </a:lnTo>
                  <a:cubicBezTo>
                    <a:pt x="11430000" y="1389090"/>
                    <a:pt x="11361765" y="1457325"/>
                    <a:pt x="11277593" y="1457325"/>
                  </a:cubicBezTo>
                  <a:lnTo>
                    <a:pt x="152407" y="1457325"/>
                  </a:lnTo>
                  <a:cubicBezTo>
                    <a:pt x="68235" y="1457325"/>
                    <a:pt x="0" y="1389090"/>
                    <a:pt x="0" y="1304918"/>
                  </a:cubicBezTo>
                  <a:lnTo>
                    <a:pt x="0" y="152407"/>
                  </a:lnTo>
                  <a:cubicBezTo>
                    <a:pt x="0" y="68291"/>
                    <a:pt x="68291" y="0"/>
                    <a:pt x="15240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609600" y="1643063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14300" y="0"/>
                  </a:moveTo>
                  <a:lnTo>
                    <a:pt x="495300" y="0"/>
                  </a:lnTo>
                  <a:cubicBezTo>
                    <a:pt x="558384" y="0"/>
                    <a:pt x="609600" y="51216"/>
                    <a:pt x="609600" y="114300"/>
                  </a:cubicBezTo>
                  <a:lnTo>
                    <a:pt x="609600" y="495300"/>
                  </a:lnTo>
                  <a:cubicBezTo>
                    <a:pt x="609600" y="558384"/>
                    <a:pt x="558384" y="609600"/>
                    <a:pt x="495300" y="609600"/>
                  </a:cubicBezTo>
                  <a:lnTo>
                    <a:pt x="114300" y="609600"/>
                  </a:lnTo>
                  <a:cubicBezTo>
                    <a:pt x="51216" y="609600"/>
                    <a:pt x="0" y="558384"/>
                    <a:pt x="0" y="495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791766" y="1804988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7859" y="0"/>
                  </a:moveTo>
                  <a:cubicBezTo>
                    <a:pt x="27738" y="0"/>
                    <a:pt x="35719" y="7981"/>
                    <a:pt x="35719" y="17859"/>
                  </a:cubicBezTo>
                  <a:lnTo>
                    <a:pt x="35719" y="26789"/>
                  </a:lnTo>
                  <a:lnTo>
                    <a:pt x="74228" y="17190"/>
                  </a:lnTo>
                  <a:cubicBezTo>
                    <a:pt x="95492" y="11888"/>
                    <a:pt x="117928" y="14343"/>
                    <a:pt x="137573" y="24166"/>
                  </a:cubicBezTo>
                  <a:cubicBezTo>
                    <a:pt x="163413" y="37114"/>
                    <a:pt x="193830" y="37114"/>
                    <a:pt x="219670" y="24166"/>
                  </a:cubicBezTo>
                  <a:lnTo>
                    <a:pt x="225028" y="21487"/>
                  </a:lnTo>
                  <a:cubicBezTo>
                    <a:pt x="236525" y="15683"/>
                    <a:pt x="250031" y="24054"/>
                    <a:pt x="250031" y="36891"/>
                  </a:cubicBezTo>
                  <a:lnTo>
                    <a:pt x="250031" y="192993"/>
                  </a:lnTo>
                  <a:cubicBezTo>
                    <a:pt x="250031" y="200416"/>
                    <a:pt x="245399" y="207113"/>
                    <a:pt x="238423" y="209736"/>
                  </a:cubicBezTo>
                  <a:lnTo>
                    <a:pt x="219056" y="216991"/>
                  </a:lnTo>
                  <a:cubicBezTo>
                    <a:pt x="193272" y="226647"/>
                    <a:pt x="164585" y="225140"/>
                    <a:pt x="139973" y="212861"/>
                  </a:cubicBezTo>
                  <a:cubicBezTo>
                    <a:pt x="118821" y="202257"/>
                    <a:pt x="94543" y="199634"/>
                    <a:pt x="71605" y="205383"/>
                  </a:cubicBezTo>
                  <a:lnTo>
                    <a:pt x="35719" y="214313"/>
                  </a:lnTo>
                  <a:lnTo>
                    <a:pt x="35719" y="267891"/>
                  </a:lnTo>
                  <a:cubicBezTo>
                    <a:pt x="35719" y="277769"/>
                    <a:pt x="27738" y="285750"/>
                    <a:pt x="17859" y="285750"/>
                  </a:cubicBezTo>
                  <a:cubicBezTo>
                    <a:pt x="7981" y="285750"/>
                    <a:pt x="0" y="277769"/>
                    <a:pt x="0" y="267891"/>
                  </a:cubicBezTo>
                  <a:lnTo>
                    <a:pt x="0" y="17859"/>
                  </a:lnTo>
                  <a:cubicBezTo>
                    <a:pt x="0" y="7981"/>
                    <a:pt x="7981" y="0"/>
                    <a:pt x="17859" y="0"/>
                  </a:cubicBezTo>
                  <a:close/>
                  <a:moveTo>
                    <a:pt x="35719" y="104422"/>
                  </a:moveTo>
                  <a:lnTo>
                    <a:pt x="71438" y="96664"/>
                  </a:lnTo>
                  <a:lnTo>
                    <a:pt x="71438" y="133220"/>
                  </a:lnTo>
                  <a:lnTo>
                    <a:pt x="35719" y="140977"/>
                  </a:lnTo>
                  <a:lnTo>
                    <a:pt x="35719" y="177533"/>
                  </a:lnTo>
                  <a:lnTo>
                    <a:pt x="62954" y="170724"/>
                  </a:lnTo>
                  <a:cubicBezTo>
                    <a:pt x="65801" y="169999"/>
                    <a:pt x="68591" y="169385"/>
                    <a:pt x="71438" y="168883"/>
                  </a:cubicBezTo>
                  <a:lnTo>
                    <a:pt x="71438" y="133220"/>
                  </a:lnTo>
                  <a:lnTo>
                    <a:pt x="93148" y="128532"/>
                  </a:lnTo>
                  <a:cubicBezTo>
                    <a:pt x="97780" y="127527"/>
                    <a:pt x="102468" y="127136"/>
                    <a:pt x="107156" y="127360"/>
                  </a:cubicBezTo>
                  <a:lnTo>
                    <a:pt x="107156" y="91641"/>
                  </a:lnTo>
                  <a:cubicBezTo>
                    <a:pt x="114746" y="91864"/>
                    <a:pt x="122337" y="93092"/>
                    <a:pt x="129704" y="95213"/>
                  </a:cubicBezTo>
                  <a:lnTo>
                    <a:pt x="142875" y="99064"/>
                  </a:lnTo>
                  <a:lnTo>
                    <a:pt x="142875" y="136289"/>
                  </a:lnTo>
                  <a:lnTo>
                    <a:pt x="119602" y="129425"/>
                  </a:lnTo>
                  <a:cubicBezTo>
                    <a:pt x="115528" y="128253"/>
                    <a:pt x="111342" y="127527"/>
                    <a:pt x="107156" y="127304"/>
                  </a:cubicBezTo>
                  <a:lnTo>
                    <a:pt x="107156" y="167153"/>
                  </a:lnTo>
                  <a:cubicBezTo>
                    <a:pt x="119323" y="168213"/>
                    <a:pt x="131322" y="170892"/>
                    <a:pt x="142875" y="175189"/>
                  </a:cubicBezTo>
                  <a:lnTo>
                    <a:pt x="142875" y="136234"/>
                  </a:lnTo>
                  <a:lnTo>
                    <a:pt x="155544" y="139973"/>
                  </a:lnTo>
                  <a:cubicBezTo>
                    <a:pt x="163078" y="142205"/>
                    <a:pt x="170780" y="143545"/>
                    <a:pt x="178594" y="144103"/>
                  </a:cubicBezTo>
                  <a:lnTo>
                    <a:pt x="178594" y="108272"/>
                  </a:lnTo>
                  <a:cubicBezTo>
                    <a:pt x="174241" y="107826"/>
                    <a:pt x="169887" y="106989"/>
                    <a:pt x="165646" y="105761"/>
                  </a:cubicBezTo>
                  <a:lnTo>
                    <a:pt x="142875" y="99064"/>
                  </a:lnTo>
                  <a:lnTo>
                    <a:pt x="142875" y="64461"/>
                  </a:lnTo>
                  <a:cubicBezTo>
                    <a:pt x="135620" y="62340"/>
                    <a:pt x="128476" y="59550"/>
                    <a:pt x="121555" y="56090"/>
                  </a:cubicBezTo>
                  <a:cubicBezTo>
                    <a:pt x="116979" y="53801"/>
                    <a:pt x="112123" y="52183"/>
                    <a:pt x="107156" y="51178"/>
                  </a:cubicBezTo>
                  <a:lnTo>
                    <a:pt x="107156" y="91585"/>
                  </a:lnTo>
                  <a:cubicBezTo>
                    <a:pt x="99901" y="91362"/>
                    <a:pt x="92646" y="92032"/>
                    <a:pt x="85558" y="93594"/>
                  </a:cubicBezTo>
                  <a:lnTo>
                    <a:pt x="71438" y="96664"/>
                  </a:lnTo>
                  <a:lnTo>
                    <a:pt x="71438" y="54694"/>
                  </a:lnTo>
                  <a:lnTo>
                    <a:pt x="35719" y="63624"/>
                  </a:lnTo>
                  <a:lnTo>
                    <a:pt x="35719" y="104422"/>
                  </a:lnTo>
                  <a:close/>
                  <a:moveTo>
                    <a:pt x="178594" y="187356"/>
                  </a:moveTo>
                  <a:cubicBezTo>
                    <a:pt x="187970" y="188193"/>
                    <a:pt x="197514" y="186965"/>
                    <a:pt x="206499" y="183561"/>
                  </a:cubicBezTo>
                  <a:lnTo>
                    <a:pt x="214313" y="180659"/>
                  </a:lnTo>
                  <a:lnTo>
                    <a:pt x="214313" y="140643"/>
                  </a:lnTo>
                  <a:lnTo>
                    <a:pt x="209903" y="141647"/>
                  </a:lnTo>
                  <a:cubicBezTo>
                    <a:pt x="199634" y="144047"/>
                    <a:pt x="189086" y="144828"/>
                    <a:pt x="178594" y="144159"/>
                  </a:cubicBezTo>
                  <a:lnTo>
                    <a:pt x="178594" y="187356"/>
                  </a:lnTo>
                  <a:close/>
                  <a:moveTo>
                    <a:pt x="214313" y="103975"/>
                  </a:moveTo>
                  <a:lnTo>
                    <a:pt x="214313" y="64461"/>
                  </a:lnTo>
                  <a:cubicBezTo>
                    <a:pt x="202648" y="67866"/>
                    <a:pt x="190649" y="69540"/>
                    <a:pt x="178594" y="69540"/>
                  </a:cubicBezTo>
                  <a:lnTo>
                    <a:pt x="178594" y="108272"/>
                  </a:lnTo>
                  <a:cubicBezTo>
                    <a:pt x="186351" y="109054"/>
                    <a:pt x="194221" y="108552"/>
                    <a:pt x="201867" y="106821"/>
                  </a:cubicBezTo>
                  <a:lnTo>
                    <a:pt x="214313" y="103919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371600" y="1447800"/>
              <a:ext cx="103251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Цель проекта</a:t>
              </a:r>
              <a:endParaRPr lang="en-US" sz="2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371600" y="1828800"/>
              <a:ext cx="10306050" cy="619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Разработать и внедрить интеллектуального ассистента на базе LLM для автоматизации типовых операций в 1С:УНФ</a:t>
              </a:r>
              <a:endParaRPr lang="en-US" sz="2000" dirty="0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C144AB88-2B98-422D-AE1D-883A762BD59A}"/>
              </a:ext>
            </a:extLst>
          </p:cNvPr>
          <p:cNvGrpSpPr/>
          <p:nvPr/>
        </p:nvGrpSpPr>
        <p:grpSpPr>
          <a:xfrm>
            <a:off x="381000" y="2981325"/>
            <a:ext cx="5600700" cy="3495675"/>
            <a:chOff x="381000" y="2981325"/>
            <a:chExt cx="5600700" cy="3495675"/>
          </a:xfrm>
        </p:grpSpPr>
        <p:sp>
          <p:nvSpPr>
            <p:cNvPr id="11" name="Shape 9"/>
            <p:cNvSpPr/>
            <p:nvPr/>
          </p:nvSpPr>
          <p:spPr>
            <a:xfrm>
              <a:off x="381000" y="2981325"/>
              <a:ext cx="5600700" cy="3495675"/>
            </a:xfrm>
            <a:custGeom>
              <a:avLst/>
              <a:gdLst/>
              <a:ahLst/>
              <a:cxnLst/>
              <a:rect l="l" t="t" r="r" b="b"/>
              <a:pathLst>
                <a:path w="5600700" h="3495675">
                  <a:moveTo>
                    <a:pt x="152411" y="0"/>
                  </a:moveTo>
                  <a:lnTo>
                    <a:pt x="5448289" y="0"/>
                  </a:lnTo>
                  <a:cubicBezTo>
                    <a:pt x="5532407" y="0"/>
                    <a:pt x="5600700" y="68293"/>
                    <a:pt x="5600700" y="152411"/>
                  </a:cubicBezTo>
                  <a:lnTo>
                    <a:pt x="5600700" y="3343264"/>
                  </a:lnTo>
                  <a:cubicBezTo>
                    <a:pt x="5600700" y="3427438"/>
                    <a:pt x="5532463" y="3495675"/>
                    <a:pt x="5448289" y="3495675"/>
                  </a:cubicBezTo>
                  <a:lnTo>
                    <a:pt x="152411" y="3495675"/>
                  </a:lnTo>
                  <a:cubicBezTo>
                    <a:pt x="68237" y="3495675"/>
                    <a:pt x="0" y="3427438"/>
                    <a:pt x="0" y="3343264"/>
                  </a:cubicBezTo>
                  <a:lnTo>
                    <a:pt x="0" y="152411"/>
                  </a:lnTo>
                  <a:cubicBezTo>
                    <a:pt x="0" y="68293"/>
                    <a:pt x="68293" y="0"/>
                    <a:pt x="15241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09600" y="3209925"/>
              <a:ext cx="5257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Задачи исследования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600" y="3857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729615" y="3895725"/>
              <a:ext cx="142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66800" y="3819524"/>
              <a:ext cx="4844506" cy="700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Проанализировать проблемы пользователей 1С:УНФ</a:t>
              </a:r>
              <a:endParaRPr lang="en-US" sz="28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09600" y="47202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716756" y="475836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045778" y="4714806"/>
              <a:ext cx="3950455" cy="62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Изучить существующие решения на рынке</a:t>
              </a:r>
              <a:endParaRPr lang="en-US" sz="28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09600" y="55836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14851" y="5621737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066800" y="5579863"/>
              <a:ext cx="3513826" cy="653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Спроектировать архитектуру системы</a:t>
              </a:r>
              <a:endParaRPr lang="en-US" sz="28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B7DE5D3E-FCE9-4248-9177-6F62CF969BD3}"/>
              </a:ext>
            </a:extLst>
          </p:cNvPr>
          <p:cNvGrpSpPr/>
          <p:nvPr/>
        </p:nvGrpSpPr>
        <p:grpSpPr>
          <a:xfrm>
            <a:off x="6210300" y="2981325"/>
            <a:ext cx="5600700" cy="3495675"/>
            <a:chOff x="6210300" y="2981325"/>
            <a:chExt cx="5600700" cy="3495675"/>
          </a:xfrm>
        </p:grpSpPr>
        <p:sp>
          <p:nvSpPr>
            <p:cNvPr id="22" name="Shape 20"/>
            <p:cNvSpPr/>
            <p:nvPr/>
          </p:nvSpPr>
          <p:spPr>
            <a:xfrm>
              <a:off x="6210300" y="2981325"/>
              <a:ext cx="5600700" cy="3495675"/>
            </a:xfrm>
            <a:custGeom>
              <a:avLst/>
              <a:gdLst/>
              <a:ahLst/>
              <a:cxnLst/>
              <a:rect l="l" t="t" r="r" b="b"/>
              <a:pathLst>
                <a:path w="5600700" h="3495675">
                  <a:moveTo>
                    <a:pt x="152411" y="0"/>
                  </a:moveTo>
                  <a:lnTo>
                    <a:pt x="5448289" y="0"/>
                  </a:lnTo>
                  <a:cubicBezTo>
                    <a:pt x="5532407" y="0"/>
                    <a:pt x="5600700" y="68293"/>
                    <a:pt x="5600700" y="152411"/>
                  </a:cubicBezTo>
                  <a:lnTo>
                    <a:pt x="5600700" y="3343264"/>
                  </a:lnTo>
                  <a:cubicBezTo>
                    <a:pt x="5600700" y="3427438"/>
                    <a:pt x="5532463" y="3495675"/>
                    <a:pt x="5448289" y="3495675"/>
                  </a:cubicBezTo>
                  <a:lnTo>
                    <a:pt x="152411" y="3495675"/>
                  </a:lnTo>
                  <a:cubicBezTo>
                    <a:pt x="68237" y="3495675"/>
                    <a:pt x="0" y="3427438"/>
                    <a:pt x="0" y="3343264"/>
                  </a:cubicBezTo>
                  <a:lnTo>
                    <a:pt x="0" y="152411"/>
                  </a:lnTo>
                  <a:cubicBezTo>
                    <a:pt x="0" y="68293"/>
                    <a:pt x="68293" y="0"/>
                    <a:pt x="15241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6438900" y="3209925"/>
              <a:ext cx="5257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Задачи разработки</a:t>
              </a:r>
              <a:endParaRPr lang="en-US" sz="2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438900" y="3857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6544151" y="389572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896100" y="3855646"/>
              <a:ext cx="3409867" cy="6762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Разработать модуль интеграции с 1С</a:t>
              </a:r>
              <a:endParaRPr lang="en-US" sz="28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439693" y="47583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544151" y="479646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896100" y="4619625"/>
              <a:ext cx="2588588" cy="926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Реализовать RAG-механизм</a:t>
              </a:r>
              <a:endParaRPr lang="en-US" sz="2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438900" y="561669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543040" y="565479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896100" y="5468339"/>
              <a:ext cx="4740546" cy="926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Создать чат-интерфейс и обеспечить безопасность</a:t>
              </a:r>
              <a:endParaRPr lang="en-US" sz="2800" dirty="0"/>
            </a:p>
          </p:txBody>
        </p:sp>
      </p:grpSp>
      <p:sp>
        <p:nvSpPr>
          <p:cNvPr id="37" name="Text 7">
            <a:extLst>
              <a:ext uri="{FF2B5EF4-FFF2-40B4-BE49-F238E27FC236}">
                <a16:creationId xmlns:a16="http://schemas.microsoft.com/office/drawing/2014/main" id="{CD306BD8-043C-42B9-8DD7-6CBC54B3F928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3</a:t>
            </a:r>
            <a:endParaRPr lang="en-US" sz="1600" dirty="0"/>
          </a:p>
        </p:txBody>
      </p:sp>
      <p:sp>
        <p:nvSpPr>
          <p:cNvPr id="100" name="Text 7">
            <a:extLst>
              <a:ext uri="{FF2B5EF4-FFF2-40B4-BE49-F238E27FC236}">
                <a16:creationId xmlns:a16="http://schemas.microsoft.com/office/drawing/2014/main" id="{F2952239-799C-4E76-A634-7B4E2F883665}"/>
              </a:ext>
            </a:extLst>
          </p:cNvPr>
          <p:cNvSpPr/>
          <p:nvPr/>
        </p:nvSpPr>
        <p:spPr>
          <a:xfrm>
            <a:off x="12765563" y="4167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2</a:t>
            </a:r>
            <a:endParaRPr lang="en-US" sz="160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24404082-43B5-47EB-89B9-75E978F58157}"/>
              </a:ext>
            </a:extLst>
          </p:cNvPr>
          <p:cNvSpPr/>
          <p:nvPr/>
        </p:nvSpPr>
        <p:spPr>
          <a:xfrm>
            <a:off x="11146313" y="-105013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4</a:t>
            </a:r>
            <a:endParaRPr lang="en-US" sz="1600" dirty="0"/>
          </a:p>
        </p:txBody>
      </p:sp>
      <p:grpSp>
        <p:nvGrpSpPr>
          <p:cNvPr id="126" name="Группа 125">
            <a:extLst>
              <a:ext uri="{FF2B5EF4-FFF2-40B4-BE49-F238E27FC236}">
                <a16:creationId xmlns:a16="http://schemas.microsoft.com/office/drawing/2014/main" id="{E0D2281B-161A-44A6-BC6C-385FD2726263}"/>
              </a:ext>
            </a:extLst>
          </p:cNvPr>
          <p:cNvGrpSpPr/>
          <p:nvPr/>
        </p:nvGrpSpPr>
        <p:grpSpPr>
          <a:xfrm>
            <a:off x="381000" y="-1104900"/>
            <a:ext cx="6610350" cy="533400"/>
            <a:chOff x="381000" y="381000"/>
            <a:chExt cx="6610350" cy="533400"/>
          </a:xfrm>
        </p:grpSpPr>
        <p:sp>
          <p:nvSpPr>
            <p:cNvPr id="127" name="Shape 0">
              <a:extLst>
                <a:ext uri="{FF2B5EF4-FFF2-40B4-BE49-F238E27FC236}">
                  <a16:creationId xmlns:a16="http://schemas.microsoft.com/office/drawing/2014/main" id="{EF1C3CFD-CD0F-463F-9366-B4D7654E53D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8" name="Shape 1">
              <a:extLst>
                <a:ext uri="{FF2B5EF4-FFF2-40B4-BE49-F238E27FC236}">
                  <a16:creationId xmlns:a16="http://schemas.microsoft.com/office/drawing/2014/main" id="{1E5ED06C-10F3-46D1-AEE1-BD9327D3D3DC}"/>
                </a:ext>
              </a:extLst>
            </p:cNvPr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0900" y="57150"/>
                  </a:moveTo>
                  <a:cubicBezTo>
                    <a:pt x="60900" y="38008"/>
                    <a:pt x="71112" y="20321"/>
                    <a:pt x="87690" y="10750"/>
                  </a:cubicBezTo>
                  <a:cubicBezTo>
                    <a:pt x="104267" y="1179"/>
                    <a:pt x="124691" y="1179"/>
                    <a:pt x="141268" y="10750"/>
                  </a:cubicBezTo>
                  <a:cubicBezTo>
                    <a:pt x="157845" y="20321"/>
                    <a:pt x="168057" y="38008"/>
                    <a:pt x="168057" y="57150"/>
                  </a:cubicBezTo>
                  <a:cubicBezTo>
                    <a:pt x="168057" y="86721"/>
                    <a:pt x="144049" y="110728"/>
                    <a:pt x="114479" y="110728"/>
                  </a:cubicBezTo>
                  <a:cubicBezTo>
                    <a:pt x="84908" y="110728"/>
                    <a:pt x="60900" y="86721"/>
                    <a:pt x="60900" y="57150"/>
                  </a:cubicBezTo>
                  <a:close/>
                  <a:moveTo>
                    <a:pt x="21610" y="215339"/>
                  </a:moveTo>
                  <a:cubicBezTo>
                    <a:pt x="21610" y="171361"/>
                    <a:pt x="57239" y="135731"/>
                    <a:pt x="101218" y="135731"/>
                  </a:cubicBezTo>
                  <a:lnTo>
                    <a:pt x="127739" y="135731"/>
                  </a:lnTo>
                  <a:cubicBezTo>
                    <a:pt x="171718" y="135731"/>
                    <a:pt x="207347" y="171361"/>
                    <a:pt x="207347" y="215339"/>
                  </a:cubicBezTo>
                  <a:cubicBezTo>
                    <a:pt x="207347" y="222662"/>
                    <a:pt x="201409" y="228600"/>
                    <a:pt x="194087" y="228600"/>
                  </a:cubicBezTo>
                  <a:lnTo>
                    <a:pt x="34870" y="228600"/>
                  </a:lnTo>
                  <a:cubicBezTo>
                    <a:pt x="27548" y="228600"/>
                    <a:pt x="21610" y="222662"/>
                    <a:pt x="21610" y="215339"/>
                  </a:cubicBezTo>
                  <a:close/>
                  <a:moveTo>
                    <a:pt x="273382" y="55409"/>
                  </a:moveTo>
                  <a:cubicBezTo>
                    <a:pt x="277579" y="59606"/>
                    <a:pt x="277579" y="66392"/>
                    <a:pt x="273382" y="70545"/>
                  </a:cubicBezTo>
                  <a:lnTo>
                    <a:pt x="258247" y="85680"/>
                  </a:lnTo>
                  <a:lnTo>
                    <a:pt x="273382" y="100816"/>
                  </a:lnTo>
                  <a:cubicBezTo>
                    <a:pt x="277579" y="105013"/>
                    <a:pt x="277579" y="111800"/>
                    <a:pt x="273382" y="115952"/>
                  </a:cubicBezTo>
                  <a:cubicBezTo>
                    <a:pt x="269185" y="120104"/>
                    <a:pt x="262399" y="120149"/>
                    <a:pt x="258247" y="115952"/>
                  </a:cubicBezTo>
                  <a:lnTo>
                    <a:pt x="243111" y="100816"/>
                  </a:lnTo>
                  <a:lnTo>
                    <a:pt x="227975" y="115952"/>
                  </a:lnTo>
                  <a:cubicBezTo>
                    <a:pt x="223778" y="120149"/>
                    <a:pt x="216991" y="120149"/>
                    <a:pt x="212839" y="115952"/>
                  </a:cubicBezTo>
                  <a:cubicBezTo>
                    <a:pt x="208687" y="111755"/>
                    <a:pt x="208642" y="104968"/>
                    <a:pt x="212839" y="100816"/>
                  </a:cubicBezTo>
                  <a:lnTo>
                    <a:pt x="227975" y="85680"/>
                  </a:lnTo>
                  <a:lnTo>
                    <a:pt x="212839" y="70545"/>
                  </a:lnTo>
                  <a:cubicBezTo>
                    <a:pt x="208642" y="66348"/>
                    <a:pt x="208642" y="59561"/>
                    <a:pt x="212839" y="55409"/>
                  </a:cubicBezTo>
                  <a:cubicBezTo>
                    <a:pt x="217036" y="51256"/>
                    <a:pt x="223823" y="51212"/>
                    <a:pt x="227975" y="55409"/>
                  </a:cubicBezTo>
                  <a:lnTo>
                    <a:pt x="243111" y="70545"/>
                  </a:lnTo>
                  <a:lnTo>
                    <a:pt x="258247" y="55409"/>
                  </a:lnTo>
                  <a:cubicBezTo>
                    <a:pt x="262444" y="51212"/>
                    <a:pt x="269230" y="51212"/>
                    <a:pt x="273382" y="5540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9" name="Text 2">
              <a:extLst>
                <a:ext uri="{FF2B5EF4-FFF2-40B4-BE49-F238E27FC236}">
                  <a16:creationId xmlns:a16="http://schemas.microsoft.com/office/drawing/2014/main" id="{6FA98DAC-6BA6-4779-BF22-3442C1AE1977}"/>
                </a:ext>
              </a:extLst>
            </p:cNvPr>
            <p:cNvSpPr/>
            <p:nvPr/>
          </p:nvSpPr>
          <p:spPr>
            <a:xfrm>
              <a:off x="1066800" y="400050"/>
              <a:ext cx="59245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Проблемы пользователей 1С:УНФ</a:t>
              </a:r>
              <a:endParaRPr lang="en-US" sz="1600" dirty="0"/>
            </a:p>
          </p:txBody>
        </p:sp>
        <p:sp>
          <p:nvSpPr>
            <p:cNvPr id="130" name="Shape 3">
              <a:extLst>
                <a:ext uri="{FF2B5EF4-FFF2-40B4-BE49-F238E27FC236}">
                  <a16:creationId xmlns:a16="http://schemas.microsoft.com/office/drawing/2014/main" id="{2654FF2F-D9B8-49D5-98D2-ADD3E876049D}"/>
                </a:ext>
              </a:extLst>
            </p:cNvPr>
            <p:cNvSpPr/>
            <p:nvPr/>
          </p:nvSpPr>
          <p:spPr>
            <a:xfrm>
              <a:off x="747712" y="868681"/>
              <a:ext cx="602932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4291786F-78CB-4B88-8BDE-FC9BEF5C01E2}"/>
              </a:ext>
            </a:extLst>
          </p:cNvPr>
          <p:cNvGrpSpPr/>
          <p:nvPr/>
        </p:nvGrpSpPr>
        <p:grpSpPr>
          <a:xfrm>
            <a:off x="381000" y="8077200"/>
            <a:ext cx="3686175" cy="2552700"/>
            <a:chOff x="381000" y="3962400"/>
            <a:chExt cx="3686175" cy="2552700"/>
          </a:xfrm>
        </p:grpSpPr>
        <p:sp>
          <p:nvSpPr>
            <p:cNvPr id="132" name="Shape 25">
              <a:extLst>
                <a:ext uri="{FF2B5EF4-FFF2-40B4-BE49-F238E27FC236}">
                  <a16:creationId xmlns:a16="http://schemas.microsoft.com/office/drawing/2014/main" id="{B626264B-C081-4E74-91D5-B809D12333EA}"/>
                </a:ext>
              </a:extLst>
            </p:cNvPr>
            <p:cNvSpPr/>
            <p:nvPr/>
          </p:nvSpPr>
          <p:spPr>
            <a:xfrm>
              <a:off x="3810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33" name="Shape 26">
              <a:extLst>
                <a:ext uri="{FF2B5EF4-FFF2-40B4-BE49-F238E27FC236}">
                  <a16:creationId xmlns:a16="http://schemas.microsoft.com/office/drawing/2014/main" id="{A1082322-77CD-414B-8EC9-F16F0EB92D6A}"/>
                </a:ext>
              </a:extLst>
            </p:cNvPr>
            <p:cNvSpPr/>
            <p:nvPr/>
          </p:nvSpPr>
          <p:spPr>
            <a:xfrm>
              <a:off x="609600" y="419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4" name="Shape 27">
              <a:extLst>
                <a:ext uri="{FF2B5EF4-FFF2-40B4-BE49-F238E27FC236}">
                  <a16:creationId xmlns:a16="http://schemas.microsoft.com/office/drawing/2014/main" id="{4AC6DBD5-4C74-42A5-A8B4-DBFE9C187D59}"/>
                </a:ext>
              </a:extLst>
            </p:cNvPr>
            <p:cNvSpPr/>
            <p:nvPr/>
          </p:nvSpPr>
          <p:spPr>
            <a:xfrm>
              <a:off x="762000" y="434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28575"/>
                  </a:moveTo>
                  <a:cubicBezTo>
                    <a:pt x="28575" y="20672"/>
                    <a:pt x="22190" y="14288"/>
                    <a:pt x="14288" y="14288"/>
                  </a:cubicBezTo>
                  <a:cubicBezTo>
                    <a:pt x="6385" y="14288"/>
                    <a:pt x="0" y="20672"/>
                    <a:pt x="0" y="28575"/>
                  </a:cubicBezTo>
                  <a:lnTo>
                    <a:pt x="0" y="178594"/>
                  </a:lnTo>
                  <a:cubicBezTo>
                    <a:pt x="0" y="198328"/>
                    <a:pt x="15984" y="214313"/>
                    <a:pt x="35719" y="214313"/>
                  </a:cubicBezTo>
                  <a:lnTo>
                    <a:pt x="214313" y="214313"/>
                  </a:lnTo>
                  <a:cubicBezTo>
                    <a:pt x="222215" y="214313"/>
                    <a:pt x="228600" y="207928"/>
                    <a:pt x="228600" y="200025"/>
                  </a:cubicBezTo>
                  <a:cubicBezTo>
                    <a:pt x="228600" y="192122"/>
                    <a:pt x="222215" y="185738"/>
                    <a:pt x="214313" y="185738"/>
                  </a:cubicBezTo>
                  <a:lnTo>
                    <a:pt x="35719" y="185738"/>
                  </a:lnTo>
                  <a:cubicBezTo>
                    <a:pt x="31790" y="185738"/>
                    <a:pt x="28575" y="182523"/>
                    <a:pt x="28575" y="178594"/>
                  </a:cubicBezTo>
                  <a:lnTo>
                    <a:pt x="28575" y="28575"/>
                  </a:lnTo>
                  <a:close/>
                  <a:moveTo>
                    <a:pt x="210116" y="67241"/>
                  </a:moveTo>
                  <a:cubicBezTo>
                    <a:pt x="215697" y="61659"/>
                    <a:pt x="215697" y="52596"/>
                    <a:pt x="210116" y="47015"/>
                  </a:cubicBezTo>
                  <a:cubicBezTo>
                    <a:pt x="204534" y="41434"/>
                    <a:pt x="195471" y="41434"/>
                    <a:pt x="189890" y="47015"/>
                  </a:cubicBezTo>
                  <a:lnTo>
                    <a:pt x="142875" y="94074"/>
                  </a:lnTo>
                  <a:lnTo>
                    <a:pt x="117247" y="68491"/>
                  </a:lnTo>
                  <a:cubicBezTo>
                    <a:pt x="111666" y="62910"/>
                    <a:pt x="102602" y="62910"/>
                    <a:pt x="97021" y="68491"/>
                  </a:cubicBezTo>
                  <a:lnTo>
                    <a:pt x="54159" y="111353"/>
                  </a:lnTo>
                  <a:cubicBezTo>
                    <a:pt x="48578" y="116934"/>
                    <a:pt x="48578" y="125998"/>
                    <a:pt x="54159" y="131579"/>
                  </a:cubicBezTo>
                  <a:cubicBezTo>
                    <a:pt x="59740" y="137160"/>
                    <a:pt x="68803" y="137160"/>
                    <a:pt x="74384" y="131579"/>
                  </a:cubicBezTo>
                  <a:lnTo>
                    <a:pt x="107156" y="98807"/>
                  </a:lnTo>
                  <a:lnTo>
                    <a:pt x="132784" y="124435"/>
                  </a:lnTo>
                  <a:cubicBezTo>
                    <a:pt x="138366" y="130016"/>
                    <a:pt x="147429" y="130016"/>
                    <a:pt x="153010" y="124435"/>
                  </a:cubicBezTo>
                  <a:lnTo>
                    <a:pt x="210160" y="6728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35" name="Text 28">
              <a:extLst>
                <a:ext uri="{FF2B5EF4-FFF2-40B4-BE49-F238E27FC236}">
                  <a16:creationId xmlns:a16="http://schemas.microsoft.com/office/drawing/2014/main" id="{96DB2DD9-2918-4C17-A19C-464355C085B2}"/>
                </a:ext>
              </a:extLst>
            </p:cNvPr>
            <p:cNvSpPr/>
            <p:nvPr/>
          </p:nvSpPr>
          <p:spPr>
            <a:xfrm>
              <a:off x="609600" y="4876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Статусы и аналитика</a:t>
              </a:r>
              <a:endParaRPr lang="en-US" sz="2400" dirty="0"/>
            </a:p>
          </p:txBody>
        </p:sp>
        <p:sp>
          <p:nvSpPr>
            <p:cNvPr id="136" name="Text 29">
              <a:extLst>
                <a:ext uri="{FF2B5EF4-FFF2-40B4-BE49-F238E27FC236}">
                  <a16:creationId xmlns:a16="http://schemas.microsoft.com/office/drawing/2014/main" id="{F5E5EE66-9975-4D50-BE32-53BAE0A61994}"/>
                </a:ext>
              </a:extLst>
            </p:cNvPr>
            <p:cNvSpPr/>
            <p:nvPr/>
          </p:nvSpPr>
          <p:spPr>
            <a:xfrm>
              <a:off x="609600" y="52578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Сложность получения сводных данных и аналитики в реальном времени</a:t>
              </a:r>
              <a:endParaRPr lang="en-US" sz="1600" dirty="0"/>
            </a:p>
          </p:txBody>
        </p:sp>
        <p:sp>
          <p:nvSpPr>
            <p:cNvPr id="137" name="Shape 30">
              <a:extLst>
                <a:ext uri="{FF2B5EF4-FFF2-40B4-BE49-F238E27FC236}">
                  <a16:creationId xmlns:a16="http://schemas.microsoft.com/office/drawing/2014/main" id="{55C92A2F-0BAA-4A99-86DB-5DC8DA1F99E2}"/>
                </a:ext>
              </a:extLst>
            </p:cNvPr>
            <p:cNvSpPr/>
            <p:nvPr/>
          </p:nvSpPr>
          <p:spPr>
            <a:xfrm>
              <a:off x="609600" y="58674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38" name="Text 31">
              <a:extLst>
                <a:ext uri="{FF2B5EF4-FFF2-40B4-BE49-F238E27FC236}">
                  <a16:creationId xmlns:a16="http://schemas.microsoft.com/office/drawing/2014/main" id="{DAC32525-B6DE-40A5-95D0-14B513FDB8D2}"/>
                </a:ext>
              </a:extLst>
            </p:cNvPr>
            <p:cNvSpPr/>
            <p:nvPr/>
          </p:nvSpPr>
          <p:spPr>
            <a:xfrm>
              <a:off x="723900" y="59817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Нужно строить отчеты вручную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4EE42B33-3967-443D-96C5-A9D8191D7727}"/>
              </a:ext>
            </a:extLst>
          </p:cNvPr>
          <p:cNvGrpSpPr/>
          <p:nvPr/>
        </p:nvGrpSpPr>
        <p:grpSpPr>
          <a:xfrm>
            <a:off x="4254500" y="8077200"/>
            <a:ext cx="3686175" cy="2552700"/>
            <a:chOff x="4254500" y="3962400"/>
            <a:chExt cx="3686175" cy="2552700"/>
          </a:xfrm>
        </p:grpSpPr>
        <p:sp>
          <p:nvSpPr>
            <p:cNvPr id="140" name="Shape 32">
              <a:extLst>
                <a:ext uri="{FF2B5EF4-FFF2-40B4-BE49-F238E27FC236}">
                  <a16:creationId xmlns:a16="http://schemas.microsoft.com/office/drawing/2014/main" id="{C3B8E907-5F7A-4C5C-BBE7-FB0F2097FB45}"/>
                </a:ext>
              </a:extLst>
            </p:cNvPr>
            <p:cNvSpPr/>
            <p:nvPr/>
          </p:nvSpPr>
          <p:spPr>
            <a:xfrm>
              <a:off x="42545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1" name="Shape 33">
              <a:extLst>
                <a:ext uri="{FF2B5EF4-FFF2-40B4-BE49-F238E27FC236}">
                  <a16:creationId xmlns:a16="http://schemas.microsoft.com/office/drawing/2014/main" id="{4DB69EC9-65C2-4528-A3CF-31197F1D2A09}"/>
                </a:ext>
              </a:extLst>
            </p:cNvPr>
            <p:cNvSpPr/>
            <p:nvPr/>
          </p:nvSpPr>
          <p:spPr>
            <a:xfrm>
              <a:off x="4483100" y="419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2" name="Shape 34">
              <a:extLst>
                <a:ext uri="{FF2B5EF4-FFF2-40B4-BE49-F238E27FC236}">
                  <a16:creationId xmlns:a16="http://schemas.microsoft.com/office/drawing/2014/main" id="{AD237B9E-361F-48B7-BEBB-2F153F41CEE4}"/>
                </a:ext>
              </a:extLst>
            </p:cNvPr>
            <p:cNvSpPr/>
            <p:nvPr/>
          </p:nvSpPr>
          <p:spPr>
            <a:xfrm>
              <a:off x="4649788" y="43434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3" y="28575"/>
                  </a:moveTo>
                  <a:cubicBezTo>
                    <a:pt x="64740" y="28575"/>
                    <a:pt x="35406" y="54159"/>
                    <a:pt x="29602" y="87823"/>
                  </a:cubicBezTo>
                  <a:cubicBezTo>
                    <a:pt x="33754" y="86484"/>
                    <a:pt x="38219" y="85725"/>
                    <a:pt x="42863" y="85725"/>
                  </a:cubicBezTo>
                  <a:lnTo>
                    <a:pt x="50006" y="85725"/>
                  </a:lnTo>
                  <a:cubicBezTo>
                    <a:pt x="61838" y="85725"/>
                    <a:pt x="71438" y="95324"/>
                    <a:pt x="71438" y="107156"/>
                  </a:cubicBezTo>
                  <a:lnTo>
                    <a:pt x="71438" y="150019"/>
                  </a:lnTo>
                  <a:cubicBezTo>
                    <a:pt x="71438" y="161851"/>
                    <a:pt x="61838" y="171450"/>
                    <a:pt x="50006" y="171450"/>
                  </a:cubicBezTo>
                  <a:lnTo>
                    <a:pt x="42863" y="171450"/>
                  </a:lnTo>
                  <a:cubicBezTo>
                    <a:pt x="19199" y="171450"/>
                    <a:pt x="0" y="152251"/>
                    <a:pt x="0" y="128588"/>
                  </a:cubicBezTo>
                  <a:lnTo>
                    <a:pt x="0" y="100013"/>
                  </a:lnTo>
                  <a:cubicBezTo>
                    <a:pt x="0" y="44782"/>
                    <a:pt x="44782" y="0"/>
                    <a:pt x="100013" y="0"/>
                  </a:cubicBezTo>
                  <a:cubicBezTo>
                    <a:pt x="155243" y="0"/>
                    <a:pt x="200025" y="44782"/>
                    <a:pt x="200025" y="100013"/>
                  </a:cubicBezTo>
                  <a:lnTo>
                    <a:pt x="200025" y="175067"/>
                  </a:lnTo>
                  <a:cubicBezTo>
                    <a:pt x="200025" y="204668"/>
                    <a:pt x="176004" y="228645"/>
                    <a:pt x="146402" y="228645"/>
                  </a:cubicBezTo>
                  <a:lnTo>
                    <a:pt x="107156" y="228600"/>
                  </a:lnTo>
                  <a:lnTo>
                    <a:pt x="92869" y="228600"/>
                  </a:lnTo>
                  <a:cubicBezTo>
                    <a:pt x="81037" y="228600"/>
                    <a:pt x="71437" y="219001"/>
                    <a:pt x="71437" y="207169"/>
                  </a:cubicBezTo>
                  <a:cubicBezTo>
                    <a:pt x="71437" y="195337"/>
                    <a:pt x="81037" y="185738"/>
                    <a:pt x="92869" y="185738"/>
                  </a:cubicBezTo>
                  <a:lnTo>
                    <a:pt x="107156" y="185738"/>
                  </a:lnTo>
                  <a:cubicBezTo>
                    <a:pt x="118988" y="185738"/>
                    <a:pt x="128588" y="195337"/>
                    <a:pt x="128588" y="207169"/>
                  </a:cubicBezTo>
                  <a:lnTo>
                    <a:pt x="128588" y="207169"/>
                  </a:lnTo>
                  <a:lnTo>
                    <a:pt x="146447" y="207169"/>
                  </a:lnTo>
                  <a:cubicBezTo>
                    <a:pt x="164217" y="207169"/>
                    <a:pt x="178594" y="192792"/>
                    <a:pt x="178594" y="175022"/>
                  </a:cubicBezTo>
                  <a:lnTo>
                    <a:pt x="178594" y="165690"/>
                  </a:lnTo>
                  <a:cubicBezTo>
                    <a:pt x="172298" y="169352"/>
                    <a:pt x="164976" y="171405"/>
                    <a:pt x="157163" y="171405"/>
                  </a:cubicBezTo>
                  <a:lnTo>
                    <a:pt x="150019" y="171405"/>
                  </a:lnTo>
                  <a:cubicBezTo>
                    <a:pt x="138187" y="171405"/>
                    <a:pt x="128588" y="161806"/>
                    <a:pt x="128588" y="149974"/>
                  </a:cubicBezTo>
                  <a:lnTo>
                    <a:pt x="128588" y="107112"/>
                  </a:lnTo>
                  <a:cubicBezTo>
                    <a:pt x="128588" y="95280"/>
                    <a:pt x="138187" y="85680"/>
                    <a:pt x="150019" y="85680"/>
                  </a:cubicBezTo>
                  <a:lnTo>
                    <a:pt x="157163" y="85680"/>
                  </a:lnTo>
                  <a:cubicBezTo>
                    <a:pt x="161806" y="85680"/>
                    <a:pt x="166226" y="86395"/>
                    <a:pt x="170423" y="87779"/>
                  </a:cubicBezTo>
                  <a:cubicBezTo>
                    <a:pt x="164619" y="54159"/>
                    <a:pt x="135329" y="28530"/>
                    <a:pt x="100013" y="2853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3" name="Text 35">
              <a:extLst>
                <a:ext uri="{FF2B5EF4-FFF2-40B4-BE49-F238E27FC236}">
                  <a16:creationId xmlns:a16="http://schemas.microsoft.com/office/drawing/2014/main" id="{879E0BBE-36EC-4532-AF3B-51595AB45D19}"/>
                </a:ext>
              </a:extLst>
            </p:cNvPr>
            <p:cNvSpPr/>
            <p:nvPr/>
          </p:nvSpPr>
          <p:spPr>
            <a:xfrm>
              <a:off x="4483100" y="4876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Нагрузка на поддержку</a:t>
              </a:r>
              <a:endParaRPr lang="en-US" sz="2400" dirty="0"/>
            </a:p>
          </p:txBody>
        </p:sp>
        <p:sp>
          <p:nvSpPr>
            <p:cNvPr id="144" name="Text 36">
              <a:extLst>
                <a:ext uri="{FF2B5EF4-FFF2-40B4-BE49-F238E27FC236}">
                  <a16:creationId xmlns:a16="http://schemas.microsoft.com/office/drawing/2014/main" id="{C00C3CAA-5E02-4B36-9166-F4884D4FD2E7}"/>
                </a:ext>
              </a:extLst>
            </p:cNvPr>
            <p:cNvSpPr/>
            <p:nvPr/>
          </p:nvSpPr>
          <p:spPr>
            <a:xfrm>
              <a:off x="4483100" y="52578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Типовые вопросы отнимают время специалистов от сложных задач</a:t>
              </a:r>
              <a:endParaRPr lang="en-US" sz="1600" dirty="0"/>
            </a:p>
          </p:txBody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10F15881-1BC0-4C1C-8F0A-DD17D41827CD}"/>
                </a:ext>
              </a:extLst>
            </p:cNvPr>
            <p:cNvSpPr/>
            <p:nvPr/>
          </p:nvSpPr>
          <p:spPr>
            <a:xfrm>
              <a:off x="4483100" y="58674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46" name="Text 38">
              <a:extLst>
                <a:ext uri="{FF2B5EF4-FFF2-40B4-BE49-F238E27FC236}">
                  <a16:creationId xmlns:a16="http://schemas.microsoft.com/office/drawing/2014/main" id="{1DCA0ECA-3B4A-47B0-8573-B47EA5927FAB}"/>
                </a:ext>
              </a:extLst>
            </p:cNvPr>
            <p:cNvSpPr/>
            <p:nvPr/>
          </p:nvSpPr>
          <p:spPr>
            <a:xfrm>
              <a:off x="4597400" y="59817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50% обращений — типовые вопросы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4B52F07F-D34E-44F3-BEE2-04330E512919}"/>
              </a:ext>
            </a:extLst>
          </p:cNvPr>
          <p:cNvGrpSpPr/>
          <p:nvPr/>
        </p:nvGrpSpPr>
        <p:grpSpPr>
          <a:xfrm>
            <a:off x="-8096250" y="1219200"/>
            <a:ext cx="3686175" cy="2552700"/>
            <a:chOff x="381000" y="1219200"/>
            <a:chExt cx="3686175" cy="2552700"/>
          </a:xfrm>
        </p:grpSpPr>
        <p:sp>
          <p:nvSpPr>
            <p:cNvPr id="148" name="Shape 4">
              <a:extLst>
                <a:ext uri="{FF2B5EF4-FFF2-40B4-BE49-F238E27FC236}">
                  <a16:creationId xmlns:a16="http://schemas.microsoft.com/office/drawing/2014/main" id="{1EFAA54F-02AF-4CEE-8889-465D33C8562C}"/>
                </a:ext>
              </a:extLst>
            </p:cNvPr>
            <p:cNvSpPr/>
            <p:nvPr/>
          </p:nvSpPr>
          <p:spPr>
            <a:xfrm>
              <a:off x="3810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9" name="Shape 5">
              <a:extLst>
                <a:ext uri="{FF2B5EF4-FFF2-40B4-BE49-F238E27FC236}">
                  <a16:creationId xmlns:a16="http://schemas.microsoft.com/office/drawing/2014/main" id="{18DE28EF-7D69-4E82-9D6D-48D0985FDC0F}"/>
                </a:ext>
              </a:extLst>
            </p:cNvPr>
            <p:cNvSpPr/>
            <p:nvPr/>
          </p:nvSpPr>
          <p:spPr>
            <a:xfrm>
              <a:off x="6096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0" name="Shape 6">
              <a:extLst>
                <a:ext uri="{FF2B5EF4-FFF2-40B4-BE49-F238E27FC236}">
                  <a16:creationId xmlns:a16="http://schemas.microsoft.com/office/drawing/2014/main" id="{F80C2ACA-75F2-4C5B-9C41-6C181069B956}"/>
                </a:ext>
              </a:extLst>
            </p:cNvPr>
            <p:cNvSpPr/>
            <p:nvPr/>
          </p:nvSpPr>
          <p:spPr>
            <a:xfrm>
              <a:off x="747713" y="16002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228600" y="42863"/>
                  </a:moveTo>
                  <a:lnTo>
                    <a:pt x="71438" y="42863"/>
                  </a:lnTo>
                  <a:cubicBezTo>
                    <a:pt x="71438" y="27102"/>
                    <a:pt x="84252" y="14288"/>
                    <a:pt x="100013" y="14288"/>
                  </a:cubicBezTo>
                  <a:lnTo>
                    <a:pt x="228600" y="14288"/>
                  </a:lnTo>
                  <a:cubicBezTo>
                    <a:pt x="244361" y="14288"/>
                    <a:pt x="257175" y="27102"/>
                    <a:pt x="257175" y="42863"/>
                  </a:cubicBezTo>
                  <a:lnTo>
                    <a:pt x="257175" y="128588"/>
                  </a:lnTo>
                  <a:cubicBezTo>
                    <a:pt x="257175" y="144348"/>
                    <a:pt x="244361" y="157163"/>
                    <a:pt x="228600" y="157163"/>
                  </a:cubicBezTo>
                  <a:lnTo>
                    <a:pt x="207169" y="157163"/>
                  </a:lnTo>
                  <a:lnTo>
                    <a:pt x="207169" y="128588"/>
                  </a:lnTo>
                  <a:lnTo>
                    <a:pt x="228600" y="128588"/>
                  </a:lnTo>
                  <a:lnTo>
                    <a:pt x="228600" y="42863"/>
                  </a:lnTo>
                  <a:close/>
                  <a:moveTo>
                    <a:pt x="0" y="100013"/>
                  </a:moveTo>
                  <a:cubicBezTo>
                    <a:pt x="0" y="84252"/>
                    <a:pt x="12814" y="71438"/>
                    <a:pt x="28575" y="71438"/>
                  </a:cubicBezTo>
                  <a:lnTo>
                    <a:pt x="157163" y="71438"/>
                  </a:lnTo>
                  <a:cubicBezTo>
                    <a:pt x="172923" y="71438"/>
                    <a:pt x="185738" y="84252"/>
                    <a:pt x="185738" y="100013"/>
                  </a:cubicBezTo>
                  <a:lnTo>
                    <a:pt x="185738" y="185738"/>
                  </a:lnTo>
                  <a:cubicBezTo>
                    <a:pt x="185738" y="201498"/>
                    <a:pt x="172923" y="214313"/>
                    <a:pt x="157163" y="214313"/>
                  </a:cubicBezTo>
                  <a:lnTo>
                    <a:pt x="28575" y="214313"/>
                  </a:lnTo>
                  <a:cubicBezTo>
                    <a:pt x="12814" y="214313"/>
                    <a:pt x="0" y="201498"/>
                    <a:pt x="0" y="185738"/>
                  </a:cubicBezTo>
                  <a:lnTo>
                    <a:pt x="0" y="100013"/>
                  </a:lnTo>
                  <a:close/>
                  <a:moveTo>
                    <a:pt x="28575" y="117872"/>
                  </a:moveTo>
                  <a:cubicBezTo>
                    <a:pt x="28575" y="123810"/>
                    <a:pt x="33352" y="128588"/>
                    <a:pt x="39291" y="128588"/>
                  </a:cubicBezTo>
                  <a:lnTo>
                    <a:pt x="146447" y="128588"/>
                  </a:lnTo>
                  <a:cubicBezTo>
                    <a:pt x="152385" y="128588"/>
                    <a:pt x="157163" y="123810"/>
                    <a:pt x="157163" y="117872"/>
                  </a:cubicBezTo>
                  <a:cubicBezTo>
                    <a:pt x="157163" y="111934"/>
                    <a:pt x="152385" y="107156"/>
                    <a:pt x="146447" y="107156"/>
                  </a:cubicBezTo>
                  <a:lnTo>
                    <a:pt x="39291" y="107156"/>
                  </a:lnTo>
                  <a:cubicBezTo>
                    <a:pt x="33352" y="107156"/>
                    <a:pt x="28575" y="111934"/>
                    <a:pt x="28575" y="11787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51" name="Text 7">
              <a:extLst>
                <a:ext uri="{FF2B5EF4-FFF2-40B4-BE49-F238E27FC236}">
                  <a16:creationId xmlns:a16="http://schemas.microsoft.com/office/drawing/2014/main" id="{96A56A7F-BD6B-4710-86AD-810502C516E9}"/>
                </a:ext>
              </a:extLst>
            </p:cNvPr>
            <p:cNvSpPr/>
            <p:nvPr/>
          </p:nvSpPr>
          <p:spPr>
            <a:xfrm>
              <a:off x="6096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Сложный интерфейс</a:t>
              </a:r>
              <a:endParaRPr lang="en-US" sz="2400" dirty="0"/>
            </a:p>
          </p:txBody>
        </p:sp>
        <p:sp>
          <p:nvSpPr>
            <p:cNvPr id="152" name="Text 8">
              <a:extLst>
                <a:ext uri="{FF2B5EF4-FFF2-40B4-BE49-F238E27FC236}">
                  <a16:creationId xmlns:a16="http://schemas.microsoft.com/office/drawing/2014/main" id="{B72F303A-1987-4A37-8FFC-8AC3859BA20D}"/>
                </a:ext>
              </a:extLst>
            </p:cNvPr>
            <p:cNvSpPr/>
            <p:nvPr/>
          </p:nvSpPr>
          <p:spPr>
            <a:xfrm>
              <a:off x="6096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Множество форм, неочевидная навигация, сложно найти нужную функцию</a:t>
              </a:r>
              <a:endParaRPr lang="en-US" sz="1600" dirty="0"/>
            </a:p>
          </p:txBody>
        </p:sp>
        <p:sp>
          <p:nvSpPr>
            <p:cNvPr id="153" name="Shape 9">
              <a:extLst>
                <a:ext uri="{FF2B5EF4-FFF2-40B4-BE49-F238E27FC236}">
                  <a16:creationId xmlns:a16="http://schemas.microsoft.com/office/drawing/2014/main" id="{B813D4EB-F15C-429D-BE5D-B8EC855B24B3}"/>
                </a:ext>
              </a:extLst>
            </p:cNvPr>
            <p:cNvSpPr/>
            <p:nvPr/>
          </p:nvSpPr>
          <p:spPr>
            <a:xfrm>
              <a:off x="6096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54" name="Text 10">
              <a:extLst>
                <a:ext uri="{FF2B5EF4-FFF2-40B4-BE49-F238E27FC236}">
                  <a16:creationId xmlns:a16="http://schemas.microsoft.com/office/drawing/2014/main" id="{515D1ED1-2B7F-40F2-B873-676E6BE13124}"/>
                </a:ext>
              </a:extLst>
            </p:cNvPr>
            <p:cNvSpPr/>
            <p:nvPr/>
          </p:nvSpPr>
          <p:spPr>
            <a:xfrm>
              <a:off x="7239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Более 200+ форм в типовой конфигурации</a:t>
              </a:r>
              <a:endParaRPr lang="en-US" sz="1600" dirty="0"/>
            </a:p>
          </p:txBody>
        </p:sp>
      </p:grpSp>
      <p:grpSp>
        <p:nvGrpSpPr>
          <p:cNvPr id="155" name="Группа 154">
            <a:extLst>
              <a:ext uri="{FF2B5EF4-FFF2-40B4-BE49-F238E27FC236}">
                <a16:creationId xmlns:a16="http://schemas.microsoft.com/office/drawing/2014/main" id="{AE62084F-7D25-4D00-874F-6023686D77EB}"/>
              </a:ext>
            </a:extLst>
          </p:cNvPr>
          <p:cNvGrpSpPr/>
          <p:nvPr/>
        </p:nvGrpSpPr>
        <p:grpSpPr>
          <a:xfrm>
            <a:off x="-4222750" y="1219200"/>
            <a:ext cx="3686175" cy="2552700"/>
            <a:chOff x="4254500" y="1219200"/>
            <a:chExt cx="3686175" cy="2552700"/>
          </a:xfrm>
        </p:grpSpPr>
        <p:sp>
          <p:nvSpPr>
            <p:cNvPr id="156" name="Shape 11">
              <a:extLst>
                <a:ext uri="{FF2B5EF4-FFF2-40B4-BE49-F238E27FC236}">
                  <a16:creationId xmlns:a16="http://schemas.microsoft.com/office/drawing/2014/main" id="{D5BFAF63-D7B3-4B17-A1E5-BA89CDAFEE3D}"/>
                </a:ext>
              </a:extLst>
            </p:cNvPr>
            <p:cNvSpPr/>
            <p:nvPr/>
          </p:nvSpPr>
          <p:spPr>
            <a:xfrm>
              <a:off x="42545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57" name="Shape 12">
              <a:extLst>
                <a:ext uri="{FF2B5EF4-FFF2-40B4-BE49-F238E27FC236}">
                  <a16:creationId xmlns:a16="http://schemas.microsoft.com/office/drawing/2014/main" id="{3C77A0A3-0F81-40BD-A5B7-C401CB48B457}"/>
                </a:ext>
              </a:extLst>
            </p:cNvPr>
            <p:cNvSpPr/>
            <p:nvPr/>
          </p:nvSpPr>
          <p:spPr>
            <a:xfrm>
              <a:off x="44831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8" name="Shape 13">
              <a:extLst>
                <a:ext uri="{FF2B5EF4-FFF2-40B4-BE49-F238E27FC236}">
                  <a16:creationId xmlns:a16="http://schemas.microsoft.com/office/drawing/2014/main" id="{734B45BB-AF08-4F43-8AE6-4B0F3E070310}"/>
                </a:ext>
              </a:extLst>
            </p:cNvPr>
            <p:cNvSpPr/>
            <p:nvPr/>
          </p:nvSpPr>
          <p:spPr>
            <a:xfrm>
              <a:off x="46355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85738" y="92869"/>
                  </a:moveTo>
                  <a:cubicBezTo>
                    <a:pt x="185738" y="113362"/>
                    <a:pt x="179085" y="132293"/>
                    <a:pt x="167878" y="147652"/>
                  </a:cubicBezTo>
                  <a:lnTo>
                    <a:pt x="224403" y="204222"/>
                  </a:lnTo>
                  <a:cubicBezTo>
                    <a:pt x="229984" y="209803"/>
                    <a:pt x="229984" y="218867"/>
                    <a:pt x="224403" y="224448"/>
                  </a:cubicBezTo>
                  <a:cubicBezTo>
                    <a:pt x="218822" y="230029"/>
                    <a:pt x="209758" y="230029"/>
                    <a:pt x="204177" y="224448"/>
                  </a:cubicBezTo>
                  <a:lnTo>
                    <a:pt x="147652" y="167878"/>
                  </a:lnTo>
                  <a:cubicBezTo>
                    <a:pt x="132293" y="179085"/>
                    <a:pt x="113362" y="185738"/>
                    <a:pt x="92869" y="185738"/>
                  </a:cubicBezTo>
                  <a:cubicBezTo>
                    <a:pt x="41568" y="185738"/>
                    <a:pt x="0" y="144170"/>
                    <a:pt x="0" y="92869"/>
                  </a:cubicBezTo>
                  <a:cubicBezTo>
                    <a:pt x="0" y="41568"/>
                    <a:pt x="41568" y="0"/>
                    <a:pt x="92869" y="0"/>
                  </a:cubicBezTo>
                  <a:cubicBezTo>
                    <a:pt x="144170" y="0"/>
                    <a:pt x="185738" y="41568"/>
                    <a:pt x="185738" y="92869"/>
                  </a:cubicBezTo>
                  <a:close/>
                  <a:moveTo>
                    <a:pt x="92869" y="157163"/>
                  </a:moveTo>
                  <a:cubicBezTo>
                    <a:pt x="128353" y="157163"/>
                    <a:pt x="157163" y="128353"/>
                    <a:pt x="157163" y="92869"/>
                  </a:cubicBezTo>
                  <a:cubicBezTo>
                    <a:pt x="157163" y="57384"/>
                    <a:pt x="128353" y="28575"/>
                    <a:pt x="92869" y="28575"/>
                  </a:cubicBezTo>
                  <a:cubicBezTo>
                    <a:pt x="57384" y="28575"/>
                    <a:pt x="28575" y="57384"/>
                    <a:pt x="28575" y="92869"/>
                  </a:cubicBezTo>
                  <a:cubicBezTo>
                    <a:pt x="28575" y="128353"/>
                    <a:pt x="57384" y="157163"/>
                    <a:pt x="92869" y="15716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59" name="Text 14">
              <a:extLst>
                <a:ext uri="{FF2B5EF4-FFF2-40B4-BE49-F238E27FC236}">
                  <a16:creationId xmlns:a16="http://schemas.microsoft.com/office/drawing/2014/main" id="{C545BF00-EB31-4A1F-B127-54C70091685C}"/>
                </a:ext>
              </a:extLst>
            </p:cNvPr>
            <p:cNvSpPr/>
            <p:nvPr/>
          </p:nvSpPr>
          <p:spPr>
            <a:xfrm>
              <a:off x="44831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Поиск документов</a:t>
              </a:r>
              <a:endParaRPr lang="en-US" sz="2400" dirty="0"/>
            </a:p>
          </p:txBody>
        </p:sp>
        <p:sp>
          <p:nvSpPr>
            <p:cNvPr id="160" name="Text 15">
              <a:extLst>
                <a:ext uri="{FF2B5EF4-FFF2-40B4-BE49-F238E27FC236}">
                  <a16:creationId xmlns:a16="http://schemas.microsoft.com/office/drawing/2014/main" id="{F910122D-294D-4E5D-9D5C-6B88797E753C}"/>
                </a:ext>
              </a:extLst>
            </p:cNvPr>
            <p:cNvSpPr/>
            <p:nvPr/>
          </p:nvSpPr>
          <p:spPr>
            <a:xfrm>
              <a:off x="44831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Сложно найти нужный документ среди тысяч записей без точных фильтров</a:t>
              </a:r>
              <a:endParaRPr lang="en-US" sz="1600" dirty="0"/>
            </a:p>
          </p:txBody>
        </p:sp>
        <p:sp>
          <p:nvSpPr>
            <p:cNvPr id="161" name="Shape 16">
              <a:extLst>
                <a:ext uri="{FF2B5EF4-FFF2-40B4-BE49-F238E27FC236}">
                  <a16:creationId xmlns:a16="http://schemas.microsoft.com/office/drawing/2014/main" id="{6ADF6BF0-E67F-424A-8985-EA5A15E67DC0}"/>
                </a:ext>
              </a:extLst>
            </p:cNvPr>
            <p:cNvSpPr/>
            <p:nvPr/>
          </p:nvSpPr>
          <p:spPr>
            <a:xfrm>
              <a:off x="44831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2" name="Text 17">
              <a:extLst>
                <a:ext uri="{FF2B5EF4-FFF2-40B4-BE49-F238E27FC236}">
                  <a16:creationId xmlns:a16="http://schemas.microsoft.com/office/drawing/2014/main" id="{0EBC315F-133D-43A9-B750-D17BF149F22E}"/>
                </a:ext>
              </a:extLst>
            </p:cNvPr>
            <p:cNvSpPr/>
            <p:nvPr/>
          </p:nvSpPr>
          <p:spPr>
            <a:xfrm>
              <a:off x="45974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Среднее время поиска — 5-10 минут</a:t>
              </a:r>
              <a:endParaRPr lang="en-US" sz="1600" dirty="0"/>
            </a:p>
          </p:txBody>
        </p:sp>
      </p:grpSp>
      <p:grpSp>
        <p:nvGrpSpPr>
          <p:cNvPr id="192" name="Группа 191">
            <a:extLst>
              <a:ext uri="{FF2B5EF4-FFF2-40B4-BE49-F238E27FC236}">
                <a16:creationId xmlns:a16="http://schemas.microsoft.com/office/drawing/2014/main" id="{B0762CBD-431B-46B6-8F15-74DC02DD924D}"/>
              </a:ext>
            </a:extLst>
          </p:cNvPr>
          <p:cNvGrpSpPr/>
          <p:nvPr/>
        </p:nvGrpSpPr>
        <p:grpSpPr>
          <a:xfrm>
            <a:off x="13195300" y="1219200"/>
            <a:ext cx="3686175" cy="2552700"/>
            <a:chOff x="8128000" y="1219200"/>
            <a:chExt cx="3686175" cy="2552700"/>
          </a:xfrm>
        </p:grpSpPr>
        <p:sp>
          <p:nvSpPr>
            <p:cNvPr id="193" name="Shape 18">
              <a:extLst>
                <a:ext uri="{FF2B5EF4-FFF2-40B4-BE49-F238E27FC236}">
                  <a16:creationId xmlns:a16="http://schemas.microsoft.com/office/drawing/2014/main" id="{ABEFA5BD-CB38-49B5-ADBB-C313B46A2DE2}"/>
                </a:ext>
              </a:extLst>
            </p:cNvPr>
            <p:cNvSpPr/>
            <p:nvPr/>
          </p:nvSpPr>
          <p:spPr>
            <a:xfrm>
              <a:off x="81280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94" name="Shape 19">
              <a:extLst>
                <a:ext uri="{FF2B5EF4-FFF2-40B4-BE49-F238E27FC236}">
                  <a16:creationId xmlns:a16="http://schemas.microsoft.com/office/drawing/2014/main" id="{8F896658-3223-418A-B7FD-668DCD6C8103}"/>
                </a:ext>
              </a:extLst>
            </p:cNvPr>
            <p:cNvSpPr/>
            <p:nvPr/>
          </p:nvSpPr>
          <p:spPr>
            <a:xfrm>
              <a:off x="83566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5" name="Shape 20">
              <a:extLst>
                <a:ext uri="{FF2B5EF4-FFF2-40B4-BE49-F238E27FC236}">
                  <a16:creationId xmlns:a16="http://schemas.microsoft.com/office/drawing/2014/main" id="{411AEFA1-42E1-421C-92F0-1B578509B043}"/>
                </a:ext>
              </a:extLst>
            </p:cNvPr>
            <p:cNvSpPr/>
            <p:nvPr/>
          </p:nvSpPr>
          <p:spPr>
            <a:xfrm>
              <a:off x="85090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0013" y="0"/>
                  </a:moveTo>
                  <a:lnTo>
                    <a:pt x="100013" y="28575"/>
                  </a:lnTo>
                  <a:cubicBezTo>
                    <a:pt x="100013" y="32504"/>
                    <a:pt x="103227" y="35719"/>
                    <a:pt x="107156" y="35719"/>
                  </a:cubicBezTo>
                  <a:lnTo>
                    <a:pt x="121444" y="35719"/>
                  </a:lnTo>
                  <a:cubicBezTo>
                    <a:pt x="125373" y="35719"/>
                    <a:pt x="128588" y="32504"/>
                    <a:pt x="128588" y="28575"/>
                  </a:cubicBezTo>
                  <a:lnTo>
                    <a:pt x="128588" y="0"/>
                  </a:lnTo>
                  <a:lnTo>
                    <a:pt x="142875" y="0"/>
                  </a:lnTo>
                  <a:cubicBezTo>
                    <a:pt x="158636" y="0"/>
                    <a:pt x="171450" y="12814"/>
                    <a:pt x="171450" y="28575"/>
                  </a:cubicBezTo>
                  <a:lnTo>
                    <a:pt x="171450" y="85725"/>
                  </a:lnTo>
                  <a:cubicBezTo>
                    <a:pt x="171450" y="88181"/>
                    <a:pt x="171137" y="90592"/>
                    <a:pt x="170557" y="92869"/>
                  </a:cubicBezTo>
                  <a:lnTo>
                    <a:pt x="58043" y="92869"/>
                  </a:lnTo>
                  <a:cubicBezTo>
                    <a:pt x="57463" y="90592"/>
                    <a:pt x="57150" y="88181"/>
                    <a:pt x="57150" y="85725"/>
                  </a:cubicBezTo>
                  <a:lnTo>
                    <a:pt x="57150" y="28575"/>
                  </a:lnTo>
                  <a:cubicBezTo>
                    <a:pt x="57150" y="12814"/>
                    <a:pt x="69964" y="0"/>
                    <a:pt x="85725" y="0"/>
                  </a:cubicBezTo>
                  <a:lnTo>
                    <a:pt x="100013" y="0"/>
                  </a:lnTo>
                  <a:close/>
                  <a:moveTo>
                    <a:pt x="142875" y="228600"/>
                  </a:moveTo>
                  <a:cubicBezTo>
                    <a:pt x="137874" y="228600"/>
                    <a:pt x="133142" y="227305"/>
                    <a:pt x="129034" y="225028"/>
                  </a:cubicBezTo>
                  <a:cubicBezTo>
                    <a:pt x="133276" y="217661"/>
                    <a:pt x="135731" y="209133"/>
                    <a:pt x="135731" y="200025"/>
                  </a:cubicBezTo>
                  <a:lnTo>
                    <a:pt x="135731" y="142875"/>
                  </a:lnTo>
                  <a:cubicBezTo>
                    <a:pt x="135731" y="133767"/>
                    <a:pt x="133276" y="125239"/>
                    <a:pt x="129034" y="117872"/>
                  </a:cubicBezTo>
                  <a:cubicBezTo>
                    <a:pt x="133142" y="115595"/>
                    <a:pt x="137830" y="114300"/>
                    <a:pt x="142875" y="114300"/>
                  </a:cubicBezTo>
                  <a:lnTo>
                    <a:pt x="157163" y="114300"/>
                  </a:lnTo>
                  <a:lnTo>
                    <a:pt x="157163" y="142875"/>
                  </a:lnTo>
                  <a:cubicBezTo>
                    <a:pt x="157163" y="146804"/>
                    <a:pt x="160377" y="150019"/>
                    <a:pt x="164306" y="150019"/>
                  </a:cubicBezTo>
                  <a:lnTo>
                    <a:pt x="178594" y="150019"/>
                  </a:lnTo>
                  <a:cubicBezTo>
                    <a:pt x="182523" y="150019"/>
                    <a:pt x="185738" y="146804"/>
                    <a:pt x="185738" y="142875"/>
                  </a:cubicBezTo>
                  <a:lnTo>
                    <a:pt x="185738" y="114300"/>
                  </a:lnTo>
                  <a:lnTo>
                    <a:pt x="200025" y="114300"/>
                  </a:lnTo>
                  <a:cubicBezTo>
                    <a:pt x="215786" y="114300"/>
                    <a:pt x="228600" y="127114"/>
                    <a:pt x="228600" y="142875"/>
                  </a:cubicBezTo>
                  <a:lnTo>
                    <a:pt x="228600" y="200025"/>
                  </a:lnTo>
                  <a:cubicBezTo>
                    <a:pt x="228600" y="215786"/>
                    <a:pt x="215786" y="228600"/>
                    <a:pt x="200025" y="228600"/>
                  </a:cubicBezTo>
                  <a:lnTo>
                    <a:pt x="142875" y="228600"/>
                  </a:lnTo>
                  <a:close/>
                  <a:moveTo>
                    <a:pt x="0" y="142875"/>
                  </a:moveTo>
                  <a:cubicBezTo>
                    <a:pt x="0" y="127114"/>
                    <a:pt x="12814" y="114300"/>
                    <a:pt x="28575" y="114300"/>
                  </a:cubicBezTo>
                  <a:lnTo>
                    <a:pt x="42863" y="114300"/>
                  </a:lnTo>
                  <a:lnTo>
                    <a:pt x="42863" y="142875"/>
                  </a:lnTo>
                  <a:cubicBezTo>
                    <a:pt x="42863" y="146804"/>
                    <a:pt x="46077" y="150019"/>
                    <a:pt x="50006" y="150019"/>
                  </a:cubicBezTo>
                  <a:lnTo>
                    <a:pt x="64294" y="150019"/>
                  </a:lnTo>
                  <a:cubicBezTo>
                    <a:pt x="68223" y="150019"/>
                    <a:pt x="71438" y="146804"/>
                    <a:pt x="71438" y="142875"/>
                  </a:cubicBezTo>
                  <a:lnTo>
                    <a:pt x="71438" y="114300"/>
                  </a:lnTo>
                  <a:lnTo>
                    <a:pt x="85725" y="114300"/>
                  </a:lnTo>
                  <a:cubicBezTo>
                    <a:pt x="101486" y="114300"/>
                    <a:pt x="114300" y="127114"/>
                    <a:pt x="114300" y="142875"/>
                  </a:cubicBezTo>
                  <a:lnTo>
                    <a:pt x="114300" y="200025"/>
                  </a:lnTo>
                  <a:cubicBezTo>
                    <a:pt x="114300" y="215786"/>
                    <a:pt x="101486" y="228600"/>
                    <a:pt x="8572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142875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96" name="Text 21">
              <a:extLst>
                <a:ext uri="{FF2B5EF4-FFF2-40B4-BE49-F238E27FC236}">
                  <a16:creationId xmlns:a16="http://schemas.microsoft.com/office/drawing/2014/main" id="{43FB2377-AC31-4D70-988C-193A5E9172AC}"/>
                </a:ext>
              </a:extLst>
            </p:cNvPr>
            <p:cNvSpPr/>
            <p:nvPr/>
          </p:nvSpPr>
          <p:spPr>
            <a:xfrm>
              <a:off x="83566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Проверка остатков</a:t>
              </a:r>
              <a:endParaRPr lang="en-US" sz="2400" dirty="0"/>
            </a:p>
          </p:txBody>
        </p:sp>
        <p:sp>
          <p:nvSpPr>
            <p:cNvPr id="197" name="Text 22">
              <a:extLst>
                <a:ext uri="{FF2B5EF4-FFF2-40B4-BE49-F238E27FC236}">
                  <a16:creationId xmlns:a16="http://schemas.microsoft.com/office/drawing/2014/main" id="{2CC928A7-C626-4BBD-AF06-98D782464658}"/>
                </a:ext>
              </a:extLst>
            </p:cNvPr>
            <p:cNvSpPr/>
            <p:nvPr/>
          </p:nvSpPr>
          <p:spPr>
            <a:xfrm>
              <a:off x="83566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Необходимость знать точные названия справочников и отчетов</a:t>
              </a:r>
              <a:endParaRPr lang="en-US" sz="1600" dirty="0"/>
            </a:p>
          </p:txBody>
        </p:sp>
        <p:sp>
          <p:nvSpPr>
            <p:cNvPr id="198" name="Shape 23">
              <a:extLst>
                <a:ext uri="{FF2B5EF4-FFF2-40B4-BE49-F238E27FC236}">
                  <a16:creationId xmlns:a16="http://schemas.microsoft.com/office/drawing/2014/main" id="{672DD6F5-0D45-49C1-B12D-8036ED3F4EA3}"/>
                </a:ext>
              </a:extLst>
            </p:cNvPr>
            <p:cNvSpPr/>
            <p:nvPr/>
          </p:nvSpPr>
          <p:spPr>
            <a:xfrm>
              <a:off x="83566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99" name="Text 24">
              <a:extLst>
                <a:ext uri="{FF2B5EF4-FFF2-40B4-BE49-F238E27FC236}">
                  <a16:creationId xmlns:a16="http://schemas.microsoft.com/office/drawing/2014/main" id="{0C26FBE1-1ABE-4957-912A-3AA2BB7D0005}"/>
                </a:ext>
              </a:extLst>
            </p:cNvPr>
            <p:cNvSpPr/>
            <p:nvPr/>
          </p:nvSpPr>
          <p:spPr>
            <a:xfrm>
              <a:off x="84709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Требуется знание структуры справочников</a:t>
              </a:r>
              <a:endParaRPr lang="en-US" sz="1600" dirty="0"/>
            </a:p>
          </p:txBody>
        </p:sp>
      </p:grpSp>
      <p:grpSp>
        <p:nvGrpSpPr>
          <p:cNvPr id="200" name="Группа 199">
            <a:extLst>
              <a:ext uri="{FF2B5EF4-FFF2-40B4-BE49-F238E27FC236}">
                <a16:creationId xmlns:a16="http://schemas.microsoft.com/office/drawing/2014/main" id="{FB1CB24E-3F98-4BC7-A4E6-5DFB2ED15062}"/>
              </a:ext>
            </a:extLst>
          </p:cNvPr>
          <p:cNvGrpSpPr/>
          <p:nvPr/>
        </p:nvGrpSpPr>
        <p:grpSpPr>
          <a:xfrm>
            <a:off x="13195300" y="3962400"/>
            <a:ext cx="3686175" cy="2552700"/>
            <a:chOff x="8128000" y="3962400"/>
            <a:chExt cx="3686175" cy="2552700"/>
          </a:xfrm>
        </p:grpSpPr>
        <p:sp>
          <p:nvSpPr>
            <p:cNvPr id="201" name="Shape 39">
              <a:extLst>
                <a:ext uri="{FF2B5EF4-FFF2-40B4-BE49-F238E27FC236}">
                  <a16:creationId xmlns:a16="http://schemas.microsoft.com/office/drawing/2014/main" id="{35F5DB58-A469-46C5-8DAB-BF7EC8C70ABF}"/>
                </a:ext>
              </a:extLst>
            </p:cNvPr>
            <p:cNvSpPr/>
            <p:nvPr/>
          </p:nvSpPr>
          <p:spPr>
            <a:xfrm>
              <a:off x="81280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2700000" scaled="1"/>
            </a:gradFill>
            <a:ln/>
          </p:spPr>
        </p:sp>
        <p:sp>
          <p:nvSpPr>
            <p:cNvPr id="202" name="Shape 40">
              <a:extLst>
                <a:ext uri="{FF2B5EF4-FFF2-40B4-BE49-F238E27FC236}">
                  <a16:creationId xmlns:a16="http://schemas.microsoft.com/office/drawing/2014/main" id="{B1FAB75C-9879-43AD-B231-79C9A7935B57}"/>
                </a:ext>
              </a:extLst>
            </p:cNvPr>
            <p:cNvSpPr/>
            <p:nvPr/>
          </p:nvSpPr>
          <p:spPr>
            <a:xfrm>
              <a:off x="9664700" y="42481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14300" y="0"/>
                  </a:moveTo>
                  <a:lnTo>
                    <a:pt x="495300" y="0"/>
                  </a:lnTo>
                  <a:cubicBezTo>
                    <a:pt x="558384" y="0"/>
                    <a:pt x="609600" y="51216"/>
                    <a:pt x="609600" y="114300"/>
                  </a:cubicBezTo>
                  <a:lnTo>
                    <a:pt x="609600" y="495300"/>
                  </a:lnTo>
                  <a:cubicBezTo>
                    <a:pt x="609600" y="558384"/>
                    <a:pt x="558384" y="609600"/>
                    <a:pt x="495300" y="609600"/>
                  </a:cubicBezTo>
                  <a:lnTo>
                    <a:pt x="114300" y="609600"/>
                  </a:lnTo>
                  <a:cubicBezTo>
                    <a:pt x="51216" y="609600"/>
                    <a:pt x="0" y="558384"/>
                    <a:pt x="0" y="495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03" name="Shape 41">
              <a:extLst>
                <a:ext uri="{FF2B5EF4-FFF2-40B4-BE49-F238E27FC236}">
                  <a16:creationId xmlns:a16="http://schemas.microsoft.com/office/drawing/2014/main" id="{34E162D9-8185-46A5-A0ED-0174C681F7B7}"/>
                </a:ext>
              </a:extLst>
            </p:cNvPr>
            <p:cNvSpPr/>
            <p:nvPr/>
          </p:nvSpPr>
          <p:spPr>
            <a:xfrm>
              <a:off x="9864725" y="4410075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04" name="Text 42">
              <a:extLst>
                <a:ext uri="{FF2B5EF4-FFF2-40B4-BE49-F238E27FC236}">
                  <a16:creationId xmlns:a16="http://schemas.microsoft.com/office/drawing/2014/main" id="{B9C99BDE-C92E-42C2-BA30-BFB9BCC21754}"/>
                </a:ext>
              </a:extLst>
            </p:cNvPr>
            <p:cNvSpPr/>
            <p:nvPr/>
          </p:nvSpPr>
          <p:spPr>
            <a:xfrm>
              <a:off x="8839902" y="5010150"/>
              <a:ext cx="2329046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Решение</a:t>
              </a:r>
              <a:endParaRPr lang="en-US" sz="2400" dirty="0"/>
            </a:p>
          </p:txBody>
        </p:sp>
        <p:sp>
          <p:nvSpPr>
            <p:cNvPr id="205" name="Text 43">
              <a:extLst>
                <a:ext uri="{FF2B5EF4-FFF2-40B4-BE49-F238E27FC236}">
                  <a16:creationId xmlns:a16="http://schemas.microsoft.com/office/drawing/2014/main" id="{1E3A694A-25C5-4CEE-8453-363645F4D89F}"/>
                </a:ext>
              </a:extLst>
            </p:cNvPr>
            <p:cNvSpPr/>
            <p:nvPr/>
          </p:nvSpPr>
          <p:spPr>
            <a:xfrm>
              <a:off x="8313737" y="5429250"/>
              <a:ext cx="3314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Интеллектуальный </a:t>
              </a:r>
              <a:r>
                <a:rPr lang="en-US" sz="1350" b="1" dirty="0" err="1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ассистент</a:t>
              </a: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</a:t>
              </a:r>
              <a:r>
                <a:rPr lang="ru-RU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упрощает</a:t>
              </a: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все эти проблемы на 60-70%</a:t>
              </a:r>
              <a:endParaRPr 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47D54017-5849-4D82-BA43-4BB080EE076A}"/>
              </a:ext>
            </a:extLst>
          </p:cNvPr>
          <p:cNvGrpSpPr/>
          <p:nvPr/>
        </p:nvGrpSpPr>
        <p:grpSpPr>
          <a:xfrm>
            <a:off x="381000" y="12944475"/>
            <a:ext cx="5600700" cy="3495675"/>
            <a:chOff x="381000" y="2981325"/>
            <a:chExt cx="5600700" cy="3495675"/>
          </a:xfrm>
        </p:grpSpPr>
        <p:sp>
          <p:nvSpPr>
            <p:cNvPr id="53" name="Shape 9">
              <a:extLst>
                <a:ext uri="{FF2B5EF4-FFF2-40B4-BE49-F238E27FC236}">
                  <a16:creationId xmlns:a16="http://schemas.microsoft.com/office/drawing/2014/main" id="{B54233E9-1465-459B-8C0E-03FEDA63CCAF}"/>
                </a:ext>
              </a:extLst>
            </p:cNvPr>
            <p:cNvSpPr/>
            <p:nvPr/>
          </p:nvSpPr>
          <p:spPr>
            <a:xfrm>
              <a:off x="381000" y="2981325"/>
              <a:ext cx="5600700" cy="3495675"/>
            </a:xfrm>
            <a:custGeom>
              <a:avLst/>
              <a:gdLst/>
              <a:ahLst/>
              <a:cxnLst/>
              <a:rect l="l" t="t" r="r" b="b"/>
              <a:pathLst>
                <a:path w="5600700" h="3495675">
                  <a:moveTo>
                    <a:pt x="152411" y="0"/>
                  </a:moveTo>
                  <a:lnTo>
                    <a:pt x="5448289" y="0"/>
                  </a:lnTo>
                  <a:cubicBezTo>
                    <a:pt x="5532407" y="0"/>
                    <a:pt x="5600700" y="68293"/>
                    <a:pt x="5600700" y="152411"/>
                  </a:cubicBezTo>
                  <a:lnTo>
                    <a:pt x="5600700" y="3343264"/>
                  </a:lnTo>
                  <a:cubicBezTo>
                    <a:pt x="5600700" y="3427438"/>
                    <a:pt x="5532463" y="3495675"/>
                    <a:pt x="5448289" y="3495675"/>
                  </a:cubicBezTo>
                  <a:lnTo>
                    <a:pt x="152411" y="3495675"/>
                  </a:lnTo>
                  <a:cubicBezTo>
                    <a:pt x="68237" y="3495675"/>
                    <a:pt x="0" y="3427438"/>
                    <a:pt x="0" y="3343264"/>
                  </a:cubicBezTo>
                  <a:lnTo>
                    <a:pt x="0" y="152411"/>
                  </a:lnTo>
                  <a:cubicBezTo>
                    <a:pt x="0" y="68293"/>
                    <a:pt x="68293" y="0"/>
                    <a:pt x="15241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B5D2B866-19C1-40FA-B580-0DD2ABB01E37}"/>
                </a:ext>
              </a:extLst>
            </p:cNvPr>
            <p:cNvSpPr/>
            <p:nvPr/>
          </p:nvSpPr>
          <p:spPr>
            <a:xfrm>
              <a:off x="609600" y="3209925"/>
              <a:ext cx="5257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Задачи исследования</a:t>
              </a:r>
              <a:endParaRPr lang="en-US" sz="2400" dirty="0"/>
            </a:p>
          </p:txBody>
        </p:sp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DA076ADC-0EA7-4CA4-9E1E-E7ABE8481CFF}"/>
                </a:ext>
              </a:extLst>
            </p:cNvPr>
            <p:cNvSpPr/>
            <p:nvPr/>
          </p:nvSpPr>
          <p:spPr>
            <a:xfrm>
              <a:off x="609600" y="3857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6" name="Text 12">
              <a:extLst>
                <a:ext uri="{FF2B5EF4-FFF2-40B4-BE49-F238E27FC236}">
                  <a16:creationId xmlns:a16="http://schemas.microsoft.com/office/drawing/2014/main" id="{A9E90B3C-C7B6-4638-95E3-DC2A685AF555}"/>
                </a:ext>
              </a:extLst>
            </p:cNvPr>
            <p:cNvSpPr/>
            <p:nvPr/>
          </p:nvSpPr>
          <p:spPr>
            <a:xfrm>
              <a:off x="729615" y="3895725"/>
              <a:ext cx="142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0BA3181C-B4F5-4138-B958-ACD4F061A558}"/>
                </a:ext>
              </a:extLst>
            </p:cNvPr>
            <p:cNvSpPr/>
            <p:nvPr/>
          </p:nvSpPr>
          <p:spPr>
            <a:xfrm>
              <a:off x="1066800" y="3819524"/>
              <a:ext cx="4844506" cy="700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Проанализировать проблемы пользователей 1С:УНФ</a:t>
              </a:r>
              <a:endParaRPr lang="en-US" sz="2800" dirty="0"/>
            </a:p>
          </p:txBody>
        </p:sp>
        <p:sp>
          <p:nvSpPr>
            <p:cNvPr id="58" name="Shape 14">
              <a:extLst>
                <a:ext uri="{FF2B5EF4-FFF2-40B4-BE49-F238E27FC236}">
                  <a16:creationId xmlns:a16="http://schemas.microsoft.com/office/drawing/2014/main" id="{2EE39C97-8AF1-4057-B58B-E058DFC20A1F}"/>
                </a:ext>
              </a:extLst>
            </p:cNvPr>
            <p:cNvSpPr/>
            <p:nvPr/>
          </p:nvSpPr>
          <p:spPr>
            <a:xfrm>
              <a:off x="609600" y="47202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9" name="Text 15">
              <a:extLst>
                <a:ext uri="{FF2B5EF4-FFF2-40B4-BE49-F238E27FC236}">
                  <a16:creationId xmlns:a16="http://schemas.microsoft.com/office/drawing/2014/main" id="{D97F3D0D-3EF5-4E75-9BCE-7F981FBDA1FC}"/>
                </a:ext>
              </a:extLst>
            </p:cNvPr>
            <p:cNvSpPr/>
            <p:nvPr/>
          </p:nvSpPr>
          <p:spPr>
            <a:xfrm>
              <a:off x="716756" y="475836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919C0E21-6652-4430-8136-50ECE053AE45}"/>
                </a:ext>
              </a:extLst>
            </p:cNvPr>
            <p:cNvSpPr/>
            <p:nvPr/>
          </p:nvSpPr>
          <p:spPr>
            <a:xfrm>
              <a:off x="1045778" y="4714806"/>
              <a:ext cx="3950455" cy="62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Изучить существующие решения на рынке</a:t>
              </a:r>
              <a:endParaRPr lang="en-US" sz="2800" dirty="0"/>
            </a:p>
          </p:txBody>
        </p:sp>
        <p:sp>
          <p:nvSpPr>
            <p:cNvPr id="61" name="Shape 17">
              <a:extLst>
                <a:ext uri="{FF2B5EF4-FFF2-40B4-BE49-F238E27FC236}">
                  <a16:creationId xmlns:a16="http://schemas.microsoft.com/office/drawing/2014/main" id="{DEC18F64-11F4-4D12-9F46-18E406B0B609}"/>
                </a:ext>
              </a:extLst>
            </p:cNvPr>
            <p:cNvSpPr/>
            <p:nvPr/>
          </p:nvSpPr>
          <p:spPr>
            <a:xfrm>
              <a:off x="609600" y="55836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62" name="Text 18">
              <a:extLst>
                <a:ext uri="{FF2B5EF4-FFF2-40B4-BE49-F238E27FC236}">
                  <a16:creationId xmlns:a16="http://schemas.microsoft.com/office/drawing/2014/main" id="{7C5739A6-A5C9-4377-8247-54A7EAD5BAA4}"/>
                </a:ext>
              </a:extLst>
            </p:cNvPr>
            <p:cNvSpPr/>
            <p:nvPr/>
          </p:nvSpPr>
          <p:spPr>
            <a:xfrm>
              <a:off x="714851" y="5621737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63" name="Text 19">
              <a:extLst>
                <a:ext uri="{FF2B5EF4-FFF2-40B4-BE49-F238E27FC236}">
                  <a16:creationId xmlns:a16="http://schemas.microsoft.com/office/drawing/2014/main" id="{B9C666D8-12AD-4215-838F-EA9C96055320}"/>
                </a:ext>
              </a:extLst>
            </p:cNvPr>
            <p:cNvSpPr/>
            <p:nvPr/>
          </p:nvSpPr>
          <p:spPr>
            <a:xfrm>
              <a:off x="1066800" y="5579863"/>
              <a:ext cx="3513826" cy="653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Спроектировать архитектуру системы</a:t>
              </a:r>
              <a:endParaRPr lang="en-US" sz="2800" dirty="0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EB399BCF-8D4D-49D7-8235-3093A4B2F97E}"/>
              </a:ext>
            </a:extLst>
          </p:cNvPr>
          <p:cNvGrpSpPr/>
          <p:nvPr/>
        </p:nvGrpSpPr>
        <p:grpSpPr>
          <a:xfrm>
            <a:off x="6210300" y="7305675"/>
            <a:ext cx="5600700" cy="3495675"/>
            <a:chOff x="6210300" y="2981325"/>
            <a:chExt cx="5600700" cy="3495675"/>
          </a:xfrm>
        </p:grpSpPr>
        <p:sp>
          <p:nvSpPr>
            <p:cNvPr id="65" name="Shape 20">
              <a:extLst>
                <a:ext uri="{FF2B5EF4-FFF2-40B4-BE49-F238E27FC236}">
                  <a16:creationId xmlns:a16="http://schemas.microsoft.com/office/drawing/2014/main" id="{56C00AC3-F8A6-44F9-BF26-B6711A002D2C}"/>
                </a:ext>
              </a:extLst>
            </p:cNvPr>
            <p:cNvSpPr/>
            <p:nvPr/>
          </p:nvSpPr>
          <p:spPr>
            <a:xfrm>
              <a:off x="6210300" y="2981325"/>
              <a:ext cx="5600700" cy="3495675"/>
            </a:xfrm>
            <a:custGeom>
              <a:avLst/>
              <a:gdLst/>
              <a:ahLst/>
              <a:cxnLst/>
              <a:rect l="l" t="t" r="r" b="b"/>
              <a:pathLst>
                <a:path w="5600700" h="3495675">
                  <a:moveTo>
                    <a:pt x="152411" y="0"/>
                  </a:moveTo>
                  <a:lnTo>
                    <a:pt x="5448289" y="0"/>
                  </a:lnTo>
                  <a:cubicBezTo>
                    <a:pt x="5532407" y="0"/>
                    <a:pt x="5600700" y="68293"/>
                    <a:pt x="5600700" y="152411"/>
                  </a:cubicBezTo>
                  <a:lnTo>
                    <a:pt x="5600700" y="3343264"/>
                  </a:lnTo>
                  <a:cubicBezTo>
                    <a:pt x="5600700" y="3427438"/>
                    <a:pt x="5532463" y="3495675"/>
                    <a:pt x="5448289" y="3495675"/>
                  </a:cubicBezTo>
                  <a:lnTo>
                    <a:pt x="152411" y="3495675"/>
                  </a:lnTo>
                  <a:cubicBezTo>
                    <a:pt x="68237" y="3495675"/>
                    <a:pt x="0" y="3427438"/>
                    <a:pt x="0" y="3343264"/>
                  </a:cubicBezTo>
                  <a:lnTo>
                    <a:pt x="0" y="152411"/>
                  </a:lnTo>
                  <a:cubicBezTo>
                    <a:pt x="0" y="68293"/>
                    <a:pt x="68293" y="0"/>
                    <a:pt x="15241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66" name="Text 21">
              <a:extLst>
                <a:ext uri="{FF2B5EF4-FFF2-40B4-BE49-F238E27FC236}">
                  <a16:creationId xmlns:a16="http://schemas.microsoft.com/office/drawing/2014/main" id="{2F68B20D-E96D-43BA-AD4A-48DEC3253A56}"/>
                </a:ext>
              </a:extLst>
            </p:cNvPr>
            <p:cNvSpPr/>
            <p:nvPr/>
          </p:nvSpPr>
          <p:spPr>
            <a:xfrm>
              <a:off x="6438900" y="3209925"/>
              <a:ext cx="52578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Задачи разработки</a:t>
              </a:r>
              <a:endParaRPr lang="en-US" sz="2400" dirty="0"/>
            </a:p>
          </p:txBody>
        </p:sp>
        <p:sp>
          <p:nvSpPr>
            <p:cNvPr id="67" name="Shape 22">
              <a:extLst>
                <a:ext uri="{FF2B5EF4-FFF2-40B4-BE49-F238E27FC236}">
                  <a16:creationId xmlns:a16="http://schemas.microsoft.com/office/drawing/2014/main" id="{F8126A5E-BC60-4A48-8173-ECAFF6667A9C}"/>
                </a:ext>
              </a:extLst>
            </p:cNvPr>
            <p:cNvSpPr/>
            <p:nvPr/>
          </p:nvSpPr>
          <p:spPr>
            <a:xfrm>
              <a:off x="6438900" y="3857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68" name="Text 23">
              <a:extLst>
                <a:ext uri="{FF2B5EF4-FFF2-40B4-BE49-F238E27FC236}">
                  <a16:creationId xmlns:a16="http://schemas.microsoft.com/office/drawing/2014/main" id="{8A37A9EB-88ED-423B-8364-77CD5F419555}"/>
                </a:ext>
              </a:extLst>
            </p:cNvPr>
            <p:cNvSpPr/>
            <p:nvPr/>
          </p:nvSpPr>
          <p:spPr>
            <a:xfrm>
              <a:off x="6544151" y="389572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69" name="Text 24">
              <a:extLst>
                <a:ext uri="{FF2B5EF4-FFF2-40B4-BE49-F238E27FC236}">
                  <a16:creationId xmlns:a16="http://schemas.microsoft.com/office/drawing/2014/main" id="{C5E21729-A6A9-40BB-8488-D2A6BEF3DE25}"/>
                </a:ext>
              </a:extLst>
            </p:cNvPr>
            <p:cNvSpPr/>
            <p:nvPr/>
          </p:nvSpPr>
          <p:spPr>
            <a:xfrm>
              <a:off x="6896100" y="3855646"/>
              <a:ext cx="3409867" cy="6762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Разработать модуль интеграции с 1С</a:t>
              </a:r>
              <a:endParaRPr lang="en-US" sz="2800" dirty="0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6604A988-C907-4A86-8C57-283BC70172C4}"/>
                </a:ext>
              </a:extLst>
            </p:cNvPr>
            <p:cNvSpPr/>
            <p:nvPr/>
          </p:nvSpPr>
          <p:spPr>
            <a:xfrm>
              <a:off x="6439693" y="47583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71" name="Text 26">
              <a:extLst>
                <a:ext uri="{FF2B5EF4-FFF2-40B4-BE49-F238E27FC236}">
                  <a16:creationId xmlns:a16="http://schemas.microsoft.com/office/drawing/2014/main" id="{4F65EE3E-16D3-42EB-89C1-181FD39E617F}"/>
                </a:ext>
              </a:extLst>
            </p:cNvPr>
            <p:cNvSpPr/>
            <p:nvPr/>
          </p:nvSpPr>
          <p:spPr>
            <a:xfrm>
              <a:off x="6544151" y="479646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72" name="Text 27">
              <a:extLst>
                <a:ext uri="{FF2B5EF4-FFF2-40B4-BE49-F238E27FC236}">
                  <a16:creationId xmlns:a16="http://schemas.microsoft.com/office/drawing/2014/main" id="{3B9B1D14-663C-469B-86E7-C5EB1EE60F54}"/>
                </a:ext>
              </a:extLst>
            </p:cNvPr>
            <p:cNvSpPr/>
            <p:nvPr/>
          </p:nvSpPr>
          <p:spPr>
            <a:xfrm>
              <a:off x="6896100" y="4619625"/>
              <a:ext cx="2588588" cy="926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Реализовать RAG-механизм</a:t>
              </a:r>
              <a:endParaRPr lang="en-US" sz="2800" dirty="0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C6496F47-705A-4A17-AF62-D0C878B25166}"/>
                </a:ext>
              </a:extLst>
            </p:cNvPr>
            <p:cNvSpPr/>
            <p:nvPr/>
          </p:nvSpPr>
          <p:spPr>
            <a:xfrm>
              <a:off x="6438900" y="561669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74" name="Text 29">
              <a:extLst>
                <a:ext uri="{FF2B5EF4-FFF2-40B4-BE49-F238E27FC236}">
                  <a16:creationId xmlns:a16="http://schemas.microsoft.com/office/drawing/2014/main" id="{1A6E2437-5E09-4DD3-947E-C2954F16093A}"/>
                </a:ext>
              </a:extLst>
            </p:cNvPr>
            <p:cNvSpPr/>
            <p:nvPr/>
          </p:nvSpPr>
          <p:spPr>
            <a:xfrm>
              <a:off x="6543040" y="5654795"/>
              <a:ext cx="171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</a:t>
              </a:r>
              <a:endParaRPr lang="en-US" sz="1600" dirty="0"/>
            </a:p>
          </p:txBody>
        </p:sp>
        <p:sp>
          <p:nvSpPr>
            <p:cNvPr id="75" name="Text 30">
              <a:extLst>
                <a:ext uri="{FF2B5EF4-FFF2-40B4-BE49-F238E27FC236}">
                  <a16:creationId xmlns:a16="http://schemas.microsoft.com/office/drawing/2014/main" id="{98567434-2D30-4ABC-8B38-9B7E5F88D78E}"/>
                </a:ext>
              </a:extLst>
            </p:cNvPr>
            <p:cNvSpPr/>
            <p:nvPr/>
          </p:nvSpPr>
          <p:spPr>
            <a:xfrm>
              <a:off x="6896100" y="5468339"/>
              <a:ext cx="4740546" cy="926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Создать чат-интерфейс и обеспечить безопасность</a:t>
              </a:r>
              <a:endParaRPr lang="en-US" sz="2800" dirty="0"/>
            </a:p>
          </p:txBody>
        </p:sp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D4BC7C22-4EC5-40E5-82C4-724B93653FB3}"/>
              </a:ext>
            </a:extLst>
          </p:cNvPr>
          <p:cNvGrpSpPr/>
          <p:nvPr/>
        </p:nvGrpSpPr>
        <p:grpSpPr>
          <a:xfrm>
            <a:off x="13258800" y="1219200"/>
            <a:ext cx="11430000" cy="1457325"/>
            <a:chOff x="381000" y="1219200"/>
            <a:chExt cx="11430000" cy="1457325"/>
          </a:xfrm>
        </p:grpSpPr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ECA44BD8-8004-4A55-97E9-B46BF4C37B52}"/>
                </a:ext>
              </a:extLst>
            </p:cNvPr>
            <p:cNvSpPr/>
            <p:nvPr/>
          </p:nvSpPr>
          <p:spPr>
            <a:xfrm>
              <a:off x="381000" y="1219200"/>
              <a:ext cx="11430000" cy="1457325"/>
            </a:xfrm>
            <a:custGeom>
              <a:avLst/>
              <a:gdLst/>
              <a:ahLst/>
              <a:cxnLst/>
              <a:rect l="l" t="t" r="r" b="b"/>
              <a:pathLst>
                <a:path w="11430000" h="1457325">
                  <a:moveTo>
                    <a:pt x="152407" y="0"/>
                  </a:moveTo>
                  <a:lnTo>
                    <a:pt x="11277593" y="0"/>
                  </a:lnTo>
                  <a:cubicBezTo>
                    <a:pt x="11361765" y="0"/>
                    <a:pt x="11430000" y="68235"/>
                    <a:pt x="11430000" y="152407"/>
                  </a:cubicBezTo>
                  <a:lnTo>
                    <a:pt x="11430000" y="1304918"/>
                  </a:lnTo>
                  <a:cubicBezTo>
                    <a:pt x="11430000" y="1389090"/>
                    <a:pt x="11361765" y="1457325"/>
                    <a:pt x="11277593" y="1457325"/>
                  </a:cubicBezTo>
                  <a:lnTo>
                    <a:pt x="152407" y="1457325"/>
                  </a:lnTo>
                  <a:cubicBezTo>
                    <a:pt x="68235" y="1457325"/>
                    <a:pt x="0" y="1389090"/>
                    <a:pt x="0" y="1304918"/>
                  </a:cubicBezTo>
                  <a:lnTo>
                    <a:pt x="0" y="152407"/>
                  </a:lnTo>
                  <a:cubicBezTo>
                    <a:pt x="0" y="68291"/>
                    <a:pt x="68291" y="0"/>
                    <a:pt x="15240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8" name="Shape 5">
              <a:extLst>
                <a:ext uri="{FF2B5EF4-FFF2-40B4-BE49-F238E27FC236}">
                  <a16:creationId xmlns:a16="http://schemas.microsoft.com/office/drawing/2014/main" id="{FD4076BF-3B28-44C3-866F-C77AC9E0B0C4}"/>
                </a:ext>
              </a:extLst>
            </p:cNvPr>
            <p:cNvSpPr/>
            <p:nvPr/>
          </p:nvSpPr>
          <p:spPr>
            <a:xfrm>
              <a:off x="609600" y="1643063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14300" y="0"/>
                  </a:moveTo>
                  <a:lnTo>
                    <a:pt x="495300" y="0"/>
                  </a:lnTo>
                  <a:cubicBezTo>
                    <a:pt x="558384" y="0"/>
                    <a:pt x="609600" y="51216"/>
                    <a:pt x="609600" y="114300"/>
                  </a:cubicBezTo>
                  <a:lnTo>
                    <a:pt x="609600" y="495300"/>
                  </a:lnTo>
                  <a:cubicBezTo>
                    <a:pt x="609600" y="558384"/>
                    <a:pt x="558384" y="609600"/>
                    <a:pt x="495300" y="609600"/>
                  </a:cubicBezTo>
                  <a:lnTo>
                    <a:pt x="114300" y="609600"/>
                  </a:lnTo>
                  <a:cubicBezTo>
                    <a:pt x="51216" y="609600"/>
                    <a:pt x="0" y="558384"/>
                    <a:pt x="0" y="495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9" name="Shape 6">
              <a:extLst>
                <a:ext uri="{FF2B5EF4-FFF2-40B4-BE49-F238E27FC236}">
                  <a16:creationId xmlns:a16="http://schemas.microsoft.com/office/drawing/2014/main" id="{B6139E04-C6EB-4F34-B4D1-5A06BC50A2EE}"/>
                </a:ext>
              </a:extLst>
            </p:cNvPr>
            <p:cNvSpPr/>
            <p:nvPr/>
          </p:nvSpPr>
          <p:spPr>
            <a:xfrm>
              <a:off x="791766" y="1804988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7859" y="0"/>
                  </a:moveTo>
                  <a:cubicBezTo>
                    <a:pt x="27738" y="0"/>
                    <a:pt x="35719" y="7981"/>
                    <a:pt x="35719" y="17859"/>
                  </a:cubicBezTo>
                  <a:lnTo>
                    <a:pt x="35719" y="26789"/>
                  </a:lnTo>
                  <a:lnTo>
                    <a:pt x="74228" y="17190"/>
                  </a:lnTo>
                  <a:cubicBezTo>
                    <a:pt x="95492" y="11888"/>
                    <a:pt x="117928" y="14343"/>
                    <a:pt x="137573" y="24166"/>
                  </a:cubicBezTo>
                  <a:cubicBezTo>
                    <a:pt x="163413" y="37114"/>
                    <a:pt x="193830" y="37114"/>
                    <a:pt x="219670" y="24166"/>
                  </a:cubicBezTo>
                  <a:lnTo>
                    <a:pt x="225028" y="21487"/>
                  </a:lnTo>
                  <a:cubicBezTo>
                    <a:pt x="236525" y="15683"/>
                    <a:pt x="250031" y="24054"/>
                    <a:pt x="250031" y="36891"/>
                  </a:cubicBezTo>
                  <a:lnTo>
                    <a:pt x="250031" y="192993"/>
                  </a:lnTo>
                  <a:cubicBezTo>
                    <a:pt x="250031" y="200416"/>
                    <a:pt x="245399" y="207113"/>
                    <a:pt x="238423" y="209736"/>
                  </a:cubicBezTo>
                  <a:lnTo>
                    <a:pt x="219056" y="216991"/>
                  </a:lnTo>
                  <a:cubicBezTo>
                    <a:pt x="193272" y="226647"/>
                    <a:pt x="164585" y="225140"/>
                    <a:pt x="139973" y="212861"/>
                  </a:cubicBezTo>
                  <a:cubicBezTo>
                    <a:pt x="118821" y="202257"/>
                    <a:pt x="94543" y="199634"/>
                    <a:pt x="71605" y="205383"/>
                  </a:cubicBezTo>
                  <a:lnTo>
                    <a:pt x="35719" y="214313"/>
                  </a:lnTo>
                  <a:lnTo>
                    <a:pt x="35719" y="267891"/>
                  </a:lnTo>
                  <a:cubicBezTo>
                    <a:pt x="35719" y="277769"/>
                    <a:pt x="27738" y="285750"/>
                    <a:pt x="17859" y="285750"/>
                  </a:cubicBezTo>
                  <a:cubicBezTo>
                    <a:pt x="7981" y="285750"/>
                    <a:pt x="0" y="277769"/>
                    <a:pt x="0" y="267891"/>
                  </a:cubicBezTo>
                  <a:lnTo>
                    <a:pt x="0" y="17859"/>
                  </a:lnTo>
                  <a:cubicBezTo>
                    <a:pt x="0" y="7981"/>
                    <a:pt x="7981" y="0"/>
                    <a:pt x="17859" y="0"/>
                  </a:cubicBezTo>
                  <a:close/>
                  <a:moveTo>
                    <a:pt x="35719" y="104422"/>
                  </a:moveTo>
                  <a:lnTo>
                    <a:pt x="71438" y="96664"/>
                  </a:lnTo>
                  <a:lnTo>
                    <a:pt x="71438" y="133220"/>
                  </a:lnTo>
                  <a:lnTo>
                    <a:pt x="35719" y="140977"/>
                  </a:lnTo>
                  <a:lnTo>
                    <a:pt x="35719" y="177533"/>
                  </a:lnTo>
                  <a:lnTo>
                    <a:pt x="62954" y="170724"/>
                  </a:lnTo>
                  <a:cubicBezTo>
                    <a:pt x="65801" y="169999"/>
                    <a:pt x="68591" y="169385"/>
                    <a:pt x="71438" y="168883"/>
                  </a:cubicBezTo>
                  <a:lnTo>
                    <a:pt x="71438" y="133220"/>
                  </a:lnTo>
                  <a:lnTo>
                    <a:pt x="93148" y="128532"/>
                  </a:lnTo>
                  <a:cubicBezTo>
                    <a:pt x="97780" y="127527"/>
                    <a:pt x="102468" y="127136"/>
                    <a:pt x="107156" y="127360"/>
                  </a:cubicBezTo>
                  <a:lnTo>
                    <a:pt x="107156" y="91641"/>
                  </a:lnTo>
                  <a:cubicBezTo>
                    <a:pt x="114746" y="91864"/>
                    <a:pt x="122337" y="93092"/>
                    <a:pt x="129704" y="95213"/>
                  </a:cubicBezTo>
                  <a:lnTo>
                    <a:pt x="142875" y="99064"/>
                  </a:lnTo>
                  <a:lnTo>
                    <a:pt x="142875" y="136289"/>
                  </a:lnTo>
                  <a:lnTo>
                    <a:pt x="119602" y="129425"/>
                  </a:lnTo>
                  <a:cubicBezTo>
                    <a:pt x="115528" y="128253"/>
                    <a:pt x="111342" y="127527"/>
                    <a:pt x="107156" y="127304"/>
                  </a:cubicBezTo>
                  <a:lnTo>
                    <a:pt x="107156" y="167153"/>
                  </a:lnTo>
                  <a:cubicBezTo>
                    <a:pt x="119323" y="168213"/>
                    <a:pt x="131322" y="170892"/>
                    <a:pt x="142875" y="175189"/>
                  </a:cubicBezTo>
                  <a:lnTo>
                    <a:pt x="142875" y="136234"/>
                  </a:lnTo>
                  <a:lnTo>
                    <a:pt x="155544" y="139973"/>
                  </a:lnTo>
                  <a:cubicBezTo>
                    <a:pt x="163078" y="142205"/>
                    <a:pt x="170780" y="143545"/>
                    <a:pt x="178594" y="144103"/>
                  </a:cubicBezTo>
                  <a:lnTo>
                    <a:pt x="178594" y="108272"/>
                  </a:lnTo>
                  <a:cubicBezTo>
                    <a:pt x="174241" y="107826"/>
                    <a:pt x="169887" y="106989"/>
                    <a:pt x="165646" y="105761"/>
                  </a:cubicBezTo>
                  <a:lnTo>
                    <a:pt x="142875" y="99064"/>
                  </a:lnTo>
                  <a:lnTo>
                    <a:pt x="142875" y="64461"/>
                  </a:lnTo>
                  <a:cubicBezTo>
                    <a:pt x="135620" y="62340"/>
                    <a:pt x="128476" y="59550"/>
                    <a:pt x="121555" y="56090"/>
                  </a:cubicBezTo>
                  <a:cubicBezTo>
                    <a:pt x="116979" y="53801"/>
                    <a:pt x="112123" y="52183"/>
                    <a:pt x="107156" y="51178"/>
                  </a:cubicBezTo>
                  <a:lnTo>
                    <a:pt x="107156" y="91585"/>
                  </a:lnTo>
                  <a:cubicBezTo>
                    <a:pt x="99901" y="91362"/>
                    <a:pt x="92646" y="92032"/>
                    <a:pt x="85558" y="93594"/>
                  </a:cubicBezTo>
                  <a:lnTo>
                    <a:pt x="71438" y="96664"/>
                  </a:lnTo>
                  <a:lnTo>
                    <a:pt x="71438" y="54694"/>
                  </a:lnTo>
                  <a:lnTo>
                    <a:pt x="35719" y="63624"/>
                  </a:lnTo>
                  <a:lnTo>
                    <a:pt x="35719" y="104422"/>
                  </a:lnTo>
                  <a:close/>
                  <a:moveTo>
                    <a:pt x="178594" y="187356"/>
                  </a:moveTo>
                  <a:cubicBezTo>
                    <a:pt x="187970" y="188193"/>
                    <a:pt x="197514" y="186965"/>
                    <a:pt x="206499" y="183561"/>
                  </a:cubicBezTo>
                  <a:lnTo>
                    <a:pt x="214313" y="180659"/>
                  </a:lnTo>
                  <a:lnTo>
                    <a:pt x="214313" y="140643"/>
                  </a:lnTo>
                  <a:lnTo>
                    <a:pt x="209903" y="141647"/>
                  </a:lnTo>
                  <a:cubicBezTo>
                    <a:pt x="199634" y="144047"/>
                    <a:pt x="189086" y="144828"/>
                    <a:pt x="178594" y="144159"/>
                  </a:cubicBezTo>
                  <a:lnTo>
                    <a:pt x="178594" y="187356"/>
                  </a:lnTo>
                  <a:close/>
                  <a:moveTo>
                    <a:pt x="214313" y="103975"/>
                  </a:moveTo>
                  <a:lnTo>
                    <a:pt x="214313" y="64461"/>
                  </a:lnTo>
                  <a:cubicBezTo>
                    <a:pt x="202648" y="67866"/>
                    <a:pt x="190649" y="69540"/>
                    <a:pt x="178594" y="69540"/>
                  </a:cubicBezTo>
                  <a:lnTo>
                    <a:pt x="178594" y="108272"/>
                  </a:lnTo>
                  <a:cubicBezTo>
                    <a:pt x="186351" y="109054"/>
                    <a:pt x="194221" y="108552"/>
                    <a:pt x="201867" y="106821"/>
                  </a:cubicBezTo>
                  <a:lnTo>
                    <a:pt x="214313" y="103919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0" name="Text 7">
              <a:extLst>
                <a:ext uri="{FF2B5EF4-FFF2-40B4-BE49-F238E27FC236}">
                  <a16:creationId xmlns:a16="http://schemas.microsoft.com/office/drawing/2014/main" id="{353C477E-01B5-48CD-BEB1-559AA3CB178B}"/>
                </a:ext>
              </a:extLst>
            </p:cNvPr>
            <p:cNvSpPr/>
            <p:nvPr/>
          </p:nvSpPr>
          <p:spPr>
            <a:xfrm>
              <a:off x="1371600" y="1447800"/>
              <a:ext cx="103251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Цель проекта</a:t>
              </a:r>
              <a:endParaRPr lang="en-US" sz="2000" dirty="0"/>
            </a:p>
          </p:txBody>
        </p:sp>
        <p:sp>
          <p:nvSpPr>
            <p:cNvPr id="81" name="Text 8">
              <a:extLst>
                <a:ext uri="{FF2B5EF4-FFF2-40B4-BE49-F238E27FC236}">
                  <a16:creationId xmlns:a16="http://schemas.microsoft.com/office/drawing/2014/main" id="{B32EBD66-0813-410A-BDA1-291BB245793D}"/>
                </a:ext>
              </a:extLst>
            </p:cNvPr>
            <p:cNvSpPr/>
            <p:nvPr/>
          </p:nvSpPr>
          <p:spPr>
            <a:xfrm>
              <a:off x="1371600" y="1828800"/>
              <a:ext cx="10306050" cy="619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Разработать и внедрить интеллектуального ассистента на базе LLM для автоматизации типовых операций в 1С:УНФ</a:t>
              </a:r>
              <a:endParaRPr lang="en-US" sz="2000" dirty="0"/>
            </a:p>
          </p:txBody>
        </p:sp>
      </p:grpSp>
      <p:sp>
        <p:nvSpPr>
          <p:cNvPr id="82" name="Text 7">
            <a:extLst>
              <a:ext uri="{FF2B5EF4-FFF2-40B4-BE49-F238E27FC236}">
                <a16:creationId xmlns:a16="http://schemas.microsoft.com/office/drawing/2014/main" id="{C9890408-8748-4807-A467-96B902FEB561}"/>
              </a:ext>
            </a:extLst>
          </p:cNvPr>
          <p:cNvSpPr/>
          <p:nvPr/>
        </p:nvSpPr>
        <p:spPr>
          <a:xfrm>
            <a:off x="1263221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3</a:t>
            </a:r>
            <a:endParaRPr lang="en-US" sz="1600" dirty="0"/>
          </a:p>
        </p:txBody>
      </p: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2A2F606C-2BC4-475B-9100-0AECA8C79FAE}"/>
              </a:ext>
            </a:extLst>
          </p:cNvPr>
          <p:cNvGrpSpPr/>
          <p:nvPr/>
        </p:nvGrpSpPr>
        <p:grpSpPr>
          <a:xfrm>
            <a:off x="-3543300" y="381000"/>
            <a:ext cx="3190875" cy="533400"/>
            <a:chOff x="381000" y="381000"/>
            <a:chExt cx="3190875" cy="533400"/>
          </a:xfrm>
        </p:grpSpPr>
        <p:sp>
          <p:nvSpPr>
            <p:cNvPr id="84" name="Shape 0">
              <a:extLst>
                <a:ext uri="{FF2B5EF4-FFF2-40B4-BE49-F238E27FC236}">
                  <a16:creationId xmlns:a16="http://schemas.microsoft.com/office/drawing/2014/main" id="{31D9F00B-A5DC-4101-B546-457120D35E10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5" name="Shape 1">
              <a:extLst>
                <a:ext uri="{FF2B5EF4-FFF2-40B4-BE49-F238E27FC236}">
                  <a16:creationId xmlns:a16="http://schemas.microsoft.com/office/drawing/2014/main" id="{9D3732FB-40F1-47F2-B0D7-18FD31910E84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0025" y="114300"/>
                  </a:moveTo>
                  <a:cubicBezTo>
                    <a:pt x="200025" y="66987"/>
                    <a:pt x="161613" y="28575"/>
                    <a:pt x="114300" y="28575"/>
                  </a:cubicBezTo>
                  <a:cubicBezTo>
                    <a:pt x="66987" y="28575"/>
                    <a:pt x="28575" y="66987"/>
                    <a:pt x="28575" y="114300"/>
                  </a:cubicBezTo>
                  <a:cubicBezTo>
                    <a:pt x="28575" y="161613"/>
                    <a:pt x="66987" y="200025"/>
                    <a:pt x="114300" y="200025"/>
                  </a:cubicBezTo>
                  <a:cubicBezTo>
                    <a:pt x="161613" y="200025"/>
                    <a:pt x="200025" y="161613"/>
                    <a:pt x="200025" y="114300"/>
                  </a:cubicBezTo>
                  <a:close/>
                  <a:moveTo>
                    <a:pt x="0" y="114300"/>
                  </a:moveTo>
                  <a:cubicBezTo>
                    <a:pt x="0" y="51216"/>
                    <a:pt x="51216" y="0"/>
                    <a:pt x="114300" y="0"/>
                  </a:cubicBezTo>
                  <a:cubicBezTo>
                    <a:pt x="177384" y="0"/>
                    <a:pt x="228600" y="51216"/>
                    <a:pt x="228600" y="114300"/>
                  </a:cubicBezTo>
                  <a:cubicBezTo>
                    <a:pt x="228600" y="177384"/>
                    <a:pt x="177384" y="228600"/>
                    <a:pt x="114300" y="228600"/>
                  </a:cubicBezTo>
                  <a:cubicBezTo>
                    <a:pt x="51216" y="228600"/>
                    <a:pt x="0" y="177384"/>
                    <a:pt x="0" y="114300"/>
                  </a:cubicBezTo>
                  <a:close/>
                  <a:moveTo>
                    <a:pt x="114300" y="150019"/>
                  </a:moveTo>
                  <a:cubicBezTo>
                    <a:pt x="134014" y="150019"/>
                    <a:pt x="150019" y="134014"/>
                    <a:pt x="150019" y="114300"/>
                  </a:cubicBezTo>
                  <a:cubicBezTo>
                    <a:pt x="150019" y="94586"/>
                    <a:pt x="134014" y="78581"/>
                    <a:pt x="114300" y="78581"/>
                  </a:cubicBezTo>
                  <a:cubicBezTo>
                    <a:pt x="94586" y="78581"/>
                    <a:pt x="78581" y="94586"/>
                    <a:pt x="78581" y="114300"/>
                  </a:cubicBezTo>
                  <a:cubicBezTo>
                    <a:pt x="78581" y="134014"/>
                    <a:pt x="94586" y="150019"/>
                    <a:pt x="114300" y="150019"/>
                  </a:cubicBezTo>
                  <a:close/>
                  <a:moveTo>
                    <a:pt x="114300" y="50006"/>
                  </a:moveTo>
                  <a:cubicBezTo>
                    <a:pt x="149785" y="50006"/>
                    <a:pt x="178594" y="78815"/>
                    <a:pt x="178594" y="114300"/>
                  </a:cubicBezTo>
                  <a:cubicBezTo>
                    <a:pt x="178594" y="149785"/>
                    <a:pt x="149785" y="178594"/>
                    <a:pt x="114300" y="178594"/>
                  </a:cubicBezTo>
                  <a:cubicBezTo>
                    <a:pt x="78815" y="178594"/>
                    <a:pt x="50006" y="149785"/>
                    <a:pt x="50006" y="114300"/>
                  </a:cubicBezTo>
                  <a:cubicBezTo>
                    <a:pt x="50006" y="78815"/>
                    <a:pt x="78815" y="50006"/>
                    <a:pt x="114300" y="50006"/>
                  </a:cubicBezTo>
                  <a:close/>
                  <a:moveTo>
                    <a:pt x="100013" y="114300"/>
                  </a:moveTo>
                  <a:cubicBezTo>
                    <a:pt x="100013" y="106415"/>
                    <a:pt x="106415" y="100013"/>
                    <a:pt x="114300" y="100013"/>
                  </a:cubicBezTo>
                  <a:cubicBezTo>
                    <a:pt x="122185" y="100013"/>
                    <a:pt x="128588" y="106415"/>
                    <a:pt x="128588" y="114300"/>
                  </a:cubicBezTo>
                  <a:cubicBezTo>
                    <a:pt x="128588" y="122185"/>
                    <a:pt x="122185" y="128588"/>
                    <a:pt x="114300" y="128588"/>
                  </a:cubicBezTo>
                  <a:cubicBezTo>
                    <a:pt x="106415" y="128588"/>
                    <a:pt x="100013" y="122185"/>
                    <a:pt x="100013" y="11430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6" name="Text 2">
              <a:extLst>
                <a:ext uri="{FF2B5EF4-FFF2-40B4-BE49-F238E27FC236}">
                  <a16:creationId xmlns:a16="http://schemas.microsoft.com/office/drawing/2014/main" id="{B6484443-6956-4923-ABD1-84152BB0CF43}"/>
                </a:ext>
              </a:extLst>
            </p:cNvPr>
            <p:cNvSpPr/>
            <p:nvPr/>
          </p:nvSpPr>
          <p:spPr>
            <a:xfrm>
              <a:off x="1066800" y="400050"/>
              <a:ext cx="25050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Цель и задачи</a:t>
              </a:r>
              <a:endParaRPr lang="en-US" sz="1600" dirty="0"/>
            </a:p>
          </p:txBody>
        </p:sp>
        <p:sp>
          <p:nvSpPr>
            <p:cNvPr id="87" name="Shape 3">
              <a:extLst>
                <a:ext uri="{FF2B5EF4-FFF2-40B4-BE49-F238E27FC236}">
                  <a16:creationId xmlns:a16="http://schemas.microsoft.com/office/drawing/2014/main" id="{DCA598DA-7E06-49E6-AB20-9299EB6164B7}"/>
                </a:ext>
              </a:extLst>
            </p:cNvPr>
            <p:cNvSpPr/>
            <p:nvPr/>
          </p:nvSpPr>
          <p:spPr>
            <a:xfrm>
              <a:off x="654050" y="868681"/>
              <a:ext cx="281940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797DE122-22C0-4CE2-9681-50A86414E57A}"/>
              </a:ext>
            </a:extLst>
          </p:cNvPr>
          <p:cNvGrpSpPr/>
          <p:nvPr/>
        </p:nvGrpSpPr>
        <p:grpSpPr>
          <a:xfrm>
            <a:off x="381000" y="381000"/>
            <a:ext cx="6610350" cy="533400"/>
            <a:chOff x="381000" y="381000"/>
            <a:chExt cx="6610350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0900" y="57150"/>
                  </a:moveTo>
                  <a:cubicBezTo>
                    <a:pt x="60900" y="38008"/>
                    <a:pt x="71112" y="20321"/>
                    <a:pt x="87690" y="10750"/>
                  </a:cubicBezTo>
                  <a:cubicBezTo>
                    <a:pt x="104267" y="1179"/>
                    <a:pt x="124691" y="1179"/>
                    <a:pt x="141268" y="10750"/>
                  </a:cubicBezTo>
                  <a:cubicBezTo>
                    <a:pt x="157845" y="20321"/>
                    <a:pt x="168057" y="38008"/>
                    <a:pt x="168057" y="57150"/>
                  </a:cubicBezTo>
                  <a:cubicBezTo>
                    <a:pt x="168057" y="86721"/>
                    <a:pt x="144049" y="110728"/>
                    <a:pt x="114479" y="110728"/>
                  </a:cubicBezTo>
                  <a:cubicBezTo>
                    <a:pt x="84908" y="110728"/>
                    <a:pt x="60900" y="86721"/>
                    <a:pt x="60900" y="57150"/>
                  </a:cubicBezTo>
                  <a:close/>
                  <a:moveTo>
                    <a:pt x="21610" y="215339"/>
                  </a:moveTo>
                  <a:cubicBezTo>
                    <a:pt x="21610" y="171361"/>
                    <a:pt x="57239" y="135731"/>
                    <a:pt x="101218" y="135731"/>
                  </a:cubicBezTo>
                  <a:lnTo>
                    <a:pt x="127739" y="135731"/>
                  </a:lnTo>
                  <a:cubicBezTo>
                    <a:pt x="171718" y="135731"/>
                    <a:pt x="207347" y="171361"/>
                    <a:pt x="207347" y="215339"/>
                  </a:cubicBezTo>
                  <a:cubicBezTo>
                    <a:pt x="207347" y="222662"/>
                    <a:pt x="201409" y="228600"/>
                    <a:pt x="194087" y="228600"/>
                  </a:cubicBezTo>
                  <a:lnTo>
                    <a:pt x="34870" y="228600"/>
                  </a:lnTo>
                  <a:cubicBezTo>
                    <a:pt x="27548" y="228600"/>
                    <a:pt x="21610" y="222662"/>
                    <a:pt x="21610" y="215339"/>
                  </a:cubicBezTo>
                  <a:close/>
                  <a:moveTo>
                    <a:pt x="273382" y="55409"/>
                  </a:moveTo>
                  <a:cubicBezTo>
                    <a:pt x="277579" y="59606"/>
                    <a:pt x="277579" y="66392"/>
                    <a:pt x="273382" y="70545"/>
                  </a:cubicBezTo>
                  <a:lnTo>
                    <a:pt x="258247" y="85680"/>
                  </a:lnTo>
                  <a:lnTo>
                    <a:pt x="273382" y="100816"/>
                  </a:lnTo>
                  <a:cubicBezTo>
                    <a:pt x="277579" y="105013"/>
                    <a:pt x="277579" y="111800"/>
                    <a:pt x="273382" y="115952"/>
                  </a:cubicBezTo>
                  <a:cubicBezTo>
                    <a:pt x="269185" y="120104"/>
                    <a:pt x="262399" y="120149"/>
                    <a:pt x="258247" y="115952"/>
                  </a:cubicBezTo>
                  <a:lnTo>
                    <a:pt x="243111" y="100816"/>
                  </a:lnTo>
                  <a:lnTo>
                    <a:pt x="227975" y="115952"/>
                  </a:lnTo>
                  <a:cubicBezTo>
                    <a:pt x="223778" y="120149"/>
                    <a:pt x="216991" y="120149"/>
                    <a:pt x="212839" y="115952"/>
                  </a:cubicBezTo>
                  <a:cubicBezTo>
                    <a:pt x="208687" y="111755"/>
                    <a:pt x="208642" y="104968"/>
                    <a:pt x="212839" y="100816"/>
                  </a:cubicBezTo>
                  <a:lnTo>
                    <a:pt x="227975" y="85680"/>
                  </a:lnTo>
                  <a:lnTo>
                    <a:pt x="212839" y="70545"/>
                  </a:lnTo>
                  <a:cubicBezTo>
                    <a:pt x="208642" y="66348"/>
                    <a:pt x="208642" y="59561"/>
                    <a:pt x="212839" y="55409"/>
                  </a:cubicBezTo>
                  <a:cubicBezTo>
                    <a:pt x="217036" y="51256"/>
                    <a:pt x="223823" y="51212"/>
                    <a:pt x="227975" y="55409"/>
                  </a:cubicBezTo>
                  <a:lnTo>
                    <a:pt x="243111" y="70545"/>
                  </a:lnTo>
                  <a:lnTo>
                    <a:pt x="258247" y="55409"/>
                  </a:lnTo>
                  <a:cubicBezTo>
                    <a:pt x="262444" y="51212"/>
                    <a:pt x="269230" y="51212"/>
                    <a:pt x="273382" y="5540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59245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Проблемы пользователей 1С:УНФ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47712" y="868681"/>
              <a:ext cx="602932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FF392B53-D6E6-4433-9618-FAC74235141B}"/>
              </a:ext>
            </a:extLst>
          </p:cNvPr>
          <p:cNvGrpSpPr/>
          <p:nvPr/>
        </p:nvGrpSpPr>
        <p:grpSpPr>
          <a:xfrm>
            <a:off x="381000" y="1219200"/>
            <a:ext cx="3686175" cy="2552700"/>
            <a:chOff x="381000" y="1219200"/>
            <a:chExt cx="3686175" cy="2552700"/>
          </a:xfrm>
        </p:grpSpPr>
        <p:sp>
          <p:nvSpPr>
            <p:cNvPr id="6" name="Shape 4"/>
            <p:cNvSpPr/>
            <p:nvPr/>
          </p:nvSpPr>
          <p:spPr>
            <a:xfrm>
              <a:off x="3810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096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747713" y="16002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228600" y="42863"/>
                  </a:moveTo>
                  <a:lnTo>
                    <a:pt x="71438" y="42863"/>
                  </a:lnTo>
                  <a:cubicBezTo>
                    <a:pt x="71438" y="27102"/>
                    <a:pt x="84252" y="14288"/>
                    <a:pt x="100013" y="14288"/>
                  </a:cubicBezTo>
                  <a:lnTo>
                    <a:pt x="228600" y="14288"/>
                  </a:lnTo>
                  <a:cubicBezTo>
                    <a:pt x="244361" y="14288"/>
                    <a:pt x="257175" y="27102"/>
                    <a:pt x="257175" y="42863"/>
                  </a:cubicBezTo>
                  <a:lnTo>
                    <a:pt x="257175" y="128588"/>
                  </a:lnTo>
                  <a:cubicBezTo>
                    <a:pt x="257175" y="144348"/>
                    <a:pt x="244361" y="157163"/>
                    <a:pt x="228600" y="157163"/>
                  </a:cubicBezTo>
                  <a:lnTo>
                    <a:pt x="207169" y="157163"/>
                  </a:lnTo>
                  <a:lnTo>
                    <a:pt x="207169" y="128588"/>
                  </a:lnTo>
                  <a:lnTo>
                    <a:pt x="228600" y="128588"/>
                  </a:lnTo>
                  <a:lnTo>
                    <a:pt x="228600" y="42863"/>
                  </a:lnTo>
                  <a:close/>
                  <a:moveTo>
                    <a:pt x="0" y="100013"/>
                  </a:moveTo>
                  <a:cubicBezTo>
                    <a:pt x="0" y="84252"/>
                    <a:pt x="12814" y="71438"/>
                    <a:pt x="28575" y="71438"/>
                  </a:cubicBezTo>
                  <a:lnTo>
                    <a:pt x="157163" y="71438"/>
                  </a:lnTo>
                  <a:cubicBezTo>
                    <a:pt x="172923" y="71438"/>
                    <a:pt x="185738" y="84252"/>
                    <a:pt x="185738" y="100013"/>
                  </a:cubicBezTo>
                  <a:lnTo>
                    <a:pt x="185738" y="185738"/>
                  </a:lnTo>
                  <a:cubicBezTo>
                    <a:pt x="185738" y="201498"/>
                    <a:pt x="172923" y="214313"/>
                    <a:pt x="157163" y="214313"/>
                  </a:cubicBezTo>
                  <a:lnTo>
                    <a:pt x="28575" y="214313"/>
                  </a:lnTo>
                  <a:cubicBezTo>
                    <a:pt x="12814" y="214313"/>
                    <a:pt x="0" y="201498"/>
                    <a:pt x="0" y="185738"/>
                  </a:cubicBezTo>
                  <a:lnTo>
                    <a:pt x="0" y="100013"/>
                  </a:lnTo>
                  <a:close/>
                  <a:moveTo>
                    <a:pt x="28575" y="117872"/>
                  </a:moveTo>
                  <a:cubicBezTo>
                    <a:pt x="28575" y="123810"/>
                    <a:pt x="33352" y="128588"/>
                    <a:pt x="39291" y="128588"/>
                  </a:cubicBezTo>
                  <a:lnTo>
                    <a:pt x="146447" y="128588"/>
                  </a:lnTo>
                  <a:cubicBezTo>
                    <a:pt x="152385" y="128588"/>
                    <a:pt x="157163" y="123810"/>
                    <a:pt x="157163" y="117872"/>
                  </a:cubicBezTo>
                  <a:cubicBezTo>
                    <a:pt x="157163" y="111934"/>
                    <a:pt x="152385" y="107156"/>
                    <a:pt x="146447" y="107156"/>
                  </a:cubicBezTo>
                  <a:lnTo>
                    <a:pt x="39291" y="107156"/>
                  </a:lnTo>
                  <a:cubicBezTo>
                    <a:pt x="33352" y="107156"/>
                    <a:pt x="28575" y="111934"/>
                    <a:pt x="28575" y="11787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6096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Сложный интерфейс</a:t>
              </a:r>
              <a:endParaRPr lang="en-US" sz="2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096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Множество форм, неочевидная навигация, сложно найти нужную функцию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6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239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Более 200+ форм в типовой конфигурации</a:t>
              </a:r>
              <a:endParaRPr lang="en-US" sz="16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5EE4A3A9-95E7-4B85-9605-6C0C30C9E1C7}"/>
              </a:ext>
            </a:extLst>
          </p:cNvPr>
          <p:cNvGrpSpPr/>
          <p:nvPr/>
        </p:nvGrpSpPr>
        <p:grpSpPr>
          <a:xfrm>
            <a:off x="4254500" y="1219200"/>
            <a:ext cx="3686175" cy="2552700"/>
            <a:chOff x="4254500" y="1219200"/>
            <a:chExt cx="3686175" cy="2552700"/>
          </a:xfrm>
        </p:grpSpPr>
        <p:sp>
          <p:nvSpPr>
            <p:cNvPr id="13" name="Shape 11"/>
            <p:cNvSpPr/>
            <p:nvPr/>
          </p:nvSpPr>
          <p:spPr>
            <a:xfrm>
              <a:off x="42545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44831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46355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85738" y="92869"/>
                  </a:moveTo>
                  <a:cubicBezTo>
                    <a:pt x="185738" y="113362"/>
                    <a:pt x="179085" y="132293"/>
                    <a:pt x="167878" y="147652"/>
                  </a:cubicBezTo>
                  <a:lnTo>
                    <a:pt x="224403" y="204222"/>
                  </a:lnTo>
                  <a:cubicBezTo>
                    <a:pt x="229984" y="209803"/>
                    <a:pt x="229984" y="218867"/>
                    <a:pt x="224403" y="224448"/>
                  </a:cubicBezTo>
                  <a:cubicBezTo>
                    <a:pt x="218822" y="230029"/>
                    <a:pt x="209758" y="230029"/>
                    <a:pt x="204177" y="224448"/>
                  </a:cubicBezTo>
                  <a:lnTo>
                    <a:pt x="147652" y="167878"/>
                  </a:lnTo>
                  <a:cubicBezTo>
                    <a:pt x="132293" y="179085"/>
                    <a:pt x="113362" y="185738"/>
                    <a:pt x="92869" y="185738"/>
                  </a:cubicBezTo>
                  <a:cubicBezTo>
                    <a:pt x="41568" y="185738"/>
                    <a:pt x="0" y="144170"/>
                    <a:pt x="0" y="92869"/>
                  </a:cubicBezTo>
                  <a:cubicBezTo>
                    <a:pt x="0" y="41568"/>
                    <a:pt x="41568" y="0"/>
                    <a:pt x="92869" y="0"/>
                  </a:cubicBezTo>
                  <a:cubicBezTo>
                    <a:pt x="144170" y="0"/>
                    <a:pt x="185738" y="41568"/>
                    <a:pt x="185738" y="92869"/>
                  </a:cubicBezTo>
                  <a:close/>
                  <a:moveTo>
                    <a:pt x="92869" y="157163"/>
                  </a:moveTo>
                  <a:cubicBezTo>
                    <a:pt x="128353" y="157163"/>
                    <a:pt x="157163" y="128353"/>
                    <a:pt x="157163" y="92869"/>
                  </a:cubicBezTo>
                  <a:cubicBezTo>
                    <a:pt x="157163" y="57384"/>
                    <a:pt x="128353" y="28575"/>
                    <a:pt x="92869" y="28575"/>
                  </a:cubicBezTo>
                  <a:cubicBezTo>
                    <a:pt x="57384" y="28575"/>
                    <a:pt x="28575" y="57384"/>
                    <a:pt x="28575" y="92869"/>
                  </a:cubicBezTo>
                  <a:cubicBezTo>
                    <a:pt x="28575" y="128353"/>
                    <a:pt x="57384" y="157163"/>
                    <a:pt x="92869" y="15716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44831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Поиск документов</a:t>
              </a:r>
              <a:endParaRPr lang="en-US" sz="2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4831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Сложно найти нужный документ среди тысяч записей без точных фильтров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4831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5974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Среднее время поиска — 5-10 минут</a:t>
              </a:r>
              <a:endParaRPr lang="en-US" sz="1600" dirty="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2D5F1D7C-DA99-4966-809C-8E6B09EBD1C3}"/>
              </a:ext>
            </a:extLst>
          </p:cNvPr>
          <p:cNvGrpSpPr/>
          <p:nvPr/>
        </p:nvGrpSpPr>
        <p:grpSpPr>
          <a:xfrm>
            <a:off x="8128000" y="1219200"/>
            <a:ext cx="3686175" cy="2552700"/>
            <a:chOff x="8128000" y="1219200"/>
            <a:chExt cx="3686175" cy="2552700"/>
          </a:xfrm>
        </p:grpSpPr>
        <p:sp>
          <p:nvSpPr>
            <p:cNvPr id="20" name="Shape 18"/>
            <p:cNvSpPr/>
            <p:nvPr/>
          </p:nvSpPr>
          <p:spPr>
            <a:xfrm>
              <a:off x="81280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83566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85090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0013" y="0"/>
                  </a:moveTo>
                  <a:lnTo>
                    <a:pt x="100013" y="28575"/>
                  </a:lnTo>
                  <a:cubicBezTo>
                    <a:pt x="100013" y="32504"/>
                    <a:pt x="103227" y="35719"/>
                    <a:pt x="107156" y="35719"/>
                  </a:cubicBezTo>
                  <a:lnTo>
                    <a:pt x="121444" y="35719"/>
                  </a:lnTo>
                  <a:cubicBezTo>
                    <a:pt x="125373" y="35719"/>
                    <a:pt x="128588" y="32504"/>
                    <a:pt x="128588" y="28575"/>
                  </a:cubicBezTo>
                  <a:lnTo>
                    <a:pt x="128588" y="0"/>
                  </a:lnTo>
                  <a:lnTo>
                    <a:pt x="142875" y="0"/>
                  </a:lnTo>
                  <a:cubicBezTo>
                    <a:pt x="158636" y="0"/>
                    <a:pt x="171450" y="12814"/>
                    <a:pt x="171450" y="28575"/>
                  </a:cubicBezTo>
                  <a:lnTo>
                    <a:pt x="171450" y="85725"/>
                  </a:lnTo>
                  <a:cubicBezTo>
                    <a:pt x="171450" y="88181"/>
                    <a:pt x="171137" y="90592"/>
                    <a:pt x="170557" y="92869"/>
                  </a:cubicBezTo>
                  <a:lnTo>
                    <a:pt x="58043" y="92869"/>
                  </a:lnTo>
                  <a:cubicBezTo>
                    <a:pt x="57463" y="90592"/>
                    <a:pt x="57150" y="88181"/>
                    <a:pt x="57150" y="85725"/>
                  </a:cubicBezTo>
                  <a:lnTo>
                    <a:pt x="57150" y="28575"/>
                  </a:lnTo>
                  <a:cubicBezTo>
                    <a:pt x="57150" y="12814"/>
                    <a:pt x="69964" y="0"/>
                    <a:pt x="85725" y="0"/>
                  </a:cubicBezTo>
                  <a:lnTo>
                    <a:pt x="100013" y="0"/>
                  </a:lnTo>
                  <a:close/>
                  <a:moveTo>
                    <a:pt x="142875" y="228600"/>
                  </a:moveTo>
                  <a:cubicBezTo>
                    <a:pt x="137874" y="228600"/>
                    <a:pt x="133142" y="227305"/>
                    <a:pt x="129034" y="225028"/>
                  </a:cubicBezTo>
                  <a:cubicBezTo>
                    <a:pt x="133276" y="217661"/>
                    <a:pt x="135731" y="209133"/>
                    <a:pt x="135731" y="200025"/>
                  </a:cubicBezTo>
                  <a:lnTo>
                    <a:pt x="135731" y="142875"/>
                  </a:lnTo>
                  <a:cubicBezTo>
                    <a:pt x="135731" y="133767"/>
                    <a:pt x="133276" y="125239"/>
                    <a:pt x="129034" y="117872"/>
                  </a:cubicBezTo>
                  <a:cubicBezTo>
                    <a:pt x="133142" y="115595"/>
                    <a:pt x="137830" y="114300"/>
                    <a:pt x="142875" y="114300"/>
                  </a:cubicBezTo>
                  <a:lnTo>
                    <a:pt x="157163" y="114300"/>
                  </a:lnTo>
                  <a:lnTo>
                    <a:pt x="157163" y="142875"/>
                  </a:lnTo>
                  <a:cubicBezTo>
                    <a:pt x="157163" y="146804"/>
                    <a:pt x="160377" y="150019"/>
                    <a:pt x="164306" y="150019"/>
                  </a:cubicBezTo>
                  <a:lnTo>
                    <a:pt x="178594" y="150019"/>
                  </a:lnTo>
                  <a:cubicBezTo>
                    <a:pt x="182523" y="150019"/>
                    <a:pt x="185738" y="146804"/>
                    <a:pt x="185738" y="142875"/>
                  </a:cubicBezTo>
                  <a:lnTo>
                    <a:pt x="185738" y="114300"/>
                  </a:lnTo>
                  <a:lnTo>
                    <a:pt x="200025" y="114300"/>
                  </a:lnTo>
                  <a:cubicBezTo>
                    <a:pt x="215786" y="114300"/>
                    <a:pt x="228600" y="127114"/>
                    <a:pt x="228600" y="142875"/>
                  </a:cubicBezTo>
                  <a:lnTo>
                    <a:pt x="228600" y="200025"/>
                  </a:lnTo>
                  <a:cubicBezTo>
                    <a:pt x="228600" y="215786"/>
                    <a:pt x="215786" y="228600"/>
                    <a:pt x="200025" y="228600"/>
                  </a:cubicBezTo>
                  <a:lnTo>
                    <a:pt x="142875" y="228600"/>
                  </a:lnTo>
                  <a:close/>
                  <a:moveTo>
                    <a:pt x="0" y="142875"/>
                  </a:moveTo>
                  <a:cubicBezTo>
                    <a:pt x="0" y="127114"/>
                    <a:pt x="12814" y="114300"/>
                    <a:pt x="28575" y="114300"/>
                  </a:cubicBezTo>
                  <a:lnTo>
                    <a:pt x="42863" y="114300"/>
                  </a:lnTo>
                  <a:lnTo>
                    <a:pt x="42863" y="142875"/>
                  </a:lnTo>
                  <a:cubicBezTo>
                    <a:pt x="42863" y="146804"/>
                    <a:pt x="46077" y="150019"/>
                    <a:pt x="50006" y="150019"/>
                  </a:cubicBezTo>
                  <a:lnTo>
                    <a:pt x="64294" y="150019"/>
                  </a:lnTo>
                  <a:cubicBezTo>
                    <a:pt x="68223" y="150019"/>
                    <a:pt x="71438" y="146804"/>
                    <a:pt x="71438" y="142875"/>
                  </a:cubicBezTo>
                  <a:lnTo>
                    <a:pt x="71438" y="114300"/>
                  </a:lnTo>
                  <a:lnTo>
                    <a:pt x="85725" y="114300"/>
                  </a:lnTo>
                  <a:cubicBezTo>
                    <a:pt x="101486" y="114300"/>
                    <a:pt x="114300" y="127114"/>
                    <a:pt x="114300" y="142875"/>
                  </a:cubicBezTo>
                  <a:lnTo>
                    <a:pt x="114300" y="200025"/>
                  </a:lnTo>
                  <a:cubicBezTo>
                    <a:pt x="114300" y="215786"/>
                    <a:pt x="101486" y="228600"/>
                    <a:pt x="8572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142875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83566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Проверка остатков</a:t>
              </a:r>
              <a:endParaRPr lang="en-US" sz="2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3566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Необходимость знать точные названия справочников и отчетов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3566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84709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Требуется знание структуры справочников</a:t>
              </a:r>
              <a:endParaRPr lang="en-US" sz="1600" dirty="0"/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82C73EEF-A018-408B-AF65-AD6F6C5C4491}"/>
              </a:ext>
            </a:extLst>
          </p:cNvPr>
          <p:cNvGrpSpPr/>
          <p:nvPr/>
        </p:nvGrpSpPr>
        <p:grpSpPr>
          <a:xfrm>
            <a:off x="381000" y="3962400"/>
            <a:ext cx="3686175" cy="2552700"/>
            <a:chOff x="381000" y="3962400"/>
            <a:chExt cx="3686175" cy="2552700"/>
          </a:xfrm>
        </p:grpSpPr>
        <p:sp>
          <p:nvSpPr>
            <p:cNvPr id="27" name="Shape 25"/>
            <p:cNvSpPr/>
            <p:nvPr/>
          </p:nvSpPr>
          <p:spPr>
            <a:xfrm>
              <a:off x="3810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609600" y="419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762000" y="434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28575"/>
                  </a:moveTo>
                  <a:cubicBezTo>
                    <a:pt x="28575" y="20672"/>
                    <a:pt x="22190" y="14288"/>
                    <a:pt x="14288" y="14288"/>
                  </a:cubicBezTo>
                  <a:cubicBezTo>
                    <a:pt x="6385" y="14288"/>
                    <a:pt x="0" y="20672"/>
                    <a:pt x="0" y="28575"/>
                  </a:cubicBezTo>
                  <a:lnTo>
                    <a:pt x="0" y="178594"/>
                  </a:lnTo>
                  <a:cubicBezTo>
                    <a:pt x="0" y="198328"/>
                    <a:pt x="15984" y="214313"/>
                    <a:pt x="35719" y="214313"/>
                  </a:cubicBezTo>
                  <a:lnTo>
                    <a:pt x="214313" y="214313"/>
                  </a:lnTo>
                  <a:cubicBezTo>
                    <a:pt x="222215" y="214313"/>
                    <a:pt x="228600" y="207928"/>
                    <a:pt x="228600" y="200025"/>
                  </a:cubicBezTo>
                  <a:cubicBezTo>
                    <a:pt x="228600" y="192122"/>
                    <a:pt x="222215" y="185738"/>
                    <a:pt x="214313" y="185738"/>
                  </a:cubicBezTo>
                  <a:lnTo>
                    <a:pt x="35719" y="185738"/>
                  </a:lnTo>
                  <a:cubicBezTo>
                    <a:pt x="31790" y="185738"/>
                    <a:pt x="28575" y="182523"/>
                    <a:pt x="28575" y="178594"/>
                  </a:cubicBezTo>
                  <a:lnTo>
                    <a:pt x="28575" y="28575"/>
                  </a:lnTo>
                  <a:close/>
                  <a:moveTo>
                    <a:pt x="210116" y="67241"/>
                  </a:moveTo>
                  <a:cubicBezTo>
                    <a:pt x="215697" y="61659"/>
                    <a:pt x="215697" y="52596"/>
                    <a:pt x="210116" y="47015"/>
                  </a:cubicBezTo>
                  <a:cubicBezTo>
                    <a:pt x="204534" y="41434"/>
                    <a:pt x="195471" y="41434"/>
                    <a:pt x="189890" y="47015"/>
                  </a:cubicBezTo>
                  <a:lnTo>
                    <a:pt x="142875" y="94074"/>
                  </a:lnTo>
                  <a:lnTo>
                    <a:pt x="117247" y="68491"/>
                  </a:lnTo>
                  <a:cubicBezTo>
                    <a:pt x="111666" y="62910"/>
                    <a:pt x="102602" y="62910"/>
                    <a:pt x="97021" y="68491"/>
                  </a:cubicBezTo>
                  <a:lnTo>
                    <a:pt x="54159" y="111353"/>
                  </a:lnTo>
                  <a:cubicBezTo>
                    <a:pt x="48578" y="116934"/>
                    <a:pt x="48578" y="125998"/>
                    <a:pt x="54159" y="131579"/>
                  </a:cubicBezTo>
                  <a:cubicBezTo>
                    <a:pt x="59740" y="137160"/>
                    <a:pt x="68803" y="137160"/>
                    <a:pt x="74384" y="131579"/>
                  </a:cubicBezTo>
                  <a:lnTo>
                    <a:pt x="107156" y="98807"/>
                  </a:lnTo>
                  <a:lnTo>
                    <a:pt x="132784" y="124435"/>
                  </a:lnTo>
                  <a:cubicBezTo>
                    <a:pt x="138366" y="130016"/>
                    <a:pt x="147429" y="130016"/>
                    <a:pt x="153010" y="124435"/>
                  </a:cubicBezTo>
                  <a:lnTo>
                    <a:pt x="210160" y="6728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609600" y="4876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Статусы и аналитика</a:t>
              </a:r>
              <a:endParaRPr lang="en-US" sz="2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09600" y="52578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Сложность получения сводных данных и аналитики в реальном времени</a:t>
              </a:r>
              <a:endParaRPr lang="en-US" sz="16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09600" y="58674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23900" y="59817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Нужно строить отчеты вручную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47E12093-8A9C-466C-AEF1-2A7209C1774F}"/>
              </a:ext>
            </a:extLst>
          </p:cNvPr>
          <p:cNvGrpSpPr/>
          <p:nvPr/>
        </p:nvGrpSpPr>
        <p:grpSpPr>
          <a:xfrm>
            <a:off x="4254500" y="3962400"/>
            <a:ext cx="3686175" cy="2552700"/>
            <a:chOff x="4254500" y="3962400"/>
            <a:chExt cx="3686175" cy="2552700"/>
          </a:xfrm>
        </p:grpSpPr>
        <p:sp>
          <p:nvSpPr>
            <p:cNvPr id="34" name="Shape 32"/>
            <p:cNvSpPr/>
            <p:nvPr/>
          </p:nvSpPr>
          <p:spPr>
            <a:xfrm>
              <a:off x="42545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483100" y="419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6" name="Shape 34"/>
            <p:cNvSpPr/>
            <p:nvPr/>
          </p:nvSpPr>
          <p:spPr>
            <a:xfrm>
              <a:off x="4649788" y="43434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3" y="28575"/>
                  </a:moveTo>
                  <a:cubicBezTo>
                    <a:pt x="64740" y="28575"/>
                    <a:pt x="35406" y="54159"/>
                    <a:pt x="29602" y="87823"/>
                  </a:cubicBezTo>
                  <a:cubicBezTo>
                    <a:pt x="33754" y="86484"/>
                    <a:pt x="38219" y="85725"/>
                    <a:pt x="42863" y="85725"/>
                  </a:cubicBezTo>
                  <a:lnTo>
                    <a:pt x="50006" y="85725"/>
                  </a:lnTo>
                  <a:cubicBezTo>
                    <a:pt x="61838" y="85725"/>
                    <a:pt x="71438" y="95324"/>
                    <a:pt x="71438" y="107156"/>
                  </a:cubicBezTo>
                  <a:lnTo>
                    <a:pt x="71438" y="150019"/>
                  </a:lnTo>
                  <a:cubicBezTo>
                    <a:pt x="71438" y="161851"/>
                    <a:pt x="61838" y="171450"/>
                    <a:pt x="50006" y="171450"/>
                  </a:cubicBezTo>
                  <a:lnTo>
                    <a:pt x="42863" y="171450"/>
                  </a:lnTo>
                  <a:cubicBezTo>
                    <a:pt x="19199" y="171450"/>
                    <a:pt x="0" y="152251"/>
                    <a:pt x="0" y="128588"/>
                  </a:cubicBezTo>
                  <a:lnTo>
                    <a:pt x="0" y="100013"/>
                  </a:lnTo>
                  <a:cubicBezTo>
                    <a:pt x="0" y="44782"/>
                    <a:pt x="44782" y="0"/>
                    <a:pt x="100013" y="0"/>
                  </a:cubicBezTo>
                  <a:cubicBezTo>
                    <a:pt x="155243" y="0"/>
                    <a:pt x="200025" y="44782"/>
                    <a:pt x="200025" y="100013"/>
                  </a:cubicBezTo>
                  <a:lnTo>
                    <a:pt x="200025" y="175067"/>
                  </a:lnTo>
                  <a:cubicBezTo>
                    <a:pt x="200025" y="204668"/>
                    <a:pt x="176004" y="228645"/>
                    <a:pt x="146402" y="228645"/>
                  </a:cubicBezTo>
                  <a:lnTo>
                    <a:pt x="107156" y="228600"/>
                  </a:lnTo>
                  <a:lnTo>
                    <a:pt x="92869" y="228600"/>
                  </a:lnTo>
                  <a:cubicBezTo>
                    <a:pt x="81037" y="228600"/>
                    <a:pt x="71437" y="219001"/>
                    <a:pt x="71437" y="207169"/>
                  </a:cubicBezTo>
                  <a:cubicBezTo>
                    <a:pt x="71437" y="195337"/>
                    <a:pt x="81037" y="185738"/>
                    <a:pt x="92869" y="185738"/>
                  </a:cubicBezTo>
                  <a:lnTo>
                    <a:pt x="107156" y="185738"/>
                  </a:lnTo>
                  <a:cubicBezTo>
                    <a:pt x="118988" y="185738"/>
                    <a:pt x="128588" y="195337"/>
                    <a:pt x="128588" y="207169"/>
                  </a:cubicBezTo>
                  <a:lnTo>
                    <a:pt x="128588" y="207169"/>
                  </a:lnTo>
                  <a:lnTo>
                    <a:pt x="146447" y="207169"/>
                  </a:lnTo>
                  <a:cubicBezTo>
                    <a:pt x="164217" y="207169"/>
                    <a:pt x="178594" y="192792"/>
                    <a:pt x="178594" y="175022"/>
                  </a:cubicBezTo>
                  <a:lnTo>
                    <a:pt x="178594" y="165690"/>
                  </a:lnTo>
                  <a:cubicBezTo>
                    <a:pt x="172298" y="169352"/>
                    <a:pt x="164976" y="171405"/>
                    <a:pt x="157163" y="171405"/>
                  </a:cubicBezTo>
                  <a:lnTo>
                    <a:pt x="150019" y="171405"/>
                  </a:lnTo>
                  <a:cubicBezTo>
                    <a:pt x="138187" y="171405"/>
                    <a:pt x="128588" y="161806"/>
                    <a:pt x="128588" y="149974"/>
                  </a:cubicBezTo>
                  <a:lnTo>
                    <a:pt x="128588" y="107112"/>
                  </a:lnTo>
                  <a:cubicBezTo>
                    <a:pt x="128588" y="95280"/>
                    <a:pt x="138187" y="85680"/>
                    <a:pt x="150019" y="85680"/>
                  </a:cubicBezTo>
                  <a:lnTo>
                    <a:pt x="157163" y="85680"/>
                  </a:lnTo>
                  <a:cubicBezTo>
                    <a:pt x="161806" y="85680"/>
                    <a:pt x="166226" y="86395"/>
                    <a:pt x="170423" y="87779"/>
                  </a:cubicBezTo>
                  <a:cubicBezTo>
                    <a:pt x="164619" y="54159"/>
                    <a:pt x="135329" y="28530"/>
                    <a:pt x="100013" y="2853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483100" y="4876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Нагрузка на поддержку</a:t>
              </a:r>
              <a:endParaRPr lang="en-US" sz="24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483100" y="52578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Типовые вопросы отнимают время специалистов от сложных задач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483100" y="58674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4597400" y="59817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50% обращений — типовые вопросы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7B3F3357-76CE-4FCB-AA48-09DD2250517D}"/>
              </a:ext>
            </a:extLst>
          </p:cNvPr>
          <p:cNvGrpSpPr/>
          <p:nvPr/>
        </p:nvGrpSpPr>
        <p:grpSpPr>
          <a:xfrm>
            <a:off x="8128000" y="3962400"/>
            <a:ext cx="3686175" cy="2552700"/>
            <a:chOff x="8128000" y="3962400"/>
            <a:chExt cx="3686175" cy="2552700"/>
          </a:xfrm>
        </p:grpSpPr>
        <p:sp>
          <p:nvSpPr>
            <p:cNvPr id="41" name="Shape 39"/>
            <p:cNvSpPr/>
            <p:nvPr/>
          </p:nvSpPr>
          <p:spPr>
            <a:xfrm>
              <a:off x="81280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2700000" scaled="1"/>
            </a:gradFill>
            <a:ln/>
          </p:spPr>
        </p:sp>
        <p:sp>
          <p:nvSpPr>
            <p:cNvPr id="42" name="Shape 40"/>
            <p:cNvSpPr/>
            <p:nvPr/>
          </p:nvSpPr>
          <p:spPr>
            <a:xfrm>
              <a:off x="9664700" y="42481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14300" y="0"/>
                  </a:moveTo>
                  <a:lnTo>
                    <a:pt x="495300" y="0"/>
                  </a:lnTo>
                  <a:cubicBezTo>
                    <a:pt x="558384" y="0"/>
                    <a:pt x="609600" y="51216"/>
                    <a:pt x="609600" y="114300"/>
                  </a:cubicBezTo>
                  <a:lnTo>
                    <a:pt x="609600" y="495300"/>
                  </a:lnTo>
                  <a:cubicBezTo>
                    <a:pt x="609600" y="558384"/>
                    <a:pt x="558384" y="609600"/>
                    <a:pt x="495300" y="609600"/>
                  </a:cubicBezTo>
                  <a:lnTo>
                    <a:pt x="114300" y="609600"/>
                  </a:lnTo>
                  <a:cubicBezTo>
                    <a:pt x="51216" y="609600"/>
                    <a:pt x="0" y="558384"/>
                    <a:pt x="0" y="495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3" name="Shape 41"/>
            <p:cNvSpPr/>
            <p:nvPr/>
          </p:nvSpPr>
          <p:spPr>
            <a:xfrm>
              <a:off x="9864725" y="4410075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8839902" y="5010150"/>
              <a:ext cx="2329046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Решение</a:t>
              </a:r>
              <a:endParaRPr lang="en-US" sz="24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8313737" y="5429250"/>
              <a:ext cx="3314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Интеллектуальный </a:t>
              </a:r>
              <a:r>
                <a:rPr lang="en-US" sz="1350" b="1" dirty="0" err="1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ассистент</a:t>
              </a: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</a:t>
              </a:r>
              <a:r>
                <a:rPr lang="ru-RU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упрощает</a:t>
              </a: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все эти проблемы на 60-70%</a:t>
              </a:r>
              <a:endParaRPr lang="en-US" sz="1600" dirty="0"/>
            </a:p>
          </p:txBody>
        </p:sp>
      </p:grpSp>
      <p:sp>
        <p:nvSpPr>
          <p:cNvPr id="46" name="Text 7">
            <a:extLst>
              <a:ext uri="{FF2B5EF4-FFF2-40B4-BE49-F238E27FC236}">
                <a16:creationId xmlns:a16="http://schemas.microsoft.com/office/drawing/2014/main" id="{EC291EF3-8BCD-770E-33F5-33CA8205F3A2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4</a:t>
            </a:r>
            <a:endParaRPr lang="en-US" sz="1600" dirty="0"/>
          </a:p>
        </p:txBody>
      </p:sp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9F8B994B-DE0E-46CF-8E12-2FB931486B74}"/>
              </a:ext>
            </a:extLst>
          </p:cNvPr>
          <p:cNvGrpSpPr/>
          <p:nvPr/>
        </p:nvGrpSpPr>
        <p:grpSpPr>
          <a:xfrm>
            <a:off x="381000" y="-742950"/>
            <a:ext cx="3486150" cy="533400"/>
            <a:chOff x="381000" y="381000"/>
            <a:chExt cx="3486150" cy="533400"/>
          </a:xfrm>
        </p:grpSpPr>
        <p:sp>
          <p:nvSpPr>
            <p:cNvPr id="105" name="Shape 0">
              <a:extLst>
                <a:ext uri="{FF2B5EF4-FFF2-40B4-BE49-F238E27FC236}">
                  <a16:creationId xmlns:a16="http://schemas.microsoft.com/office/drawing/2014/main" id="{3112B685-6364-477C-9DAA-7F869EBF934F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6" name="Shape 1">
              <a:extLst>
                <a:ext uri="{FF2B5EF4-FFF2-40B4-BE49-F238E27FC236}">
                  <a16:creationId xmlns:a16="http://schemas.microsoft.com/office/drawing/2014/main" id="{A43D76BC-33CF-4E97-95BC-170BD79A8D0B}"/>
                </a:ext>
              </a:extLst>
            </p:cNvPr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71450" y="14288"/>
                  </a:moveTo>
                  <a:lnTo>
                    <a:pt x="228600" y="14288"/>
                  </a:lnTo>
                  <a:cubicBezTo>
                    <a:pt x="236503" y="14288"/>
                    <a:pt x="242888" y="20672"/>
                    <a:pt x="242888" y="28575"/>
                  </a:cubicBezTo>
                  <a:cubicBezTo>
                    <a:pt x="242888" y="36478"/>
                    <a:pt x="236503" y="42863"/>
                    <a:pt x="228600" y="42863"/>
                  </a:cubicBezTo>
                  <a:lnTo>
                    <a:pt x="177879" y="42863"/>
                  </a:lnTo>
                  <a:cubicBezTo>
                    <a:pt x="175558" y="54382"/>
                    <a:pt x="167655" y="63892"/>
                    <a:pt x="157163" y="68446"/>
                  </a:cubicBezTo>
                  <a:lnTo>
                    <a:pt x="157163" y="200025"/>
                  </a:lnTo>
                  <a:lnTo>
                    <a:pt x="228600" y="200025"/>
                  </a:lnTo>
                  <a:cubicBezTo>
                    <a:pt x="236503" y="200025"/>
                    <a:pt x="242888" y="206410"/>
                    <a:pt x="242888" y="214313"/>
                  </a:cubicBezTo>
                  <a:cubicBezTo>
                    <a:pt x="242888" y="222215"/>
                    <a:pt x="236503" y="228600"/>
                    <a:pt x="228600" y="228600"/>
                  </a:cubicBezTo>
                  <a:lnTo>
                    <a:pt x="57150" y="228600"/>
                  </a:lnTo>
                  <a:cubicBezTo>
                    <a:pt x="49247" y="228600"/>
                    <a:pt x="42863" y="222215"/>
                    <a:pt x="42863" y="214313"/>
                  </a:cubicBezTo>
                  <a:cubicBezTo>
                    <a:pt x="42863" y="206410"/>
                    <a:pt x="49247" y="200025"/>
                    <a:pt x="57150" y="200025"/>
                  </a:cubicBezTo>
                  <a:lnTo>
                    <a:pt x="128588" y="200025"/>
                  </a:lnTo>
                  <a:lnTo>
                    <a:pt x="128588" y="68446"/>
                  </a:lnTo>
                  <a:cubicBezTo>
                    <a:pt x="118095" y="63847"/>
                    <a:pt x="110192" y="54337"/>
                    <a:pt x="107871" y="42863"/>
                  </a:cubicBezTo>
                  <a:lnTo>
                    <a:pt x="57150" y="42863"/>
                  </a:lnTo>
                  <a:cubicBezTo>
                    <a:pt x="49247" y="42863"/>
                    <a:pt x="42863" y="36478"/>
                    <a:pt x="42863" y="28575"/>
                  </a:cubicBezTo>
                  <a:cubicBezTo>
                    <a:pt x="42863" y="20672"/>
                    <a:pt x="49247" y="14288"/>
                    <a:pt x="57150" y="14288"/>
                  </a:cubicBezTo>
                  <a:lnTo>
                    <a:pt x="114300" y="14288"/>
                  </a:lnTo>
                  <a:cubicBezTo>
                    <a:pt x="120819" y="5626"/>
                    <a:pt x="131177" y="0"/>
                    <a:pt x="142875" y="0"/>
                  </a:cubicBezTo>
                  <a:cubicBezTo>
                    <a:pt x="154573" y="0"/>
                    <a:pt x="164931" y="5626"/>
                    <a:pt x="171450" y="14288"/>
                  </a:cubicBezTo>
                  <a:close/>
                  <a:moveTo>
                    <a:pt x="196275" y="142875"/>
                  </a:moveTo>
                  <a:lnTo>
                    <a:pt x="260925" y="142875"/>
                  </a:lnTo>
                  <a:lnTo>
                    <a:pt x="228600" y="87422"/>
                  </a:lnTo>
                  <a:lnTo>
                    <a:pt x="196275" y="142875"/>
                  </a:lnTo>
                  <a:close/>
                  <a:moveTo>
                    <a:pt x="228600" y="185738"/>
                  </a:moveTo>
                  <a:cubicBezTo>
                    <a:pt x="200516" y="185738"/>
                    <a:pt x="177165" y="170557"/>
                    <a:pt x="172343" y="150510"/>
                  </a:cubicBezTo>
                  <a:cubicBezTo>
                    <a:pt x="171182" y="145599"/>
                    <a:pt x="172789" y="140553"/>
                    <a:pt x="175334" y="136178"/>
                  </a:cubicBezTo>
                  <a:lnTo>
                    <a:pt x="217840" y="63311"/>
                  </a:lnTo>
                  <a:cubicBezTo>
                    <a:pt x="220072" y="59472"/>
                    <a:pt x="224180" y="57150"/>
                    <a:pt x="228600" y="57150"/>
                  </a:cubicBezTo>
                  <a:cubicBezTo>
                    <a:pt x="233020" y="57150"/>
                    <a:pt x="237128" y="59516"/>
                    <a:pt x="239360" y="63311"/>
                  </a:cubicBezTo>
                  <a:lnTo>
                    <a:pt x="281866" y="136178"/>
                  </a:lnTo>
                  <a:cubicBezTo>
                    <a:pt x="284411" y="140553"/>
                    <a:pt x="286018" y="145599"/>
                    <a:pt x="284857" y="150510"/>
                  </a:cubicBezTo>
                  <a:cubicBezTo>
                    <a:pt x="280035" y="170512"/>
                    <a:pt x="256684" y="185738"/>
                    <a:pt x="228600" y="185738"/>
                  </a:cubicBezTo>
                  <a:close/>
                  <a:moveTo>
                    <a:pt x="56614" y="87422"/>
                  </a:moveTo>
                  <a:lnTo>
                    <a:pt x="24289" y="142875"/>
                  </a:lnTo>
                  <a:lnTo>
                    <a:pt x="88984" y="142875"/>
                  </a:lnTo>
                  <a:lnTo>
                    <a:pt x="56614" y="87422"/>
                  </a:lnTo>
                  <a:close/>
                  <a:moveTo>
                    <a:pt x="402" y="150510"/>
                  </a:moveTo>
                  <a:cubicBezTo>
                    <a:pt x="-759" y="145599"/>
                    <a:pt x="848" y="140553"/>
                    <a:pt x="3393" y="136178"/>
                  </a:cubicBezTo>
                  <a:lnTo>
                    <a:pt x="45899" y="63311"/>
                  </a:lnTo>
                  <a:cubicBezTo>
                    <a:pt x="48131" y="59472"/>
                    <a:pt x="52239" y="57150"/>
                    <a:pt x="56659" y="57150"/>
                  </a:cubicBezTo>
                  <a:cubicBezTo>
                    <a:pt x="61079" y="57150"/>
                    <a:pt x="65187" y="59516"/>
                    <a:pt x="67419" y="63311"/>
                  </a:cubicBezTo>
                  <a:lnTo>
                    <a:pt x="109924" y="136178"/>
                  </a:lnTo>
                  <a:cubicBezTo>
                    <a:pt x="112469" y="140553"/>
                    <a:pt x="114077" y="145599"/>
                    <a:pt x="112916" y="150510"/>
                  </a:cubicBezTo>
                  <a:cubicBezTo>
                    <a:pt x="108094" y="170512"/>
                    <a:pt x="84743" y="185738"/>
                    <a:pt x="56659" y="185738"/>
                  </a:cubicBezTo>
                  <a:cubicBezTo>
                    <a:pt x="28575" y="185738"/>
                    <a:pt x="5224" y="170557"/>
                    <a:pt x="402" y="15051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7" name="Text 2">
              <a:extLst>
                <a:ext uri="{FF2B5EF4-FFF2-40B4-BE49-F238E27FC236}">
                  <a16:creationId xmlns:a16="http://schemas.microsoft.com/office/drawing/2014/main" id="{8156DC56-E4A7-4A82-8C2A-453EDB4A49C5}"/>
                </a:ext>
              </a:extLst>
            </p:cNvPr>
            <p:cNvSpPr/>
            <p:nvPr/>
          </p:nvSpPr>
          <p:spPr>
            <a:xfrm>
              <a:off x="1066800" y="400050"/>
              <a:ext cx="28003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Обзор аналогов</a:t>
              </a:r>
              <a:endParaRPr lang="en-US" sz="1600" dirty="0"/>
            </a:p>
          </p:txBody>
        </p:sp>
        <p:sp>
          <p:nvSpPr>
            <p:cNvPr id="108" name="Shape 3">
              <a:extLst>
                <a:ext uri="{FF2B5EF4-FFF2-40B4-BE49-F238E27FC236}">
                  <a16:creationId xmlns:a16="http://schemas.microsoft.com/office/drawing/2014/main" id="{6DBA1562-BAB4-42BA-814B-D47BCFBAEE9D}"/>
                </a:ext>
              </a:extLst>
            </p:cNvPr>
            <p:cNvSpPr/>
            <p:nvPr/>
          </p:nvSpPr>
          <p:spPr>
            <a:xfrm>
              <a:off x="709613" y="866875"/>
              <a:ext cx="3040189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09" name="Text 7">
            <a:extLst>
              <a:ext uri="{FF2B5EF4-FFF2-40B4-BE49-F238E27FC236}">
                <a16:creationId xmlns:a16="http://schemas.microsoft.com/office/drawing/2014/main" id="{3DFC4B54-A798-4501-800B-DDD13E63D3FF}"/>
              </a:ext>
            </a:extLst>
          </p:cNvPr>
          <p:cNvSpPr/>
          <p:nvPr/>
        </p:nvSpPr>
        <p:spPr>
          <a:xfrm>
            <a:off x="11127263" y="-116443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5</a:t>
            </a:r>
            <a:endParaRPr lang="en-US" sz="1600" dirty="0"/>
          </a:p>
        </p:txBody>
      </p:sp>
      <p:grpSp>
        <p:nvGrpSpPr>
          <p:cNvPr id="168" name="Группа 167">
            <a:extLst>
              <a:ext uri="{FF2B5EF4-FFF2-40B4-BE49-F238E27FC236}">
                <a16:creationId xmlns:a16="http://schemas.microsoft.com/office/drawing/2014/main" id="{4A6DD5BE-71E3-4A73-9E8C-731DC664A092}"/>
              </a:ext>
            </a:extLst>
          </p:cNvPr>
          <p:cNvGrpSpPr/>
          <p:nvPr/>
        </p:nvGrpSpPr>
        <p:grpSpPr>
          <a:xfrm>
            <a:off x="381000" y="7543800"/>
            <a:ext cx="14958653" cy="4152900"/>
            <a:chOff x="381000" y="1143000"/>
            <a:chExt cx="14958653" cy="4152900"/>
          </a:xfrm>
        </p:grpSpPr>
        <p:sp>
          <p:nvSpPr>
            <p:cNvPr id="169" name="Shape 4">
              <a:extLst>
                <a:ext uri="{FF2B5EF4-FFF2-40B4-BE49-F238E27FC236}">
                  <a16:creationId xmlns:a16="http://schemas.microsoft.com/office/drawing/2014/main" id="{26A49597-AAE8-4E27-AE68-95A3583BA715}"/>
                </a:ext>
              </a:extLst>
            </p:cNvPr>
            <p:cNvSpPr/>
            <p:nvPr/>
          </p:nvSpPr>
          <p:spPr>
            <a:xfrm>
              <a:off x="3810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170" name="Группа 169">
              <a:extLst>
                <a:ext uri="{FF2B5EF4-FFF2-40B4-BE49-F238E27FC236}">
                  <a16:creationId xmlns:a16="http://schemas.microsoft.com/office/drawing/2014/main" id="{C24F4520-2D45-428F-95EA-B7C6035E7080}"/>
                </a:ext>
              </a:extLst>
            </p:cNvPr>
            <p:cNvGrpSpPr/>
            <p:nvPr/>
          </p:nvGrpSpPr>
          <p:grpSpPr>
            <a:xfrm>
              <a:off x="614363" y="1409463"/>
              <a:ext cx="5851386" cy="829649"/>
              <a:chOff x="571500" y="1331896"/>
              <a:chExt cx="3305175" cy="468630"/>
            </a:xfrm>
          </p:grpSpPr>
          <p:sp>
            <p:nvSpPr>
              <p:cNvPr id="219" name="Shape 5">
                <a:extLst>
                  <a:ext uri="{FF2B5EF4-FFF2-40B4-BE49-F238E27FC236}">
                    <a16:creationId xmlns:a16="http://schemas.microsoft.com/office/drawing/2014/main" id="{DC764565-A0BD-4411-AFE7-E793DFB0C737}"/>
                  </a:ext>
                </a:extLst>
              </p:cNvPr>
              <p:cNvSpPr/>
              <p:nvPr/>
            </p:nvSpPr>
            <p:spPr>
              <a:xfrm>
                <a:off x="5715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220" name="Shape 6">
                <a:extLst>
                  <a:ext uri="{FF2B5EF4-FFF2-40B4-BE49-F238E27FC236}">
                    <a16:creationId xmlns:a16="http://schemas.microsoft.com/office/drawing/2014/main" id="{3D95E14D-7726-460E-9B5B-94552A3A6AA8}"/>
                  </a:ext>
                </a:extLst>
              </p:cNvPr>
              <p:cNvSpPr/>
              <p:nvPr/>
            </p:nvSpPr>
            <p:spPr>
              <a:xfrm>
                <a:off x="681038" y="146685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130969" y="0"/>
                    </a:moveTo>
                    <a:cubicBezTo>
                      <a:pt x="130969" y="-6586"/>
                      <a:pt x="125648" y="-11906"/>
                      <a:pt x="119063" y="-11906"/>
                    </a:cubicBezTo>
                    <a:cubicBezTo>
                      <a:pt x="112477" y="-11906"/>
                      <a:pt x="107156" y="-6586"/>
                      <a:pt x="107156" y="0"/>
                    </a:cubicBezTo>
                    <a:lnTo>
                      <a:pt x="107156" y="23812"/>
                    </a:lnTo>
                    <a:lnTo>
                      <a:pt x="71438" y="23812"/>
                    </a:lnTo>
                    <a:cubicBezTo>
                      <a:pt x="51718" y="23812"/>
                      <a:pt x="35719" y="39812"/>
                      <a:pt x="35719" y="59531"/>
                    </a:cubicBezTo>
                    <a:lnTo>
                      <a:pt x="35719" y="142875"/>
                    </a:lnTo>
                    <a:cubicBezTo>
                      <a:pt x="35719" y="162595"/>
                      <a:pt x="51718" y="178594"/>
                      <a:pt x="71438" y="178594"/>
                    </a:cubicBezTo>
                    <a:lnTo>
                      <a:pt x="166688" y="178594"/>
                    </a:lnTo>
                    <a:cubicBezTo>
                      <a:pt x="186407" y="178594"/>
                      <a:pt x="202406" y="162595"/>
                      <a:pt x="202406" y="142875"/>
                    </a:cubicBezTo>
                    <a:lnTo>
                      <a:pt x="202406" y="59531"/>
                    </a:lnTo>
                    <a:cubicBezTo>
                      <a:pt x="202406" y="39812"/>
                      <a:pt x="186407" y="23812"/>
                      <a:pt x="166688" y="23812"/>
                    </a:cubicBezTo>
                    <a:lnTo>
                      <a:pt x="130969" y="23812"/>
                    </a:lnTo>
                    <a:lnTo>
                      <a:pt x="130969" y="0"/>
                    </a:lnTo>
                    <a:close/>
                    <a:moveTo>
                      <a:pt x="59531" y="136922"/>
                    </a:moveTo>
                    <a:cubicBezTo>
                      <a:pt x="59531" y="131973"/>
                      <a:pt x="63512" y="127992"/>
                      <a:pt x="68461" y="127992"/>
                    </a:cubicBezTo>
                    <a:lnTo>
                      <a:pt x="80367" y="127992"/>
                    </a:lnTo>
                    <a:cubicBezTo>
                      <a:pt x="85316" y="127992"/>
                      <a:pt x="89297" y="131973"/>
                      <a:pt x="89297" y="136922"/>
                    </a:cubicBezTo>
                    <a:cubicBezTo>
                      <a:pt x="89297" y="141870"/>
                      <a:pt x="85316" y="145852"/>
                      <a:pt x="80367" y="145852"/>
                    </a:cubicBezTo>
                    <a:lnTo>
                      <a:pt x="68461" y="145852"/>
                    </a:lnTo>
                    <a:cubicBezTo>
                      <a:pt x="63512" y="145852"/>
                      <a:pt x="59531" y="141870"/>
                      <a:pt x="59531" y="136922"/>
                    </a:cubicBezTo>
                    <a:close/>
                    <a:moveTo>
                      <a:pt x="104180" y="136922"/>
                    </a:moveTo>
                    <a:cubicBezTo>
                      <a:pt x="104180" y="131973"/>
                      <a:pt x="108161" y="127992"/>
                      <a:pt x="113109" y="127992"/>
                    </a:cubicBezTo>
                    <a:lnTo>
                      <a:pt x="125016" y="127992"/>
                    </a:lnTo>
                    <a:cubicBezTo>
                      <a:pt x="129964" y="127992"/>
                      <a:pt x="133945" y="131973"/>
                      <a:pt x="133945" y="136922"/>
                    </a:cubicBezTo>
                    <a:cubicBezTo>
                      <a:pt x="133945" y="141870"/>
                      <a:pt x="129964" y="145852"/>
                      <a:pt x="125016" y="145852"/>
                    </a:cubicBezTo>
                    <a:lnTo>
                      <a:pt x="113109" y="145852"/>
                    </a:lnTo>
                    <a:cubicBezTo>
                      <a:pt x="108161" y="145852"/>
                      <a:pt x="104180" y="141870"/>
                      <a:pt x="104180" y="136922"/>
                    </a:cubicBezTo>
                    <a:close/>
                    <a:moveTo>
                      <a:pt x="148828" y="136922"/>
                    </a:moveTo>
                    <a:cubicBezTo>
                      <a:pt x="148828" y="131973"/>
                      <a:pt x="152809" y="127992"/>
                      <a:pt x="157758" y="127992"/>
                    </a:cubicBezTo>
                    <a:lnTo>
                      <a:pt x="169664" y="127992"/>
                    </a:lnTo>
                    <a:cubicBezTo>
                      <a:pt x="174613" y="127992"/>
                      <a:pt x="178594" y="131973"/>
                      <a:pt x="178594" y="136922"/>
                    </a:cubicBezTo>
                    <a:cubicBezTo>
                      <a:pt x="178594" y="141870"/>
                      <a:pt x="174613" y="145852"/>
                      <a:pt x="169664" y="145852"/>
                    </a:cubicBezTo>
                    <a:lnTo>
                      <a:pt x="157758" y="145852"/>
                    </a:lnTo>
                    <a:cubicBezTo>
                      <a:pt x="152809" y="145852"/>
                      <a:pt x="148828" y="141870"/>
                      <a:pt x="148828" y="136922"/>
                    </a:cubicBezTo>
                    <a:close/>
                    <a:moveTo>
                      <a:pt x="83344" y="65484"/>
                    </a:moveTo>
                    <a:cubicBezTo>
                      <a:pt x="93201" y="65484"/>
                      <a:pt x="101203" y="73487"/>
                      <a:pt x="101203" y="83344"/>
                    </a:cubicBezTo>
                    <a:cubicBezTo>
                      <a:pt x="101203" y="93201"/>
                      <a:pt x="93201" y="101203"/>
                      <a:pt x="83344" y="101203"/>
                    </a:cubicBezTo>
                    <a:cubicBezTo>
                      <a:pt x="73487" y="101203"/>
                      <a:pt x="65484" y="93201"/>
                      <a:pt x="65484" y="83344"/>
                    </a:cubicBezTo>
                    <a:cubicBezTo>
                      <a:pt x="65484" y="73487"/>
                      <a:pt x="73487" y="65484"/>
                      <a:pt x="83344" y="65484"/>
                    </a:cubicBezTo>
                    <a:close/>
                    <a:moveTo>
                      <a:pt x="136922" y="83344"/>
                    </a:moveTo>
                    <a:cubicBezTo>
                      <a:pt x="136922" y="73487"/>
                      <a:pt x="144924" y="65484"/>
                      <a:pt x="154781" y="65484"/>
                    </a:cubicBezTo>
                    <a:cubicBezTo>
                      <a:pt x="164638" y="65484"/>
                      <a:pt x="172641" y="73487"/>
                      <a:pt x="172641" y="83344"/>
                    </a:cubicBezTo>
                    <a:cubicBezTo>
                      <a:pt x="172641" y="93201"/>
                      <a:pt x="164638" y="101203"/>
                      <a:pt x="154781" y="101203"/>
                    </a:cubicBezTo>
                    <a:cubicBezTo>
                      <a:pt x="144924" y="101203"/>
                      <a:pt x="136922" y="93201"/>
                      <a:pt x="136922" y="83344"/>
                    </a:cubicBezTo>
                    <a:close/>
                    <a:moveTo>
                      <a:pt x="23812" y="83344"/>
                    </a:moveTo>
                    <a:cubicBezTo>
                      <a:pt x="23812" y="76758"/>
                      <a:pt x="18492" y="71438"/>
                      <a:pt x="11906" y="71438"/>
                    </a:cubicBezTo>
                    <a:cubicBezTo>
                      <a:pt x="5321" y="71438"/>
                      <a:pt x="0" y="76758"/>
                      <a:pt x="0" y="83344"/>
                    </a:cubicBezTo>
                    <a:lnTo>
                      <a:pt x="0" y="119063"/>
                    </a:lnTo>
                    <a:cubicBezTo>
                      <a:pt x="0" y="125648"/>
                      <a:pt x="5321" y="130969"/>
                      <a:pt x="11906" y="130969"/>
                    </a:cubicBezTo>
                    <a:cubicBezTo>
                      <a:pt x="18492" y="130969"/>
                      <a:pt x="23812" y="125648"/>
                      <a:pt x="23812" y="119063"/>
                    </a:cubicBezTo>
                    <a:lnTo>
                      <a:pt x="23812" y="83344"/>
                    </a:lnTo>
                    <a:close/>
                    <a:moveTo>
                      <a:pt x="226219" y="71438"/>
                    </a:moveTo>
                    <a:cubicBezTo>
                      <a:pt x="219633" y="71438"/>
                      <a:pt x="214313" y="76758"/>
                      <a:pt x="214313" y="83344"/>
                    </a:cubicBezTo>
                    <a:lnTo>
                      <a:pt x="214313" y="119063"/>
                    </a:lnTo>
                    <a:cubicBezTo>
                      <a:pt x="214313" y="125648"/>
                      <a:pt x="219633" y="130969"/>
                      <a:pt x="226219" y="130969"/>
                    </a:cubicBezTo>
                    <a:cubicBezTo>
                      <a:pt x="232804" y="130969"/>
                      <a:pt x="238125" y="125648"/>
                      <a:pt x="238125" y="119063"/>
                    </a:cubicBezTo>
                    <a:lnTo>
                      <a:pt x="238125" y="83344"/>
                    </a:lnTo>
                    <a:cubicBezTo>
                      <a:pt x="238125" y="76758"/>
                      <a:pt x="232804" y="71438"/>
                      <a:pt x="226219" y="71438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221" name="Text 7">
                <a:extLst>
                  <a:ext uri="{FF2B5EF4-FFF2-40B4-BE49-F238E27FC236}">
                    <a16:creationId xmlns:a16="http://schemas.microsoft.com/office/drawing/2014/main" id="{CC9A0CFD-984A-4EC0-8338-E1EF21DDF7B9}"/>
                  </a:ext>
                </a:extLst>
              </p:cNvPr>
              <p:cNvSpPr/>
              <p:nvPr/>
            </p:nvSpPr>
            <p:spPr>
              <a:xfrm>
                <a:off x="1153862" y="1331896"/>
                <a:ext cx="123825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Чат-бот Ася</a:t>
                </a:r>
                <a:endParaRPr lang="en-US" sz="2800" dirty="0"/>
              </a:p>
            </p:txBody>
          </p:sp>
          <p:sp>
            <p:nvSpPr>
              <p:cNvPr id="222" name="Text 8">
                <a:extLst>
                  <a:ext uri="{FF2B5EF4-FFF2-40B4-BE49-F238E27FC236}">
                    <a16:creationId xmlns:a16="http://schemas.microsoft.com/office/drawing/2014/main" id="{307ED8D2-A565-4B47-87E5-4629C53CC9AF}"/>
                  </a:ext>
                </a:extLst>
              </p:cNvPr>
              <p:cNvSpPr/>
              <p:nvPr/>
            </p:nvSpPr>
            <p:spPr>
              <a:xfrm>
                <a:off x="1155942" y="1610026"/>
                <a:ext cx="272073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1С:Документооборот</a:t>
                </a:r>
                <a:endParaRPr lang="en-US" sz="1600" dirty="0"/>
              </a:p>
            </p:txBody>
          </p:sp>
        </p:grpSp>
        <p:grpSp>
          <p:nvGrpSpPr>
            <p:cNvPr id="171" name="Группа 170">
              <a:extLst>
                <a:ext uri="{FF2B5EF4-FFF2-40B4-BE49-F238E27FC236}">
                  <a16:creationId xmlns:a16="http://schemas.microsoft.com/office/drawing/2014/main" id="{D7B32344-F982-48E8-BD29-947548E8A3FF}"/>
                </a:ext>
              </a:extLst>
            </p:cNvPr>
            <p:cNvGrpSpPr/>
            <p:nvPr/>
          </p:nvGrpSpPr>
          <p:grpSpPr>
            <a:xfrm>
              <a:off x="609600" y="2590800"/>
              <a:ext cx="3139440" cy="1828800"/>
              <a:chOff x="600075" y="2247900"/>
              <a:chExt cx="1962150" cy="1143000"/>
            </a:xfrm>
          </p:grpSpPr>
          <p:sp>
            <p:nvSpPr>
              <p:cNvPr id="211" name="Shape 9">
                <a:extLst>
                  <a:ext uri="{FF2B5EF4-FFF2-40B4-BE49-F238E27FC236}">
                    <a16:creationId xmlns:a16="http://schemas.microsoft.com/office/drawing/2014/main" id="{88084E4F-404F-4B61-A21A-0238F9F0FB83}"/>
                  </a:ext>
                </a:extLst>
              </p:cNvPr>
              <p:cNvSpPr/>
              <p:nvPr/>
            </p:nvSpPr>
            <p:spPr>
              <a:xfrm>
                <a:off x="6000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212" name="Text 10">
                <a:extLst>
                  <a:ext uri="{FF2B5EF4-FFF2-40B4-BE49-F238E27FC236}">
                    <a16:creationId xmlns:a16="http://schemas.microsoft.com/office/drawing/2014/main" id="{1FF14289-9412-4496-B8C6-21101B08BB03}"/>
                  </a:ext>
                </a:extLst>
              </p:cNvPr>
              <p:cNvSpPr/>
              <p:nvPr/>
            </p:nvSpPr>
            <p:spPr>
              <a:xfrm>
                <a:off x="838200" y="2247900"/>
                <a:ext cx="14668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Простая настройка</a:t>
                </a:r>
                <a:endParaRPr lang="en-US" sz="2400" dirty="0"/>
              </a:p>
            </p:txBody>
          </p:sp>
          <p:sp>
            <p:nvSpPr>
              <p:cNvPr id="213" name="Shape 11">
                <a:extLst>
                  <a:ext uri="{FF2B5EF4-FFF2-40B4-BE49-F238E27FC236}">
                    <a16:creationId xmlns:a16="http://schemas.microsoft.com/office/drawing/2014/main" id="{26D7A3B9-BE90-4D7B-85C3-412501884A34}"/>
                  </a:ext>
                </a:extLst>
              </p:cNvPr>
              <p:cNvSpPr/>
              <p:nvPr/>
            </p:nvSpPr>
            <p:spPr>
              <a:xfrm>
                <a:off x="6000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214" name="Text 12">
                <a:extLst>
                  <a:ext uri="{FF2B5EF4-FFF2-40B4-BE49-F238E27FC236}">
                    <a16:creationId xmlns:a16="http://schemas.microsoft.com/office/drawing/2014/main" id="{D7363C6C-92F1-493F-9848-E141E68EB3B2}"/>
                  </a:ext>
                </a:extLst>
              </p:cNvPr>
              <p:cNvSpPr/>
              <p:nvPr/>
            </p:nvSpPr>
            <p:spPr>
              <a:xfrm>
                <a:off x="838200" y="2552700"/>
                <a:ext cx="10191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Встроен в 1С</a:t>
                </a:r>
                <a:endParaRPr lang="en-US" sz="2400" dirty="0"/>
              </a:p>
            </p:txBody>
          </p:sp>
          <p:sp>
            <p:nvSpPr>
              <p:cNvPr id="215" name="Shape 13">
                <a:extLst>
                  <a:ext uri="{FF2B5EF4-FFF2-40B4-BE49-F238E27FC236}">
                    <a16:creationId xmlns:a16="http://schemas.microsoft.com/office/drawing/2014/main" id="{AF2EBF0C-657D-4539-81E6-822ECA545C03}"/>
                  </a:ext>
                </a:extLst>
              </p:cNvPr>
              <p:cNvSpPr/>
              <p:nvPr/>
            </p:nvSpPr>
            <p:spPr>
              <a:xfrm>
                <a:off x="6096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216" name="Text 14">
                <a:extLst>
                  <a:ext uri="{FF2B5EF4-FFF2-40B4-BE49-F238E27FC236}">
                    <a16:creationId xmlns:a16="http://schemas.microsoft.com/office/drawing/2014/main" id="{0227ADC7-2D73-4C60-A96E-4B3B73CEDC05}"/>
                  </a:ext>
                </a:extLst>
              </p:cNvPr>
              <p:cNvSpPr/>
              <p:nvPr/>
            </p:nvSpPr>
            <p:spPr>
              <a:xfrm>
                <a:off x="838200" y="2857500"/>
                <a:ext cx="15049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Шаблонные ответы</a:t>
                </a:r>
                <a:endParaRPr lang="en-US" sz="2400" dirty="0"/>
              </a:p>
            </p:txBody>
          </p:sp>
          <p:sp>
            <p:nvSpPr>
              <p:cNvPr id="217" name="Shape 15">
                <a:extLst>
                  <a:ext uri="{FF2B5EF4-FFF2-40B4-BE49-F238E27FC236}">
                    <a16:creationId xmlns:a16="http://schemas.microsoft.com/office/drawing/2014/main" id="{87E3B2AF-F6B8-4379-BB47-70556AC9F223}"/>
                  </a:ext>
                </a:extLst>
              </p:cNvPr>
              <p:cNvSpPr/>
              <p:nvPr/>
            </p:nvSpPr>
            <p:spPr>
              <a:xfrm>
                <a:off x="6096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218" name="Text 16">
                <a:extLst>
                  <a:ext uri="{FF2B5EF4-FFF2-40B4-BE49-F238E27FC236}">
                    <a16:creationId xmlns:a16="http://schemas.microsoft.com/office/drawing/2014/main" id="{30E1832D-04F6-43DB-AADA-7BFFD5F20065}"/>
                  </a:ext>
                </a:extLst>
              </p:cNvPr>
              <p:cNvSpPr/>
              <p:nvPr/>
            </p:nvSpPr>
            <p:spPr>
              <a:xfrm>
                <a:off x="838200" y="3162300"/>
                <a:ext cx="17240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Нет интеграции с УНФ</a:t>
                </a:r>
                <a:endParaRPr lang="en-US" sz="2400" dirty="0"/>
              </a:p>
            </p:txBody>
          </p:sp>
        </p:grpSp>
        <p:grpSp>
          <p:nvGrpSpPr>
            <p:cNvPr id="172" name="Группа 171">
              <a:extLst>
                <a:ext uri="{FF2B5EF4-FFF2-40B4-BE49-F238E27FC236}">
                  <a16:creationId xmlns:a16="http://schemas.microsoft.com/office/drawing/2014/main" id="{F6C02177-4CD7-4975-80EC-37BD91BDFEBE}"/>
                </a:ext>
              </a:extLst>
            </p:cNvPr>
            <p:cNvGrpSpPr/>
            <p:nvPr/>
          </p:nvGrpSpPr>
          <p:grpSpPr>
            <a:xfrm>
              <a:off x="571500" y="4762500"/>
              <a:ext cx="3305175" cy="342900"/>
              <a:chOff x="571500" y="4762500"/>
              <a:chExt cx="3305175" cy="342900"/>
            </a:xfrm>
          </p:grpSpPr>
          <p:sp>
            <p:nvSpPr>
              <p:cNvPr id="209" name="Shape 17">
                <a:extLst>
                  <a:ext uri="{FF2B5EF4-FFF2-40B4-BE49-F238E27FC236}">
                    <a16:creationId xmlns:a16="http://schemas.microsoft.com/office/drawing/2014/main" id="{ED50CA32-AC51-44CA-A364-05F2E23F8C6A}"/>
                  </a:ext>
                </a:extLst>
              </p:cNvPr>
              <p:cNvSpPr/>
              <p:nvPr/>
            </p:nvSpPr>
            <p:spPr>
              <a:xfrm>
                <a:off x="5715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210" name="Text 18">
                <a:extLst>
                  <a:ext uri="{FF2B5EF4-FFF2-40B4-BE49-F238E27FC236}">
                    <a16:creationId xmlns:a16="http://schemas.microsoft.com/office/drawing/2014/main" id="{4B6D03AB-BD58-41E4-A78C-75E69DF7C242}"/>
                  </a:ext>
                </a:extLst>
              </p:cNvPr>
              <p:cNvSpPr/>
              <p:nvPr/>
            </p:nvSpPr>
            <p:spPr>
              <a:xfrm>
                <a:off x="614363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Шаблонный бот</a:t>
                </a:r>
                <a:endParaRPr lang="en-US" sz="3200" dirty="0"/>
              </a:p>
            </p:txBody>
          </p:sp>
        </p:grpSp>
        <p:sp>
          <p:nvSpPr>
            <p:cNvPr id="173" name="Shape 19">
              <a:extLst>
                <a:ext uri="{FF2B5EF4-FFF2-40B4-BE49-F238E27FC236}">
                  <a16:creationId xmlns:a16="http://schemas.microsoft.com/office/drawing/2014/main" id="{04656A8F-7973-4FDC-B064-F1B0CAB3135A}"/>
                </a:ext>
              </a:extLst>
            </p:cNvPr>
            <p:cNvSpPr/>
            <p:nvPr/>
          </p:nvSpPr>
          <p:spPr>
            <a:xfrm>
              <a:off x="42545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174" name="Группа 173">
              <a:extLst>
                <a:ext uri="{FF2B5EF4-FFF2-40B4-BE49-F238E27FC236}">
                  <a16:creationId xmlns:a16="http://schemas.microsoft.com/office/drawing/2014/main" id="{AD1712A0-CA16-469C-8E5E-2BC682073286}"/>
                </a:ext>
              </a:extLst>
            </p:cNvPr>
            <p:cNvGrpSpPr/>
            <p:nvPr/>
          </p:nvGrpSpPr>
          <p:grpSpPr>
            <a:xfrm>
              <a:off x="4488815" y="1421235"/>
              <a:ext cx="6001492" cy="823960"/>
              <a:chOff x="4445000" y="1325283"/>
              <a:chExt cx="3389964" cy="465417"/>
            </a:xfrm>
          </p:grpSpPr>
          <p:sp>
            <p:nvSpPr>
              <p:cNvPr id="205" name="Shape 20">
                <a:extLst>
                  <a:ext uri="{FF2B5EF4-FFF2-40B4-BE49-F238E27FC236}">
                    <a16:creationId xmlns:a16="http://schemas.microsoft.com/office/drawing/2014/main" id="{4D464CA5-A31D-4BBE-B14C-BF269C6C5A22}"/>
                  </a:ext>
                </a:extLst>
              </p:cNvPr>
              <p:cNvSpPr/>
              <p:nvPr/>
            </p:nvSpPr>
            <p:spPr>
              <a:xfrm>
                <a:off x="44450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206" name="Shape 21">
                <a:extLst>
                  <a:ext uri="{FF2B5EF4-FFF2-40B4-BE49-F238E27FC236}">
                    <a16:creationId xmlns:a16="http://schemas.microsoft.com/office/drawing/2014/main" id="{CC9C715D-0A9A-40C2-BC5E-5D78A9075BC6}"/>
                  </a:ext>
                </a:extLst>
              </p:cNvPr>
              <p:cNvSpPr/>
              <p:nvPr/>
            </p:nvSpPr>
            <p:spPr>
              <a:xfrm>
                <a:off x="4578350" y="14668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44648" y="20836"/>
                    </a:moveTo>
                    <a:cubicBezTo>
                      <a:pt x="44648" y="9339"/>
                      <a:pt x="53987" y="0"/>
                      <a:pt x="65484" y="0"/>
                    </a:cubicBezTo>
                    <a:lnTo>
                      <a:pt x="74414" y="0"/>
                    </a:lnTo>
                    <a:cubicBezTo>
                      <a:pt x="81000" y="0"/>
                      <a:pt x="86320" y="5321"/>
                      <a:pt x="86320" y="11906"/>
                    </a:cubicBezTo>
                    <a:lnTo>
                      <a:pt x="86320" y="178594"/>
                    </a:lnTo>
                    <a:cubicBezTo>
                      <a:pt x="86320" y="185179"/>
                      <a:pt x="81000" y="190500"/>
                      <a:pt x="74414" y="190500"/>
                    </a:cubicBezTo>
                    <a:lnTo>
                      <a:pt x="62508" y="190500"/>
                    </a:lnTo>
                    <a:cubicBezTo>
                      <a:pt x="51420" y="190500"/>
                      <a:pt x="42081" y="182910"/>
                      <a:pt x="39439" y="172641"/>
                    </a:cubicBezTo>
                    <a:cubicBezTo>
                      <a:pt x="39179" y="172641"/>
                      <a:pt x="38956" y="172641"/>
                      <a:pt x="38695" y="172641"/>
                    </a:cubicBezTo>
                    <a:cubicBezTo>
                      <a:pt x="22250" y="172641"/>
                      <a:pt x="8930" y="159321"/>
                      <a:pt x="8930" y="142875"/>
                    </a:cubicBezTo>
                    <a:cubicBezTo>
                      <a:pt x="8930" y="136178"/>
                      <a:pt x="11162" y="130001"/>
                      <a:pt x="14883" y="125016"/>
                    </a:cubicBezTo>
                    <a:cubicBezTo>
                      <a:pt x="7665" y="119583"/>
                      <a:pt x="2977" y="110951"/>
                      <a:pt x="2977" y="101203"/>
                    </a:cubicBezTo>
                    <a:cubicBezTo>
                      <a:pt x="2977" y="89706"/>
                      <a:pt x="9525" y="79697"/>
                      <a:pt x="19050" y="74749"/>
                    </a:cubicBezTo>
                    <a:cubicBezTo>
                      <a:pt x="16408" y="70284"/>
                      <a:pt x="14883" y="65075"/>
                      <a:pt x="14883" y="59531"/>
                    </a:cubicBezTo>
                    <a:cubicBezTo>
                      <a:pt x="14883" y="43086"/>
                      <a:pt x="28203" y="29766"/>
                      <a:pt x="44648" y="29766"/>
                    </a:cubicBezTo>
                    <a:lnTo>
                      <a:pt x="44648" y="20836"/>
                    </a:lnTo>
                    <a:close/>
                    <a:moveTo>
                      <a:pt x="145852" y="20836"/>
                    </a:moveTo>
                    <a:lnTo>
                      <a:pt x="145852" y="29766"/>
                    </a:lnTo>
                    <a:cubicBezTo>
                      <a:pt x="162297" y="29766"/>
                      <a:pt x="175617" y="43086"/>
                      <a:pt x="175617" y="59531"/>
                    </a:cubicBezTo>
                    <a:cubicBezTo>
                      <a:pt x="175617" y="65112"/>
                      <a:pt x="174092" y="70321"/>
                      <a:pt x="171450" y="74749"/>
                    </a:cubicBezTo>
                    <a:cubicBezTo>
                      <a:pt x="181012" y="79697"/>
                      <a:pt x="187523" y="89669"/>
                      <a:pt x="187523" y="101203"/>
                    </a:cubicBezTo>
                    <a:cubicBezTo>
                      <a:pt x="187523" y="110951"/>
                      <a:pt x="182835" y="119583"/>
                      <a:pt x="175617" y="125016"/>
                    </a:cubicBezTo>
                    <a:cubicBezTo>
                      <a:pt x="179338" y="130001"/>
                      <a:pt x="181570" y="136178"/>
                      <a:pt x="181570" y="142875"/>
                    </a:cubicBezTo>
                    <a:cubicBezTo>
                      <a:pt x="181570" y="159321"/>
                      <a:pt x="168250" y="172641"/>
                      <a:pt x="151805" y="172641"/>
                    </a:cubicBezTo>
                    <a:cubicBezTo>
                      <a:pt x="151544" y="172641"/>
                      <a:pt x="151321" y="172641"/>
                      <a:pt x="151061" y="172641"/>
                    </a:cubicBezTo>
                    <a:cubicBezTo>
                      <a:pt x="148419" y="182910"/>
                      <a:pt x="139080" y="190500"/>
                      <a:pt x="127992" y="190500"/>
                    </a:cubicBezTo>
                    <a:lnTo>
                      <a:pt x="116086" y="190500"/>
                    </a:lnTo>
                    <a:cubicBezTo>
                      <a:pt x="109500" y="190500"/>
                      <a:pt x="104180" y="185179"/>
                      <a:pt x="104180" y="178594"/>
                    </a:cubicBezTo>
                    <a:lnTo>
                      <a:pt x="104180" y="11906"/>
                    </a:lnTo>
                    <a:cubicBezTo>
                      <a:pt x="104180" y="5321"/>
                      <a:pt x="109500" y="0"/>
                      <a:pt x="116086" y="0"/>
                    </a:cubicBezTo>
                    <a:lnTo>
                      <a:pt x="125016" y="0"/>
                    </a:lnTo>
                    <a:cubicBezTo>
                      <a:pt x="136513" y="0"/>
                      <a:pt x="145852" y="9339"/>
                      <a:pt x="145852" y="20836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207" name="Text 22">
                <a:extLst>
                  <a:ext uri="{FF2B5EF4-FFF2-40B4-BE49-F238E27FC236}">
                    <a16:creationId xmlns:a16="http://schemas.microsoft.com/office/drawing/2014/main" id="{47A37980-C04F-4FE7-B3B9-3D770758FE5D}"/>
                  </a:ext>
                </a:extLst>
              </p:cNvPr>
              <p:cNvSpPr/>
              <p:nvPr/>
            </p:nvSpPr>
            <p:spPr>
              <a:xfrm>
                <a:off x="4935537" y="1325283"/>
                <a:ext cx="9906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GigaChat</a:t>
                </a:r>
                <a:endParaRPr lang="en-US" sz="2800" dirty="0"/>
              </a:p>
            </p:txBody>
          </p:sp>
          <p:sp>
            <p:nvSpPr>
              <p:cNvPr id="208" name="Text 23">
                <a:extLst>
                  <a:ext uri="{FF2B5EF4-FFF2-40B4-BE49-F238E27FC236}">
                    <a16:creationId xmlns:a16="http://schemas.microsoft.com/office/drawing/2014/main" id="{F0590617-7B3C-4820-8DD4-C8AC88BC446F}"/>
                  </a:ext>
                </a:extLst>
              </p:cNvPr>
              <p:cNvSpPr/>
              <p:nvPr/>
            </p:nvSpPr>
            <p:spPr>
              <a:xfrm>
                <a:off x="4956197" y="1575243"/>
                <a:ext cx="2878767" cy="2095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Сбер, интеграция с 1С</a:t>
                </a:r>
                <a:endParaRPr lang="en-US" sz="1600" dirty="0"/>
              </a:p>
            </p:txBody>
          </p:sp>
        </p:grpSp>
        <p:grpSp>
          <p:nvGrpSpPr>
            <p:cNvPr id="175" name="Группа 174">
              <a:extLst>
                <a:ext uri="{FF2B5EF4-FFF2-40B4-BE49-F238E27FC236}">
                  <a16:creationId xmlns:a16="http://schemas.microsoft.com/office/drawing/2014/main" id="{BB820207-080A-496E-BAC4-06906DA8351F}"/>
                </a:ext>
              </a:extLst>
            </p:cNvPr>
            <p:cNvGrpSpPr/>
            <p:nvPr/>
          </p:nvGrpSpPr>
          <p:grpSpPr>
            <a:xfrm>
              <a:off x="4473575" y="2590800"/>
              <a:ext cx="3185160" cy="1828800"/>
              <a:chOff x="4473575" y="2247900"/>
              <a:chExt cx="1990725" cy="1143000"/>
            </a:xfrm>
          </p:grpSpPr>
          <p:sp>
            <p:nvSpPr>
              <p:cNvPr id="197" name="Shape 24">
                <a:extLst>
                  <a:ext uri="{FF2B5EF4-FFF2-40B4-BE49-F238E27FC236}">
                    <a16:creationId xmlns:a16="http://schemas.microsoft.com/office/drawing/2014/main" id="{B1197CBF-0CD2-4BAB-89DE-7C3EF2AA5B6E}"/>
                  </a:ext>
                </a:extLst>
              </p:cNvPr>
              <p:cNvSpPr/>
              <p:nvPr/>
            </p:nvSpPr>
            <p:spPr>
              <a:xfrm>
                <a:off x="44735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98" name="Text 25">
                <a:extLst>
                  <a:ext uri="{FF2B5EF4-FFF2-40B4-BE49-F238E27FC236}">
                    <a16:creationId xmlns:a16="http://schemas.microsoft.com/office/drawing/2014/main" id="{166A4092-18E0-4885-A5B9-E5A231C26FE9}"/>
                  </a:ext>
                </a:extLst>
              </p:cNvPr>
              <p:cNvSpPr/>
              <p:nvPr/>
            </p:nvSpPr>
            <p:spPr>
              <a:xfrm>
                <a:off x="4711700" y="2247900"/>
                <a:ext cx="17526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Русскоязычная модель</a:t>
                </a:r>
                <a:endParaRPr lang="en-US" sz="2400" dirty="0"/>
              </a:p>
            </p:txBody>
          </p:sp>
          <p:sp>
            <p:nvSpPr>
              <p:cNvPr id="199" name="Shape 26">
                <a:extLst>
                  <a:ext uri="{FF2B5EF4-FFF2-40B4-BE49-F238E27FC236}">
                    <a16:creationId xmlns:a16="http://schemas.microsoft.com/office/drawing/2014/main" id="{2AD8BABC-F5D4-4C97-A23A-DC9DB3F15E4B}"/>
                  </a:ext>
                </a:extLst>
              </p:cNvPr>
              <p:cNvSpPr/>
              <p:nvPr/>
            </p:nvSpPr>
            <p:spPr>
              <a:xfrm>
                <a:off x="44735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200" name="Text 27">
                <a:extLst>
                  <a:ext uri="{FF2B5EF4-FFF2-40B4-BE49-F238E27FC236}">
                    <a16:creationId xmlns:a16="http://schemas.microsoft.com/office/drawing/2014/main" id="{30763AA7-09E4-4C13-9811-098CF6CD2F97}"/>
                  </a:ext>
                </a:extLst>
              </p:cNvPr>
              <p:cNvSpPr/>
              <p:nvPr/>
            </p:nvSpPr>
            <p:spPr>
              <a:xfrm>
                <a:off x="4711700" y="2552700"/>
                <a:ext cx="8477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API доступ</a:t>
                </a:r>
                <a:endParaRPr lang="en-US" sz="2400" dirty="0"/>
              </a:p>
            </p:txBody>
          </p:sp>
          <p:sp>
            <p:nvSpPr>
              <p:cNvPr id="201" name="Shape 28">
                <a:extLst>
                  <a:ext uri="{FF2B5EF4-FFF2-40B4-BE49-F238E27FC236}">
                    <a16:creationId xmlns:a16="http://schemas.microsoft.com/office/drawing/2014/main" id="{503CD0D5-2AED-44E0-9BDD-70D4CB0B5201}"/>
                  </a:ext>
                </a:extLst>
              </p:cNvPr>
              <p:cNvSpPr/>
              <p:nvPr/>
            </p:nvSpPr>
            <p:spPr>
              <a:xfrm>
                <a:off x="44831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202" name="Text 29">
                <a:extLst>
                  <a:ext uri="{FF2B5EF4-FFF2-40B4-BE49-F238E27FC236}">
                    <a16:creationId xmlns:a16="http://schemas.microsoft.com/office/drawing/2014/main" id="{349FDA37-AC71-4E28-947E-0906F28CE5EE}"/>
                  </a:ext>
                </a:extLst>
              </p:cNvPr>
              <p:cNvSpPr/>
              <p:nvPr/>
            </p:nvSpPr>
            <p:spPr>
              <a:xfrm>
                <a:off x="4711700" y="2857500"/>
                <a:ext cx="14763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Требует доработки</a:t>
                </a:r>
                <a:endParaRPr lang="en-US" sz="2400" dirty="0"/>
              </a:p>
            </p:txBody>
          </p:sp>
          <p:sp>
            <p:nvSpPr>
              <p:cNvPr id="203" name="Shape 30">
                <a:extLst>
                  <a:ext uri="{FF2B5EF4-FFF2-40B4-BE49-F238E27FC236}">
                    <a16:creationId xmlns:a16="http://schemas.microsoft.com/office/drawing/2014/main" id="{35E81D49-0745-413B-9EB5-78BDF53AFB1F}"/>
                  </a:ext>
                </a:extLst>
              </p:cNvPr>
              <p:cNvSpPr/>
              <p:nvPr/>
            </p:nvSpPr>
            <p:spPr>
              <a:xfrm>
                <a:off x="44831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204" name="Text 31">
                <a:extLst>
                  <a:ext uri="{FF2B5EF4-FFF2-40B4-BE49-F238E27FC236}">
                    <a16:creationId xmlns:a16="http://schemas.microsoft.com/office/drawing/2014/main" id="{642353DF-1A57-4A5A-A787-290D33E62845}"/>
                  </a:ext>
                </a:extLst>
              </p:cNvPr>
              <p:cNvSpPr/>
              <p:nvPr/>
            </p:nvSpPr>
            <p:spPr>
              <a:xfrm>
                <a:off x="4711700" y="3162300"/>
                <a:ext cx="1714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Нет готового решения</a:t>
                </a:r>
                <a:endParaRPr lang="en-US" sz="2400" dirty="0"/>
              </a:p>
            </p:txBody>
          </p:sp>
        </p:grpSp>
        <p:grpSp>
          <p:nvGrpSpPr>
            <p:cNvPr id="176" name="Группа 175">
              <a:extLst>
                <a:ext uri="{FF2B5EF4-FFF2-40B4-BE49-F238E27FC236}">
                  <a16:creationId xmlns:a16="http://schemas.microsoft.com/office/drawing/2014/main" id="{1E15556D-5FE7-41C5-85EB-FD31C75A08E8}"/>
                </a:ext>
              </a:extLst>
            </p:cNvPr>
            <p:cNvGrpSpPr/>
            <p:nvPr/>
          </p:nvGrpSpPr>
          <p:grpSpPr>
            <a:xfrm>
              <a:off x="4445000" y="4762500"/>
              <a:ext cx="3305175" cy="342900"/>
              <a:chOff x="4445000" y="4762500"/>
              <a:chExt cx="3305175" cy="342900"/>
            </a:xfrm>
          </p:grpSpPr>
          <p:sp>
            <p:nvSpPr>
              <p:cNvPr id="195" name="Shape 32">
                <a:extLst>
                  <a:ext uri="{FF2B5EF4-FFF2-40B4-BE49-F238E27FC236}">
                    <a16:creationId xmlns:a16="http://schemas.microsoft.com/office/drawing/2014/main" id="{E166AF1C-9429-4040-AAB7-920487BC4113}"/>
                  </a:ext>
                </a:extLst>
              </p:cNvPr>
              <p:cNvSpPr/>
              <p:nvPr/>
            </p:nvSpPr>
            <p:spPr>
              <a:xfrm>
                <a:off x="44450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96" name="Text 33">
                <a:extLst>
                  <a:ext uri="{FF2B5EF4-FFF2-40B4-BE49-F238E27FC236}">
                    <a16:creationId xmlns:a16="http://schemas.microsoft.com/office/drawing/2014/main" id="{7AE37F3D-A487-4D3B-B784-CD76EF572827}"/>
                  </a:ext>
                </a:extLst>
              </p:cNvPr>
              <p:cNvSpPr/>
              <p:nvPr/>
            </p:nvSpPr>
            <p:spPr>
              <a:xfrm>
                <a:off x="4487863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API</a:t>
                </a:r>
                <a:endParaRPr lang="en-US" sz="3200" dirty="0"/>
              </a:p>
            </p:txBody>
          </p:sp>
        </p:grpSp>
        <p:sp>
          <p:nvSpPr>
            <p:cNvPr id="177" name="Shape 34">
              <a:extLst>
                <a:ext uri="{FF2B5EF4-FFF2-40B4-BE49-F238E27FC236}">
                  <a16:creationId xmlns:a16="http://schemas.microsoft.com/office/drawing/2014/main" id="{26562E21-880C-47D6-AFD8-B2FA03FB76EE}"/>
                </a:ext>
              </a:extLst>
            </p:cNvPr>
            <p:cNvSpPr/>
            <p:nvPr/>
          </p:nvSpPr>
          <p:spPr>
            <a:xfrm>
              <a:off x="81280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178" name="Группа 177">
              <a:extLst>
                <a:ext uri="{FF2B5EF4-FFF2-40B4-BE49-F238E27FC236}">
                  <a16:creationId xmlns:a16="http://schemas.microsoft.com/office/drawing/2014/main" id="{100315C1-9D7F-4143-85CF-7216BDC8F862}"/>
                </a:ext>
              </a:extLst>
            </p:cNvPr>
            <p:cNvGrpSpPr/>
            <p:nvPr/>
          </p:nvGrpSpPr>
          <p:grpSpPr>
            <a:xfrm>
              <a:off x="8347075" y="1319753"/>
              <a:ext cx="6992578" cy="851201"/>
              <a:chOff x="8318500" y="1309896"/>
              <a:chExt cx="3949783" cy="480804"/>
            </a:xfrm>
          </p:grpSpPr>
          <p:sp>
            <p:nvSpPr>
              <p:cNvPr id="191" name="Shape 35">
                <a:extLst>
                  <a:ext uri="{FF2B5EF4-FFF2-40B4-BE49-F238E27FC236}">
                    <a16:creationId xmlns:a16="http://schemas.microsoft.com/office/drawing/2014/main" id="{CA012396-4D93-40D7-A02A-F1B2CD4FA584}"/>
                  </a:ext>
                </a:extLst>
              </p:cNvPr>
              <p:cNvSpPr/>
              <p:nvPr/>
            </p:nvSpPr>
            <p:spPr>
              <a:xfrm>
                <a:off x="83185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92" name="Shape 36">
                <a:extLst>
                  <a:ext uri="{FF2B5EF4-FFF2-40B4-BE49-F238E27FC236}">
                    <a16:creationId xmlns:a16="http://schemas.microsoft.com/office/drawing/2014/main" id="{6A0CEAC4-CC5D-4EC7-93CC-07EFA40F0920}"/>
                  </a:ext>
                </a:extLst>
              </p:cNvPr>
              <p:cNvSpPr/>
              <p:nvPr/>
            </p:nvSpPr>
            <p:spPr>
              <a:xfrm>
                <a:off x="8463756" y="146685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-11906"/>
                    </a:moveTo>
                    <a:cubicBezTo>
                      <a:pt x="54211" y="-11906"/>
                      <a:pt x="59531" y="-6586"/>
                      <a:pt x="59531" y="0"/>
                    </a:cubicBezTo>
                    <a:lnTo>
                      <a:pt x="59531" y="35719"/>
                    </a:lnTo>
                    <a:lnTo>
                      <a:pt x="107156" y="35719"/>
                    </a:lnTo>
                    <a:lnTo>
                      <a:pt x="107156" y="0"/>
                    </a:lnTo>
                    <a:cubicBezTo>
                      <a:pt x="107156" y="-6586"/>
                      <a:pt x="112477" y="-11906"/>
                      <a:pt x="119063" y="-11906"/>
                    </a:cubicBezTo>
                    <a:cubicBezTo>
                      <a:pt x="125648" y="-11906"/>
                      <a:pt x="130969" y="-6586"/>
                      <a:pt x="130969" y="0"/>
                    </a:cubicBezTo>
                    <a:lnTo>
                      <a:pt x="130969" y="35719"/>
                    </a:lnTo>
                    <a:lnTo>
                      <a:pt x="154781" y="35719"/>
                    </a:lnTo>
                    <a:cubicBezTo>
                      <a:pt x="161367" y="35719"/>
                      <a:pt x="166688" y="41039"/>
                      <a:pt x="166688" y="47625"/>
                    </a:cubicBezTo>
                    <a:cubicBezTo>
                      <a:pt x="166688" y="54211"/>
                      <a:pt x="161367" y="59531"/>
                      <a:pt x="154781" y="59531"/>
                    </a:cubicBezTo>
                    <a:lnTo>
                      <a:pt x="154781" y="83344"/>
                    </a:lnTo>
                    <a:cubicBezTo>
                      <a:pt x="154781" y="118728"/>
                      <a:pt x="129034" y="148121"/>
                      <a:pt x="95250" y="153777"/>
                    </a:cubicBezTo>
                    <a:lnTo>
                      <a:pt x="95250" y="178594"/>
                    </a:lnTo>
                    <a:cubicBezTo>
                      <a:pt x="95250" y="185179"/>
                      <a:pt x="89929" y="190500"/>
                      <a:pt x="83344" y="190500"/>
                    </a:cubicBezTo>
                    <a:cubicBezTo>
                      <a:pt x="76758" y="190500"/>
                      <a:pt x="71438" y="185179"/>
                      <a:pt x="71438" y="178594"/>
                    </a:cubicBezTo>
                    <a:lnTo>
                      <a:pt x="71438" y="153777"/>
                    </a:lnTo>
                    <a:cubicBezTo>
                      <a:pt x="37654" y="148121"/>
                      <a:pt x="11906" y="118728"/>
                      <a:pt x="11906" y="83344"/>
                    </a:cubicBezTo>
                    <a:lnTo>
                      <a:pt x="11906" y="59531"/>
                    </a:lnTo>
                    <a:cubicBezTo>
                      <a:pt x="5321" y="59531"/>
                      <a:pt x="0" y="54211"/>
                      <a:pt x="0" y="47625"/>
                    </a:cubicBezTo>
                    <a:cubicBezTo>
                      <a:pt x="0" y="41039"/>
                      <a:pt x="5321" y="35719"/>
                      <a:pt x="11906" y="35719"/>
                    </a:cubicBezTo>
                    <a:lnTo>
                      <a:pt x="35719" y="35719"/>
                    </a:lnTo>
                    <a:lnTo>
                      <a:pt x="35719" y="0"/>
                    </a:lnTo>
                    <a:cubicBezTo>
                      <a:pt x="35719" y="-6586"/>
                      <a:pt x="41039" y="-11906"/>
                      <a:pt x="47625" y="-11906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193" name="Text 37">
                <a:extLst>
                  <a:ext uri="{FF2B5EF4-FFF2-40B4-BE49-F238E27FC236}">
                    <a16:creationId xmlns:a16="http://schemas.microsoft.com/office/drawing/2014/main" id="{4D235EB0-9F62-4100-A422-FAF76A80CFB8}"/>
                  </a:ext>
                </a:extLst>
              </p:cNvPr>
              <p:cNvSpPr/>
              <p:nvPr/>
            </p:nvSpPr>
            <p:spPr>
              <a:xfrm>
                <a:off x="8890000" y="1309896"/>
                <a:ext cx="8096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ИИкона</a:t>
                </a:r>
                <a:endParaRPr lang="en-US" sz="2800" dirty="0"/>
              </a:p>
            </p:txBody>
          </p:sp>
          <p:sp>
            <p:nvSpPr>
              <p:cNvPr id="194" name="Text 38">
                <a:extLst>
                  <a:ext uri="{FF2B5EF4-FFF2-40B4-BE49-F238E27FC236}">
                    <a16:creationId xmlns:a16="http://schemas.microsoft.com/office/drawing/2014/main" id="{37D60937-0E88-4056-9D52-830FA139907B}"/>
                  </a:ext>
                </a:extLst>
              </p:cNvPr>
              <p:cNvSpPr/>
              <p:nvPr/>
            </p:nvSpPr>
            <p:spPr>
              <a:xfrm>
                <a:off x="8896433" y="1576596"/>
                <a:ext cx="33718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Универсальный коннектор</a:t>
                </a:r>
                <a:endParaRPr lang="en-US" sz="1600" dirty="0"/>
              </a:p>
            </p:txBody>
          </p:sp>
        </p:grpSp>
        <p:grpSp>
          <p:nvGrpSpPr>
            <p:cNvPr id="179" name="Группа 178">
              <a:extLst>
                <a:ext uri="{FF2B5EF4-FFF2-40B4-BE49-F238E27FC236}">
                  <a16:creationId xmlns:a16="http://schemas.microsoft.com/office/drawing/2014/main" id="{E6202ADE-8D03-4FF8-AD88-25CDF8ACDD75}"/>
                </a:ext>
              </a:extLst>
            </p:cNvPr>
            <p:cNvGrpSpPr/>
            <p:nvPr/>
          </p:nvGrpSpPr>
          <p:grpSpPr>
            <a:xfrm>
              <a:off x="8347075" y="2604246"/>
              <a:ext cx="3343275" cy="1815353"/>
              <a:chOff x="8347075" y="2247900"/>
              <a:chExt cx="2105025" cy="1143000"/>
            </a:xfrm>
          </p:grpSpPr>
          <p:sp>
            <p:nvSpPr>
              <p:cNvPr id="183" name="Shape 39">
                <a:extLst>
                  <a:ext uri="{FF2B5EF4-FFF2-40B4-BE49-F238E27FC236}">
                    <a16:creationId xmlns:a16="http://schemas.microsoft.com/office/drawing/2014/main" id="{B5E933BC-15FA-4A03-9090-1ED4EA972B17}"/>
                  </a:ext>
                </a:extLst>
              </p:cNvPr>
              <p:cNvSpPr/>
              <p:nvPr/>
            </p:nvSpPr>
            <p:spPr>
              <a:xfrm>
                <a:off x="83470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84" name="Text 40">
                <a:extLst>
                  <a:ext uri="{FF2B5EF4-FFF2-40B4-BE49-F238E27FC236}">
                    <a16:creationId xmlns:a16="http://schemas.microsoft.com/office/drawing/2014/main" id="{3F68631F-20F5-4C4C-983A-00550F5C9343}"/>
                  </a:ext>
                </a:extLst>
              </p:cNvPr>
              <p:cNvSpPr/>
              <p:nvPr/>
            </p:nvSpPr>
            <p:spPr>
              <a:xfrm>
                <a:off x="8585200" y="2247900"/>
                <a:ext cx="15811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Множество моделей</a:t>
                </a:r>
                <a:endParaRPr lang="en-US" sz="2400" dirty="0"/>
              </a:p>
            </p:txBody>
          </p:sp>
          <p:sp>
            <p:nvSpPr>
              <p:cNvPr id="185" name="Shape 41">
                <a:extLst>
                  <a:ext uri="{FF2B5EF4-FFF2-40B4-BE49-F238E27FC236}">
                    <a16:creationId xmlns:a16="http://schemas.microsoft.com/office/drawing/2014/main" id="{4EF61D36-C183-43FF-BC14-7A8832108A1C}"/>
                  </a:ext>
                </a:extLst>
              </p:cNvPr>
              <p:cNvSpPr/>
              <p:nvPr/>
            </p:nvSpPr>
            <p:spPr>
              <a:xfrm>
                <a:off x="83470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86" name="Text 42">
                <a:extLst>
                  <a:ext uri="{FF2B5EF4-FFF2-40B4-BE49-F238E27FC236}">
                    <a16:creationId xmlns:a16="http://schemas.microsoft.com/office/drawing/2014/main" id="{58E28817-E279-430D-9F0C-B024E0EFC540}"/>
                  </a:ext>
                </a:extLst>
              </p:cNvPr>
              <p:cNvSpPr/>
              <p:nvPr/>
            </p:nvSpPr>
            <p:spPr>
              <a:xfrm>
                <a:off x="8585200" y="2552700"/>
                <a:ext cx="16097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Готовое расширение</a:t>
                </a:r>
                <a:endParaRPr lang="en-US" sz="2400" dirty="0"/>
              </a:p>
            </p:txBody>
          </p:sp>
          <p:sp>
            <p:nvSpPr>
              <p:cNvPr id="187" name="Shape 43">
                <a:extLst>
                  <a:ext uri="{FF2B5EF4-FFF2-40B4-BE49-F238E27FC236}">
                    <a16:creationId xmlns:a16="http://schemas.microsoft.com/office/drawing/2014/main" id="{981B554A-3233-4318-AB0F-C8B7C7D372CF}"/>
                  </a:ext>
                </a:extLst>
              </p:cNvPr>
              <p:cNvSpPr/>
              <p:nvPr/>
            </p:nvSpPr>
            <p:spPr>
              <a:xfrm>
                <a:off x="83566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88" name="Text 44">
                <a:extLst>
                  <a:ext uri="{FF2B5EF4-FFF2-40B4-BE49-F238E27FC236}">
                    <a16:creationId xmlns:a16="http://schemas.microsoft.com/office/drawing/2014/main" id="{A7DCEF6E-A6A3-45C5-AE3C-424D9CEB9173}"/>
                  </a:ext>
                </a:extLst>
              </p:cNvPr>
              <p:cNvSpPr/>
              <p:nvPr/>
            </p:nvSpPr>
            <p:spPr>
              <a:xfrm>
                <a:off x="8585200" y="2857500"/>
                <a:ext cx="13811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Платное решение</a:t>
                </a:r>
                <a:endParaRPr lang="en-US" sz="2400" dirty="0"/>
              </a:p>
            </p:txBody>
          </p:sp>
          <p:sp>
            <p:nvSpPr>
              <p:cNvPr id="189" name="Shape 45">
                <a:extLst>
                  <a:ext uri="{FF2B5EF4-FFF2-40B4-BE49-F238E27FC236}">
                    <a16:creationId xmlns:a16="http://schemas.microsoft.com/office/drawing/2014/main" id="{35F56442-4D73-4CCE-A68E-3FEA4F67C845}"/>
                  </a:ext>
                </a:extLst>
              </p:cNvPr>
              <p:cNvSpPr/>
              <p:nvPr/>
            </p:nvSpPr>
            <p:spPr>
              <a:xfrm>
                <a:off x="83566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90" name="Text 46">
                <a:extLst>
                  <a:ext uri="{FF2B5EF4-FFF2-40B4-BE49-F238E27FC236}">
                    <a16:creationId xmlns:a16="http://schemas.microsoft.com/office/drawing/2014/main" id="{22D7AC6F-1577-4DFE-9E80-581C86E6B8B6}"/>
                  </a:ext>
                </a:extLst>
              </p:cNvPr>
              <p:cNvSpPr/>
              <p:nvPr/>
            </p:nvSpPr>
            <p:spPr>
              <a:xfrm>
                <a:off x="8585200" y="3162300"/>
                <a:ext cx="1866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Зависимость от вендора</a:t>
                </a:r>
                <a:endParaRPr lang="en-US" sz="2400" dirty="0"/>
              </a:p>
            </p:txBody>
          </p:sp>
        </p:grpSp>
        <p:grpSp>
          <p:nvGrpSpPr>
            <p:cNvPr id="180" name="Группа 179">
              <a:extLst>
                <a:ext uri="{FF2B5EF4-FFF2-40B4-BE49-F238E27FC236}">
                  <a16:creationId xmlns:a16="http://schemas.microsoft.com/office/drawing/2014/main" id="{2C8349F1-BFDA-4AA0-A911-ADDF69BC55CA}"/>
                </a:ext>
              </a:extLst>
            </p:cNvPr>
            <p:cNvGrpSpPr/>
            <p:nvPr/>
          </p:nvGrpSpPr>
          <p:grpSpPr>
            <a:xfrm>
              <a:off x="8318500" y="4762500"/>
              <a:ext cx="3305175" cy="342900"/>
              <a:chOff x="8318500" y="4762500"/>
              <a:chExt cx="3305175" cy="342900"/>
            </a:xfrm>
          </p:grpSpPr>
          <p:sp>
            <p:nvSpPr>
              <p:cNvPr id="181" name="Shape 47">
                <a:extLst>
                  <a:ext uri="{FF2B5EF4-FFF2-40B4-BE49-F238E27FC236}">
                    <a16:creationId xmlns:a16="http://schemas.microsoft.com/office/drawing/2014/main" id="{8CF19BAF-09E8-4DB6-8EA7-F6F290514D76}"/>
                  </a:ext>
                </a:extLst>
              </p:cNvPr>
              <p:cNvSpPr/>
              <p:nvPr/>
            </p:nvSpPr>
            <p:spPr>
              <a:xfrm>
                <a:off x="83185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82" name="Text 48">
                <a:extLst>
                  <a:ext uri="{FF2B5EF4-FFF2-40B4-BE49-F238E27FC236}">
                    <a16:creationId xmlns:a16="http://schemas.microsoft.com/office/drawing/2014/main" id="{5BEF3D5E-7C6F-4E0F-834D-B49DDE6EB4FC}"/>
                  </a:ext>
                </a:extLst>
              </p:cNvPr>
              <p:cNvSpPr/>
              <p:nvPr/>
            </p:nvSpPr>
            <p:spPr>
              <a:xfrm>
                <a:off x="8361362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Платный коннектор</a:t>
                </a:r>
                <a:endParaRPr lang="en-US" sz="3200" dirty="0"/>
              </a:p>
            </p:txBody>
          </p:sp>
        </p:grpSp>
      </p:grpSp>
      <p:grpSp>
        <p:nvGrpSpPr>
          <p:cNvPr id="223" name="Группа 222">
            <a:extLst>
              <a:ext uri="{FF2B5EF4-FFF2-40B4-BE49-F238E27FC236}">
                <a16:creationId xmlns:a16="http://schemas.microsoft.com/office/drawing/2014/main" id="{62B0063E-7826-4B1E-9CDA-C984B2725885}"/>
              </a:ext>
            </a:extLst>
          </p:cNvPr>
          <p:cNvGrpSpPr/>
          <p:nvPr/>
        </p:nvGrpSpPr>
        <p:grpSpPr>
          <a:xfrm>
            <a:off x="12877800" y="5486400"/>
            <a:ext cx="11430000" cy="990600"/>
            <a:chOff x="381000" y="5486400"/>
            <a:chExt cx="11430000" cy="990600"/>
          </a:xfrm>
        </p:grpSpPr>
        <p:sp>
          <p:nvSpPr>
            <p:cNvPr id="224" name="Shape 49">
              <a:extLst>
                <a:ext uri="{FF2B5EF4-FFF2-40B4-BE49-F238E27FC236}">
                  <a16:creationId xmlns:a16="http://schemas.microsoft.com/office/drawing/2014/main" id="{C1A9C449-326B-4995-89F4-5C6D505659FF}"/>
                </a:ext>
              </a:extLst>
            </p:cNvPr>
            <p:cNvSpPr/>
            <p:nvPr/>
          </p:nvSpPr>
          <p:spPr>
            <a:xfrm>
              <a:off x="381000" y="5486400"/>
              <a:ext cx="11430000" cy="990600"/>
            </a:xfrm>
            <a:custGeom>
              <a:avLst/>
              <a:gdLst/>
              <a:ahLst/>
              <a:cxnLst/>
              <a:rect l="l" t="t" r="r" b="b"/>
              <a:pathLst>
                <a:path w="11430000" h="990600">
                  <a:moveTo>
                    <a:pt x="152404" y="0"/>
                  </a:moveTo>
                  <a:lnTo>
                    <a:pt x="11277596" y="0"/>
                  </a:lnTo>
                  <a:cubicBezTo>
                    <a:pt x="11361766" y="0"/>
                    <a:pt x="11430000" y="68234"/>
                    <a:pt x="11430000" y="152404"/>
                  </a:cubicBezTo>
                  <a:lnTo>
                    <a:pt x="11430000" y="838196"/>
                  </a:lnTo>
                  <a:cubicBezTo>
                    <a:pt x="11430000" y="922366"/>
                    <a:pt x="11361766" y="990600"/>
                    <a:pt x="11277596" y="990600"/>
                  </a:cubicBezTo>
                  <a:lnTo>
                    <a:pt x="152404" y="990600"/>
                  </a:lnTo>
                  <a:cubicBezTo>
                    <a:pt x="68234" y="990600"/>
                    <a:pt x="0" y="922366"/>
                    <a:pt x="0" y="838196"/>
                  </a:cubicBezTo>
                  <a:lnTo>
                    <a:pt x="0" y="152404"/>
                  </a:lnTo>
                  <a:cubicBezTo>
                    <a:pt x="0" y="68234"/>
                    <a:pt x="68234" y="0"/>
                    <a:pt x="15240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5" name="Shape 50">
              <a:extLst>
                <a:ext uri="{FF2B5EF4-FFF2-40B4-BE49-F238E27FC236}">
                  <a16:creationId xmlns:a16="http://schemas.microsoft.com/office/drawing/2014/main" id="{72D9A461-A1E2-4529-BF59-77CF60679359}"/>
                </a:ext>
              </a:extLst>
            </p:cNvPr>
            <p:cNvSpPr/>
            <p:nvPr/>
          </p:nvSpPr>
          <p:spPr>
            <a:xfrm>
              <a:off x="571500" y="5715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6" name="Shape 51">
              <a:extLst>
                <a:ext uri="{FF2B5EF4-FFF2-40B4-BE49-F238E27FC236}">
                  <a16:creationId xmlns:a16="http://schemas.microsoft.com/office/drawing/2014/main" id="{338E4CD7-353E-4BC3-A934-FEC2ECEA0509}"/>
                </a:ext>
              </a:extLst>
            </p:cNvPr>
            <p:cNvSpPr/>
            <p:nvPr/>
          </p:nvSpPr>
          <p:spPr>
            <a:xfrm>
              <a:off x="709613" y="58674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38187" y="-8439"/>
                  </a:moveTo>
                  <a:cubicBezTo>
                    <a:pt x="136356" y="-12010"/>
                    <a:pt x="132651" y="-14287"/>
                    <a:pt x="128632" y="-14287"/>
                  </a:cubicBezTo>
                  <a:cubicBezTo>
                    <a:pt x="124614" y="-14287"/>
                    <a:pt x="120908" y="-12010"/>
                    <a:pt x="119077" y="-8439"/>
                  </a:cubicBezTo>
                  <a:lnTo>
                    <a:pt x="86216" y="55944"/>
                  </a:lnTo>
                  <a:lnTo>
                    <a:pt x="14823" y="67285"/>
                  </a:lnTo>
                  <a:cubicBezTo>
                    <a:pt x="10850" y="67910"/>
                    <a:pt x="7546" y="70723"/>
                    <a:pt x="6295" y="74563"/>
                  </a:cubicBezTo>
                  <a:cubicBezTo>
                    <a:pt x="5045" y="78403"/>
                    <a:pt x="6072" y="82600"/>
                    <a:pt x="8885" y="85457"/>
                  </a:cubicBezTo>
                  <a:lnTo>
                    <a:pt x="59963" y="136580"/>
                  </a:lnTo>
                  <a:lnTo>
                    <a:pt x="48711" y="207972"/>
                  </a:lnTo>
                  <a:cubicBezTo>
                    <a:pt x="48086" y="211946"/>
                    <a:pt x="49738" y="215964"/>
                    <a:pt x="52998" y="218331"/>
                  </a:cubicBezTo>
                  <a:cubicBezTo>
                    <a:pt x="56257" y="220697"/>
                    <a:pt x="60543" y="221054"/>
                    <a:pt x="64160" y="219224"/>
                  </a:cubicBezTo>
                  <a:lnTo>
                    <a:pt x="128632" y="186452"/>
                  </a:lnTo>
                  <a:lnTo>
                    <a:pt x="193060" y="219224"/>
                  </a:lnTo>
                  <a:cubicBezTo>
                    <a:pt x="196632" y="221054"/>
                    <a:pt x="200963" y="220697"/>
                    <a:pt x="204222" y="218331"/>
                  </a:cubicBezTo>
                  <a:cubicBezTo>
                    <a:pt x="207481" y="215964"/>
                    <a:pt x="209133" y="211991"/>
                    <a:pt x="208508" y="207972"/>
                  </a:cubicBezTo>
                  <a:lnTo>
                    <a:pt x="197212" y="136580"/>
                  </a:lnTo>
                  <a:lnTo>
                    <a:pt x="248290" y="85457"/>
                  </a:lnTo>
                  <a:cubicBezTo>
                    <a:pt x="251147" y="82600"/>
                    <a:pt x="252130" y="78403"/>
                    <a:pt x="250880" y="74563"/>
                  </a:cubicBezTo>
                  <a:cubicBezTo>
                    <a:pt x="249629" y="70723"/>
                    <a:pt x="246370" y="67910"/>
                    <a:pt x="242352" y="67285"/>
                  </a:cubicBezTo>
                  <a:lnTo>
                    <a:pt x="171004" y="55944"/>
                  </a:lnTo>
                  <a:lnTo>
                    <a:pt x="138187" y="-8439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27" name="Text 52">
              <a:extLst>
                <a:ext uri="{FF2B5EF4-FFF2-40B4-BE49-F238E27FC236}">
                  <a16:creationId xmlns:a16="http://schemas.microsoft.com/office/drawing/2014/main" id="{595BD10E-5963-4955-B924-6549B76A04DA}"/>
                </a:ext>
              </a:extLst>
            </p:cNvPr>
            <p:cNvSpPr/>
            <p:nvPr/>
          </p:nvSpPr>
          <p:spPr>
            <a:xfrm>
              <a:off x="1257300" y="5676900"/>
              <a:ext cx="72580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Почему собственное решение?</a:t>
              </a:r>
              <a:endParaRPr lang="en-US" sz="1600" dirty="0"/>
            </a:p>
          </p:txBody>
        </p:sp>
        <p:sp>
          <p:nvSpPr>
            <p:cNvPr id="228" name="Text 53">
              <a:extLst>
                <a:ext uri="{FF2B5EF4-FFF2-40B4-BE49-F238E27FC236}">
                  <a16:creationId xmlns:a16="http://schemas.microsoft.com/office/drawing/2014/main" id="{93348D81-7039-4327-9081-F1E9FCDED2AD}"/>
                </a:ext>
              </a:extLst>
            </p:cNvPr>
            <p:cNvSpPr/>
            <p:nvPr/>
          </p:nvSpPr>
          <p:spPr>
            <a:xfrm>
              <a:off x="1257300" y="6019800"/>
              <a:ext cx="866806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Полный контроль • Адаптация под УНФ • Оптимальная стоимость • Независимость</a:t>
              </a:r>
              <a:endParaRPr lang="en-US" sz="2000" dirty="0"/>
            </a:p>
          </p:txBody>
        </p:sp>
        <p:sp>
          <p:nvSpPr>
            <p:cNvPr id="229" name="Shape 54">
              <a:extLst>
                <a:ext uri="{FF2B5EF4-FFF2-40B4-BE49-F238E27FC236}">
                  <a16:creationId xmlns:a16="http://schemas.microsoft.com/office/drawing/2014/main" id="{0F95238C-3EA2-465E-83F2-00AF4D5FD578}"/>
                </a:ext>
              </a:extLst>
            </p:cNvPr>
            <p:cNvSpPr/>
            <p:nvPr/>
          </p:nvSpPr>
          <p:spPr>
            <a:xfrm>
              <a:off x="9925367" y="5695950"/>
              <a:ext cx="1695450" cy="571500"/>
            </a:xfrm>
            <a:custGeom>
              <a:avLst/>
              <a:gdLst/>
              <a:ahLst/>
              <a:cxnLst/>
              <a:rect l="l" t="t" r="r" b="b"/>
              <a:pathLst>
                <a:path w="1695450" h="571500">
                  <a:moveTo>
                    <a:pt x="114300" y="0"/>
                  </a:moveTo>
                  <a:lnTo>
                    <a:pt x="1581150" y="0"/>
                  </a:lnTo>
                  <a:cubicBezTo>
                    <a:pt x="1644234" y="0"/>
                    <a:pt x="1695450" y="51216"/>
                    <a:pt x="1695450" y="114300"/>
                  </a:cubicBezTo>
                  <a:lnTo>
                    <a:pt x="1695450" y="457200"/>
                  </a:lnTo>
                  <a:cubicBezTo>
                    <a:pt x="1695450" y="520284"/>
                    <a:pt x="1644234" y="571500"/>
                    <a:pt x="1581150" y="571500"/>
                  </a:cubicBezTo>
                  <a:lnTo>
                    <a:pt x="114300" y="571500"/>
                  </a:lnTo>
                  <a:cubicBezTo>
                    <a:pt x="51216" y="571500"/>
                    <a:pt x="0" y="520284"/>
                    <a:pt x="0" y="457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0" name="Text 55">
              <a:extLst>
                <a:ext uri="{FF2B5EF4-FFF2-40B4-BE49-F238E27FC236}">
                  <a16:creationId xmlns:a16="http://schemas.microsoft.com/office/drawing/2014/main" id="{A19901AD-4837-47FC-A1E4-30EE56179D11}"/>
                </a:ext>
              </a:extLst>
            </p:cNvPr>
            <p:cNvSpPr/>
            <p:nvPr/>
          </p:nvSpPr>
          <p:spPr>
            <a:xfrm>
              <a:off x="10153967" y="5810250"/>
              <a:ext cx="13811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Выгодно</a:t>
              </a:r>
              <a:endParaRPr lang="en-US" sz="1600"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AE20BCA6-704B-4CFA-9FD0-C115063FADA5}"/>
              </a:ext>
            </a:extLst>
          </p:cNvPr>
          <p:cNvGrpSpPr/>
          <p:nvPr/>
        </p:nvGrpSpPr>
        <p:grpSpPr>
          <a:xfrm>
            <a:off x="16814800" y="1219200"/>
            <a:ext cx="3686175" cy="2552700"/>
            <a:chOff x="8128000" y="1219200"/>
            <a:chExt cx="3686175" cy="2552700"/>
          </a:xfrm>
        </p:grpSpPr>
        <p:sp>
          <p:nvSpPr>
            <p:cNvPr id="71" name="Shape 18">
              <a:extLst>
                <a:ext uri="{FF2B5EF4-FFF2-40B4-BE49-F238E27FC236}">
                  <a16:creationId xmlns:a16="http://schemas.microsoft.com/office/drawing/2014/main" id="{C9FECBDD-17AE-43CC-B124-504B2A2D2505}"/>
                </a:ext>
              </a:extLst>
            </p:cNvPr>
            <p:cNvSpPr/>
            <p:nvPr/>
          </p:nvSpPr>
          <p:spPr>
            <a:xfrm>
              <a:off x="81280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2" name="Shape 19">
              <a:extLst>
                <a:ext uri="{FF2B5EF4-FFF2-40B4-BE49-F238E27FC236}">
                  <a16:creationId xmlns:a16="http://schemas.microsoft.com/office/drawing/2014/main" id="{7D4361EB-33DD-4696-AA97-9775EFB98638}"/>
                </a:ext>
              </a:extLst>
            </p:cNvPr>
            <p:cNvSpPr/>
            <p:nvPr/>
          </p:nvSpPr>
          <p:spPr>
            <a:xfrm>
              <a:off x="83566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3" name="Shape 20">
              <a:extLst>
                <a:ext uri="{FF2B5EF4-FFF2-40B4-BE49-F238E27FC236}">
                  <a16:creationId xmlns:a16="http://schemas.microsoft.com/office/drawing/2014/main" id="{66E4DE7A-BD0A-4FA2-9FA8-ED8E5D70730F}"/>
                </a:ext>
              </a:extLst>
            </p:cNvPr>
            <p:cNvSpPr/>
            <p:nvPr/>
          </p:nvSpPr>
          <p:spPr>
            <a:xfrm>
              <a:off x="85090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0013" y="0"/>
                  </a:moveTo>
                  <a:lnTo>
                    <a:pt x="100013" y="28575"/>
                  </a:lnTo>
                  <a:cubicBezTo>
                    <a:pt x="100013" y="32504"/>
                    <a:pt x="103227" y="35719"/>
                    <a:pt x="107156" y="35719"/>
                  </a:cubicBezTo>
                  <a:lnTo>
                    <a:pt x="121444" y="35719"/>
                  </a:lnTo>
                  <a:cubicBezTo>
                    <a:pt x="125373" y="35719"/>
                    <a:pt x="128588" y="32504"/>
                    <a:pt x="128588" y="28575"/>
                  </a:cubicBezTo>
                  <a:lnTo>
                    <a:pt x="128588" y="0"/>
                  </a:lnTo>
                  <a:lnTo>
                    <a:pt x="142875" y="0"/>
                  </a:lnTo>
                  <a:cubicBezTo>
                    <a:pt x="158636" y="0"/>
                    <a:pt x="171450" y="12814"/>
                    <a:pt x="171450" y="28575"/>
                  </a:cubicBezTo>
                  <a:lnTo>
                    <a:pt x="171450" y="85725"/>
                  </a:lnTo>
                  <a:cubicBezTo>
                    <a:pt x="171450" y="88181"/>
                    <a:pt x="171137" y="90592"/>
                    <a:pt x="170557" y="92869"/>
                  </a:cubicBezTo>
                  <a:lnTo>
                    <a:pt x="58043" y="92869"/>
                  </a:lnTo>
                  <a:cubicBezTo>
                    <a:pt x="57463" y="90592"/>
                    <a:pt x="57150" y="88181"/>
                    <a:pt x="57150" y="85725"/>
                  </a:cubicBezTo>
                  <a:lnTo>
                    <a:pt x="57150" y="28575"/>
                  </a:lnTo>
                  <a:cubicBezTo>
                    <a:pt x="57150" y="12814"/>
                    <a:pt x="69964" y="0"/>
                    <a:pt x="85725" y="0"/>
                  </a:cubicBezTo>
                  <a:lnTo>
                    <a:pt x="100013" y="0"/>
                  </a:lnTo>
                  <a:close/>
                  <a:moveTo>
                    <a:pt x="142875" y="228600"/>
                  </a:moveTo>
                  <a:cubicBezTo>
                    <a:pt x="137874" y="228600"/>
                    <a:pt x="133142" y="227305"/>
                    <a:pt x="129034" y="225028"/>
                  </a:cubicBezTo>
                  <a:cubicBezTo>
                    <a:pt x="133276" y="217661"/>
                    <a:pt x="135731" y="209133"/>
                    <a:pt x="135731" y="200025"/>
                  </a:cubicBezTo>
                  <a:lnTo>
                    <a:pt x="135731" y="142875"/>
                  </a:lnTo>
                  <a:cubicBezTo>
                    <a:pt x="135731" y="133767"/>
                    <a:pt x="133276" y="125239"/>
                    <a:pt x="129034" y="117872"/>
                  </a:cubicBezTo>
                  <a:cubicBezTo>
                    <a:pt x="133142" y="115595"/>
                    <a:pt x="137830" y="114300"/>
                    <a:pt x="142875" y="114300"/>
                  </a:cubicBezTo>
                  <a:lnTo>
                    <a:pt x="157163" y="114300"/>
                  </a:lnTo>
                  <a:lnTo>
                    <a:pt x="157163" y="142875"/>
                  </a:lnTo>
                  <a:cubicBezTo>
                    <a:pt x="157163" y="146804"/>
                    <a:pt x="160377" y="150019"/>
                    <a:pt x="164306" y="150019"/>
                  </a:cubicBezTo>
                  <a:lnTo>
                    <a:pt x="178594" y="150019"/>
                  </a:lnTo>
                  <a:cubicBezTo>
                    <a:pt x="182523" y="150019"/>
                    <a:pt x="185738" y="146804"/>
                    <a:pt x="185738" y="142875"/>
                  </a:cubicBezTo>
                  <a:lnTo>
                    <a:pt x="185738" y="114300"/>
                  </a:lnTo>
                  <a:lnTo>
                    <a:pt x="200025" y="114300"/>
                  </a:lnTo>
                  <a:cubicBezTo>
                    <a:pt x="215786" y="114300"/>
                    <a:pt x="228600" y="127114"/>
                    <a:pt x="228600" y="142875"/>
                  </a:cubicBezTo>
                  <a:lnTo>
                    <a:pt x="228600" y="200025"/>
                  </a:lnTo>
                  <a:cubicBezTo>
                    <a:pt x="228600" y="215786"/>
                    <a:pt x="215786" y="228600"/>
                    <a:pt x="200025" y="228600"/>
                  </a:cubicBezTo>
                  <a:lnTo>
                    <a:pt x="142875" y="228600"/>
                  </a:lnTo>
                  <a:close/>
                  <a:moveTo>
                    <a:pt x="0" y="142875"/>
                  </a:moveTo>
                  <a:cubicBezTo>
                    <a:pt x="0" y="127114"/>
                    <a:pt x="12814" y="114300"/>
                    <a:pt x="28575" y="114300"/>
                  </a:cubicBezTo>
                  <a:lnTo>
                    <a:pt x="42863" y="114300"/>
                  </a:lnTo>
                  <a:lnTo>
                    <a:pt x="42863" y="142875"/>
                  </a:lnTo>
                  <a:cubicBezTo>
                    <a:pt x="42863" y="146804"/>
                    <a:pt x="46077" y="150019"/>
                    <a:pt x="50006" y="150019"/>
                  </a:cubicBezTo>
                  <a:lnTo>
                    <a:pt x="64294" y="150019"/>
                  </a:lnTo>
                  <a:cubicBezTo>
                    <a:pt x="68223" y="150019"/>
                    <a:pt x="71438" y="146804"/>
                    <a:pt x="71438" y="142875"/>
                  </a:cubicBezTo>
                  <a:lnTo>
                    <a:pt x="71438" y="114300"/>
                  </a:lnTo>
                  <a:lnTo>
                    <a:pt x="85725" y="114300"/>
                  </a:lnTo>
                  <a:cubicBezTo>
                    <a:pt x="101486" y="114300"/>
                    <a:pt x="114300" y="127114"/>
                    <a:pt x="114300" y="142875"/>
                  </a:cubicBezTo>
                  <a:lnTo>
                    <a:pt x="114300" y="200025"/>
                  </a:lnTo>
                  <a:cubicBezTo>
                    <a:pt x="114300" y="215786"/>
                    <a:pt x="101486" y="228600"/>
                    <a:pt x="8572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142875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4" name="Text 21">
              <a:extLst>
                <a:ext uri="{FF2B5EF4-FFF2-40B4-BE49-F238E27FC236}">
                  <a16:creationId xmlns:a16="http://schemas.microsoft.com/office/drawing/2014/main" id="{E76350A9-1815-42B3-A3EA-35DBCBDC3B6A}"/>
                </a:ext>
              </a:extLst>
            </p:cNvPr>
            <p:cNvSpPr/>
            <p:nvPr/>
          </p:nvSpPr>
          <p:spPr>
            <a:xfrm>
              <a:off x="83566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Проверка остатков</a:t>
              </a:r>
              <a:endParaRPr lang="en-US" sz="2400" dirty="0"/>
            </a:p>
          </p:txBody>
        </p:sp>
        <p:sp>
          <p:nvSpPr>
            <p:cNvPr id="75" name="Text 22">
              <a:extLst>
                <a:ext uri="{FF2B5EF4-FFF2-40B4-BE49-F238E27FC236}">
                  <a16:creationId xmlns:a16="http://schemas.microsoft.com/office/drawing/2014/main" id="{F23EC5B9-9F14-467D-B737-5EB329E618B2}"/>
                </a:ext>
              </a:extLst>
            </p:cNvPr>
            <p:cNvSpPr/>
            <p:nvPr/>
          </p:nvSpPr>
          <p:spPr>
            <a:xfrm>
              <a:off x="83566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Необходимость знать точные названия справочников и отчетов</a:t>
              </a:r>
              <a:endParaRPr lang="en-US" sz="1600" dirty="0"/>
            </a:p>
          </p:txBody>
        </p:sp>
        <p:sp>
          <p:nvSpPr>
            <p:cNvPr id="76" name="Shape 23">
              <a:extLst>
                <a:ext uri="{FF2B5EF4-FFF2-40B4-BE49-F238E27FC236}">
                  <a16:creationId xmlns:a16="http://schemas.microsoft.com/office/drawing/2014/main" id="{4E4F7A61-DEC1-4933-BBD1-B6EA2DA24449}"/>
                </a:ext>
              </a:extLst>
            </p:cNvPr>
            <p:cNvSpPr/>
            <p:nvPr/>
          </p:nvSpPr>
          <p:spPr>
            <a:xfrm>
              <a:off x="83566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7" name="Text 24">
              <a:extLst>
                <a:ext uri="{FF2B5EF4-FFF2-40B4-BE49-F238E27FC236}">
                  <a16:creationId xmlns:a16="http://schemas.microsoft.com/office/drawing/2014/main" id="{0A37A5AC-B0E7-465C-A97E-D250DD491129}"/>
                </a:ext>
              </a:extLst>
            </p:cNvPr>
            <p:cNvSpPr/>
            <p:nvPr/>
          </p:nvSpPr>
          <p:spPr>
            <a:xfrm>
              <a:off x="84709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Требуется знание структуры справочников</a:t>
              </a:r>
              <a:endParaRPr lang="en-US" sz="16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7A2B9A37-D4F0-44A3-B22B-A430416D6367}"/>
              </a:ext>
            </a:extLst>
          </p:cNvPr>
          <p:cNvGrpSpPr/>
          <p:nvPr/>
        </p:nvGrpSpPr>
        <p:grpSpPr>
          <a:xfrm>
            <a:off x="12941300" y="3962400"/>
            <a:ext cx="3686175" cy="2552700"/>
            <a:chOff x="4254500" y="3962400"/>
            <a:chExt cx="3686175" cy="2552700"/>
          </a:xfrm>
        </p:grpSpPr>
        <p:sp>
          <p:nvSpPr>
            <p:cNvPr id="79" name="Shape 32">
              <a:extLst>
                <a:ext uri="{FF2B5EF4-FFF2-40B4-BE49-F238E27FC236}">
                  <a16:creationId xmlns:a16="http://schemas.microsoft.com/office/drawing/2014/main" id="{5DB864C0-7696-4B3A-BBA8-4E0474526885}"/>
                </a:ext>
              </a:extLst>
            </p:cNvPr>
            <p:cNvSpPr/>
            <p:nvPr/>
          </p:nvSpPr>
          <p:spPr>
            <a:xfrm>
              <a:off x="42545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80" name="Shape 33">
              <a:extLst>
                <a:ext uri="{FF2B5EF4-FFF2-40B4-BE49-F238E27FC236}">
                  <a16:creationId xmlns:a16="http://schemas.microsoft.com/office/drawing/2014/main" id="{F668FAEA-E393-4E58-AAA3-0969175D21ED}"/>
                </a:ext>
              </a:extLst>
            </p:cNvPr>
            <p:cNvSpPr/>
            <p:nvPr/>
          </p:nvSpPr>
          <p:spPr>
            <a:xfrm>
              <a:off x="4483100" y="419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1" name="Shape 34">
              <a:extLst>
                <a:ext uri="{FF2B5EF4-FFF2-40B4-BE49-F238E27FC236}">
                  <a16:creationId xmlns:a16="http://schemas.microsoft.com/office/drawing/2014/main" id="{37B8BBA7-6356-4892-B274-820115701251}"/>
                </a:ext>
              </a:extLst>
            </p:cNvPr>
            <p:cNvSpPr/>
            <p:nvPr/>
          </p:nvSpPr>
          <p:spPr>
            <a:xfrm>
              <a:off x="4649788" y="43434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3" y="28575"/>
                  </a:moveTo>
                  <a:cubicBezTo>
                    <a:pt x="64740" y="28575"/>
                    <a:pt x="35406" y="54159"/>
                    <a:pt x="29602" y="87823"/>
                  </a:cubicBezTo>
                  <a:cubicBezTo>
                    <a:pt x="33754" y="86484"/>
                    <a:pt x="38219" y="85725"/>
                    <a:pt x="42863" y="85725"/>
                  </a:cubicBezTo>
                  <a:lnTo>
                    <a:pt x="50006" y="85725"/>
                  </a:lnTo>
                  <a:cubicBezTo>
                    <a:pt x="61838" y="85725"/>
                    <a:pt x="71438" y="95324"/>
                    <a:pt x="71438" y="107156"/>
                  </a:cubicBezTo>
                  <a:lnTo>
                    <a:pt x="71438" y="150019"/>
                  </a:lnTo>
                  <a:cubicBezTo>
                    <a:pt x="71438" y="161851"/>
                    <a:pt x="61838" y="171450"/>
                    <a:pt x="50006" y="171450"/>
                  </a:cubicBezTo>
                  <a:lnTo>
                    <a:pt x="42863" y="171450"/>
                  </a:lnTo>
                  <a:cubicBezTo>
                    <a:pt x="19199" y="171450"/>
                    <a:pt x="0" y="152251"/>
                    <a:pt x="0" y="128588"/>
                  </a:cubicBezTo>
                  <a:lnTo>
                    <a:pt x="0" y="100013"/>
                  </a:lnTo>
                  <a:cubicBezTo>
                    <a:pt x="0" y="44782"/>
                    <a:pt x="44782" y="0"/>
                    <a:pt x="100013" y="0"/>
                  </a:cubicBezTo>
                  <a:cubicBezTo>
                    <a:pt x="155243" y="0"/>
                    <a:pt x="200025" y="44782"/>
                    <a:pt x="200025" y="100013"/>
                  </a:cubicBezTo>
                  <a:lnTo>
                    <a:pt x="200025" y="175067"/>
                  </a:lnTo>
                  <a:cubicBezTo>
                    <a:pt x="200025" y="204668"/>
                    <a:pt x="176004" y="228645"/>
                    <a:pt x="146402" y="228645"/>
                  </a:cubicBezTo>
                  <a:lnTo>
                    <a:pt x="107156" y="228600"/>
                  </a:lnTo>
                  <a:lnTo>
                    <a:pt x="92869" y="228600"/>
                  </a:lnTo>
                  <a:cubicBezTo>
                    <a:pt x="81037" y="228600"/>
                    <a:pt x="71437" y="219001"/>
                    <a:pt x="71437" y="207169"/>
                  </a:cubicBezTo>
                  <a:cubicBezTo>
                    <a:pt x="71437" y="195337"/>
                    <a:pt x="81037" y="185738"/>
                    <a:pt x="92869" y="185738"/>
                  </a:cubicBezTo>
                  <a:lnTo>
                    <a:pt x="107156" y="185738"/>
                  </a:lnTo>
                  <a:cubicBezTo>
                    <a:pt x="118988" y="185738"/>
                    <a:pt x="128588" y="195337"/>
                    <a:pt x="128588" y="207169"/>
                  </a:cubicBezTo>
                  <a:lnTo>
                    <a:pt x="128588" y="207169"/>
                  </a:lnTo>
                  <a:lnTo>
                    <a:pt x="146447" y="207169"/>
                  </a:lnTo>
                  <a:cubicBezTo>
                    <a:pt x="164217" y="207169"/>
                    <a:pt x="178594" y="192792"/>
                    <a:pt x="178594" y="175022"/>
                  </a:cubicBezTo>
                  <a:lnTo>
                    <a:pt x="178594" y="165690"/>
                  </a:lnTo>
                  <a:cubicBezTo>
                    <a:pt x="172298" y="169352"/>
                    <a:pt x="164976" y="171405"/>
                    <a:pt x="157163" y="171405"/>
                  </a:cubicBezTo>
                  <a:lnTo>
                    <a:pt x="150019" y="171405"/>
                  </a:lnTo>
                  <a:cubicBezTo>
                    <a:pt x="138187" y="171405"/>
                    <a:pt x="128588" y="161806"/>
                    <a:pt x="128588" y="149974"/>
                  </a:cubicBezTo>
                  <a:lnTo>
                    <a:pt x="128588" y="107112"/>
                  </a:lnTo>
                  <a:cubicBezTo>
                    <a:pt x="128588" y="95280"/>
                    <a:pt x="138187" y="85680"/>
                    <a:pt x="150019" y="85680"/>
                  </a:cubicBezTo>
                  <a:lnTo>
                    <a:pt x="157163" y="85680"/>
                  </a:lnTo>
                  <a:cubicBezTo>
                    <a:pt x="161806" y="85680"/>
                    <a:pt x="166226" y="86395"/>
                    <a:pt x="170423" y="87779"/>
                  </a:cubicBezTo>
                  <a:cubicBezTo>
                    <a:pt x="164619" y="54159"/>
                    <a:pt x="135329" y="28530"/>
                    <a:pt x="100013" y="2853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2" name="Text 35">
              <a:extLst>
                <a:ext uri="{FF2B5EF4-FFF2-40B4-BE49-F238E27FC236}">
                  <a16:creationId xmlns:a16="http://schemas.microsoft.com/office/drawing/2014/main" id="{633646E2-16A0-4ADF-AFAE-C958D638E938}"/>
                </a:ext>
              </a:extLst>
            </p:cNvPr>
            <p:cNvSpPr/>
            <p:nvPr/>
          </p:nvSpPr>
          <p:spPr>
            <a:xfrm>
              <a:off x="4483100" y="4876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Нагрузка на поддержку</a:t>
              </a:r>
              <a:endParaRPr lang="en-US" sz="2400" dirty="0"/>
            </a:p>
          </p:txBody>
        </p:sp>
        <p:sp>
          <p:nvSpPr>
            <p:cNvPr id="83" name="Text 36">
              <a:extLst>
                <a:ext uri="{FF2B5EF4-FFF2-40B4-BE49-F238E27FC236}">
                  <a16:creationId xmlns:a16="http://schemas.microsoft.com/office/drawing/2014/main" id="{4B58731A-6F5E-44BE-AB6F-78E3B6B68D64}"/>
                </a:ext>
              </a:extLst>
            </p:cNvPr>
            <p:cNvSpPr/>
            <p:nvPr/>
          </p:nvSpPr>
          <p:spPr>
            <a:xfrm>
              <a:off x="4483100" y="52578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Типовые вопросы отнимают время специалистов от сложных задач</a:t>
              </a:r>
              <a:endParaRPr lang="en-US" sz="1600" dirty="0"/>
            </a:p>
          </p:txBody>
        </p:sp>
        <p:sp>
          <p:nvSpPr>
            <p:cNvPr id="84" name="Shape 37">
              <a:extLst>
                <a:ext uri="{FF2B5EF4-FFF2-40B4-BE49-F238E27FC236}">
                  <a16:creationId xmlns:a16="http://schemas.microsoft.com/office/drawing/2014/main" id="{53C314AC-C25F-4490-BEEA-F06EEC821527}"/>
                </a:ext>
              </a:extLst>
            </p:cNvPr>
            <p:cNvSpPr/>
            <p:nvPr/>
          </p:nvSpPr>
          <p:spPr>
            <a:xfrm>
              <a:off x="4483100" y="58674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85" name="Text 38">
              <a:extLst>
                <a:ext uri="{FF2B5EF4-FFF2-40B4-BE49-F238E27FC236}">
                  <a16:creationId xmlns:a16="http://schemas.microsoft.com/office/drawing/2014/main" id="{EF554C07-C5D7-4570-8871-D298F16A9D7A}"/>
                </a:ext>
              </a:extLst>
            </p:cNvPr>
            <p:cNvSpPr/>
            <p:nvPr/>
          </p:nvSpPr>
          <p:spPr>
            <a:xfrm>
              <a:off x="4597400" y="59817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50% обращений — типовые вопросы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C13943D4-013C-456A-9742-5631317F0CE8}"/>
              </a:ext>
            </a:extLst>
          </p:cNvPr>
          <p:cNvGrpSpPr/>
          <p:nvPr/>
        </p:nvGrpSpPr>
        <p:grpSpPr>
          <a:xfrm>
            <a:off x="16814800" y="3962400"/>
            <a:ext cx="3686175" cy="2552700"/>
            <a:chOff x="8128000" y="3962400"/>
            <a:chExt cx="3686175" cy="2552700"/>
          </a:xfrm>
        </p:grpSpPr>
        <p:sp>
          <p:nvSpPr>
            <p:cNvPr id="87" name="Shape 39">
              <a:extLst>
                <a:ext uri="{FF2B5EF4-FFF2-40B4-BE49-F238E27FC236}">
                  <a16:creationId xmlns:a16="http://schemas.microsoft.com/office/drawing/2014/main" id="{70BA608E-FEFC-4364-BB27-6E6E3FC4434A}"/>
                </a:ext>
              </a:extLst>
            </p:cNvPr>
            <p:cNvSpPr/>
            <p:nvPr/>
          </p:nvSpPr>
          <p:spPr>
            <a:xfrm>
              <a:off x="81280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2700000" scaled="1"/>
            </a:gradFill>
            <a:ln/>
          </p:spPr>
        </p:sp>
        <p:sp>
          <p:nvSpPr>
            <p:cNvPr id="88" name="Shape 40">
              <a:extLst>
                <a:ext uri="{FF2B5EF4-FFF2-40B4-BE49-F238E27FC236}">
                  <a16:creationId xmlns:a16="http://schemas.microsoft.com/office/drawing/2014/main" id="{4DD365A0-DAE8-4D91-BAFA-25CCCA0836F8}"/>
                </a:ext>
              </a:extLst>
            </p:cNvPr>
            <p:cNvSpPr/>
            <p:nvPr/>
          </p:nvSpPr>
          <p:spPr>
            <a:xfrm>
              <a:off x="9664700" y="42481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14300" y="0"/>
                  </a:moveTo>
                  <a:lnTo>
                    <a:pt x="495300" y="0"/>
                  </a:lnTo>
                  <a:cubicBezTo>
                    <a:pt x="558384" y="0"/>
                    <a:pt x="609600" y="51216"/>
                    <a:pt x="609600" y="114300"/>
                  </a:cubicBezTo>
                  <a:lnTo>
                    <a:pt x="609600" y="495300"/>
                  </a:lnTo>
                  <a:cubicBezTo>
                    <a:pt x="609600" y="558384"/>
                    <a:pt x="558384" y="609600"/>
                    <a:pt x="495300" y="609600"/>
                  </a:cubicBezTo>
                  <a:lnTo>
                    <a:pt x="114300" y="609600"/>
                  </a:lnTo>
                  <a:cubicBezTo>
                    <a:pt x="51216" y="609600"/>
                    <a:pt x="0" y="558384"/>
                    <a:pt x="0" y="495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9" name="Shape 41">
              <a:extLst>
                <a:ext uri="{FF2B5EF4-FFF2-40B4-BE49-F238E27FC236}">
                  <a16:creationId xmlns:a16="http://schemas.microsoft.com/office/drawing/2014/main" id="{88969C83-7E69-4A94-893F-3E518ECD4569}"/>
                </a:ext>
              </a:extLst>
            </p:cNvPr>
            <p:cNvSpPr/>
            <p:nvPr/>
          </p:nvSpPr>
          <p:spPr>
            <a:xfrm>
              <a:off x="9864725" y="4410075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163469" y="214313"/>
                  </a:moveTo>
                  <a:cubicBezTo>
                    <a:pt x="167543" y="201867"/>
                    <a:pt x="175692" y="190593"/>
                    <a:pt x="184900" y="180882"/>
                  </a:cubicBezTo>
                  <a:cubicBezTo>
                    <a:pt x="203150" y="161683"/>
                    <a:pt x="214312" y="135731"/>
                    <a:pt x="214312" y="107156"/>
                  </a:cubicBezTo>
                  <a:cubicBezTo>
                    <a:pt x="214312" y="47997"/>
                    <a:pt x="166315" y="0"/>
                    <a:pt x="107156" y="0"/>
                  </a:cubicBezTo>
                  <a:cubicBezTo>
                    <a:pt x="47997" y="0"/>
                    <a:pt x="0" y="47997"/>
                    <a:pt x="0" y="107156"/>
                  </a:cubicBezTo>
                  <a:cubicBezTo>
                    <a:pt x="0" y="135731"/>
                    <a:pt x="11162" y="161683"/>
                    <a:pt x="29412" y="180882"/>
                  </a:cubicBezTo>
                  <a:cubicBezTo>
                    <a:pt x="38621" y="190593"/>
                    <a:pt x="46825" y="201867"/>
                    <a:pt x="50843" y="214313"/>
                  </a:cubicBezTo>
                  <a:lnTo>
                    <a:pt x="163413" y="214313"/>
                  </a:lnTo>
                  <a:close/>
                  <a:moveTo>
                    <a:pt x="160734" y="241102"/>
                  </a:moveTo>
                  <a:lnTo>
                    <a:pt x="53578" y="241102"/>
                  </a:lnTo>
                  <a:lnTo>
                    <a:pt x="53578" y="250031"/>
                  </a:lnTo>
                  <a:cubicBezTo>
                    <a:pt x="53578" y="274700"/>
                    <a:pt x="73558" y="294680"/>
                    <a:pt x="98227" y="294680"/>
                  </a:cubicBezTo>
                  <a:lnTo>
                    <a:pt x="116086" y="294680"/>
                  </a:lnTo>
                  <a:cubicBezTo>
                    <a:pt x="140754" y="294680"/>
                    <a:pt x="160734" y="274700"/>
                    <a:pt x="160734" y="250031"/>
                  </a:cubicBezTo>
                  <a:lnTo>
                    <a:pt x="160734" y="241102"/>
                  </a:lnTo>
                  <a:close/>
                  <a:moveTo>
                    <a:pt x="102691" y="62508"/>
                  </a:moveTo>
                  <a:cubicBezTo>
                    <a:pt x="80479" y="62508"/>
                    <a:pt x="62508" y="80479"/>
                    <a:pt x="62508" y="102691"/>
                  </a:cubicBezTo>
                  <a:cubicBezTo>
                    <a:pt x="62508" y="110114"/>
                    <a:pt x="56536" y="116086"/>
                    <a:pt x="49113" y="116086"/>
                  </a:cubicBezTo>
                  <a:cubicBezTo>
                    <a:pt x="41690" y="116086"/>
                    <a:pt x="35719" y="110114"/>
                    <a:pt x="35719" y="102691"/>
                  </a:cubicBezTo>
                  <a:cubicBezTo>
                    <a:pt x="35719" y="65689"/>
                    <a:pt x="65689" y="35719"/>
                    <a:pt x="102691" y="35719"/>
                  </a:cubicBezTo>
                  <a:cubicBezTo>
                    <a:pt x="110114" y="35719"/>
                    <a:pt x="116086" y="41690"/>
                    <a:pt x="116086" y="49113"/>
                  </a:cubicBezTo>
                  <a:cubicBezTo>
                    <a:pt x="116086" y="56536"/>
                    <a:pt x="110114" y="62508"/>
                    <a:pt x="102691" y="62508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0" name="Text 42">
              <a:extLst>
                <a:ext uri="{FF2B5EF4-FFF2-40B4-BE49-F238E27FC236}">
                  <a16:creationId xmlns:a16="http://schemas.microsoft.com/office/drawing/2014/main" id="{8B84DACB-CDC6-4D6E-9AA8-CB3012708F65}"/>
                </a:ext>
              </a:extLst>
            </p:cNvPr>
            <p:cNvSpPr/>
            <p:nvPr/>
          </p:nvSpPr>
          <p:spPr>
            <a:xfrm>
              <a:off x="8839902" y="5010150"/>
              <a:ext cx="2329046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Решение</a:t>
              </a:r>
              <a:endParaRPr lang="en-US" sz="2400" dirty="0"/>
            </a:p>
          </p:txBody>
        </p:sp>
        <p:sp>
          <p:nvSpPr>
            <p:cNvPr id="91" name="Text 43">
              <a:extLst>
                <a:ext uri="{FF2B5EF4-FFF2-40B4-BE49-F238E27FC236}">
                  <a16:creationId xmlns:a16="http://schemas.microsoft.com/office/drawing/2014/main" id="{597B82FC-7E81-445B-B4D9-46A08A9A6A56}"/>
                </a:ext>
              </a:extLst>
            </p:cNvPr>
            <p:cNvSpPr/>
            <p:nvPr/>
          </p:nvSpPr>
          <p:spPr>
            <a:xfrm>
              <a:off x="8313737" y="5429250"/>
              <a:ext cx="3314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Интеллектуальный </a:t>
              </a:r>
              <a:r>
                <a:rPr lang="en-US" sz="1350" b="1" dirty="0" err="1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ассистент</a:t>
              </a: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</a:t>
              </a:r>
              <a:r>
                <a:rPr lang="ru-RU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упрощает</a:t>
              </a: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все эти проблемы на 60-70%</a:t>
              </a:r>
              <a:endParaRPr lang="en-US" sz="1600" dirty="0"/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8D9E74EE-8950-4C3A-AB9C-BD33EC8486CD}"/>
              </a:ext>
            </a:extLst>
          </p:cNvPr>
          <p:cNvGrpSpPr/>
          <p:nvPr/>
        </p:nvGrpSpPr>
        <p:grpSpPr>
          <a:xfrm>
            <a:off x="-8305800" y="1219200"/>
            <a:ext cx="3686175" cy="2552700"/>
            <a:chOff x="381000" y="1219200"/>
            <a:chExt cx="3686175" cy="2552700"/>
          </a:xfrm>
        </p:grpSpPr>
        <p:sp>
          <p:nvSpPr>
            <p:cNvPr id="93" name="Shape 4">
              <a:extLst>
                <a:ext uri="{FF2B5EF4-FFF2-40B4-BE49-F238E27FC236}">
                  <a16:creationId xmlns:a16="http://schemas.microsoft.com/office/drawing/2014/main" id="{F587E725-2FE6-4E7F-9F20-EDA863DA6F1B}"/>
                </a:ext>
              </a:extLst>
            </p:cNvPr>
            <p:cNvSpPr/>
            <p:nvPr/>
          </p:nvSpPr>
          <p:spPr>
            <a:xfrm>
              <a:off x="3810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94" name="Shape 5">
              <a:extLst>
                <a:ext uri="{FF2B5EF4-FFF2-40B4-BE49-F238E27FC236}">
                  <a16:creationId xmlns:a16="http://schemas.microsoft.com/office/drawing/2014/main" id="{997B67FE-D52F-4CEC-AA36-C86AFFF3A0E5}"/>
                </a:ext>
              </a:extLst>
            </p:cNvPr>
            <p:cNvSpPr/>
            <p:nvPr/>
          </p:nvSpPr>
          <p:spPr>
            <a:xfrm>
              <a:off x="6096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5" name="Shape 6">
              <a:extLst>
                <a:ext uri="{FF2B5EF4-FFF2-40B4-BE49-F238E27FC236}">
                  <a16:creationId xmlns:a16="http://schemas.microsoft.com/office/drawing/2014/main" id="{4DAF87CF-2920-4A43-A458-0D445C9D461B}"/>
                </a:ext>
              </a:extLst>
            </p:cNvPr>
            <p:cNvSpPr/>
            <p:nvPr/>
          </p:nvSpPr>
          <p:spPr>
            <a:xfrm>
              <a:off x="747713" y="16002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228600" y="42863"/>
                  </a:moveTo>
                  <a:lnTo>
                    <a:pt x="71438" y="42863"/>
                  </a:lnTo>
                  <a:cubicBezTo>
                    <a:pt x="71438" y="27102"/>
                    <a:pt x="84252" y="14288"/>
                    <a:pt x="100013" y="14288"/>
                  </a:cubicBezTo>
                  <a:lnTo>
                    <a:pt x="228600" y="14288"/>
                  </a:lnTo>
                  <a:cubicBezTo>
                    <a:pt x="244361" y="14288"/>
                    <a:pt x="257175" y="27102"/>
                    <a:pt x="257175" y="42863"/>
                  </a:cubicBezTo>
                  <a:lnTo>
                    <a:pt x="257175" y="128588"/>
                  </a:lnTo>
                  <a:cubicBezTo>
                    <a:pt x="257175" y="144348"/>
                    <a:pt x="244361" y="157163"/>
                    <a:pt x="228600" y="157163"/>
                  </a:cubicBezTo>
                  <a:lnTo>
                    <a:pt x="207169" y="157163"/>
                  </a:lnTo>
                  <a:lnTo>
                    <a:pt x="207169" y="128588"/>
                  </a:lnTo>
                  <a:lnTo>
                    <a:pt x="228600" y="128588"/>
                  </a:lnTo>
                  <a:lnTo>
                    <a:pt x="228600" y="42863"/>
                  </a:lnTo>
                  <a:close/>
                  <a:moveTo>
                    <a:pt x="0" y="100013"/>
                  </a:moveTo>
                  <a:cubicBezTo>
                    <a:pt x="0" y="84252"/>
                    <a:pt x="12814" y="71438"/>
                    <a:pt x="28575" y="71438"/>
                  </a:cubicBezTo>
                  <a:lnTo>
                    <a:pt x="157163" y="71438"/>
                  </a:lnTo>
                  <a:cubicBezTo>
                    <a:pt x="172923" y="71438"/>
                    <a:pt x="185738" y="84252"/>
                    <a:pt x="185738" y="100013"/>
                  </a:cubicBezTo>
                  <a:lnTo>
                    <a:pt x="185738" y="185738"/>
                  </a:lnTo>
                  <a:cubicBezTo>
                    <a:pt x="185738" y="201498"/>
                    <a:pt x="172923" y="214313"/>
                    <a:pt x="157163" y="214313"/>
                  </a:cubicBezTo>
                  <a:lnTo>
                    <a:pt x="28575" y="214313"/>
                  </a:lnTo>
                  <a:cubicBezTo>
                    <a:pt x="12814" y="214313"/>
                    <a:pt x="0" y="201498"/>
                    <a:pt x="0" y="185738"/>
                  </a:cubicBezTo>
                  <a:lnTo>
                    <a:pt x="0" y="100013"/>
                  </a:lnTo>
                  <a:close/>
                  <a:moveTo>
                    <a:pt x="28575" y="117872"/>
                  </a:moveTo>
                  <a:cubicBezTo>
                    <a:pt x="28575" y="123810"/>
                    <a:pt x="33352" y="128588"/>
                    <a:pt x="39291" y="128588"/>
                  </a:cubicBezTo>
                  <a:lnTo>
                    <a:pt x="146447" y="128588"/>
                  </a:lnTo>
                  <a:cubicBezTo>
                    <a:pt x="152385" y="128588"/>
                    <a:pt x="157163" y="123810"/>
                    <a:pt x="157163" y="117872"/>
                  </a:cubicBezTo>
                  <a:cubicBezTo>
                    <a:pt x="157163" y="111934"/>
                    <a:pt x="152385" y="107156"/>
                    <a:pt x="146447" y="107156"/>
                  </a:cubicBezTo>
                  <a:lnTo>
                    <a:pt x="39291" y="107156"/>
                  </a:lnTo>
                  <a:cubicBezTo>
                    <a:pt x="33352" y="107156"/>
                    <a:pt x="28575" y="111934"/>
                    <a:pt x="28575" y="11787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6" name="Text 7">
              <a:extLst>
                <a:ext uri="{FF2B5EF4-FFF2-40B4-BE49-F238E27FC236}">
                  <a16:creationId xmlns:a16="http://schemas.microsoft.com/office/drawing/2014/main" id="{58D5EF44-D563-46DC-B676-4700EAB8084E}"/>
                </a:ext>
              </a:extLst>
            </p:cNvPr>
            <p:cNvSpPr/>
            <p:nvPr/>
          </p:nvSpPr>
          <p:spPr>
            <a:xfrm>
              <a:off x="6096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Сложный интерфейс</a:t>
              </a:r>
              <a:endParaRPr lang="en-US" sz="2400" dirty="0"/>
            </a:p>
          </p:txBody>
        </p:sp>
        <p:sp>
          <p:nvSpPr>
            <p:cNvPr id="97" name="Text 8">
              <a:extLst>
                <a:ext uri="{FF2B5EF4-FFF2-40B4-BE49-F238E27FC236}">
                  <a16:creationId xmlns:a16="http://schemas.microsoft.com/office/drawing/2014/main" id="{D9946894-3FD1-447E-8D5D-A1003E3250D7}"/>
                </a:ext>
              </a:extLst>
            </p:cNvPr>
            <p:cNvSpPr/>
            <p:nvPr/>
          </p:nvSpPr>
          <p:spPr>
            <a:xfrm>
              <a:off x="6096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Множество форм, неочевидная навигация, сложно найти нужную функцию</a:t>
              </a:r>
              <a:endParaRPr lang="en-US" sz="1600" dirty="0"/>
            </a:p>
          </p:txBody>
        </p:sp>
        <p:sp>
          <p:nvSpPr>
            <p:cNvPr id="98" name="Shape 9">
              <a:extLst>
                <a:ext uri="{FF2B5EF4-FFF2-40B4-BE49-F238E27FC236}">
                  <a16:creationId xmlns:a16="http://schemas.microsoft.com/office/drawing/2014/main" id="{A6F176E4-082B-416A-B1AD-D73DE4C51603}"/>
                </a:ext>
              </a:extLst>
            </p:cNvPr>
            <p:cNvSpPr/>
            <p:nvPr/>
          </p:nvSpPr>
          <p:spPr>
            <a:xfrm>
              <a:off x="6096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9" name="Text 10">
              <a:extLst>
                <a:ext uri="{FF2B5EF4-FFF2-40B4-BE49-F238E27FC236}">
                  <a16:creationId xmlns:a16="http://schemas.microsoft.com/office/drawing/2014/main" id="{0FD69D53-2F2B-4984-B3E5-5B79178219E6}"/>
                </a:ext>
              </a:extLst>
            </p:cNvPr>
            <p:cNvSpPr/>
            <p:nvPr/>
          </p:nvSpPr>
          <p:spPr>
            <a:xfrm>
              <a:off x="7239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Более 200+ форм в типовой конфигурации</a:t>
              </a:r>
              <a:endParaRPr lang="en-US" sz="1600" dirty="0"/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5C334091-5EC1-4BCB-A995-4958EDEB2401}"/>
              </a:ext>
            </a:extLst>
          </p:cNvPr>
          <p:cNvGrpSpPr/>
          <p:nvPr/>
        </p:nvGrpSpPr>
        <p:grpSpPr>
          <a:xfrm>
            <a:off x="-4432300" y="1219200"/>
            <a:ext cx="3686175" cy="2552700"/>
            <a:chOff x="4254500" y="1219200"/>
            <a:chExt cx="3686175" cy="2552700"/>
          </a:xfrm>
        </p:grpSpPr>
        <p:sp>
          <p:nvSpPr>
            <p:cNvPr id="101" name="Shape 11">
              <a:extLst>
                <a:ext uri="{FF2B5EF4-FFF2-40B4-BE49-F238E27FC236}">
                  <a16:creationId xmlns:a16="http://schemas.microsoft.com/office/drawing/2014/main" id="{C996D4A9-2EC7-473F-B0FB-A885926EC141}"/>
                </a:ext>
              </a:extLst>
            </p:cNvPr>
            <p:cNvSpPr/>
            <p:nvPr/>
          </p:nvSpPr>
          <p:spPr>
            <a:xfrm>
              <a:off x="4254500" y="12192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02" name="Shape 12">
              <a:extLst>
                <a:ext uri="{FF2B5EF4-FFF2-40B4-BE49-F238E27FC236}">
                  <a16:creationId xmlns:a16="http://schemas.microsoft.com/office/drawing/2014/main" id="{3AB25477-3E15-4CA2-AC42-B58D6428153B}"/>
                </a:ext>
              </a:extLst>
            </p:cNvPr>
            <p:cNvSpPr/>
            <p:nvPr/>
          </p:nvSpPr>
          <p:spPr>
            <a:xfrm>
              <a:off x="4483100" y="1447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3" name="Shape 13">
              <a:extLst>
                <a:ext uri="{FF2B5EF4-FFF2-40B4-BE49-F238E27FC236}">
                  <a16:creationId xmlns:a16="http://schemas.microsoft.com/office/drawing/2014/main" id="{598E2E99-B46C-476E-B6A3-7B2DFA0408A1}"/>
                </a:ext>
              </a:extLst>
            </p:cNvPr>
            <p:cNvSpPr/>
            <p:nvPr/>
          </p:nvSpPr>
          <p:spPr>
            <a:xfrm>
              <a:off x="4635500" y="1600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85738" y="92869"/>
                  </a:moveTo>
                  <a:cubicBezTo>
                    <a:pt x="185738" y="113362"/>
                    <a:pt x="179085" y="132293"/>
                    <a:pt x="167878" y="147652"/>
                  </a:cubicBezTo>
                  <a:lnTo>
                    <a:pt x="224403" y="204222"/>
                  </a:lnTo>
                  <a:cubicBezTo>
                    <a:pt x="229984" y="209803"/>
                    <a:pt x="229984" y="218867"/>
                    <a:pt x="224403" y="224448"/>
                  </a:cubicBezTo>
                  <a:cubicBezTo>
                    <a:pt x="218822" y="230029"/>
                    <a:pt x="209758" y="230029"/>
                    <a:pt x="204177" y="224448"/>
                  </a:cubicBezTo>
                  <a:lnTo>
                    <a:pt x="147652" y="167878"/>
                  </a:lnTo>
                  <a:cubicBezTo>
                    <a:pt x="132293" y="179085"/>
                    <a:pt x="113362" y="185738"/>
                    <a:pt x="92869" y="185738"/>
                  </a:cubicBezTo>
                  <a:cubicBezTo>
                    <a:pt x="41568" y="185738"/>
                    <a:pt x="0" y="144170"/>
                    <a:pt x="0" y="92869"/>
                  </a:cubicBezTo>
                  <a:cubicBezTo>
                    <a:pt x="0" y="41568"/>
                    <a:pt x="41568" y="0"/>
                    <a:pt x="92869" y="0"/>
                  </a:cubicBezTo>
                  <a:cubicBezTo>
                    <a:pt x="144170" y="0"/>
                    <a:pt x="185738" y="41568"/>
                    <a:pt x="185738" y="92869"/>
                  </a:cubicBezTo>
                  <a:close/>
                  <a:moveTo>
                    <a:pt x="92869" y="157163"/>
                  </a:moveTo>
                  <a:cubicBezTo>
                    <a:pt x="128353" y="157163"/>
                    <a:pt x="157163" y="128353"/>
                    <a:pt x="157163" y="92869"/>
                  </a:cubicBezTo>
                  <a:cubicBezTo>
                    <a:pt x="157163" y="57384"/>
                    <a:pt x="128353" y="28575"/>
                    <a:pt x="92869" y="28575"/>
                  </a:cubicBezTo>
                  <a:cubicBezTo>
                    <a:pt x="57384" y="28575"/>
                    <a:pt x="28575" y="57384"/>
                    <a:pt x="28575" y="92869"/>
                  </a:cubicBezTo>
                  <a:cubicBezTo>
                    <a:pt x="28575" y="128353"/>
                    <a:pt x="57384" y="157163"/>
                    <a:pt x="92869" y="15716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4" name="Text 14">
              <a:extLst>
                <a:ext uri="{FF2B5EF4-FFF2-40B4-BE49-F238E27FC236}">
                  <a16:creationId xmlns:a16="http://schemas.microsoft.com/office/drawing/2014/main" id="{01CB4312-8464-4100-B0F9-01E38DB25D9C}"/>
                </a:ext>
              </a:extLst>
            </p:cNvPr>
            <p:cNvSpPr/>
            <p:nvPr/>
          </p:nvSpPr>
          <p:spPr>
            <a:xfrm>
              <a:off x="4483100" y="21336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Поиск документов</a:t>
              </a:r>
              <a:endParaRPr lang="en-US" sz="2400" dirty="0"/>
            </a:p>
          </p:txBody>
        </p:sp>
        <p:sp>
          <p:nvSpPr>
            <p:cNvPr id="105" name="Text 15">
              <a:extLst>
                <a:ext uri="{FF2B5EF4-FFF2-40B4-BE49-F238E27FC236}">
                  <a16:creationId xmlns:a16="http://schemas.microsoft.com/office/drawing/2014/main" id="{159F63A1-D021-4E7C-A54E-C4E9AAFA24F9}"/>
                </a:ext>
              </a:extLst>
            </p:cNvPr>
            <p:cNvSpPr/>
            <p:nvPr/>
          </p:nvSpPr>
          <p:spPr>
            <a:xfrm>
              <a:off x="4483100" y="25146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Сложно найти нужный документ среди тысяч записей без точных фильтров</a:t>
              </a:r>
              <a:endParaRPr lang="en-US" sz="1600" dirty="0"/>
            </a:p>
          </p:txBody>
        </p:sp>
        <p:sp>
          <p:nvSpPr>
            <p:cNvPr id="106" name="Shape 16">
              <a:extLst>
                <a:ext uri="{FF2B5EF4-FFF2-40B4-BE49-F238E27FC236}">
                  <a16:creationId xmlns:a16="http://schemas.microsoft.com/office/drawing/2014/main" id="{79160443-6E7D-4614-808F-AC19FD27F44A}"/>
                </a:ext>
              </a:extLst>
            </p:cNvPr>
            <p:cNvSpPr/>
            <p:nvPr/>
          </p:nvSpPr>
          <p:spPr>
            <a:xfrm>
              <a:off x="4483100" y="31242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7" name="Text 17">
              <a:extLst>
                <a:ext uri="{FF2B5EF4-FFF2-40B4-BE49-F238E27FC236}">
                  <a16:creationId xmlns:a16="http://schemas.microsoft.com/office/drawing/2014/main" id="{B7192E73-AE2B-4E9C-9649-1BF2DD7062BB}"/>
                </a:ext>
              </a:extLst>
            </p:cNvPr>
            <p:cNvSpPr/>
            <p:nvPr/>
          </p:nvSpPr>
          <p:spPr>
            <a:xfrm>
              <a:off x="4597400" y="32385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Среднее время поиска — 5-10 минут</a:t>
              </a:r>
              <a:endParaRPr lang="en-US" sz="1600" dirty="0"/>
            </a:p>
          </p:txBody>
        </p:sp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967B0823-202A-4CEC-9F2C-5E54A1377310}"/>
              </a:ext>
            </a:extLst>
          </p:cNvPr>
          <p:cNvGrpSpPr/>
          <p:nvPr/>
        </p:nvGrpSpPr>
        <p:grpSpPr>
          <a:xfrm>
            <a:off x="-8305800" y="3962400"/>
            <a:ext cx="3686175" cy="2552700"/>
            <a:chOff x="381000" y="3962400"/>
            <a:chExt cx="3686175" cy="2552700"/>
          </a:xfrm>
        </p:grpSpPr>
        <p:sp>
          <p:nvSpPr>
            <p:cNvPr id="109" name="Shape 25">
              <a:extLst>
                <a:ext uri="{FF2B5EF4-FFF2-40B4-BE49-F238E27FC236}">
                  <a16:creationId xmlns:a16="http://schemas.microsoft.com/office/drawing/2014/main" id="{51EDE9E6-9E9C-4776-8D9E-03F2B0260EF2}"/>
                </a:ext>
              </a:extLst>
            </p:cNvPr>
            <p:cNvSpPr/>
            <p:nvPr/>
          </p:nvSpPr>
          <p:spPr>
            <a:xfrm>
              <a:off x="381000" y="3962400"/>
              <a:ext cx="3686175" cy="2552700"/>
            </a:xfrm>
            <a:custGeom>
              <a:avLst/>
              <a:gdLst/>
              <a:ahLst/>
              <a:cxnLst/>
              <a:rect l="l" t="t" r="r" b="b"/>
              <a:pathLst>
                <a:path w="3686175" h="2552700">
                  <a:moveTo>
                    <a:pt x="152396" y="0"/>
                  </a:moveTo>
                  <a:lnTo>
                    <a:pt x="3533779" y="0"/>
                  </a:lnTo>
                  <a:cubicBezTo>
                    <a:pt x="3617945" y="0"/>
                    <a:pt x="3686175" y="68230"/>
                    <a:pt x="3686175" y="152396"/>
                  </a:cubicBezTo>
                  <a:lnTo>
                    <a:pt x="3686175" y="2400304"/>
                  </a:lnTo>
                  <a:cubicBezTo>
                    <a:pt x="3686175" y="2484470"/>
                    <a:pt x="3617945" y="2552700"/>
                    <a:pt x="3533779" y="2552700"/>
                  </a:cubicBezTo>
                  <a:lnTo>
                    <a:pt x="152396" y="2552700"/>
                  </a:lnTo>
                  <a:cubicBezTo>
                    <a:pt x="68230" y="2552700"/>
                    <a:pt x="0" y="2484470"/>
                    <a:pt x="0" y="2400304"/>
                  </a:cubicBezTo>
                  <a:lnTo>
                    <a:pt x="0" y="152396"/>
                  </a:lnTo>
                  <a:cubicBezTo>
                    <a:pt x="0" y="68230"/>
                    <a:pt x="68230" y="0"/>
                    <a:pt x="15239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10" name="Shape 26">
              <a:extLst>
                <a:ext uri="{FF2B5EF4-FFF2-40B4-BE49-F238E27FC236}">
                  <a16:creationId xmlns:a16="http://schemas.microsoft.com/office/drawing/2014/main" id="{D0E50AEB-654E-494A-97E6-F1794A806F1E}"/>
                </a:ext>
              </a:extLst>
            </p:cNvPr>
            <p:cNvSpPr/>
            <p:nvPr/>
          </p:nvSpPr>
          <p:spPr>
            <a:xfrm>
              <a:off x="609600" y="419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1" name="Shape 27">
              <a:extLst>
                <a:ext uri="{FF2B5EF4-FFF2-40B4-BE49-F238E27FC236}">
                  <a16:creationId xmlns:a16="http://schemas.microsoft.com/office/drawing/2014/main" id="{B412C0D0-7433-4989-84AD-CFAB23CA62AC}"/>
                </a:ext>
              </a:extLst>
            </p:cNvPr>
            <p:cNvSpPr/>
            <p:nvPr/>
          </p:nvSpPr>
          <p:spPr>
            <a:xfrm>
              <a:off x="762000" y="434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28575"/>
                  </a:moveTo>
                  <a:cubicBezTo>
                    <a:pt x="28575" y="20672"/>
                    <a:pt x="22190" y="14288"/>
                    <a:pt x="14288" y="14288"/>
                  </a:cubicBezTo>
                  <a:cubicBezTo>
                    <a:pt x="6385" y="14288"/>
                    <a:pt x="0" y="20672"/>
                    <a:pt x="0" y="28575"/>
                  </a:cubicBezTo>
                  <a:lnTo>
                    <a:pt x="0" y="178594"/>
                  </a:lnTo>
                  <a:cubicBezTo>
                    <a:pt x="0" y="198328"/>
                    <a:pt x="15984" y="214313"/>
                    <a:pt x="35719" y="214313"/>
                  </a:cubicBezTo>
                  <a:lnTo>
                    <a:pt x="214313" y="214313"/>
                  </a:lnTo>
                  <a:cubicBezTo>
                    <a:pt x="222215" y="214313"/>
                    <a:pt x="228600" y="207928"/>
                    <a:pt x="228600" y="200025"/>
                  </a:cubicBezTo>
                  <a:cubicBezTo>
                    <a:pt x="228600" y="192122"/>
                    <a:pt x="222215" y="185738"/>
                    <a:pt x="214313" y="185738"/>
                  </a:cubicBezTo>
                  <a:lnTo>
                    <a:pt x="35719" y="185738"/>
                  </a:lnTo>
                  <a:cubicBezTo>
                    <a:pt x="31790" y="185738"/>
                    <a:pt x="28575" y="182523"/>
                    <a:pt x="28575" y="178594"/>
                  </a:cubicBezTo>
                  <a:lnTo>
                    <a:pt x="28575" y="28575"/>
                  </a:lnTo>
                  <a:close/>
                  <a:moveTo>
                    <a:pt x="210116" y="67241"/>
                  </a:moveTo>
                  <a:cubicBezTo>
                    <a:pt x="215697" y="61659"/>
                    <a:pt x="215697" y="52596"/>
                    <a:pt x="210116" y="47015"/>
                  </a:cubicBezTo>
                  <a:cubicBezTo>
                    <a:pt x="204534" y="41434"/>
                    <a:pt x="195471" y="41434"/>
                    <a:pt x="189890" y="47015"/>
                  </a:cubicBezTo>
                  <a:lnTo>
                    <a:pt x="142875" y="94074"/>
                  </a:lnTo>
                  <a:lnTo>
                    <a:pt x="117247" y="68491"/>
                  </a:lnTo>
                  <a:cubicBezTo>
                    <a:pt x="111666" y="62910"/>
                    <a:pt x="102602" y="62910"/>
                    <a:pt x="97021" y="68491"/>
                  </a:cubicBezTo>
                  <a:lnTo>
                    <a:pt x="54159" y="111353"/>
                  </a:lnTo>
                  <a:cubicBezTo>
                    <a:pt x="48578" y="116934"/>
                    <a:pt x="48578" y="125998"/>
                    <a:pt x="54159" y="131579"/>
                  </a:cubicBezTo>
                  <a:cubicBezTo>
                    <a:pt x="59740" y="137160"/>
                    <a:pt x="68803" y="137160"/>
                    <a:pt x="74384" y="131579"/>
                  </a:cubicBezTo>
                  <a:lnTo>
                    <a:pt x="107156" y="98807"/>
                  </a:lnTo>
                  <a:lnTo>
                    <a:pt x="132784" y="124435"/>
                  </a:lnTo>
                  <a:cubicBezTo>
                    <a:pt x="138366" y="130016"/>
                    <a:pt x="147429" y="130016"/>
                    <a:pt x="153010" y="124435"/>
                  </a:cubicBezTo>
                  <a:lnTo>
                    <a:pt x="210160" y="6728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2" name="Text 28">
              <a:extLst>
                <a:ext uri="{FF2B5EF4-FFF2-40B4-BE49-F238E27FC236}">
                  <a16:creationId xmlns:a16="http://schemas.microsoft.com/office/drawing/2014/main" id="{AA4FEC8F-5A0C-435E-8181-4F1A584F9EA8}"/>
                </a:ext>
              </a:extLst>
            </p:cNvPr>
            <p:cNvSpPr/>
            <p:nvPr/>
          </p:nvSpPr>
          <p:spPr>
            <a:xfrm>
              <a:off x="609600" y="4876800"/>
              <a:ext cx="3324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Статусы и аналитика</a:t>
              </a:r>
              <a:endParaRPr lang="en-US" sz="2400" dirty="0"/>
            </a:p>
          </p:txBody>
        </p:sp>
        <p:sp>
          <p:nvSpPr>
            <p:cNvPr id="113" name="Text 29">
              <a:extLst>
                <a:ext uri="{FF2B5EF4-FFF2-40B4-BE49-F238E27FC236}">
                  <a16:creationId xmlns:a16="http://schemas.microsoft.com/office/drawing/2014/main" id="{82EEE7A0-E306-4E09-9629-E736A95A9AA6}"/>
                </a:ext>
              </a:extLst>
            </p:cNvPr>
            <p:cNvSpPr/>
            <p:nvPr/>
          </p:nvSpPr>
          <p:spPr>
            <a:xfrm>
              <a:off x="609600" y="5257800"/>
              <a:ext cx="33051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Сложность получения сводных данных и аналитики в реальном времени</a:t>
              </a:r>
              <a:endParaRPr lang="en-US" sz="1600" dirty="0"/>
            </a:p>
          </p:txBody>
        </p:sp>
        <p:sp>
          <p:nvSpPr>
            <p:cNvPr id="114" name="Shape 30">
              <a:extLst>
                <a:ext uri="{FF2B5EF4-FFF2-40B4-BE49-F238E27FC236}">
                  <a16:creationId xmlns:a16="http://schemas.microsoft.com/office/drawing/2014/main" id="{79F8888E-A8C4-4056-95CD-219B5C98A717}"/>
                </a:ext>
              </a:extLst>
            </p:cNvPr>
            <p:cNvSpPr/>
            <p:nvPr/>
          </p:nvSpPr>
          <p:spPr>
            <a:xfrm>
              <a:off x="609600" y="5867400"/>
              <a:ext cx="3228975" cy="419100"/>
            </a:xfrm>
            <a:custGeom>
              <a:avLst/>
              <a:gdLst/>
              <a:ahLst/>
              <a:cxnLst/>
              <a:rect l="l" t="t" r="r" b="b"/>
              <a:pathLst>
                <a:path w="3228975" h="419100">
                  <a:moveTo>
                    <a:pt x="76201" y="0"/>
                  </a:moveTo>
                  <a:lnTo>
                    <a:pt x="3152774" y="0"/>
                  </a:lnTo>
                  <a:cubicBezTo>
                    <a:pt x="3194859" y="0"/>
                    <a:pt x="3228975" y="34116"/>
                    <a:pt x="3228975" y="76201"/>
                  </a:cubicBezTo>
                  <a:lnTo>
                    <a:pt x="3228975" y="342899"/>
                  </a:lnTo>
                  <a:cubicBezTo>
                    <a:pt x="3228975" y="384984"/>
                    <a:pt x="3194859" y="419100"/>
                    <a:pt x="31527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15" name="Text 31">
              <a:extLst>
                <a:ext uri="{FF2B5EF4-FFF2-40B4-BE49-F238E27FC236}">
                  <a16:creationId xmlns:a16="http://schemas.microsoft.com/office/drawing/2014/main" id="{CE3FE2C0-5897-4431-8F20-D8FDD66DFA15}"/>
                </a:ext>
              </a:extLst>
            </p:cNvPr>
            <p:cNvSpPr/>
            <p:nvPr/>
          </p:nvSpPr>
          <p:spPr>
            <a:xfrm>
              <a:off x="723900" y="5981700"/>
              <a:ext cx="3067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Нужно строить отчеты вручную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001242D9-5A82-4D6C-AEDC-6B4C98F34308}"/>
              </a:ext>
            </a:extLst>
          </p:cNvPr>
          <p:cNvGrpSpPr/>
          <p:nvPr/>
        </p:nvGrpSpPr>
        <p:grpSpPr>
          <a:xfrm>
            <a:off x="-15392400" y="361950"/>
            <a:ext cx="6610350" cy="533400"/>
            <a:chOff x="381000" y="381000"/>
            <a:chExt cx="6610350" cy="533400"/>
          </a:xfrm>
        </p:grpSpPr>
        <p:sp>
          <p:nvSpPr>
            <p:cNvPr id="117" name="Shape 0">
              <a:extLst>
                <a:ext uri="{FF2B5EF4-FFF2-40B4-BE49-F238E27FC236}">
                  <a16:creationId xmlns:a16="http://schemas.microsoft.com/office/drawing/2014/main" id="{370E9C90-BAD9-4676-8185-2791DC6D0F7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8" name="Shape 1">
              <a:extLst>
                <a:ext uri="{FF2B5EF4-FFF2-40B4-BE49-F238E27FC236}">
                  <a16:creationId xmlns:a16="http://schemas.microsoft.com/office/drawing/2014/main" id="{4DE45BE8-B145-4A59-87A4-42AAA9D07ABA}"/>
                </a:ext>
              </a:extLst>
            </p:cNvPr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0900" y="57150"/>
                  </a:moveTo>
                  <a:cubicBezTo>
                    <a:pt x="60900" y="38008"/>
                    <a:pt x="71112" y="20321"/>
                    <a:pt x="87690" y="10750"/>
                  </a:cubicBezTo>
                  <a:cubicBezTo>
                    <a:pt x="104267" y="1179"/>
                    <a:pt x="124691" y="1179"/>
                    <a:pt x="141268" y="10750"/>
                  </a:cubicBezTo>
                  <a:cubicBezTo>
                    <a:pt x="157845" y="20321"/>
                    <a:pt x="168057" y="38008"/>
                    <a:pt x="168057" y="57150"/>
                  </a:cubicBezTo>
                  <a:cubicBezTo>
                    <a:pt x="168057" y="86721"/>
                    <a:pt x="144049" y="110728"/>
                    <a:pt x="114479" y="110728"/>
                  </a:cubicBezTo>
                  <a:cubicBezTo>
                    <a:pt x="84908" y="110728"/>
                    <a:pt x="60900" y="86721"/>
                    <a:pt x="60900" y="57150"/>
                  </a:cubicBezTo>
                  <a:close/>
                  <a:moveTo>
                    <a:pt x="21610" y="215339"/>
                  </a:moveTo>
                  <a:cubicBezTo>
                    <a:pt x="21610" y="171361"/>
                    <a:pt x="57239" y="135731"/>
                    <a:pt x="101218" y="135731"/>
                  </a:cubicBezTo>
                  <a:lnTo>
                    <a:pt x="127739" y="135731"/>
                  </a:lnTo>
                  <a:cubicBezTo>
                    <a:pt x="171718" y="135731"/>
                    <a:pt x="207347" y="171361"/>
                    <a:pt x="207347" y="215339"/>
                  </a:cubicBezTo>
                  <a:cubicBezTo>
                    <a:pt x="207347" y="222662"/>
                    <a:pt x="201409" y="228600"/>
                    <a:pt x="194087" y="228600"/>
                  </a:cubicBezTo>
                  <a:lnTo>
                    <a:pt x="34870" y="228600"/>
                  </a:lnTo>
                  <a:cubicBezTo>
                    <a:pt x="27548" y="228600"/>
                    <a:pt x="21610" y="222662"/>
                    <a:pt x="21610" y="215339"/>
                  </a:cubicBezTo>
                  <a:close/>
                  <a:moveTo>
                    <a:pt x="273382" y="55409"/>
                  </a:moveTo>
                  <a:cubicBezTo>
                    <a:pt x="277579" y="59606"/>
                    <a:pt x="277579" y="66392"/>
                    <a:pt x="273382" y="70545"/>
                  </a:cubicBezTo>
                  <a:lnTo>
                    <a:pt x="258247" y="85680"/>
                  </a:lnTo>
                  <a:lnTo>
                    <a:pt x="273382" y="100816"/>
                  </a:lnTo>
                  <a:cubicBezTo>
                    <a:pt x="277579" y="105013"/>
                    <a:pt x="277579" y="111800"/>
                    <a:pt x="273382" y="115952"/>
                  </a:cubicBezTo>
                  <a:cubicBezTo>
                    <a:pt x="269185" y="120104"/>
                    <a:pt x="262399" y="120149"/>
                    <a:pt x="258247" y="115952"/>
                  </a:cubicBezTo>
                  <a:lnTo>
                    <a:pt x="243111" y="100816"/>
                  </a:lnTo>
                  <a:lnTo>
                    <a:pt x="227975" y="115952"/>
                  </a:lnTo>
                  <a:cubicBezTo>
                    <a:pt x="223778" y="120149"/>
                    <a:pt x="216991" y="120149"/>
                    <a:pt x="212839" y="115952"/>
                  </a:cubicBezTo>
                  <a:cubicBezTo>
                    <a:pt x="208687" y="111755"/>
                    <a:pt x="208642" y="104968"/>
                    <a:pt x="212839" y="100816"/>
                  </a:cubicBezTo>
                  <a:lnTo>
                    <a:pt x="227975" y="85680"/>
                  </a:lnTo>
                  <a:lnTo>
                    <a:pt x="212839" y="70545"/>
                  </a:lnTo>
                  <a:cubicBezTo>
                    <a:pt x="208642" y="66348"/>
                    <a:pt x="208642" y="59561"/>
                    <a:pt x="212839" y="55409"/>
                  </a:cubicBezTo>
                  <a:cubicBezTo>
                    <a:pt x="217036" y="51256"/>
                    <a:pt x="223823" y="51212"/>
                    <a:pt x="227975" y="55409"/>
                  </a:cubicBezTo>
                  <a:lnTo>
                    <a:pt x="243111" y="70545"/>
                  </a:lnTo>
                  <a:lnTo>
                    <a:pt x="258247" y="55409"/>
                  </a:lnTo>
                  <a:cubicBezTo>
                    <a:pt x="262444" y="51212"/>
                    <a:pt x="269230" y="51212"/>
                    <a:pt x="273382" y="5540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9" name="Text 2">
              <a:extLst>
                <a:ext uri="{FF2B5EF4-FFF2-40B4-BE49-F238E27FC236}">
                  <a16:creationId xmlns:a16="http://schemas.microsoft.com/office/drawing/2014/main" id="{F358D7B0-1E9B-4EF3-9BBE-1523BF67038E}"/>
                </a:ext>
              </a:extLst>
            </p:cNvPr>
            <p:cNvSpPr/>
            <p:nvPr/>
          </p:nvSpPr>
          <p:spPr>
            <a:xfrm>
              <a:off x="1066800" y="400050"/>
              <a:ext cx="59245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Проблемы пользователей 1С:УНФ</a:t>
              </a:r>
              <a:endParaRPr lang="en-US" sz="1600" dirty="0"/>
            </a:p>
          </p:txBody>
        </p:sp>
        <p:sp>
          <p:nvSpPr>
            <p:cNvPr id="120" name="Shape 3">
              <a:extLst>
                <a:ext uri="{FF2B5EF4-FFF2-40B4-BE49-F238E27FC236}">
                  <a16:creationId xmlns:a16="http://schemas.microsoft.com/office/drawing/2014/main" id="{376BB866-DA06-49AE-A114-57BF817BC829}"/>
                </a:ext>
              </a:extLst>
            </p:cNvPr>
            <p:cNvSpPr/>
            <p:nvPr/>
          </p:nvSpPr>
          <p:spPr>
            <a:xfrm>
              <a:off x="747712" y="868681"/>
              <a:ext cx="602932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21" name="Text 7">
            <a:extLst>
              <a:ext uri="{FF2B5EF4-FFF2-40B4-BE49-F238E27FC236}">
                <a16:creationId xmlns:a16="http://schemas.microsoft.com/office/drawing/2014/main" id="{2F09120B-7EDF-498E-B4FF-D9E70E67D438}"/>
              </a:ext>
            </a:extLst>
          </p:cNvPr>
          <p:cNvSpPr/>
          <p:nvPr/>
        </p:nvSpPr>
        <p:spPr>
          <a:xfrm>
            <a:off x="12632213" y="24526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4</a:t>
            </a:r>
            <a:endParaRPr lang="en-US" sz="1600" dirty="0"/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31419D73-F6DC-4D49-A2DE-F2F5A6E97C91}"/>
              </a:ext>
            </a:extLst>
          </p:cNvPr>
          <p:cNvGrpSpPr/>
          <p:nvPr/>
        </p:nvGrpSpPr>
        <p:grpSpPr>
          <a:xfrm>
            <a:off x="381000" y="381000"/>
            <a:ext cx="3486150" cy="533400"/>
            <a:chOff x="381000" y="381000"/>
            <a:chExt cx="3486150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71450" y="14288"/>
                  </a:moveTo>
                  <a:lnTo>
                    <a:pt x="228600" y="14288"/>
                  </a:lnTo>
                  <a:cubicBezTo>
                    <a:pt x="236503" y="14288"/>
                    <a:pt x="242888" y="20672"/>
                    <a:pt x="242888" y="28575"/>
                  </a:cubicBezTo>
                  <a:cubicBezTo>
                    <a:pt x="242888" y="36478"/>
                    <a:pt x="236503" y="42863"/>
                    <a:pt x="228600" y="42863"/>
                  </a:cubicBezTo>
                  <a:lnTo>
                    <a:pt x="177879" y="42863"/>
                  </a:lnTo>
                  <a:cubicBezTo>
                    <a:pt x="175558" y="54382"/>
                    <a:pt x="167655" y="63892"/>
                    <a:pt x="157163" y="68446"/>
                  </a:cubicBezTo>
                  <a:lnTo>
                    <a:pt x="157163" y="200025"/>
                  </a:lnTo>
                  <a:lnTo>
                    <a:pt x="228600" y="200025"/>
                  </a:lnTo>
                  <a:cubicBezTo>
                    <a:pt x="236503" y="200025"/>
                    <a:pt x="242888" y="206410"/>
                    <a:pt x="242888" y="214313"/>
                  </a:cubicBezTo>
                  <a:cubicBezTo>
                    <a:pt x="242888" y="222215"/>
                    <a:pt x="236503" y="228600"/>
                    <a:pt x="228600" y="228600"/>
                  </a:cubicBezTo>
                  <a:lnTo>
                    <a:pt x="57150" y="228600"/>
                  </a:lnTo>
                  <a:cubicBezTo>
                    <a:pt x="49247" y="228600"/>
                    <a:pt x="42863" y="222215"/>
                    <a:pt x="42863" y="214313"/>
                  </a:cubicBezTo>
                  <a:cubicBezTo>
                    <a:pt x="42863" y="206410"/>
                    <a:pt x="49247" y="200025"/>
                    <a:pt x="57150" y="200025"/>
                  </a:cubicBezTo>
                  <a:lnTo>
                    <a:pt x="128588" y="200025"/>
                  </a:lnTo>
                  <a:lnTo>
                    <a:pt x="128588" y="68446"/>
                  </a:lnTo>
                  <a:cubicBezTo>
                    <a:pt x="118095" y="63847"/>
                    <a:pt x="110192" y="54337"/>
                    <a:pt x="107871" y="42863"/>
                  </a:cubicBezTo>
                  <a:lnTo>
                    <a:pt x="57150" y="42863"/>
                  </a:lnTo>
                  <a:cubicBezTo>
                    <a:pt x="49247" y="42863"/>
                    <a:pt x="42863" y="36478"/>
                    <a:pt x="42863" y="28575"/>
                  </a:cubicBezTo>
                  <a:cubicBezTo>
                    <a:pt x="42863" y="20672"/>
                    <a:pt x="49247" y="14288"/>
                    <a:pt x="57150" y="14288"/>
                  </a:cubicBezTo>
                  <a:lnTo>
                    <a:pt x="114300" y="14288"/>
                  </a:lnTo>
                  <a:cubicBezTo>
                    <a:pt x="120819" y="5626"/>
                    <a:pt x="131177" y="0"/>
                    <a:pt x="142875" y="0"/>
                  </a:cubicBezTo>
                  <a:cubicBezTo>
                    <a:pt x="154573" y="0"/>
                    <a:pt x="164931" y="5626"/>
                    <a:pt x="171450" y="14288"/>
                  </a:cubicBezTo>
                  <a:close/>
                  <a:moveTo>
                    <a:pt x="196275" y="142875"/>
                  </a:moveTo>
                  <a:lnTo>
                    <a:pt x="260925" y="142875"/>
                  </a:lnTo>
                  <a:lnTo>
                    <a:pt x="228600" y="87422"/>
                  </a:lnTo>
                  <a:lnTo>
                    <a:pt x="196275" y="142875"/>
                  </a:lnTo>
                  <a:close/>
                  <a:moveTo>
                    <a:pt x="228600" y="185738"/>
                  </a:moveTo>
                  <a:cubicBezTo>
                    <a:pt x="200516" y="185738"/>
                    <a:pt x="177165" y="170557"/>
                    <a:pt x="172343" y="150510"/>
                  </a:cubicBezTo>
                  <a:cubicBezTo>
                    <a:pt x="171182" y="145599"/>
                    <a:pt x="172789" y="140553"/>
                    <a:pt x="175334" y="136178"/>
                  </a:cubicBezTo>
                  <a:lnTo>
                    <a:pt x="217840" y="63311"/>
                  </a:lnTo>
                  <a:cubicBezTo>
                    <a:pt x="220072" y="59472"/>
                    <a:pt x="224180" y="57150"/>
                    <a:pt x="228600" y="57150"/>
                  </a:cubicBezTo>
                  <a:cubicBezTo>
                    <a:pt x="233020" y="57150"/>
                    <a:pt x="237128" y="59516"/>
                    <a:pt x="239360" y="63311"/>
                  </a:cubicBezTo>
                  <a:lnTo>
                    <a:pt x="281866" y="136178"/>
                  </a:lnTo>
                  <a:cubicBezTo>
                    <a:pt x="284411" y="140553"/>
                    <a:pt x="286018" y="145599"/>
                    <a:pt x="284857" y="150510"/>
                  </a:cubicBezTo>
                  <a:cubicBezTo>
                    <a:pt x="280035" y="170512"/>
                    <a:pt x="256684" y="185738"/>
                    <a:pt x="228600" y="185738"/>
                  </a:cubicBezTo>
                  <a:close/>
                  <a:moveTo>
                    <a:pt x="56614" y="87422"/>
                  </a:moveTo>
                  <a:lnTo>
                    <a:pt x="24289" y="142875"/>
                  </a:lnTo>
                  <a:lnTo>
                    <a:pt x="88984" y="142875"/>
                  </a:lnTo>
                  <a:lnTo>
                    <a:pt x="56614" y="87422"/>
                  </a:lnTo>
                  <a:close/>
                  <a:moveTo>
                    <a:pt x="402" y="150510"/>
                  </a:moveTo>
                  <a:cubicBezTo>
                    <a:pt x="-759" y="145599"/>
                    <a:pt x="848" y="140553"/>
                    <a:pt x="3393" y="136178"/>
                  </a:cubicBezTo>
                  <a:lnTo>
                    <a:pt x="45899" y="63311"/>
                  </a:lnTo>
                  <a:cubicBezTo>
                    <a:pt x="48131" y="59472"/>
                    <a:pt x="52239" y="57150"/>
                    <a:pt x="56659" y="57150"/>
                  </a:cubicBezTo>
                  <a:cubicBezTo>
                    <a:pt x="61079" y="57150"/>
                    <a:pt x="65187" y="59516"/>
                    <a:pt x="67419" y="63311"/>
                  </a:cubicBezTo>
                  <a:lnTo>
                    <a:pt x="109924" y="136178"/>
                  </a:lnTo>
                  <a:cubicBezTo>
                    <a:pt x="112469" y="140553"/>
                    <a:pt x="114077" y="145599"/>
                    <a:pt x="112916" y="150510"/>
                  </a:cubicBezTo>
                  <a:cubicBezTo>
                    <a:pt x="108094" y="170512"/>
                    <a:pt x="84743" y="185738"/>
                    <a:pt x="56659" y="185738"/>
                  </a:cubicBezTo>
                  <a:cubicBezTo>
                    <a:pt x="28575" y="185738"/>
                    <a:pt x="5224" y="170557"/>
                    <a:pt x="402" y="15051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28003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Обзор аналогов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09613" y="866875"/>
              <a:ext cx="3040189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B1939967-5693-4A73-8BF6-E5DD5E34B840}"/>
              </a:ext>
            </a:extLst>
          </p:cNvPr>
          <p:cNvGrpSpPr/>
          <p:nvPr/>
        </p:nvGrpSpPr>
        <p:grpSpPr>
          <a:xfrm>
            <a:off x="381000" y="1143000"/>
            <a:ext cx="14958653" cy="4152900"/>
            <a:chOff x="381000" y="1143000"/>
            <a:chExt cx="14958653" cy="4152900"/>
          </a:xfrm>
        </p:grpSpPr>
        <p:sp>
          <p:nvSpPr>
            <p:cNvPr id="6" name="Shape 4"/>
            <p:cNvSpPr/>
            <p:nvPr/>
          </p:nvSpPr>
          <p:spPr>
            <a:xfrm>
              <a:off x="3810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62" name="Группа 61">
              <a:extLst>
                <a:ext uri="{FF2B5EF4-FFF2-40B4-BE49-F238E27FC236}">
                  <a16:creationId xmlns:a16="http://schemas.microsoft.com/office/drawing/2014/main" id="{B3137B20-8714-4010-9C27-4CFA8BA871DF}"/>
                </a:ext>
              </a:extLst>
            </p:cNvPr>
            <p:cNvGrpSpPr/>
            <p:nvPr/>
          </p:nvGrpSpPr>
          <p:grpSpPr>
            <a:xfrm>
              <a:off x="614363" y="1409463"/>
              <a:ext cx="5851386" cy="829649"/>
              <a:chOff x="571500" y="1331896"/>
              <a:chExt cx="3305175" cy="468630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5715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8" name="Shape 6"/>
              <p:cNvSpPr/>
              <p:nvPr/>
            </p:nvSpPr>
            <p:spPr>
              <a:xfrm>
                <a:off x="681038" y="146685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130969" y="0"/>
                    </a:moveTo>
                    <a:cubicBezTo>
                      <a:pt x="130969" y="-6586"/>
                      <a:pt x="125648" y="-11906"/>
                      <a:pt x="119063" y="-11906"/>
                    </a:cubicBezTo>
                    <a:cubicBezTo>
                      <a:pt x="112477" y="-11906"/>
                      <a:pt x="107156" y="-6586"/>
                      <a:pt x="107156" y="0"/>
                    </a:cubicBezTo>
                    <a:lnTo>
                      <a:pt x="107156" y="23812"/>
                    </a:lnTo>
                    <a:lnTo>
                      <a:pt x="71438" y="23812"/>
                    </a:lnTo>
                    <a:cubicBezTo>
                      <a:pt x="51718" y="23812"/>
                      <a:pt x="35719" y="39812"/>
                      <a:pt x="35719" y="59531"/>
                    </a:cubicBezTo>
                    <a:lnTo>
                      <a:pt x="35719" y="142875"/>
                    </a:lnTo>
                    <a:cubicBezTo>
                      <a:pt x="35719" y="162595"/>
                      <a:pt x="51718" y="178594"/>
                      <a:pt x="71438" y="178594"/>
                    </a:cubicBezTo>
                    <a:lnTo>
                      <a:pt x="166688" y="178594"/>
                    </a:lnTo>
                    <a:cubicBezTo>
                      <a:pt x="186407" y="178594"/>
                      <a:pt x="202406" y="162595"/>
                      <a:pt x="202406" y="142875"/>
                    </a:cubicBezTo>
                    <a:lnTo>
                      <a:pt x="202406" y="59531"/>
                    </a:lnTo>
                    <a:cubicBezTo>
                      <a:pt x="202406" y="39812"/>
                      <a:pt x="186407" y="23812"/>
                      <a:pt x="166688" y="23812"/>
                    </a:cubicBezTo>
                    <a:lnTo>
                      <a:pt x="130969" y="23812"/>
                    </a:lnTo>
                    <a:lnTo>
                      <a:pt x="130969" y="0"/>
                    </a:lnTo>
                    <a:close/>
                    <a:moveTo>
                      <a:pt x="59531" y="136922"/>
                    </a:moveTo>
                    <a:cubicBezTo>
                      <a:pt x="59531" y="131973"/>
                      <a:pt x="63512" y="127992"/>
                      <a:pt x="68461" y="127992"/>
                    </a:cubicBezTo>
                    <a:lnTo>
                      <a:pt x="80367" y="127992"/>
                    </a:lnTo>
                    <a:cubicBezTo>
                      <a:pt x="85316" y="127992"/>
                      <a:pt x="89297" y="131973"/>
                      <a:pt x="89297" y="136922"/>
                    </a:cubicBezTo>
                    <a:cubicBezTo>
                      <a:pt x="89297" y="141870"/>
                      <a:pt x="85316" y="145852"/>
                      <a:pt x="80367" y="145852"/>
                    </a:cubicBezTo>
                    <a:lnTo>
                      <a:pt x="68461" y="145852"/>
                    </a:lnTo>
                    <a:cubicBezTo>
                      <a:pt x="63512" y="145852"/>
                      <a:pt x="59531" y="141870"/>
                      <a:pt x="59531" y="136922"/>
                    </a:cubicBezTo>
                    <a:close/>
                    <a:moveTo>
                      <a:pt x="104180" y="136922"/>
                    </a:moveTo>
                    <a:cubicBezTo>
                      <a:pt x="104180" y="131973"/>
                      <a:pt x="108161" y="127992"/>
                      <a:pt x="113109" y="127992"/>
                    </a:cubicBezTo>
                    <a:lnTo>
                      <a:pt x="125016" y="127992"/>
                    </a:lnTo>
                    <a:cubicBezTo>
                      <a:pt x="129964" y="127992"/>
                      <a:pt x="133945" y="131973"/>
                      <a:pt x="133945" y="136922"/>
                    </a:cubicBezTo>
                    <a:cubicBezTo>
                      <a:pt x="133945" y="141870"/>
                      <a:pt x="129964" y="145852"/>
                      <a:pt x="125016" y="145852"/>
                    </a:cubicBezTo>
                    <a:lnTo>
                      <a:pt x="113109" y="145852"/>
                    </a:lnTo>
                    <a:cubicBezTo>
                      <a:pt x="108161" y="145852"/>
                      <a:pt x="104180" y="141870"/>
                      <a:pt x="104180" y="136922"/>
                    </a:cubicBezTo>
                    <a:close/>
                    <a:moveTo>
                      <a:pt x="148828" y="136922"/>
                    </a:moveTo>
                    <a:cubicBezTo>
                      <a:pt x="148828" y="131973"/>
                      <a:pt x="152809" y="127992"/>
                      <a:pt x="157758" y="127992"/>
                    </a:cubicBezTo>
                    <a:lnTo>
                      <a:pt x="169664" y="127992"/>
                    </a:lnTo>
                    <a:cubicBezTo>
                      <a:pt x="174613" y="127992"/>
                      <a:pt x="178594" y="131973"/>
                      <a:pt x="178594" y="136922"/>
                    </a:cubicBezTo>
                    <a:cubicBezTo>
                      <a:pt x="178594" y="141870"/>
                      <a:pt x="174613" y="145852"/>
                      <a:pt x="169664" y="145852"/>
                    </a:cubicBezTo>
                    <a:lnTo>
                      <a:pt x="157758" y="145852"/>
                    </a:lnTo>
                    <a:cubicBezTo>
                      <a:pt x="152809" y="145852"/>
                      <a:pt x="148828" y="141870"/>
                      <a:pt x="148828" y="136922"/>
                    </a:cubicBezTo>
                    <a:close/>
                    <a:moveTo>
                      <a:pt x="83344" y="65484"/>
                    </a:moveTo>
                    <a:cubicBezTo>
                      <a:pt x="93201" y="65484"/>
                      <a:pt x="101203" y="73487"/>
                      <a:pt x="101203" y="83344"/>
                    </a:cubicBezTo>
                    <a:cubicBezTo>
                      <a:pt x="101203" y="93201"/>
                      <a:pt x="93201" y="101203"/>
                      <a:pt x="83344" y="101203"/>
                    </a:cubicBezTo>
                    <a:cubicBezTo>
                      <a:pt x="73487" y="101203"/>
                      <a:pt x="65484" y="93201"/>
                      <a:pt x="65484" y="83344"/>
                    </a:cubicBezTo>
                    <a:cubicBezTo>
                      <a:pt x="65484" y="73487"/>
                      <a:pt x="73487" y="65484"/>
                      <a:pt x="83344" y="65484"/>
                    </a:cubicBezTo>
                    <a:close/>
                    <a:moveTo>
                      <a:pt x="136922" y="83344"/>
                    </a:moveTo>
                    <a:cubicBezTo>
                      <a:pt x="136922" y="73487"/>
                      <a:pt x="144924" y="65484"/>
                      <a:pt x="154781" y="65484"/>
                    </a:cubicBezTo>
                    <a:cubicBezTo>
                      <a:pt x="164638" y="65484"/>
                      <a:pt x="172641" y="73487"/>
                      <a:pt x="172641" y="83344"/>
                    </a:cubicBezTo>
                    <a:cubicBezTo>
                      <a:pt x="172641" y="93201"/>
                      <a:pt x="164638" y="101203"/>
                      <a:pt x="154781" y="101203"/>
                    </a:cubicBezTo>
                    <a:cubicBezTo>
                      <a:pt x="144924" y="101203"/>
                      <a:pt x="136922" y="93201"/>
                      <a:pt x="136922" y="83344"/>
                    </a:cubicBezTo>
                    <a:close/>
                    <a:moveTo>
                      <a:pt x="23812" y="83344"/>
                    </a:moveTo>
                    <a:cubicBezTo>
                      <a:pt x="23812" y="76758"/>
                      <a:pt x="18492" y="71438"/>
                      <a:pt x="11906" y="71438"/>
                    </a:cubicBezTo>
                    <a:cubicBezTo>
                      <a:pt x="5321" y="71438"/>
                      <a:pt x="0" y="76758"/>
                      <a:pt x="0" y="83344"/>
                    </a:cubicBezTo>
                    <a:lnTo>
                      <a:pt x="0" y="119063"/>
                    </a:lnTo>
                    <a:cubicBezTo>
                      <a:pt x="0" y="125648"/>
                      <a:pt x="5321" y="130969"/>
                      <a:pt x="11906" y="130969"/>
                    </a:cubicBezTo>
                    <a:cubicBezTo>
                      <a:pt x="18492" y="130969"/>
                      <a:pt x="23812" y="125648"/>
                      <a:pt x="23812" y="119063"/>
                    </a:cubicBezTo>
                    <a:lnTo>
                      <a:pt x="23812" y="83344"/>
                    </a:lnTo>
                    <a:close/>
                    <a:moveTo>
                      <a:pt x="226219" y="71438"/>
                    </a:moveTo>
                    <a:cubicBezTo>
                      <a:pt x="219633" y="71438"/>
                      <a:pt x="214313" y="76758"/>
                      <a:pt x="214313" y="83344"/>
                    </a:cubicBezTo>
                    <a:lnTo>
                      <a:pt x="214313" y="119063"/>
                    </a:lnTo>
                    <a:cubicBezTo>
                      <a:pt x="214313" y="125648"/>
                      <a:pt x="219633" y="130969"/>
                      <a:pt x="226219" y="130969"/>
                    </a:cubicBezTo>
                    <a:cubicBezTo>
                      <a:pt x="232804" y="130969"/>
                      <a:pt x="238125" y="125648"/>
                      <a:pt x="238125" y="119063"/>
                    </a:cubicBezTo>
                    <a:lnTo>
                      <a:pt x="238125" y="83344"/>
                    </a:lnTo>
                    <a:cubicBezTo>
                      <a:pt x="238125" y="76758"/>
                      <a:pt x="232804" y="71438"/>
                      <a:pt x="226219" y="71438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9" name="Text 7"/>
              <p:cNvSpPr/>
              <p:nvPr/>
            </p:nvSpPr>
            <p:spPr>
              <a:xfrm>
                <a:off x="1153862" y="1331896"/>
                <a:ext cx="123825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Чат-бот Ася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155942" y="1610026"/>
                <a:ext cx="272073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1С:Документооборот</a:t>
                </a:r>
                <a:endParaRPr lang="en-US" sz="1600" dirty="0"/>
              </a:p>
            </p:txBody>
          </p:sp>
        </p:grpSp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7CEE33FB-C4D4-4C9C-8DF6-3258EED0F0DF}"/>
                </a:ext>
              </a:extLst>
            </p:cNvPr>
            <p:cNvGrpSpPr/>
            <p:nvPr/>
          </p:nvGrpSpPr>
          <p:grpSpPr>
            <a:xfrm>
              <a:off x="609600" y="2590800"/>
              <a:ext cx="3139440" cy="1828800"/>
              <a:chOff x="600075" y="2247900"/>
              <a:chExt cx="1962150" cy="114300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6000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2" name="Text 10"/>
              <p:cNvSpPr/>
              <p:nvPr/>
            </p:nvSpPr>
            <p:spPr>
              <a:xfrm>
                <a:off x="838200" y="2247900"/>
                <a:ext cx="14668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Простая настройка</a:t>
                </a:r>
                <a:endParaRPr lang="en-US" sz="2400" dirty="0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6000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4" name="Text 12"/>
              <p:cNvSpPr/>
              <p:nvPr/>
            </p:nvSpPr>
            <p:spPr>
              <a:xfrm>
                <a:off x="838200" y="2552700"/>
                <a:ext cx="10191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Встроен в 1С</a:t>
                </a:r>
                <a:endParaRPr lang="en-US" sz="2400" dirty="0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6096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6" name="Text 14"/>
              <p:cNvSpPr/>
              <p:nvPr/>
            </p:nvSpPr>
            <p:spPr>
              <a:xfrm>
                <a:off x="838200" y="2857500"/>
                <a:ext cx="15049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Шаблонные ответы</a:t>
                </a:r>
                <a:endParaRPr lang="en-US" sz="2400" dirty="0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6096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8" name="Text 16"/>
              <p:cNvSpPr/>
              <p:nvPr/>
            </p:nvSpPr>
            <p:spPr>
              <a:xfrm>
                <a:off x="838200" y="3162300"/>
                <a:ext cx="17240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Нет интеграции с УНФ</a:t>
                </a:r>
                <a:endParaRPr lang="en-US" sz="2400" dirty="0"/>
              </a:p>
            </p:txBody>
          </p:sp>
        </p:grpSp>
        <p:grpSp>
          <p:nvGrpSpPr>
            <p:cNvPr id="65" name="Группа 64">
              <a:extLst>
                <a:ext uri="{FF2B5EF4-FFF2-40B4-BE49-F238E27FC236}">
                  <a16:creationId xmlns:a16="http://schemas.microsoft.com/office/drawing/2014/main" id="{AEBD4524-BF19-42C7-9F6B-29EE7E4A9807}"/>
                </a:ext>
              </a:extLst>
            </p:cNvPr>
            <p:cNvGrpSpPr/>
            <p:nvPr/>
          </p:nvGrpSpPr>
          <p:grpSpPr>
            <a:xfrm>
              <a:off x="571500" y="4762500"/>
              <a:ext cx="3305175" cy="342900"/>
              <a:chOff x="571500" y="4762500"/>
              <a:chExt cx="3305175" cy="342900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5715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20" name="Text 18"/>
              <p:cNvSpPr/>
              <p:nvPr/>
            </p:nvSpPr>
            <p:spPr>
              <a:xfrm>
                <a:off x="614363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Шаблонный бот</a:t>
                </a:r>
                <a:endParaRPr lang="en-US" sz="3200" dirty="0"/>
              </a:p>
            </p:txBody>
          </p:sp>
        </p:grpSp>
        <p:sp>
          <p:nvSpPr>
            <p:cNvPr id="21" name="Shape 19"/>
            <p:cNvSpPr/>
            <p:nvPr/>
          </p:nvSpPr>
          <p:spPr>
            <a:xfrm>
              <a:off x="42545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B18BCBA1-92A7-48A0-8496-443E29440B86}"/>
                </a:ext>
              </a:extLst>
            </p:cNvPr>
            <p:cNvGrpSpPr/>
            <p:nvPr/>
          </p:nvGrpSpPr>
          <p:grpSpPr>
            <a:xfrm>
              <a:off x="4488815" y="1421235"/>
              <a:ext cx="6001492" cy="823960"/>
              <a:chOff x="4445000" y="1325283"/>
              <a:chExt cx="3389964" cy="465417"/>
            </a:xfrm>
          </p:grpSpPr>
          <p:sp>
            <p:nvSpPr>
              <p:cNvPr id="22" name="Shape 20"/>
              <p:cNvSpPr/>
              <p:nvPr/>
            </p:nvSpPr>
            <p:spPr>
              <a:xfrm>
                <a:off x="44450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23" name="Shape 21"/>
              <p:cNvSpPr/>
              <p:nvPr/>
            </p:nvSpPr>
            <p:spPr>
              <a:xfrm>
                <a:off x="4578350" y="14668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44648" y="20836"/>
                    </a:moveTo>
                    <a:cubicBezTo>
                      <a:pt x="44648" y="9339"/>
                      <a:pt x="53987" y="0"/>
                      <a:pt x="65484" y="0"/>
                    </a:cubicBezTo>
                    <a:lnTo>
                      <a:pt x="74414" y="0"/>
                    </a:lnTo>
                    <a:cubicBezTo>
                      <a:pt x="81000" y="0"/>
                      <a:pt x="86320" y="5321"/>
                      <a:pt x="86320" y="11906"/>
                    </a:cubicBezTo>
                    <a:lnTo>
                      <a:pt x="86320" y="178594"/>
                    </a:lnTo>
                    <a:cubicBezTo>
                      <a:pt x="86320" y="185179"/>
                      <a:pt x="81000" y="190500"/>
                      <a:pt x="74414" y="190500"/>
                    </a:cubicBezTo>
                    <a:lnTo>
                      <a:pt x="62508" y="190500"/>
                    </a:lnTo>
                    <a:cubicBezTo>
                      <a:pt x="51420" y="190500"/>
                      <a:pt x="42081" y="182910"/>
                      <a:pt x="39439" y="172641"/>
                    </a:cubicBezTo>
                    <a:cubicBezTo>
                      <a:pt x="39179" y="172641"/>
                      <a:pt x="38956" y="172641"/>
                      <a:pt x="38695" y="172641"/>
                    </a:cubicBezTo>
                    <a:cubicBezTo>
                      <a:pt x="22250" y="172641"/>
                      <a:pt x="8930" y="159321"/>
                      <a:pt x="8930" y="142875"/>
                    </a:cubicBezTo>
                    <a:cubicBezTo>
                      <a:pt x="8930" y="136178"/>
                      <a:pt x="11162" y="130001"/>
                      <a:pt x="14883" y="125016"/>
                    </a:cubicBezTo>
                    <a:cubicBezTo>
                      <a:pt x="7665" y="119583"/>
                      <a:pt x="2977" y="110951"/>
                      <a:pt x="2977" y="101203"/>
                    </a:cubicBezTo>
                    <a:cubicBezTo>
                      <a:pt x="2977" y="89706"/>
                      <a:pt x="9525" y="79697"/>
                      <a:pt x="19050" y="74749"/>
                    </a:cubicBezTo>
                    <a:cubicBezTo>
                      <a:pt x="16408" y="70284"/>
                      <a:pt x="14883" y="65075"/>
                      <a:pt x="14883" y="59531"/>
                    </a:cubicBezTo>
                    <a:cubicBezTo>
                      <a:pt x="14883" y="43086"/>
                      <a:pt x="28203" y="29766"/>
                      <a:pt x="44648" y="29766"/>
                    </a:cubicBezTo>
                    <a:lnTo>
                      <a:pt x="44648" y="20836"/>
                    </a:lnTo>
                    <a:close/>
                    <a:moveTo>
                      <a:pt x="145852" y="20836"/>
                    </a:moveTo>
                    <a:lnTo>
                      <a:pt x="145852" y="29766"/>
                    </a:lnTo>
                    <a:cubicBezTo>
                      <a:pt x="162297" y="29766"/>
                      <a:pt x="175617" y="43086"/>
                      <a:pt x="175617" y="59531"/>
                    </a:cubicBezTo>
                    <a:cubicBezTo>
                      <a:pt x="175617" y="65112"/>
                      <a:pt x="174092" y="70321"/>
                      <a:pt x="171450" y="74749"/>
                    </a:cubicBezTo>
                    <a:cubicBezTo>
                      <a:pt x="181012" y="79697"/>
                      <a:pt x="187523" y="89669"/>
                      <a:pt x="187523" y="101203"/>
                    </a:cubicBezTo>
                    <a:cubicBezTo>
                      <a:pt x="187523" y="110951"/>
                      <a:pt x="182835" y="119583"/>
                      <a:pt x="175617" y="125016"/>
                    </a:cubicBezTo>
                    <a:cubicBezTo>
                      <a:pt x="179338" y="130001"/>
                      <a:pt x="181570" y="136178"/>
                      <a:pt x="181570" y="142875"/>
                    </a:cubicBezTo>
                    <a:cubicBezTo>
                      <a:pt x="181570" y="159321"/>
                      <a:pt x="168250" y="172641"/>
                      <a:pt x="151805" y="172641"/>
                    </a:cubicBezTo>
                    <a:cubicBezTo>
                      <a:pt x="151544" y="172641"/>
                      <a:pt x="151321" y="172641"/>
                      <a:pt x="151061" y="172641"/>
                    </a:cubicBezTo>
                    <a:cubicBezTo>
                      <a:pt x="148419" y="182910"/>
                      <a:pt x="139080" y="190500"/>
                      <a:pt x="127992" y="190500"/>
                    </a:cubicBezTo>
                    <a:lnTo>
                      <a:pt x="116086" y="190500"/>
                    </a:lnTo>
                    <a:cubicBezTo>
                      <a:pt x="109500" y="190500"/>
                      <a:pt x="104180" y="185179"/>
                      <a:pt x="104180" y="178594"/>
                    </a:cubicBezTo>
                    <a:lnTo>
                      <a:pt x="104180" y="11906"/>
                    </a:lnTo>
                    <a:cubicBezTo>
                      <a:pt x="104180" y="5321"/>
                      <a:pt x="109500" y="0"/>
                      <a:pt x="116086" y="0"/>
                    </a:cubicBezTo>
                    <a:lnTo>
                      <a:pt x="125016" y="0"/>
                    </a:lnTo>
                    <a:cubicBezTo>
                      <a:pt x="136513" y="0"/>
                      <a:pt x="145852" y="9339"/>
                      <a:pt x="145852" y="20836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24" name="Text 22"/>
              <p:cNvSpPr/>
              <p:nvPr/>
            </p:nvSpPr>
            <p:spPr>
              <a:xfrm>
                <a:off x="4935537" y="1325283"/>
                <a:ext cx="9906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GigaChat</a:t>
                </a:r>
                <a:endParaRPr lang="en-US" sz="28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4956197" y="1575243"/>
                <a:ext cx="2878767" cy="2095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Сбер, интеграция с 1С</a:t>
                </a:r>
                <a:endParaRPr lang="en-US" sz="1600" dirty="0"/>
              </a:p>
            </p:txBody>
          </p:sp>
        </p:grp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E12BBF15-30E9-4A31-BDBF-84B38BA99344}"/>
                </a:ext>
              </a:extLst>
            </p:cNvPr>
            <p:cNvGrpSpPr/>
            <p:nvPr/>
          </p:nvGrpSpPr>
          <p:grpSpPr>
            <a:xfrm>
              <a:off x="4473575" y="2590800"/>
              <a:ext cx="3185160" cy="1828800"/>
              <a:chOff x="4473575" y="2247900"/>
              <a:chExt cx="1990725" cy="1143000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44735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27" name="Text 25"/>
              <p:cNvSpPr/>
              <p:nvPr/>
            </p:nvSpPr>
            <p:spPr>
              <a:xfrm>
                <a:off x="4711700" y="2247900"/>
                <a:ext cx="17526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Русскоязычная модель</a:t>
                </a:r>
                <a:endParaRPr lang="en-US" sz="2400" dirty="0"/>
              </a:p>
            </p:txBody>
          </p:sp>
          <p:sp>
            <p:nvSpPr>
              <p:cNvPr id="28" name="Shape 26"/>
              <p:cNvSpPr/>
              <p:nvPr/>
            </p:nvSpPr>
            <p:spPr>
              <a:xfrm>
                <a:off x="44735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29" name="Text 27"/>
              <p:cNvSpPr/>
              <p:nvPr/>
            </p:nvSpPr>
            <p:spPr>
              <a:xfrm>
                <a:off x="4711700" y="2552700"/>
                <a:ext cx="8477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API доступ</a:t>
                </a:r>
                <a:endParaRPr lang="en-US" sz="2400" dirty="0"/>
              </a:p>
            </p:txBody>
          </p:sp>
          <p:sp>
            <p:nvSpPr>
              <p:cNvPr id="30" name="Shape 28"/>
              <p:cNvSpPr/>
              <p:nvPr/>
            </p:nvSpPr>
            <p:spPr>
              <a:xfrm>
                <a:off x="44831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31" name="Text 29"/>
              <p:cNvSpPr/>
              <p:nvPr/>
            </p:nvSpPr>
            <p:spPr>
              <a:xfrm>
                <a:off x="4711700" y="2857500"/>
                <a:ext cx="14763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Требует доработки</a:t>
                </a:r>
                <a:endParaRPr lang="en-US" sz="2400" dirty="0"/>
              </a:p>
            </p:txBody>
          </p:sp>
          <p:sp>
            <p:nvSpPr>
              <p:cNvPr id="32" name="Shape 30"/>
              <p:cNvSpPr/>
              <p:nvPr/>
            </p:nvSpPr>
            <p:spPr>
              <a:xfrm>
                <a:off x="44831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33" name="Text 31"/>
              <p:cNvSpPr/>
              <p:nvPr/>
            </p:nvSpPr>
            <p:spPr>
              <a:xfrm>
                <a:off x="4711700" y="3162300"/>
                <a:ext cx="1714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Нет готового решения</a:t>
                </a:r>
                <a:endParaRPr lang="en-US" sz="2400" dirty="0"/>
              </a:p>
            </p:txBody>
          </p:sp>
        </p:grpSp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83EF6330-ACE7-4F6F-8AB3-C38E672A55A7}"/>
                </a:ext>
              </a:extLst>
            </p:cNvPr>
            <p:cNvGrpSpPr/>
            <p:nvPr/>
          </p:nvGrpSpPr>
          <p:grpSpPr>
            <a:xfrm>
              <a:off x="4445000" y="4762500"/>
              <a:ext cx="3305175" cy="342900"/>
              <a:chOff x="4445000" y="4762500"/>
              <a:chExt cx="3305175" cy="342900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44450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35" name="Text 33"/>
              <p:cNvSpPr/>
              <p:nvPr/>
            </p:nvSpPr>
            <p:spPr>
              <a:xfrm>
                <a:off x="4487863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API</a:t>
                </a:r>
                <a:endParaRPr lang="en-US" sz="3200" dirty="0"/>
              </a:p>
            </p:txBody>
          </p:sp>
        </p:grpSp>
        <p:sp>
          <p:nvSpPr>
            <p:cNvPr id="36" name="Shape 34"/>
            <p:cNvSpPr/>
            <p:nvPr/>
          </p:nvSpPr>
          <p:spPr>
            <a:xfrm>
              <a:off x="81280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214510AF-B122-4087-BB43-E8EC471A3B79}"/>
                </a:ext>
              </a:extLst>
            </p:cNvPr>
            <p:cNvGrpSpPr/>
            <p:nvPr/>
          </p:nvGrpSpPr>
          <p:grpSpPr>
            <a:xfrm>
              <a:off x="8347075" y="1319753"/>
              <a:ext cx="6992578" cy="851201"/>
              <a:chOff x="8318500" y="1309896"/>
              <a:chExt cx="3949783" cy="480804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83185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38" name="Shape 36"/>
              <p:cNvSpPr/>
              <p:nvPr/>
            </p:nvSpPr>
            <p:spPr>
              <a:xfrm>
                <a:off x="8463756" y="146685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-11906"/>
                    </a:moveTo>
                    <a:cubicBezTo>
                      <a:pt x="54211" y="-11906"/>
                      <a:pt x="59531" y="-6586"/>
                      <a:pt x="59531" y="0"/>
                    </a:cubicBezTo>
                    <a:lnTo>
                      <a:pt x="59531" y="35719"/>
                    </a:lnTo>
                    <a:lnTo>
                      <a:pt x="107156" y="35719"/>
                    </a:lnTo>
                    <a:lnTo>
                      <a:pt x="107156" y="0"/>
                    </a:lnTo>
                    <a:cubicBezTo>
                      <a:pt x="107156" y="-6586"/>
                      <a:pt x="112477" y="-11906"/>
                      <a:pt x="119063" y="-11906"/>
                    </a:cubicBezTo>
                    <a:cubicBezTo>
                      <a:pt x="125648" y="-11906"/>
                      <a:pt x="130969" y="-6586"/>
                      <a:pt x="130969" y="0"/>
                    </a:cubicBezTo>
                    <a:lnTo>
                      <a:pt x="130969" y="35719"/>
                    </a:lnTo>
                    <a:lnTo>
                      <a:pt x="154781" y="35719"/>
                    </a:lnTo>
                    <a:cubicBezTo>
                      <a:pt x="161367" y="35719"/>
                      <a:pt x="166688" y="41039"/>
                      <a:pt x="166688" y="47625"/>
                    </a:cubicBezTo>
                    <a:cubicBezTo>
                      <a:pt x="166688" y="54211"/>
                      <a:pt x="161367" y="59531"/>
                      <a:pt x="154781" y="59531"/>
                    </a:cubicBezTo>
                    <a:lnTo>
                      <a:pt x="154781" y="83344"/>
                    </a:lnTo>
                    <a:cubicBezTo>
                      <a:pt x="154781" y="118728"/>
                      <a:pt x="129034" y="148121"/>
                      <a:pt x="95250" y="153777"/>
                    </a:cubicBezTo>
                    <a:lnTo>
                      <a:pt x="95250" y="178594"/>
                    </a:lnTo>
                    <a:cubicBezTo>
                      <a:pt x="95250" y="185179"/>
                      <a:pt x="89929" y="190500"/>
                      <a:pt x="83344" y="190500"/>
                    </a:cubicBezTo>
                    <a:cubicBezTo>
                      <a:pt x="76758" y="190500"/>
                      <a:pt x="71438" y="185179"/>
                      <a:pt x="71438" y="178594"/>
                    </a:cubicBezTo>
                    <a:lnTo>
                      <a:pt x="71438" y="153777"/>
                    </a:lnTo>
                    <a:cubicBezTo>
                      <a:pt x="37654" y="148121"/>
                      <a:pt x="11906" y="118728"/>
                      <a:pt x="11906" y="83344"/>
                    </a:cubicBezTo>
                    <a:lnTo>
                      <a:pt x="11906" y="59531"/>
                    </a:lnTo>
                    <a:cubicBezTo>
                      <a:pt x="5321" y="59531"/>
                      <a:pt x="0" y="54211"/>
                      <a:pt x="0" y="47625"/>
                    </a:cubicBezTo>
                    <a:cubicBezTo>
                      <a:pt x="0" y="41039"/>
                      <a:pt x="5321" y="35719"/>
                      <a:pt x="11906" y="35719"/>
                    </a:cubicBezTo>
                    <a:lnTo>
                      <a:pt x="35719" y="35719"/>
                    </a:lnTo>
                    <a:lnTo>
                      <a:pt x="35719" y="0"/>
                    </a:lnTo>
                    <a:cubicBezTo>
                      <a:pt x="35719" y="-6586"/>
                      <a:pt x="41039" y="-11906"/>
                      <a:pt x="47625" y="-11906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39" name="Text 37"/>
              <p:cNvSpPr/>
              <p:nvPr/>
            </p:nvSpPr>
            <p:spPr>
              <a:xfrm>
                <a:off x="8890000" y="1309896"/>
                <a:ext cx="8096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ИИкона</a:t>
                </a:r>
                <a:endParaRPr lang="en-US" sz="2800" dirty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8896433" y="1576596"/>
                <a:ext cx="33718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Универсальный коннектор</a:t>
                </a:r>
                <a:endParaRPr lang="en-US" sz="1600" dirty="0"/>
              </a:p>
            </p:txBody>
          </p:sp>
        </p:grpSp>
        <p:grpSp>
          <p:nvGrpSpPr>
            <p:cNvPr id="61" name="Группа 60">
              <a:extLst>
                <a:ext uri="{FF2B5EF4-FFF2-40B4-BE49-F238E27FC236}">
                  <a16:creationId xmlns:a16="http://schemas.microsoft.com/office/drawing/2014/main" id="{F1524BEB-C2CB-40BE-A802-7F1D7553544F}"/>
                </a:ext>
              </a:extLst>
            </p:cNvPr>
            <p:cNvGrpSpPr/>
            <p:nvPr/>
          </p:nvGrpSpPr>
          <p:grpSpPr>
            <a:xfrm>
              <a:off x="8347075" y="2604246"/>
              <a:ext cx="3343275" cy="1815353"/>
              <a:chOff x="8347075" y="2247900"/>
              <a:chExt cx="2105025" cy="1143000"/>
            </a:xfrm>
          </p:grpSpPr>
          <p:sp>
            <p:nvSpPr>
              <p:cNvPr id="41" name="Shape 39"/>
              <p:cNvSpPr/>
              <p:nvPr/>
            </p:nvSpPr>
            <p:spPr>
              <a:xfrm>
                <a:off x="83470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42" name="Text 40"/>
              <p:cNvSpPr/>
              <p:nvPr/>
            </p:nvSpPr>
            <p:spPr>
              <a:xfrm>
                <a:off x="8585200" y="2247900"/>
                <a:ext cx="15811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Множество моделей</a:t>
                </a:r>
                <a:endParaRPr lang="en-US" sz="2400" dirty="0"/>
              </a:p>
            </p:txBody>
          </p:sp>
          <p:sp>
            <p:nvSpPr>
              <p:cNvPr id="43" name="Shape 41"/>
              <p:cNvSpPr/>
              <p:nvPr/>
            </p:nvSpPr>
            <p:spPr>
              <a:xfrm>
                <a:off x="83470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44" name="Text 42"/>
              <p:cNvSpPr/>
              <p:nvPr/>
            </p:nvSpPr>
            <p:spPr>
              <a:xfrm>
                <a:off x="8585200" y="2552700"/>
                <a:ext cx="16097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Готовое расширение</a:t>
                </a:r>
                <a:endParaRPr lang="en-US" sz="2400" dirty="0"/>
              </a:p>
            </p:txBody>
          </p:sp>
          <p:sp>
            <p:nvSpPr>
              <p:cNvPr id="45" name="Shape 43"/>
              <p:cNvSpPr/>
              <p:nvPr/>
            </p:nvSpPr>
            <p:spPr>
              <a:xfrm>
                <a:off x="83566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46" name="Text 44"/>
              <p:cNvSpPr/>
              <p:nvPr/>
            </p:nvSpPr>
            <p:spPr>
              <a:xfrm>
                <a:off x="8585200" y="2857500"/>
                <a:ext cx="13811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Платное решение</a:t>
                </a:r>
                <a:endParaRPr lang="en-US" sz="2400" dirty="0"/>
              </a:p>
            </p:txBody>
          </p:sp>
          <p:sp>
            <p:nvSpPr>
              <p:cNvPr id="47" name="Shape 45"/>
              <p:cNvSpPr/>
              <p:nvPr/>
            </p:nvSpPr>
            <p:spPr>
              <a:xfrm>
                <a:off x="83566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48" name="Text 46"/>
              <p:cNvSpPr/>
              <p:nvPr/>
            </p:nvSpPr>
            <p:spPr>
              <a:xfrm>
                <a:off x="8585200" y="3162300"/>
                <a:ext cx="1866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Зависимость от вендора</a:t>
                </a:r>
                <a:endParaRPr lang="en-US" sz="2400" dirty="0"/>
              </a:p>
            </p:txBody>
          </p:sp>
        </p:grpSp>
        <p:grpSp>
          <p:nvGrpSpPr>
            <p:cNvPr id="67" name="Группа 66">
              <a:extLst>
                <a:ext uri="{FF2B5EF4-FFF2-40B4-BE49-F238E27FC236}">
                  <a16:creationId xmlns:a16="http://schemas.microsoft.com/office/drawing/2014/main" id="{A7EB3043-8870-47A4-9E8E-D82E2CB88778}"/>
                </a:ext>
              </a:extLst>
            </p:cNvPr>
            <p:cNvGrpSpPr/>
            <p:nvPr/>
          </p:nvGrpSpPr>
          <p:grpSpPr>
            <a:xfrm>
              <a:off x="8318500" y="4762500"/>
              <a:ext cx="3305175" cy="342900"/>
              <a:chOff x="8318500" y="4762500"/>
              <a:chExt cx="3305175" cy="342900"/>
            </a:xfrm>
          </p:grpSpPr>
          <p:sp>
            <p:nvSpPr>
              <p:cNvPr id="49" name="Shape 47"/>
              <p:cNvSpPr/>
              <p:nvPr/>
            </p:nvSpPr>
            <p:spPr>
              <a:xfrm>
                <a:off x="83185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50" name="Text 48"/>
              <p:cNvSpPr/>
              <p:nvPr/>
            </p:nvSpPr>
            <p:spPr>
              <a:xfrm>
                <a:off x="8361362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Платный коннектор</a:t>
                </a:r>
                <a:endParaRPr lang="en-US" sz="3200" dirty="0"/>
              </a:p>
            </p:txBody>
          </p:sp>
        </p:grp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DDBD5D8D-96AD-4CB6-A625-CCB58AF00D67}"/>
              </a:ext>
            </a:extLst>
          </p:cNvPr>
          <p:cNvGrpSpPr/>
          <p:nvPr/>
        </p:nvGrpSpPr>
        <p:grpSpPr>
          <a:xfrm>
            <a:off x="381000" y="5486400"/>
            <a:ext cx="11430000" cy="990600"/>
            <a:chOff x="381000" y="5486400"/>
            <a:chExt cx="11430000" cy="990600"/>
          </a:xfrm>
        </p:grpSpPr>
        <p:sp>
          <p:nvSpPr>
            <p:cNvPr id="51" name="Shape 49"/>
            <p:cNvSpPr/>
            <p:nvPr/>
          </p:nvSpPr>
          <p:spPr>
            <a:xfrm>
              <a:off x="381000" y="5486400"/>
              <a:ext cx="11430000" cy="990600"/>
            </a:xfrm>
            <a:custGeom>
              <a:avLst/>
              <a:gdLst/>
              <a:ahLst/>
              <a:cxnLst/>
              <a:rect l="l" t="t" r="r" b="b"/>
              <a:pathLst>
                <a:path w="11430000" h="990600">
                  <a:moveTo>
                    <a:pt x="152404" y="0"/>
                  </a:moveTo>
                  <a:lnTo>
                    <a:pt x="11277596" y="0"/>
                  </a:lnTo>
                  <a:cubicBezTo>
                    <a:pt x="11361766" y="0"/>
                    <a:pt x="11430000" y="68234"/>
                    <a:pt x="11430000" y="152404"/>
                  </a:cubicBezTo>
                  <a:lnTo>
                    <a:pt x="11430000" y="838196"/>
                  </a:lnTo>
                  <a:cubicBezTo>
                    <a:pt x="11430000" y="922366"/>
                    <a:pt x="11361766" y="990600"/>
                    <a:pt x="11277596" y="990600"/>
                  </a:cubicBezTo>
                  <a:lnTo>
                    <a:pt x="152404" y="990600"/>
                  </a:lnTo>
                  <a:cubicBezTo>
                    <a:pt x="68234" y="990600"/>
                    <a:pt x="0" y="922366"/>
                    <a:pt x="0" y="838196"/>
                  </a:cubicBezTo>
                  <a:lnTo>
                    <a:pt x="0" y="152404"/>
                  </a:lnTo>
                  <a:cubicBezTo>
                    <a:pt x="0" y="68234"/>
                    <a:pt x="68234" y="0"/>
                    <a:pt x="15240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571500" y="5715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3" name="Shape 51"/>
            <p:cNvSpPr/>
            <p:nvPr/>
          </p:nvSpPr>
          <p:spPr>
            <a:xfrm>
              <a:off x="709613" y="58674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38187" y="-8439"/>
                  </a:moveTo>
                  <a:cubicBezTo>
                    <a:pt x="136356" y="-12010"/>
                    <a:pt x="132651" y="-14287"/>
                    <a:pt x="128632" y="-14287"/>
                  </a:cubicBezTo>
                  <a:cubicBezTo>
                    <a:pt x="124614" y="-14287"/>
                    <a:pt x="120908" y="-12010"/>
                    <a:pt x="119077" y="-8439"/>
                  </a:cubicBezTo>
                  <a:lnTo>
                    <a:pt x="86216" y="55944"/>
                  </a:lnTo>
                  <a:lnTo>
                    <a:pt x="14823" y="67285"/>
                  </a:lnTo>
                  <a:cubicBezTo>
                    <a:pt x="10850" y="67910"/>
                    <a:pt x="7546" y="70723"/>
                    <a:pt x="6295" y="74563"/>
                  </a:cubicBezTo>
                  <a:cubicBezTo>
                    <a:pt x="5045" y="78403"/>
                    <a:pt x="6072" y="82600"/>
                    <a:pt x="8885" y="85457"/>
                  </a:cubicBezTo>
                  <a:lnTo>
                    <a:pt x="59963" y="136580"/>
                  </a:lnTo>
                  <a:lnTo>
                    <a:pt x="48711" y="207972"/>
                  </a:lnTo>
                  <a:cubicBezTo>
                    <a:pt x="48086" y="211946"/>
                    <a:pt x="49738" y="215964"/>
                    <a:pt x="52998" y="218331"/>
                  </a:cubicBezTo>
                  <a:cubicBezTo>
                    <a:pt x="56257" y="220697"/>
                    <a:pt x="60543" y="221054"/>
                    <a:pt x="64160" y="219224"/>
                  </a:cubicBezTo>
                  <a:lnTo>
                    <a:pt x="128632" y="186452"/>
                  </a:lnTo>
                  <a:lnTo>
                    <a:pt x="193060" y="219224"/>
                  </a:lnTo>
                  <a:cubicBezTo>
                    <a:pt x="196632" y="221054"/>
                    <a:pt x="200963" y="220697"/>
                    <a:pt x="204222" y="218331"/>
                  </a:cubicBezTo>
                  <a:cubicBezTo>
                    <a:pt x="207481" y="215964"/>
                    <a:pt x="209133" y="211991"/>
                    <a:pt x="208508" y="207972"/>
                  </a:cubicBezTo>
                  <a:lnTo>
                    <a:pt x="197212" y="136580"/>
                  </a:lnTo>
                  <a:lnTo>
                    <a:pt x="248290" y="85457"/>
                  </a:lnTo>
                  <a:cubicBezTo>
                    <a:pt x="251147" y="82600"/>
                    <a:pt x="252130" y="78403"/>
                    <a:pt x="250880" y="74563"/>
                  </a:cubicBezTo>
                  <a:cubicBezTo>
                    <a:pt x="249629" y="70723"/>
                    <a:pt x="246370" y="67910"/>
                    <a:pt x="242352" y="67285"/>
                  </a:cubicBezTo>
                  <a:lnTo>
                    <a:pt x="171004" y="55944"/>
                  </a:lnTo>
                  <a:lnTo>
                    <a:pt x="138187" y="-8439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1257300" y="5676900"/>
              <a:ext cx="72580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Почему собственное решение?</a:t>
              </a:r>
              <a:endParaRPr lang="en-US" sz="16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1257300" y="6019800"/>
              <a:ext cx="866806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Полный контроль • Адаптация под УНФ • Оптимальная стоимость • Независимость</a:t>
              </a:r>
              <a:endParaRPr lang="en-US" sz="20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9925367" y="5695950"/>
              <a:ext cx="1695450" cy="571500"/>
            </a:xfrm>
            <a:custGeom>
              <a:avLst/>
              <a:gdLst/>
              <a:ahLst/>
              <a:cxnLst/>
              <a:rect l="l" t="t" r="r" b="b"/>
              <a:pathLst>
                <a:path w="1695450" h="571500">
                  <a:moveTo>
                    <a:pt x="114300" y="0"/>
                  </a:moveTo>
                  <a:lnTo>
                    <a:pt x="1581150" y="0"/>
                  </a:lnTo>
                  <a:cubicBezTo>
                    <a:pt x="1644234" y="0"/>
                    <a:pt x="1695450" y="51216"/>
                    <a:pt x="1695450" y="114300"/>
                  </a:cubicBezTo>
                  <a:lnTo>
                    <a:pt x="1695450" y="457200"/>
                  </a:lnTo>
                  <a:cubicBezTo>
                    <a:pt x="1695450" y="520284"/>
                    <a:pt x="1644234" y="571500"/>
                    <a:pt x="1581150" y="571500"/>
                  </a:cubicBezTo>
                  <a:lnTo>
                    <a:pt x="114300" y="571500"/>
                  </a:lnTo>
                  <a:cubicBezTo>
                    <a:pt x="51216" y="571500"/>
                    <a:pt x="0" y="520284"/>
                    <a:pt x="0" y="457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7" name="Text 55"/>
            <p:cNvSpPr/>
            <p:nvPr/>
          </p:nvSpPr>
          <p:spPr>
            <a:xfrm>
              <a:off x="10153967" y="5810250"/>
              <a:ext cx="13811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Выгодно</a:t>
              </a:r>
              <a:endParaRPr lang="en-US" sz="16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69" name="Text 7">
            <a:extLst>
              <a:ext uri="{FF2B5EF4-FFF2-40B4-BE49-F238E27FC236}">
                <a16:creationId xmlns:a16="http://schemas.microsoft.com/office/drawing/2014/main" id="{1DC382A9-7675-4273-84AC-4B390261A2F3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5</a:t>
            </a:r>
            <a:endParaRPr lang="en-US" sz="1600" dirty="0"/>
          </a:p>
        </p:txBody>
      </p:sp>
      <p:grpSp>
        <p:nvGrpSpPr>
          <p:cNvPr id="124" name="Группа 123">
            <a:extLst>
              <a:ext uri="{FF2B5EF4-FFF2-40B4-BE49-F238E27FC236}">
                <a16:creationId xmlns:a16="http://schemas.microsoft.com/office/drawing/2014/main" id="{4525B394-2630-4157-A0E7-C694447E9EF3}"/>
              </a:ext>
            </a:extLst>
          </p:cNvPr>
          <p:cNvGrpSpPr/>
          <p:nvPr/>
        </p:nvGrpSpPr>
        <p:grpSpPr>
          <a:xfrm>
            <a:off x="381000" y="-762000"/>
            <a:ext cx="5600700" cy="533800"/>
            <a:chOff x="381000" y="381000"/>
            <a:chExt cx="5600700" cy="533800"/>
          </a:xfrm>
        </p:grpSpPr>
        <p:sp>
          <p:nvSpPr>
            <p:cNvPr id="125" name="Shape 0">
              <a:extLst>
                <a:ext uri="{FF2B5EF4-FFF2-40B4-BE49-F238E27FC236}">
                  <a16:creationId xmlns:a16="http://schemas.microsoft.com/office/drawing/2014/main" id="{174FBCD8-07EE-45D1-9F23-F13A7A15619A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6" name="Shape 1">
              <a:extLst>
                <a:ext uri="{FF2B5EF4-FFF2-40B4-BE49-F238E27FC236}">
                  <a16:creationId xmlns:a16="http://schemas.microsoft.com/office/drawing/2014/main" id="{ABCA0C3C-F7F5-424B-AE9A-48C1E69B742C}"/>
                </a:ext>
              </a:extLst>
            </p:cNvPr>
            <p:cNvSpPr/>
            <p:nvPr/>
          </p:nvSpPr>
          <p:spPr>
            <a:xfrm>
              <a:off x="561975" y="5334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39035" y="14288"/>
                  </a:moveTo>
                  <a:lnTo>
                    <a:pt x="142875" y="14288"/>
                  </a:lnTo>
                  <a:cubicBezTo>
                    <a:pt x="158636" y="14288"/>
                    <a:pt x="171450" y="27102"/>
                    <a:pt x="171450" y="42863"/>
                  </a:cubicBezTo>
                  <a:lnTo>
                    <a:pt x="171450" y="200025"/>
                  </a:lnTo>
                  <a:cubicBezTo>
                    <a:pt x="171450" y="215786"/>
                    <a:pt x="158636" y="228600"/>
                    <a:pt x="14287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42863"/>
                  </a:lnTo>
                  <a:cubicBezTo>
                    <a:pt x="0" y="27102"/>
                    <a:pt x="12814" y="14288"/>
                    <a:pt x="28575" y="14288"/>
                  </a:cubicBezTo>
                  <a:lnTo>
                    <a:pt x="32415" y="14288"/>
                  </a:lnTo>
                  <a:cubicBezTo>
                    <a:pt x="37326" y="5760"/>
                    <a:pt x="46568" y="0"/>
                    <a:pt x="57150" y="0"/>
                  </a:cubicBezTo>
                  <a:lnTo>
                    <a:pt x="114300" y="0"/>
                  </a:lnTo>
                  <a:cubicBezTo>
                    <a:pt x="124882" y="0"/>
                    <a:pt x="134124" y="5760"/>
                    <a:pt x="139035" y="14288"/>
                  </a:cubicBezTo>
                  <a:close/>
                  <a:moveTo>
                    <a:pt x="110728" y="50006"/>
                  </a:moveTo>
                  <a:cubicBezTo>
                    <a:pt x="116666" y="50006"/>
                    <a:pt x="121444" y="45229"/>
                    <a:pt x="121444" y="39291"/>
                  </a:cubicBezTo>
                  <a:cubicBezTo>
                    <a:pt x="121444" y="33352"/>
                    <a:pt x="116666" y="28575"/>
                    <a:pt x="110728" y="28575"/>
                  </a:cubicBezTo>
                  <a:lnTo>
                    <a:pt x="60722" y="28575"/>
                  </a:lnTo>
                  <a:cubicBezTo>
                    <a:pt x="54784" y="28575"/>
                    <a:pt x="50006" y="33352"/>
                    <a:pt x="50006" y="39291"/>
                  </a:cubicBezTo>
                  <a:cubicBezTo>
                    <a:pt x="50006" y="45229"/>
                    <a:pt x="54784" y="50006"/>
                    <a:pt x="60722" y="50006"/>
                  </a:cubicBezTo>
                  <a:lnTo>
                    <a:pt x="110728" y="50006"/>
                  </a:lnTo>
                  <a:close/>
                  <a:moveTo>
                    <a:pt x="57150" y="114300"/>
                  </a:moveTo>
                  <a:cubicBezTo>
                    <a:pt x="57150" y="106415"/>
                    <a:pt x="50748" y="100013"/>
                    <a:pt x="42863" y="100013"/>
                  </a:cubicBezTo>
                  <a:cubicBezTo>
                    <a:pt x="34977" y="100013"/>
                    <a:pt x="28575" y="106415"/>
                    <a:pt x="28575" y="114300"/>
                  </a:cubicBezTo>
                  <a:cubicBezTo>
                    <a:pt x="28575" y="122185"/>
                    <a:pt x="34977" y="128588"/>
                    <a:pt x="42863" y="128588"/>
                  </a:cubicBezTo>
                  <a:cubicBezTo>
                    <a:pt x="50748" y="128588"/>
                    <a:pt x="57150" y="122185"/>
                    <a:pt x="57150" y="114300"/>
                  </a:cubicBezTo>
                  <a:close/>
                  <a:moveTo>
                    <a:pt x="71438" y="114300"/>
                  </a:moveTo>
                  <a:cubicBezTo>
                    <a:pt x="71438" y="120238"/>
                    <a:pt x="76215" y="125016"/>
                    <a:pt x="82153" y="125016"/>
                  </a:cubicBezTo>
                  <a:lnTo>
                    <a:pt x="132159" y="125016"/>
                  </a:lnTo>
                  <a:cubicBezTo>
                    <a:pt x="138098" y="125016"/>
                    <a:pt x="142875" y="120238"/>
                    <a:pt x="142875" y="114300"/>
                  </a:cubicBezTo>
                  <a:cubicBezTo>
                    <a:pt x="142875" y="108362"/>
                    <a:pt x="138098" y="103584"/>
                    <a:pt x="132159" y="103584"/>
                  </a:cubicBezTo>
                  <a:lnTo>
                    <a:pt x="82153" y="103584"/>
                  </a:lnTo>
                  <a:cubicBezTo>
                    <a:pt x="76215" y="103584"/>
                    <a:pt x="71438" y="108362"/>
                    <a:pt x="71438" y="114300"/>
                  </a:cubicBezTo>
                  <a:close/>
                  <a:moveTo>
                    <a:pt x="71438" y="171450"/>
                  </a:moveTo>
                  <a:cubicBezTo>
                    <a:pt x="71438" y="177388"/>
                    <a:pt x="76215" y="182166"/>
                    <a:pt x="82153" y="182166"/>
                  </a:cubicBezTo>
                  <a:lnTo>
                    <a:pt x="132159" y="182166"/>
                  </a:lnTo>
                  <a:cubicBezTo>
                    <a:pt x="138098" y="182166"/>
                    <a:pt x="142875" y="177388"/>
                    <a:pt x="142875" y="171450"/>
                  </a:cubicBezTo>
                  <a:cubicBezTo>
                    <a:pt x="142875" y="165512"/>
                    <a:pt x="138098" y="160734"/>
                    <a:pt x="132159" y="160734"/>
                  </a:cubicBezTo>
                  <a:lnTo>
                    <a:pt x="82153" y="160734"/>
                  </a:lnTo>
                  <a:cubicBezTo>
                    <a:pt x="76215" y="160734"/>
                    <a:pt x="71438" y="165512"/>
                    <a:pt x="71438" y="171450"/>
                  </a:cubicBezTo>
                  <a:close/>
                  <a:moveTo>
                    <a:pt x="42863" y="185738"/>
                  </a:moveTo>
                  <a:cubicBezTo>
                    <a:pt x="50748" y="185738"/>
                    <a:pt x="57150" y="179335"/>
                    <a:pt x="57150" y="171450"/>
                  </a:cubicBezTo>
                  <a:cubicBezTo>
                    <a:pt x="57150" y="163565"/>
                    <a:pt x="50748" y="157163"/>
                    <a:pt x="42863" y="157163"/>
                  </a:cubicBezTo>
                  <a:cubicBezTo>
                    <a:pt x="34977" y="157163"/>
                    <a:pt x="28575" y="163565"/>
                    <a:pt x="28575" y="171450"/>
                  </a:cubicBezTo>
                  <a:cubicBezTo>
                    <a:pt x="28575" y="179335"/>
                    <a:pt x="34977" y="185738"/>
                    <a:pt x="42863" y="18573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7" name="Text 2">
              <a:extLst>
                <a:ext uri="{FF2B5EF4-FFF2-40B4-BE49-F238E27FC236}">
                  <a16:creationId xmlns:a16="http://schemas.microsoft.com/office/drawing/2014/main" id="{9A671519-C836-4A0A-8C49-B6F46F0F8C9F}"/>
                </a:ext>
              </a:extLst>
            </p:cNvPr>
            <p:cNvSpPr/>
            <p:nvPr/>
          </p:nvSpPr>
          <p:spPr>
            <a:xfrm>
              <a:off x="1066800" y="400050"/>
              <a:ext cx="49149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Требования к системе</a:t>
              </a:r>
              <a:endParaRPr lang="en-US" sz="2000" dirty="0"/>
            </a:p>
          </p:txBody>
        </p:sp>
        <p:sp>
          <p:nvSpPr>
            <p:cNvPr id="128" name="Shape 3">
              <a:extLst>
                <a:ext uri="{FF2B5EF4-FFF2-40B4-BE49-F238E27FC236}">
                  <a16:creationId xmlns:a16="http://schemas.microsoft.com/office/drawing/2014/main" id="{5E23F533-A898-4DA8-AC5F-31113BFCA05B}"/>
                </a:ext>
              </a:extLst>
            </p:cNvPr>
            <p:cNvSpPr/>
            <p:nvPr/>
          </p:nvSpPr>
          <p:spPr>
            <a:xfrm flipV="1">
              <a:off x="719137" y="857650"/>
              <a:ext cx="4786513" cy="57150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29" name="Text 7">
            <a:extLst>
              <a:ext uri="{FF2B5EF4-FFF2-40B4-BE49-F238E27FC236}">
                <a16:creationId xmlns:a16="http://schemas.microsoft.com/office/drawing/2014/main" id="{481C7188-3E7D-40C1-B601-C0D5C7E9D900}"/>
              </a:ext>
            </a:extLst>
          </p:cNvPr>
          <p:cNvSpPr/>
          <p:nvPr/>
        </p:nvSpPr>
        <p:spPr>
          <a:xfrm>
            <a:off x="11165363" y="-108823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6</a:t>
            </a:r>
            <a:endParaRPr lang="en-US" sz="1600" dirty="0"/>
          </a:p>
        </p:txBody>
      </p:sp>
      <p:grpSp>
        <p:nvGrpSpPr>
          <p:cNvPr id="130" name="Группа 129">
            <a:extLst>
              <a:ext uri="{FF2B5EF4-FFF2-40B4-BE49-F238E27FC236}">
                <a16:creationId xmlns:a16="http://schemas.microsoft.com/office/drawing/2014/main" id="{539A1731-406A-4392-B14C-A0F351621009}"/>
              </a:ext>
            </a:extLst>
          </p:cNvPr>
          <p:cNvGrpSpPr/>
          <p:nvPr/>
        </p:nvGrpSpPr>
        <p:grpSpPr>
          <a:xfrm>
            <a:off x="-5829300" y="1143000"/>
            <a:ext cx="5600700" cy="5334000"/>
            <a:chOff x="381000" y="1143000"/>
            <a:chExt cx="5600700" cy="5334000"/>
          </a:xfrm>
        </p:grpSpPr>
        <p:sp>
          <p:nvSpPr>
            <p:cNvPr id="131" name="Shape 4">
              <a:extLst>
                <a:ext uri="{FF2B5EF4-FFF2-40B4-BE49-F238E27FC236}">
                  <a16:creationId xmlns:a16="http://schemas.microsoft.com/office/drawing/2014/main" id="{6E99AAC3-6576-40AF-88D6-2E748E8038AD}"/>
                </a:ext>
              </a:extLst>
            </p:cNvPr>
            <p:cNvSpPr/>
            <p:nvPr/>
          </p:nvSpPr>
          <p:spPr>
            <a:xfrm>
              <a:off x="381000" y="1143000"/>
              <a:ext cx="5600700" cy="5334000"/>
            </a:xfrm>
            <a:custGeom>
              <a:avLst/>
              <a:gdLst/>
              <a:ahLst/>
              <a:cxnLst/>
              <a:rect l="l" t="t" r="r" b="b"/>
              <a:pathLst>
                <a:path w="5600700" h="5334000">
                  <a:moveTo>
                    <a:pt x="152392" y="0"/>
                  </a:moveTo>
                  <a:lnTo>
                    <a:pt x="5448308" y="0"/>
                  </a:lnTo>
                  <a:cubicBezTo>
                    <a:pt x="5532472" y="0"/>
                    <a:pt x="5600700" y="68228"/>
                    <a:pt x="5600700" y="152392"/>
                  </a:cubicBezTo>
                  <a:lnTo>
                    <a:pt x="5600700" y="5181608"/>
                  </a:lnTo>
                  <a:cubicBezTo>
                    <a:pt x="5600700" y="5265772"/>
                    <a:pt x="5532472" y="5334000"/>
                    <a:pt x="5448308" y="5334000"/>
                  </a:cubicBezTo>
                  <a:lnTo>
                    <a:pt x="152392" y="5334000"/>
                  </a:lnTo>
                  <a:cubicBezTo>
                    <a:pt x="68228" y="5334000"/>
                    <a:pt x="0" y="5265772"/>
                    <a:pt x="0" y="5181608"/>
                  </a:cubicBezTo>
                  <a:lnTo>
                    <a:pt x="0" y="152392"/>
                  </a:lnTo>
                  <a:cubicBezTo>
                    <a:pt x="0" y="68285"/>
                    <a:pt x="68285" y="0"/>
                    <a:pt x="1523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32" name="Shape 5">
              <a:extLst>
                <a:ext uri="{FF2B5EF4-FFF2-40B4-BE49-F238E27FC236}">
                  <a16:creationId xmlns:a16="http://schemas.microsoft.com/office/drawing/2014/main" id="{E402AF1F-5132-45CA-BFFA-CC318C0AD531}"/>
                </a:ext>
              </a:extLst>
            </p:cNvPr>
            <p:cNvSpPr/>
            <p:nvPr/>
          </p:nvSpPr>
          <p:spPr>
            <a:xfrm>
              <a:off x="6096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3" name="Shape 6">
              <a:extLst>
                <a:ext uri="{FF2B5EF4-FFF2-40B4-BE49-F238E27FC236}">
                  <a16:creationId xmlns:a16="http://schemas.microsoft.com/office/drawing/2014/main" id="{26703952-7C1F-46F5-9669-5AAF8BE0ACF4}"/>
                </a:ext>
              </a:extLst>
            </p:cNvPr>
            <p:cNvSpPr/>
            <p:nvPr/>
          </p:nvSpPr>
          <p:spPr>
            <a:xfrm>
              <a:off x="719138" y="1504950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54744" y="78321"/>
                  </a:moveTo>
                  <a:cubicBezTo>
                    <a:pt x="159283" y="77093"/>
                    <a:pt x="164046" y="79251"/>
                    <a:pt x="166092" y="83455"/>
                  </a:cubicBezTo>
                  <a:lnTo>
                    <a:pt x="173013" y="97445"/>
                  </a:lnTo>
                  <a:cubicBezTo>
                    <a:pt x="176845" y="97966"/>
                    <a:pt x="180603" y="99008"/>
                    <a:pt x="184138" y="100459"/>
                  </a:cubicBezTo>
                  <a:lnTo>
                    <a:pt x="197160" y="91790"/>
                  </a:lnTo>
                  <a:cubicBezTo>
                    <a:pt x="201067" y="89185"/>
                    <a:pt x="206239" y="89706"/>
                    <a:pt x="209550" y="93018"/>
                  </a:cubicBezTo>
                  <a:lnTo>
                    <a:pt x="216694" y="100161"/>
                  </a:lnTo>
                  <a:cubicBezTo>
                    <a:pt x="220005" y="103473"/>
                    <a:pt x="220526" y="108682"/>
                    <a:pt x="217922" y="112551"/>
                  </a:cubicBezTo>
                  <a:lnTo>
                    <a:pt x="209252" y="125537"/>
                  </a:lnTo>
                  <a:cubicBezTo>
                    <a:pt x="209959" y="127285"/>
                    <a:pt x="210592" y="129108"/>
                    <a:pt x="211113" y="131006"/>
                  </a:cubicBezTo>
                  <a:cubicBezTo>
                    <a:pt x="211634" y="132904"/>
                    <a:pt x="211968" y="134764"/>
                    <a:pt x="212229" y="136661"/>
                  </a:cubicBezTo>
                  <a:lnTo>
                    <a:pt x="226256" y="143582"/>
                  </a:lnTo>
                  <a:cubicBezTo>
                    <a:pt x="230460" y="145666"/>
                    <a:pt x="232618" y="150428"/>
                    <a:pt x="231391" y="154930"/>
                  </a:cubicBezTo>
                  <a:lnTo>
                    <a:pt x="228786" y="164678"/>
                  </a:lnTo>
                  <a:cubicBezTo>
                    <a:pt x="227558" y="169180"/>
                    <a:pt x="223354" y="172231"/>
                    <a:pt x="218666" y="171934"/>
                  </a:cubicBezTo>
                  <a:lnTo>
                    <a:pt x="203039" y="170929"/>
                  </a:lnTo>
                  <a:cubicBezTo>
                    <a:pt x="200695" y="173943"/>
                    <a:pt x="197979" y="176733"/>
                    <a:pt x="194890" y="179115"/>
                  </a:cubicBezTo>
                  <a:lnTo>
                    <a:pt x="195895" y="194704"/>
                  </a:lnTo>
                  <a:cubicBezTo>
                    <a:pt x="196193" y="199392"/>
                    <a:pt x="193142" y="203634"/>
                    <a:pt x="188640" y="204825"/>
                  </a:cubicBezTo>
                  <a:lnTo>
                    <a:pt x="178891" y="207429"/>
                  </a:lnTo>
                  <a:cubicBezTo>
                    <a:pt x="174352" y="208657"/>
                    <a:pt x="169627" y="206499"/>
                    <a:pt x="167543" y="202295"/>
                  </a:cubicBezTo>
                  <a:lnTo>
                    <a:pt x="160623" y="188305"/>
                  </a:lnTo>
                  <a:cubicBezTo>
                    <a:pt x="156790" y="187784"/>
                    <a:pt x="153033" y="186742"/>
                    <a:pt x="149498" y="185291"/>
                  </a:cubicBezTo>
                  <a:lnTo>
                    <a:pt x="136475" y="193960"/>
                  </a:lnTo>
                  <a:cubicBezTo>
                    <a:pt x="132569" y="196565"/>
                    <a:pt x="127397" y="196044"/>
                    <a:pt x="124085" y="192732"/>
                  </a:cubicBezTo>
                  <a:lnTo>
                    <a:pt x="116942" y="185589"/>
                  </a:lnTo>
                  <a:cubicBezTo>
                    <a:pt x="113630" y="182277"/>
                    <a:pt x="113109" y="177105"/>
                    <a:pt x="115714" y="173199"/>
                  </a:cubicBezTo>
                  <a:lnTo>
                    <a:pt x="124383" y="160176"/>
                  </a:lnTo>
                  <a:cubicBezTo>
                    <a:pt x="123676" y="158428"/>
                    <a:pt x="123044" y="156604"/>
                    <a:pt x="122523" y="154707"/>
                  </a:cubicBezTo>
                  <a:cubicBezTo>
                    <a:pt x="122002" y="152809"/>
                    <a:pt x="121667" y="150912"/>
                    <a:pt x="121407" y="149051"/>
                  </a:cubicBezTo>
                  <a:lnTo>
                    <a:pt x="107379" y="142131"/>
                  </a:lnTo>
                  <a:cubicBezTo>
                    <a:pt x="103175" y="140047"/>
                    <a:pt x="101054" y="135285"/>
                    <a:pt x="102245" y="130783"/>
                  </a:cubicBezTo>
                  <a:lnTo>
                    <a:pt x="104849" y="121034"/>
                  </a:lnTo>
                  <a:cubicBezTo>
                    <a:pt x="106077" y="116532"/>
                    <a:pt x="110282" y="113481"/>
                    <a:pt x="114970" y="113779"/>
                  </a:cubicBezTo>
                  <a:lnTo>
                    <a:pt x="130559" y="114784"/>
                  </a:lnTo>
                  <a:cubicBezTo>
                    <a:pt x="132904" y="111770"/>
                    <a:pt x="135620" y="108979"/>
                    <a:pt x="138708" y="106598"/>
                  </a:cubicBezTo>
                  <a:lnTo>
                    <a:pt x="137703" y="91046"/>
                  </a:lnTo>
                  <a:cubicBezTo>
                    <a:pt x="137406" y="86358"/>
                    <a:pt x="140457" y="82116"/>
                    <a:pt x="144959" y="80925"/>
                  </a:cubicBezTo>
                  <a:lnTo>
                    <a:pt x="154707" y="78321"/>
                  </a:lnTo>
                  <a:close/>
                  <a:moveTo>
                    <a:pt x="166836" y="126504"/>
                  </a:moveTo>
                  <a:cubicBezTo>
                    <a:pt x="157801" y="126514"/>
                    <a:pt x="150474" y="133858"/>
                    <a:pt x="150484" y="142894"/>
                  </a:cubicBezTo>
                  <a:cubicBezTo>
                    <a:pt x="150494" y="151929"/>
                    <a:pt x="157838" y="159256"/>
                    <a:pt x="166874" y="159246"/>
                  </a:cubicBezTo>
                  <a:cubicBezTo>
                    <a:pt x="175909" y="159236"/>
                    <a:pt x="183236" y="151892"/>
                    <a:pt x="183226" y="142856"/>
                  </a:cubicBezTo>
                  <a:cubicBezTo>
                    <a:pt x="183216" y="133821"/>
                    <a:pt x="175872" y="126494"/>
                    <a:pt x="166836" y="126504"/>
                  </a:cubicBezTo>
                  <a:close/>
                  <a:moveTo>
                    <a:pt x="83679" y="-16929"/>
                  </a:moveTo>
                  <a:lnTo>
                    <a:pt x="93427" y="-14325"/>
                  </a:lnTo>
                  <a:cubicBezTo>
                    <a:pt x="97929" y="-13097"/>
                    <a:pt x="100980" y="-8855"/>
                    <a:pt x="100682" y="-4204"/>
                  </a:cubicBezTo>
                  <a:lnTo>
                    <a:pt x="99678" y="11348"/>
                  </a:lnTo>
                  <a:cubicBezTo>
                    <a:pt x="102766" y="13729"/>
                    <a:pt x="105482" y="16483"/>
                    <a:pt x="107826" y="19534"/>
                  </a:cubicBezTo>
                  <a:lnTo>
                    <a:pt x="123453" y="18529"/>
                  </a:lnTo>
                  <a:cubicBezTo>
                    <a:pt x="128104" y="18231"/>
                    <a:pt x="132345" y="21282"/>
                    <a:pt x="133573" y="25784"/>
                  </a:cubicBezTo>
                  <a:lnTo>
                    <a:pt x="136178" y="35533"/>
                  </a:lnTo>
                  <a:cubicBezTo>
                    <a:pt x="137368" y="40035"/>
                    <a:pt x="135248" y="44797"/>
                    <a:pt x="131043" y="46881"/>
                  </a:cubicBezTo>
                  <a:lnTo>
                    <a:pt x="117016" y="53801"/>
                  </a:lnTo>
                  <a:cubicBezTo>
                    <a:pt x="116756" y="55699"/>
                    <a:pt x="116384" y="57596"/>
                    <a:pt x="115900" y="59457"/>
                  </a:cubicBezTo>
                  <a:cubicBezTo>
                    <a:pt x="115416" y="61317"/>
                    <a:pt x="114746" y="63178"/>
                    <a:pt x="114040" y="64926"/>
                  </a:cubicBezTo>
                  <a:lnTo>
                    <a:pt x="122709" y="77949"/>
                  </a:lnTo>
                  <a:cubicBezTo>
                    <a:pt x="125313" y="81855"/>
                    <a:pt x="124792" y="87027"/>
                    <a:pt x="121481" y="90339"/>
                  </a:cubicBezTo>
                  <a:lnTo>
                    <a:pt x="114337" y="97482"/>
                  </a:lnTo>
                  <a:cubicBezTo>
                    <a:pt x="111026" y="100794"/>
                    <a:pt x="105854" y="101315"/>
                    <a:pt x="101947" y="98710"/>
                  </a:cubicBezTo>
                  <a:lnTo>
                    <a:pt x="88925" y="90041"/>
                  </a:lnTo>
                  <a:cubicBezTo>
                    <a:pt x="85390" y="91492"/>
                    <a:pt x="81632" y="92534"/>
                    <a:pt x="77800" y="93055"/>
                  </a:cubicBezTo>
                  <a:lnTo>
                    <a:pt x="70879" y="107045"/>
                  </a:lnTo>
                  <a:cubicBezTo>
                    <a:pt x="68796" y="111249"/>
                    <a:pt x="64033" y="113370"/>
                    <a:pt x="59531" y="112179"/>
                  </a:cubicBezTo>
                  <a:lnTo>
                    <a:pt x="49783" y="109575"/>
                  </a:lnTo>
                  <a:cubicBezTo>
                    <a:pt x="45244" y="108347"/>
                    <a:pt x="42230" y="104105"/>
                    <a:pt x="42528" y="99454"/>
                  </a:cubicBezTo>
                  <a:lnTo>
                    <a:pt x="43532" y="83865"/>
                  </a:lnTo>
                  <a:cubicBezTo>
                    <a:pt x="40444" y="81483"/>
                    <a:pt x="37728" y="78730"/>
                    <a:pt x="35384" y="75679"/>
                  </a:cubicBezTo>
                  <a:lnTo>
                    <a:pt x="19757" y="76684"/>
                  </a:lnTo>
                  <a:cubicBezTo>
                    <a:pt x="15106" y="76981"/>
                    <a:pt x="10864" y="73930"/>
                    <a:pt x="9637" y="69428"/>
                  </a:cubicBezTo>
                  <a:lnTo>
                    <a:pt x="7032" y="59680"/>
                  </a:lnTo>
                  <a:cubicBezTo>
                    <a:pt x="5842" y="55178"/>
                    <a:pt x="7962" y="50416"/>
                    <a:pt x="12167" y="48332"/>
                  </a:cubicBezTo>
                  <a:lnTo>
                    <a:pt x="26194" y="41411"/>
                  </a:lnTo>
                  <a:cubicBezTo>
                    <a:pt x="26454" y="39514"/>
                    <a:pt x="26826" y="37654"/>
                    <a:pt x="27310" y="35756"/>
                  </a:cubicBezTo>
                  <a:cubicBezTo>
                    <a:pt x="27831" y="33858"/>
                    <a:pt x="28426" y="32035"/>
                    <a:pt x="29170" y="30287"/>
                  </a:cubicBezTo>
                  <a:lnTo>
                    <a:pt x="20501" y="17301"/>
                  </a:lnTo>
                  <a:cubicBezTo>
                    <a:pt x="17897" y="13395"/>
                    <a:pt x="18417" y="8223"/>
                    <a:pt x="21729" y="4911"/>
                  </a:cubicBezTo>
                  <a:lnTo>
                    <a:pt x="28873" y="-2232"/>
                  </a:lnTo>
                  <a:cubicBezTo>
                    <a:pt x="32184" y="-5544"/>
                    <a:pt x="37356" y="-6065"/>
                    <a:pt x="41263" y="-3460"/>
                  </a:cubicBezTo>
                  <a:lnTo>
                    <a:pt x="54285" y="5209"/>
                  </a:lnTo>
                  <a:cubicBezTo>
                    <a:pt x="57820" y="3758"/>
                    <a:pt x="61578" y="2716"/>
                    <a:pt x="65410" y="2195"/>
                  </a:cubicBezTo>
                  <a:lnTo>
                    <a:pt x="72330" y="-11795"/>
                  </a:lnTo>
                  <a:cubicBezTo>
                    <a:pt x="74414" y="-15999"/>
                    <a:pt x="79139" y="-18120"/>
                    <a:pt x="83679" y="-16929"/>
                  </a:cubicBezTo>
                  <a:close/>
                  <a:moveTo>
                    <a:pt x="71586" y="31254"/>
                  </a:moveTo>
                  <a:cubicBezTo>
                    <a:pt x="62551" y="31254"/>
                    <a:pt x="55215" y="38590"/>
                    <a:pt x="55215" y="47625"/>
                  </a:cubicBezTo>
                  <a:cubicBezTo>
                    <a:pt x="55215" y="56660"/>
                    <a:pt x="62551" y="63996"/>
                    <a:pt x="71586" y="63996"/>
                  </a:cubicBezTo>
                  <a:cubicBezTo>
                    <a:pt x="80622" y="63996"/>
                    <a:pt x="87957" y="56660"/>
                    <a:pt x="87957" y="47625"/>
                  </a:cubicBezTo>
                  <a:cubicBezTo>
                    <a:pt x="87957" y="38590"/>
                    <a:pt x="80622" y="31254"/>
                    <a:pt x="71586" y="31254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34" name="Text 7">
              <a:extLst>
                <a:ext uri="{FF2B5EF4-FFF2-40B4-BE49-F238E27FC236}">
                  <a16:creationId xmlns:a16="http://schemas.microsoft.com/office/drawing/2014/main" id="{29B2D4E4-A7AD-4DAE-A4BA-7873E3737E43}"/>
                </a:ext>
              </a:extLst>
            </p:cNvPr>
            <p:cNvSpPr/>
            <p:nvPr/>
          </p:nvSpPr>
          <p:spPr>
            <a:xfrm>
              <a:off x="1181100" y="1447800"/>
              <a:ext cx="4642184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Функциональные</a:t>
              </a:r>
              <a:endParaRPr lang="en-US" sz="2400" dirty="0"/>
            </a:p>
          </p:txBody>
        </p:sp>
        <p:grpSp>
          <p:nvGrpSpPr>
            <p:cNvPr id="135" name="Группа 134">
              <a:extLst>
                <a:ext uri="{FF2B5EF4-FFF2-40B4-BE49-F238E27FC236}">
                  <a16:creationId xmlns:a16="http://schemas.microsoft.com/office/drawing/2014/main" id="{BF4BF2FB-3E56-47DD-994A-618C1F030608}"/>
                </a:ext>
              </a:extLst>
            </p:cNvPr>
            <p:cNvGrpSpPr/>
            <p:nvPr/>
          </p:nvGrpSpPr>
          <p:grpSpPr>
            <a:xfrm>
              <a:off x="628650" y="2057400"/>
              <a:ext cx="5124450" cy="4076700"/>
              <a:chOff x="628650" y="2057400"/>
              <a:chExt cx="5124450" cy="4076700"/>
            </a:xfrm>
          </p:grpSpPr>
          <p:sp>
            <p:nvSpPr>
              <p:cNvPr id="136" name="Shape 8">
                <a:extLst>
                  <a:ext uri="{FF2B5EF4-FFF2-40B4-BE49-F238E27FC236}">
                    <a16:creationId xmlns:a16="http://schemas.microsoft.com/office/drawing/2014/main" id="{2B35A536-DCA7-4283-884C-FA3B77A18347}"/>
                  </a:ext>
                </a:extLst>
              </p:cNvPr>
              <p:cNvSpPr/>
              <p:nvPr/>
            </p:nvSpPr>
            <p:spPr>
              <a:xfrm>
                <a:off x="628650" y="20574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37" name="Shape 9">
                <a:extLst>
                  <a:ext uri="{FF2B5EF4-FFF2-40B4-BE49-F238E27FC236}">
                    <a16:creationId xmlns:a16="http://schemas.microsoft.com/office/drawing/2014/main" id="{3959500B-7860-4788-90CB-C3EC0ABD0905}"/>
                  </a:ext>
                </a:extLst>
              </p:cNvPr>
              <p:cNvSpPr/>
              <p:nvPr/>
            </p:nvSpPr>
            <p:spPr>
              <a:xfrm>
                <a:off x="628650" y="20574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38" name="Shape 10">
                <a:extLst>
                  <a:ext uri="{FF2B5EF4-FFF2-40B4-BE49-F238E27FC236}">
                    <a16:creationId xmlns:a16="http://schemas.microsoft.com/office/drawing/2014/main" id="{D03D664E-2C6C-4B0D-AEF6-B909FD3E2D70}"/>
                  </a:ext>
                </a:extLst>
              </p:cNvPr>
              <p:cNvSpPr/>
              <p:nvPr/>
            </p:nvSpPr>
            <p:spPr>
              <a:xfrm>
                <a:off x="812006" y="2324100"/>
                <a:ext cx="2143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90500">
                    <a:moveTo>
                      <a:pt x="142875" y="53578"/>
                    </a:moveTo>
                    <a:cubicBezTo>
                      <a:pt x="142875" y="89743"/>
                      <a:pt x="110877" y="119063"/>
                      <a:pt x="71438" y="119063"/>
                    </a:cubicBezTo>
                    <a:cubicBezTo>
                      <a:pt x="61503" y="119063"/>
                      <a:pt x="52053" y="117202"/>
                      <a:pt x="43458" y="113854"/>
                    </a:cubicBezTo>
                    <a:lnTo>
                      <a:pt x="13097" y="129927"/>
                    </a:lnTo>
                    <a:cubicBezTo>
                      <a:pt x="9637" y="131750"/>
                      <a:pt x="5395" y="131118"/>
                      <a:pt x="2604" y="128364"/>
                    </a:cubicBezTo>
                    <a:cubicBezTo>
                      <a:pt x="-186" y="125611"/>
                      <a:pt x="-819" y="121332"/>
                      <a:pt x="1042" y="117872"/>
                    </a:cubicBezTo>
                    <a:lnTo>
                      <a:pt x="14288" y="92869"/>
                    </a:lnTo>
                    <a:cubicBezTo>
                      <a:pt x="5321" y="81930"/>
                      <a:pt x="0" y="68312"/>
                      <a:pt x="0" y="53578"/>
                    </a:cubicBezTo>
                    <a:cubicBezTo>
                      <a:pt x="0" y="17413"/>
                      <a:pt x="31998" y="-11906"/>
                      <a:pt x="71438" y="-11906"/>
                    </a:cubicBezTo>
                    <a:cubicBezTo>
                      <a:pt x="110877" y="-11906"/>
                      <a:pt x="142875" y="17413"/>
                      <a:pt x="142875" y="53578"/>
                    </a:cubicBezTo>
                    <a:close/>
                    <a:moveTo>
                      <a:pt x="142875" y="190500"/>
                    </a:moveTo>
                    <a:cubicBezTo>
                      <a:pt x="107863" y="190500"/>
                      <a:pt x="78730" y="167394"/>
                      <a:pt x="72628" y="136922"/>
                    </a:cubicBezTo>
                    <a:cubicBezTo>
                      <a:pt x="117277" y="136364"/>
                      <a:pt x="156083" y="104589"/>
                      <a:pt x="160362" y="61503"/>
                    </a:cubicBezTo>
                    <a:cubicBezTo>
                      <a:pt x="191356" y="68647"/>
                      <a:pt x="214313" y="94357"/>
                      <a:pt x="214313" y="125016"/>
                    </a:cubicBezTo>
                    <a:cubicBezTo>
                      <a:pt x="214313" y="139750"/>
                      <a:pt x="208992" y="153367"/>
                      <a:pt x="200025" y="164306"/>
                    </a:cubicBezTo>
                    <a:lnTo>
                      <a:pt x="213271" y="189309"/>
                    </a:lnTo>
                    <a:cubicBezTo>
                      <a:pt x="215094" y="192770"/>
                      <a:pt x="214461" y="197011"/>
                      <a:pt x="211708" y="199802"/>
                    </a:cubicBezTo>
                    <a:cubicBezTo>
                      <a:pt x="208955" y="202592"/>
                      <a:pt x="204676" y="203225"/>
                      <a:pt x="201216" y="201364"/>
                    </a:cubicBezTo>
                    <a:lnTo>
                      <a:pt x="170855" y="185291"/>
                    </a:lnTo>
                    <a:cubicBezTo>
                      <a:pt x="162260" y="188640"/>
                      <a:pt x="152809" y="190500"/>
                      <a:pt x="142875" y="19050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39" name="Text 11">
                <a:extLst>
                  <a:ext uri="{FF2B5EF4-FFF2-40B4-BE49-F238E27FC236}">
                    <a16:creationId xmlns:a16="http://schemas.microsoft.com/office/drawing/2014/main" id="{2BA45290-E46B-4EF0-9E4A-9D3EFCC4EBE6}"/>
                  </a:ext>
                </a:extLst>
              </p:cNvPr>
              <p:cNvSpPr/>
              <p:nvPr/>
            </p:nvSpPr>
            <p:spPr>
              <a:xfrm>
                <a:off x="1152525" y="2209800"/>
                <a:ext cx="4550692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Обработка естественного языка</a:t>
                </a:r>
                <a:endParaRPr lang="en-US" sz="2400" dirty="0"/>
              </a:p>
            </p:txBody>
          </p:sp>
          <p:sp>
            <p:nvSpPr>
              <p:cNvPr id="140" name="Text 12">
                <a:extLst>
                  <a:ext uri="{FF2B5EF4-FFF2-40B4-BE49-F238E27FC236}">
                    <a16:creationId xmlns:a16="http://schemas.microsoft.com/office/drawing/2014/main" id="{A746B2D7-6375-4452-9B7E-E08EA9010714}"/>
                  </a:ext>
                </a:extLst>
              </p:cNvPr>
              <p:cNvSpPr/>
              <p:nvPr/>
            </p:nvSpPr>
            <p:spPr>
              <a:xfrm>
                <a:off x="1152525" y="2476900"/>
                <a:ext cx="45339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Понимание запросов на русском языке</a:t>
                </a:r>
                <a:endParaRPr lang="en-US" sz="2400" dirty="0"/>
              </a:p>
            </p:txBody>
          </p:sp>
          <p:sp>
            <p:nvSpPr>
              <p:cNvPr id="141" name="Shape 13">
                <a:extLst>
                  <a:ext uri="{FF2B5EF4-FFF2-40B4-BE49-F238E27FC236}">
                    <a16:creationId xmlns:a16="http://schemas.microsoft.com/office/drawing/2014/main" id="{0D15C621-C76A-4857-9885-73C4B7034896}"/>
                  </a:ext>
                </a:extLst>
              </p:cNvPr>
              <p:cNvSpPr/>
              <p:nvPr/>
            </p:nvSpPr>
            <p:spPr>
              <a:xfrm>
                <a:off x="628650" y="28956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42" name="Shape 14">
                <a:extLst>
                  <a:ext uri="{FF2B5EF4-FFF2-40B4-BE49-F238E27FC236}">
                    <a16:creationId xmlns:a16="http://schemas.microsoft.com/office/drawing/2014/main" id="{6916D5F9-7AC8-4B54-AF98-BA0E7808A67A}"/>
                  </a:ext>
                </a:extLst>
              </p:cNvPr>
              <p:cNvSpPr/>
              <p:nvPr/>
            </p:nvSpPr>
            <p:spPr>
              <a:xfrm>
                <a:off x="628650" y="28956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43" name="Shape 15">
                <a:extLst>
                  <a:ext uri="{FF2B5EF4-FFF2-40B4-BE49-F238E27FC236}">
                    <a16:creationId xmlns:a16="http://schemas.microsoft.com/office/drawing/2014/main" id="{7A65CC88-459B-4281-846A-9199F5580FBD}"/>
                  </a:ext>
                </a:extLst>
              </p:cNvPr>
              <p:cNvSpPr/>
              <p:nvPr/>
            </p:nvSpPr>
            <p:spPr>
              <a:xfrm>
                <a:off x="823913" y="31623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54781" y="77391"/>
                    </a:moveTo>
                    <a:cubicBezTo>
                      <a:pt x="154781" y="94469"/>
                      <a:pt x="149237" y="110244"/>
                      <a:pt x="139898" y="123044"/>
                    </a:cubicBezTo>
                    <a:lnTo>
                      <a:pt x="187003" y="170185"/>
                    </a:lnTo>
                    <a:cubicBezTo>
                      <a:pt x="191653" y="174836"/>
                      <a:pt x="191653" y="182389"/>
                      <a:pt x="187003" y="187040"/>
                    </a:cubicBezTo>
                    <a:cubicBezTo>
                      <a:pt x="182352" y="191691"/>
                      <a:pt x="174799" y="191691"/>
                      <a:pt x="170148" y="187040"/>
                    </a:cubicBezTo>
                    <a:lnTo>
                      <a:pt x="123044" y="139898"/>
                    </a:lnTo>
                    <a:cubicBezTo>
                      <a:pt x="110244" y="149237"/>
                      <a:pt x="94469" y="154781"/>
                      <a:pt x="77391" y="154781"/>
                    </a:cubicBezTo>
                    <a:cubicBezTo>
                      <a:pt x="34640" y="154781"/>
                      <a:pt x="0" y="120142"/>
                      <a:pt x="0" y="77391"/>
                    </a:cubicBezTo>
                    <a:cubicBezTo>
                      <a:pt x="0" y="34640"/>
                      <a:pt x="34640" y="0"/>
                      <a:pt x="77391" y="0"/>
                    </a:cubicBezTo>
                    <a:cubicBezTo>
                      <a:pt x="120142" y="0"/>
                      <a:pt x="154781" y="34640"/>
                      <a:pt x="154781" y="77391"/>
                    </a:cubicBezTo>
                    <a:close/>
                    <a:moveTo>
                      <a:pt x="77391" y="130969"/>
                    </a:moveTo>
                    <a:cubicBezTo>
                      <a:pt x="106961" y="130969"/>
                      <a:pt x="130969" y="106961"/>
                      <a:pt x="130969" y="77391"/>
                    </a:cubicBezTo>
                    <a:cubicBezTo>
                      <a:pt x="130969" y="47820"/>
                      <a:pt x="106961" y="23812"/>
                      <a:pt x="77391" y="23812"/>
                    </a:cubicBezTo>
                    <a:cubicBezTo>
                      <a:pt x="47820" y="23812"/>
                      <a:pt x="23813" y="47820"/>
                      <a:pt x="23812" y="77391"/>
                    </a:cubicBezTo>
                    <a:cubicBezTo>
                      <a:pt x="23812" y="106961"/>
                      <a:pt x="47820" y="130969"/>
                      <a:pt x="77391" y="130969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44" name="Text 16">
                <a:extLst>
                  <a:ext uri="{FF2B5EF4-FFF2-40B4-BE49-F238E27FC236}">
                    <a16:creationId xmlns:a16="http://schemas.microsoft.com/office/drawing/2014/main" id="{FE6FB440-E09E-446F-814A-1B8D52850CE8}"/>
                  </a:ext>
                </a:extLst>
              </p:cNvPr>
              <p:cNvSpPr/>
              <p:nvPr/>
            </p:nvSpPr>
            <p:spPr>
              <a:xfrm>
                <a:off x="1152525" y="3048000"/>
                <a:ext cx="4550692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Поиск документов</a:t>
                </a:r>
                <a:endParaRPr lang="en-US" sz="2400" dirty="0"/>
              </a:p>
            </p:txBody>
          </p:sp>
          <p:sp>
            <p:nvSpPr>
              <p:cNvPr id="145" name="Text 17">
                <a:extLst>
                  <a:ext uri="{FF2B5EF4-FFF2-40B4-BE49-F238E27FC236}">
                    <a16:creationId xmlns:a16="http://schemas.microsoft.com/office/drawing/2014/main" id="{B227D300-773E-44EE-9EAC-412F8728413A}"/>
                  </a:ext>
                </a:extLst>
              </p:cNvPr>
              <p:cNvSpPr/>
              <p:nvPr/>
            </p:nvSpPr>
            <p:spPr>
              <a:xfrm>
                <a:off x="1152525" y="3315100"/>
                <a:ext cx="4528164" cy="158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Быстрый поиск по описанию</a:t>
                </a:r>
                <a:endParaRPr lang="en-US" sz="2400" dirty="0"/>
              </a:p>
            </p:txBody>
          </p:sp>
          <p:sp>
            <p:nvSpPr>
              <p:cNvPr id="146" name="Shape 18">
                <a:extLst>
                  <a:ext uri="{FF2B5EF4-FFF2-40B4-BE49-F238E27FC236}">
                    <a16:creationId xmlns:a16="http://schemas.microsoft.com/office/drawing/2014/main" id="{A1626692-AA3B-4F64-83A1-252C18F30588}"/>
                  </a:ext>
                </a:extLst>
              </p:cNvPr>
              <p:cNvSpPr/>
              <p:nvPr/>
            </p:nvSpPr>
            <p:spPr>
              <a:xfrm>
                <a:off x="628650" y="37338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47" name="Shape 19">
                <a:extLst>
                  <a:ext uri="{FF2B5EF4-FFF2-40B4-BE49-F238E27FC236}">
                    <a16:creationId xmlns:a16="http://schemas.microsoft.com/office/drawing/2014/main" id="{DBDC101B-B1C6-46B8-83F8-6F4B373DF8A0}"/>
                  </a:ext>
                </a:extLst>
              </p:cNvPr>
              <p:cNvSpPr/>
              <p:nvPr/>
            </p:nvSpPr>
            <p:spPr>
              <a:xfrm>
                <a:off x="628650" y="37338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48" name="Shape 20">
                <a:extLst>
                  <a:ext uri="{FF2B5EF4-FFF2-40B4-BE49-F238E27FC236}">
                    <a16:creationId xmlns:a16="http://schemas.microsoft.com/office/drawing/2014/main" id="{DB137923-504B-4F70-9999-F448DE6B8C88}"/>
                  </a:ext>
                </a:extLst>
              </p:cNvPr>
              <p:cNvSpPr/>
              <p:nvPr/>
            </p:nvSpPr>
            <p:spPr>
              <a:xfrm>
                <a:off x="847725" y="40005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0" y="23812"/>
                    </a:moveTo>
                    <a:cubicBezTo>
                      <a:pt x="0" y="10678"/>
                      <a:pt x="10678" y="0"/>
                      <a:pt x="23812" y="0"/>
                    </a:cubicBezTo>
                    <a:lnTo>
                      <a:pt x="79437" y="0"/>
                    </a:lnTo>
                    <a:cubicBezTo>
                      <a:pt x="85762" y="0"/>
                      <a:pt x="91827" y="2493"/>
                      <a:pt x="96292" y="6958"/>
                    </a:cubicBezTo>
                    <a:lnTo>
                      <a:pt x="135917" y="46620"/>
                    </a:lnTo>
                    <a:cubicBezTo>
                      <a:pt x="140382" y="51085"/>
                      <a:pt x="142875" y="57150"/>
                      <a:pt x="142875" y="63475"/>
                    </a:cubicBezTo>
                    <a:lnTo>
                      <a:pt x="142875" y="166688"/>
                    </a:lnTo>
                    <a:cubicBezTo>
                      <a:pt x="142875" y="179822"/>
                      <a:pt x="132197" y="190500"/>
                      <a:pt x="119063" y="190500"/>
                    </a:cubicBezTo>
                    <a:lnTo>
                      <a:pt x="23812" y="190500"/>
                    </a:lnTo>
                    <a:cubicBezTo>
                      <a:pt x="10678" y="190500"/>
                      <a:pt x="0" y="179822"/>
                      <a:pt x="0" y="166688"/>
                    </a:cubicBezTo>
                    <a:lnTo>
                      <a:pt x="0" y="23812"/>
                    </a:lnTo>
                    <a:close/>
                    <a:moveTo>
                      <a:pt x="77391" y="21766"/>
                    </a:moveTo>
                    <a:lnTo>
                      <a:pt x="77391" y="56555"/>
                    </a:lnTo>
                    <a:cubicBezTo>
                      <a:pt x="77391" y="61503"/>
                      <a:pt x="81372" y="65484"/>
                      <a:pt x="86320" y="65484"/>
                    </a:cubicBezTo>
                    <a:lnTo>
                      <a:pt x="121109" y="65484"/>
                    </a:lnTo>
                    <a:lnTo>
                      <a:pt x="77391" y="21766"/>
                    </a:lnTo>
                    <a:close/>
                    <a:moveTo>
                      <a:pt x="44648" y="95250"/>
                    </a:moveTo>
                    <a:cubicBezTo>
                      <a:pt x="39700" y="95250"/>
                      <a:pt x="35719" y="99231"/>
                      <a:pt x="35719" y="104180"/>
                    </a:cubicBezTo>
                    <a:cubicBezTo>
                      <a:pt x="35719" y="109128"/>
                      <a:pt x="39700" y="113109"/>
                      <a:pt x="44648" y="113109"/>
                    </a:cubicBezTo>
                    <a:lnTo>
                      <a:pt x="98227" y="113109"/>
                    </a:lnTo>
                    <a:cubicBezTo>
                      <a:pt x="103175" y="113109"/>
                      <a:pt x="107156" y="109128"/>
                      <a:pt x="107156" y="104180"/>
                    </a:cubicBezTo>
                    <a:cubicBezTo>
                      <a:pt x="107156" y="99231"/>
                      <a:pt x="103175" y="95250"/>
                      <a:pt x="98227" y="95250"/>
                    </a:cubicBezTo>
                    <a:lnTo>
                      <a:pt x="44648" y="95250"/>
                    </a:lnTo>
                    <a:close/>
                    <a:moveTo>
                      <a:pt x="44648" y="130969"/>
                    </a:moveTo>
                    <a:cubicBezTo>
                      <a:pt x="39700" y="130969"/>
                      <a:pt x="35719" y="134950"/>
                      <a:pt x="35719" y="139898"/>
                    </a:cubicBezTo>
                    <a:cubicBezTo>
                      <a:pt x="35719" y="144847"/>
                      <a:pt x="39700" y="148828"/>
                      <a:pt x="44648" y="148828"/>
                    </a:cubicBezTo>
                    <a:lnTo>
                      <a:pt x="98227" y="148828"/>
                    </a:lnTo>
                    <a:cubicBezTo>
                      <a:pt x="103175" y="148828"/>
                      <a:pt x="107156" y="144847"/>
                      <a:pt x="107156" y="139898"/>
                    </a:cubicBezTo>
                    <a:cubicBezTo>
                      <a:pt x="107156" y="134950"/>
                      <a:pt x="103175" y="130969"/>
                      <a:pt x="98227" y="130969"/>
                    </a:cubicBezTo>
                    <a:lnTo>
                      <a:pt x="44648" y="130969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49" name="Text 21">
                <a:extLst>
                  <a:ext uri="{FF2B5EF4-FFF2-40B4-BE49-F238E27FC236}">
                    <a16:creationId xmlns:a16="http://schemas.microsoft.com/office/drawing/2014/main" id="{ABFF968E-CAEC-420D-8875-87624DD6F66E}"/>
                  </a:ext>
                </a:extLst>
              </p:cNvPr>
              <p:cNvSpPr/>
              <p:nvPr/>
            </p:nvSpPr>
            <p:spPr>
              <a:xfrm>
                <a:off x="1152525" y="3886200"/>
                <a:ext cx="452816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Создание черновиков</a:t>
                </a:r>
                <a:endParaRPr lang="en-US" sz="2400" dirty="0"/>
              </a:p>
            </p:txBody>
          </p:sp>
          <p:sp>
            <p:nvSpPr>
              <p:cNvPr id="150" name="Text 22">
                <a:extLst>
                  <a:ext uri="{FF2B5EF4-FFF2-40B4-BE49-F238E27FC236}">
                    <a16:creationId xmlns:a16="http://schemas.microsoft.com/office/drawing/2014/main" id="{F5847CFF-8302-4AA8-B772-D21C4C214976}"/>
                  </a:ext>
                </a:extLst>
              </p:cNvPr>
              <p:cNvSpPr/>
              <p:nvPr/>
            </p:nvSpPr>
            <p:spPr>
              <a:xfrm>
                <a:off x="1152525" y="4153300"/>
                <a:ext cx="450552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Автозаполнение документов</a:t>
                </a:r>
                <a:endParaRPr lang="en-US" sz="2400" dirty="0"/>
              </a:p>
            </p:txBody>
          </p:sp>
          <p:sp>
            <p:nvSpPr>
              <p:cNvPr id="151" name="Shape 23">
                <a:extLst>
                  <a:ext uri="{FF2B5EF4-FFF2-40B4-BE49-F238E27FC236}">
                    <a16:creationId xmlns:a16="http://schemas.microsoft.com/office/drawing/2014/main" id="{62AF774B-C8E5-4A93-A850-0E743FBD41B5}"/>
                  </a:ext>
                </a:extLst>
              </p:cNvPr>
              <p:cNvSpPr/>
              <p:nvPr/>
            </p:nvSpPr>
            <p:spPr>
              <a:xfrm>
                <a:off x="628650" y="45720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52" name="Shape 24">
                <a:extLst>
                  <a:ext uri="{FF2B5EF4-FFF2-40B4-BE49-F238E27FC236}">
                    <a16:creationId xmlns:a16="http://schemas.microsoft.com/office/drawing/2014/main" id="{2D3C53B6-8662-4258-8128-362FE23D6B98}"/>
                  </a:ext>
                </a:extLst>
              </p:cNvPr>
              <p:cNvSpPr/>
              <p:nvPr/>
            </p:nvSpPr>
            <p:spPr>
              <a:xfrm>
                <a:off x="628650" y="45720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3" name="Shape 25">
                <a:extLst>
                  <a:ext uri="{FF2B5EF4-FFF2-40B4-BE49-F238E27FC236}">
                    <a16:creationId xmlns:a16="http://schemas.microsoft.com/office/drawing/2014/main" id="{AE0825BD-971B-49A1-9E3C-EF2CFB93B4E6}"/>
                  </a:ext>
                </a:extLst>
              </p:cNvPr>
              <p:cNvSpPr/>
              <p:nvPr/>
            </p:nvSpPr>
            <p:spPr>
              <a:xfrm>
                <a:off x="835819" y="48387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137443" y="47625"/>
                    </a:moveTo>
                    <a:lnTo>
                      <a:pt x="124681" y="29766"/>
                    </a:lnTo>
                    <a:lnTo>
                      <a:pt x="42044" y="29766"/>
                    </a:lnTo>
                    <a:lnTo>
                      <a:pt x="29282" y="47625"/>
                    </a:lnTo>
                    <a:lnTo>
                      <a:pt x="137443" y="47625"/>
                    </a:lnTo>
                    <a:close/>
                    <a:moveTo>
                      <a:pt x="0" y="55252"/>
                    </a:moveTo>
                    <a:cubicBezTo>
                      <a:pt x="0" y="50304"/>
                      <a:pt x="1563" y="45467"/>
                      <a:pt x="4428" y="41411"/>
                    </a:cubicBezTo>
                    <a:lnTo>
                      <a:pt x="22659" y="15925"/>
                    </a:lnTo>
                    <a:cubicBezTo>
                      <a:pt x="27124" y="9674"/>
                      <a:pt x="34342" y="5953"/>
                      <a:pt x="42007" y="5953"/>
                    </a:cubicBezTo>
                    <a:lnTo>
                      <a:pt x="124644" y="5953"/>
                    </a:lnTo>
                    <a:cubicBezTo>
                      <a:pt x="132345" y="5953"/>
                      <a:pt x="139564" y="9674"/>
                      <a:pt x="144028" y="15925"/>
                    </a:cubicBezTo>
                    <a:lnTo>
                      <a:pt x="162223" y="41411"/>
                    </a:lnTo>
                    <a:cubicBezTo>
                      <a:pt x="165125" y="45467"/>
                      <a:pt x="166650" y="50304"/>
                      <a:pt x="166650" y="55252"/>
                    </a:cubicBezTo>
                    <a:lnTo>
                      <a:pt x="166688" y="154781"/>
                    </a:lnTo>
                    <a:cubicBezTo>
                      <a:pt x="166688" y="167915"/>
                      <a:pt x="156009" y="178594"/>
                      <a:pt x="142875" y="178594"/>
                    </a:cubicBezTo>
                    <a:lnTo>
                      <a:pt x="23812" y="178594"/>
                    </a:lnTo>
                    <a:cubicBezTo>
                      <a:pt x="10678" y="178594"/>
                      <a:pt x="0" y="167915"/>
                      <a:pt x="0" y="154781"/>
                    </a:cubicBezTo>
                    <a:lnTo>
                      <a:pt x="0" y="55252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4" name="Text 26">
                <a:extLst>
                  <a:ext uri="{FF2B5EF4-FFF2-40B4-BE49-F238E27FC236}">
                    <a16:creationId xmlns:a16="http://schemas.microsoft.com/office/drawing/2014/main" id="{AD9B1065-60E3-4867-90E1-1D7D5C7F3108}"/>
                  </a:ext>
                </a:extLst>
              </p:cNvPr>
              <p:cNvSpPr/>
              <p:nvPr/>
            </p:nvSpPr>
            <p:spPr>
              <a:xfrm>
                <a:off x="1152525" y="4724400"/>
                <a:ext cx="452718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Проверка остатков</a:t>
                </a:r>
                <a:endParaRPr lang="en-US" sz="2400" dirty="0"/>
              </a:p>
            </p:txBody>
          </p:sp>
          <p:sp>
            <p:nvSpPr>
              <p:cNvPr id="155" name="Text 27">
                <a:extLst>
                  <a:ext uri="{FF2B5EF4-FFF2-40B4-BE49-F238E27FC236}">
                    <a16:creationId xmlns:a16="http://schemas.microsoft.com/office/drawing/2014/main" id="{8441F571-0CF7-487C-BA48-D83E910DE7DB}"/>
                  </a:ext>
                </a:extLst>
              </p:cNvPr>
              <p:cNvSpPr/>
              <p:nvPr/>
            </p:nvSpPr>
            <p:spPr>
              <a:xfrm>
                <a:off x="1152524" y="4991500"/>
                <a:ext cx="450552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Мгновенный доступ к данным</a:t>
                </a:r>
                <a:endParaRPr lang="en-US" sz="2400" dirty="0"/>
              </a:p>
            </p:txBody>
          </p:sp>
          <p:sp>
            <p:nvSpPr>
              <p:cNvPr id="156" name="Shape 28">
                <a:extLst>
                  <a:ext uri="{FF2B5EF4-FFF2-40B4-BE49-F238E27FC236}">
                    <a16:creationId xmlns:a16="http://schemas.microsoft.com/office/drawing/2014/main" id="{122D534D-E033-4F37-810A-5C9F732C4576}"/>
                  </a:ext>
                </a:extLst>
              </p:cNvPr>
              <p:cNvSpPr/>
              <p:nvPr/>
            </p:nvSpPr>
            <p:spPr>
              <a:xfrm>
                <a:off x="628650" y="54102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57" name="Shape 29">
                <a:extLst>
                  <a:ext uri="{FF2B5EF4-FFF2-40B4-BE49-F238E27FC236}">
                    <a16:creationId xmlns:a16="http://schemas.microsoft.com/office/drawing/2014/main" id="{84335B12-C9BD-4B84-AD84-E06A7E65707F}"/>
                  </a:ext>
                </a:extLst>
              </p:cNvPr>
              <p:cNvSpPr/>
              <p:nvPr/>
            </p:nvSpPr>
            <p:spPr>
              <a:xfrm>
                <a:off x="628650" y="54102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8" name="Shape 30">
                <a:extLst>
                  <a:ext uri="{FF2B5EF4-FFF2-40B4-BE49-F238E27FC236}">
                    <a16:creationId xmlns:a16="http://schemas.microsoft.com/office/drawing/2014/main" id="{CF989C5F-6228-4103-9FDA-7EABEB56679D}"/>
                  </a:ext>
                </a:extLst>
              </p:cNvPr>
              <p:cNvSpPr/>
              <p:nvPr/>
            </p:nvSpPr>
            <p:spPr>
              <a:xfrm>
                <a:off x="823913" y="56769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114114" y="120960"/>
                    </a:moveTo>
                    <a:lnTo>
                      <a:pt x="60424" y="141610"/>
                    </a:lnTo>
                    <a:cubicBezTo>
                      <a:pt x="53206" y="144400"/>
                      <a:pt x="46100" y="137294"/>
                      <a:pt x="48890" y="130076"/>
                    </a:cubicBezTo>
                    <a:lnTo>
                      <a:pt x="69540" y="76386"/>
                    </a:lnTo>
                    <a:cubicBezTo>
                      <a:pt x="70768" y="73223"/>
                      <a:pt x="73223" y="70768"/>
                      <a:pt x="76386" y="69540"/>
                    </a:cubicBezTo>
                    <a:lnTo>
                      <a:pt x="130076" y="48890"/>
                    </a:lnTo>
                    <a:cubicBezTo>
                      <a:pt x="137294" y="46100"/>
                      <a:pt x="144400" y="53206"/>
                      <a:pt x="141610" y="60424"/>
                    </a:cubicBezTo>
                    <a:lnTo>
                      <a:pt x="120960" y="114114"/>
                    </a:lnTo>
                    <a:cubicBezTo>
                      <a:pt x="119769" y="117277"/>
                      <a:pt x="117277" y="119732"/>
                      <a:pt x="114114" y="120960"/>
                    </a:cubicBezTo>
                    <a:close/>
                    <a:moveTo>
                      <a:pt x="107156" y="95250"/>
                    </a:moveTo>
                    <a:cubicBezTo>
                      <a:pt x="107156" y="88679"/>
                      <a:pt x="101821" y="83344"/>
                      <a:pt x="95250" y="83344"/>
                    </a:cubicBezTo>
                    <a:cubicBezTo>
                      <a:pt x="88679" y="83344"/>
                      <a:pt x="83344" y="88679"/>
                      <a:pt x="83344" y="95250"/>
                    </a:cubicBezTo>
                    <a:cubicBezTo>
                      <a:pt x="83344" y="101821"/>
                      <a:pt x="88679" y="107156"/>
                      <a:pt x="95250" y="107156"/>
                    </a:cubicBezTo>
                    <a:cubicBezTo>
                      <a:pt x="101821" y="107156"/>
                      <a:pt x="107156" y="101821"/>
                      <a:pt x="107156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9" name="Text 31">
                <a:extLst>
                  <a:ext uri="{FF2B5EF4-FFF2-40B4-BE49-F238E27FC236}">
                    <a16:creationId xmlns:a16="http://schemas.microsoft.com/office/drawing/2014/main" id="{C3B4CA8B-4F76-4866-AF88-E47AB0C484B1}"/>
                  </a:ext>
                </a:extLst>
              </p:cNvPr>
              <p:cNvSpPr/>
              <p:nvPr/>
            </p:nvSpPr>
            <p:spPr>
              <a:xfrm>
                <a:off x="1152524" y="5562600"/>
                <a:ext cx="450552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Навигация по формам</a:t>
                </a:r>
                <a:endParaRPr lang="en-US" sz="2400" dirty="0"/>
              </a:p>
            </p:txBody>
          </p:sp>
          <p:sp>
            <p:nvSpPr>
              <p:cNvPr id="160" name="Text 32">
                <a:extLst>
                  <a:ext uri="{FF2B5EF4-FFF2-40B4-BE49-F238E27FC236}">
                    <a16:creationId xmlns:a16="http://schemas.microsoft.com/office/drawing/2014/main" id="{871FB1C5-8489-46EB-B571-2407EEBCAC56}"/>
                  </a:ext>
                </a:extLst>
              </p:cNvPr>
              <p:cNvSpPr/>
              <p:nvPr/>
            </p:nvSpPr>
            <p:spPr>
              <a:xfrm>
                <a:off x="1152525" y="5829700"/>
                <a:ext cx="44813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Открытие нужных окон</a:t>
                </a:r>
                <a:endParaRPr lang="en-US" sz="2400" dirty="0"/>
              </a:p>
            </p:txBody>
          </p:sp>
        </p:grpSp>
      </p:grpSp>
      <p:grpSp>
        <p:nvGrpSpPr>
          <p:cNvPr id="161" name="Группа 160">
            <a:extLst>
              <a:ext uri="{FF2B5EF4-FFF2-40B4-BE49-F238E27FC236}">
                <a16:creationId xmlns:a16="http://schemas.microsoft.com/office/drawing/2014/main" id="{C37942F0-A366-4729-9B59-5EAAB74091C6}"/>
              </a:ext>
            </a:extLst>
          </p:cNvPr>
          <p:cNvGrpSpPr/>
          <p:nvPr/>
        </p:nvGrpSpPr>
        <p:grpSpPr>
          <a:xfrm>
            <a:off x="12439650" y="1143000"/>
            <a:ext cx="5600700" cy="5334000"/>
            <a:chOff x="6210300" y="1143000"/>
            <a:chExt cx="5600700" cy="5334000"/>
          </a:xfrm>
        </p:grpSpPr>
        <p:sp>
          <p:nvSpPr>
            <p:cNvPr id="162" name="Shape 33">
              <a:extLst>
                <a:ext uri="{FF2B5EF4-FFF2-40B4-BE49-F238E27FC236}">
                  <a16:creationId xmlns:a16="http://schemas.microsoft.com/office/drawing/2014/main" id="{ABF3EB25-DB0D-4B27-8BA4-7D14903C4406}"/>
                </a:ext>
              </a:extLst>
            </p:cNvPr>
            <p:cNvSpPr/>
            <p:nvPr/>
          </p:nvSpPr>
          <p:spPr>
            <a:xfrm>
              <a:off x="6210300" y="1143000"/>
              <a:ext cx="5600700" cy="5334000"/>
            </a:xfrm>
            <a:custGeom>
              <a:avLst/>
              <a:gdLst/>
              <a:ahLst/>
              <a:cxnLst/>
              <a:rect l="l" t="t" r="r" b="b"/>
              <a:pathLst>
                <a:path w="5600700" h="5334000">
                  <a:moveTo>
                    <a:pt x="152392" y="0"/>
                  </a:moveTo>
                  <a:lnTo>
                    <a:pt x="5448308" y="0"/>
                  </a:lnTo>
                  <a:cubicBezTo>
                    <a:pt x="5532472" y="0"/>
                    <a:pt x="5600700" y="68228"/>
                    <a:pt x="5600700" y="152392"/>
                  </a:cubicBezTo>
                  <a:lnTo>
                    <a:pt x="5600700" y="5181608"/>
                  </a:lnTo>
                  <a:cubicBezTo>
                    <a:pt x="5600700" y="5265772"/>
                    <a:pt x="5532472" y="5334000"/>
                    <a:pt x="5448308" y="5334000"/>
                  </a:cubicBezTo>
                  <a:lnTo>
                    <a:pt x="152392" y="5334000"/>
                  </a:lnTo>
                  <a:cubicBezTo>
                    <a:pt x="68228" y="5334000"/>
                    <a:pt x="0" y="5265772"/>
                    <a:pt x="0" y="5181608"/>
                  </a:cubicBezTo>
                  <a:lnTo>
                    <a:pt x="0" y="152392"/>
                  </a:lnTo>
                  <a:cubicBezTo>
                    <a:pt x="0" y="68285"/>
                    <a:pt x="68285" y="0"/>
                    <a:pt x="1523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63" name="Shape 34">
              <a:extLst>
                <a:ext uri="{FF2B5EF4-FFF2-40B4-BE49-F238E27FC236}">
                  <a16:creationId xmlns:a16="http://schemas.microsoft.com/office/drawing/2014/main" id="{74A1A7C0-DAEB-4153-A0EB-9E8D84728B0A}"/>
                </a:ext>
              </a:extLst>
            </p:cNvPr>
            <p:cNvSpPr/>
            <p:nvPr/>
          </p:nvSpPr>
          <p:spPr>
            <a:xfrm>
              <a:off x="64389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64" name="Shape 35">
              <a:extLst>
                <a:ext uri="{FF2B5EF4-FFF2-40B4-BE49-F238E27FC236}">
                  <a16:creationId xmlns:a16="http://schemas.microsoft.com/office/drawing/2014/main" id="{221C1850-1B99-471F-9ED9-EB92CE0CA499}"/>
                </a:ext>
              </a:extLst>
            </p:cNvPr>
            <p:cNvSpPr/>
            <p:nvPr/>
          </p:nvSpPr>
          <p:spPr>
            <a:xfrm>
              <a:off x="65722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96962" y="0"/>
                    <a:pt x="98673" y="372"/>
                    <a:pt x="100236" y="1079"/>
                  </a:cubicBezTo>
                  <a:lnTo>
                    <a:pt x="170334" y="30807"/>
                  </a:lnTo>
                  <a:cubicBezTo>
                    <a:pt x="178519" y="34268"/>
                    <a:pt x="184621" y="42342"/>
                    <a:pt x="184584" y="52090"/>
                  </a:cubicBezTo>
                  <a:cubicBezTo>
                    <a:pt x="184398" y="88999"/>
                    <a:pt x="169218" y="156530"/>
                    <a:pt x="105110" y="187226"/>
                  </a:cubicBezTo>
                  <a:cubicBezTo>
                    <a:pt x="98896" y="190202"/>
                    <a:pt x="91678" y="190202"/>
                    <a:pt x="85465" y="187226"/>
                  </a:cubicBezTo>
                  <a:cubicBezTo>
                    <a:pt x="21320" y="156530"/>
                    <a:pt x="6176" y="88999"/>
                    <a:pt x="5990" y="52090"/>
                  </a:cubicBezTo>
                  <a:cubicBezTo>
                    <a:pt x="5953" y="42342"/>
                    <a:pt x="12055" y="34268"/>
                    <a:pt x="20241" y="30807"/>
                  </a:cubicBezTo>
                  <a:lnTo>
                    <a:pt x="90301" y="1079"/>
                  </a:lnTo>
                  <a:cubicBezTo>
                    <a:pt x="91864" y="372"/>
                    <a:pt x="93538" y="0"/>
                    <a:pt x="95250" y="0"/>
                  </a:cubicBezTo>
                  <a:close/>
                  <a:moveTo>
                    <a:pt x="95250" y="24854"/>
                  </a:moveTo>
                  <a:lnTo>
                    <a:pt x="95250" y="165534"/>
                  </a:lnTo>
                  <a:cubicBezTo>
                    <a:pt x="146596" y="140680"/>
                    <a:pt x="160400" y="85613"/>
                    <a:pt x="160734" y="52648"/>
                  </a:cubicBezTo>
                  <a:lnTo>
                    <a:pt x="95250" y="24892"/>
                  </a:lnTo>
                  <a:lnTo>
                    <a:pt x="95250" y="24892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5" name="Text 36">
              <a:extLst>
                <a:ext uri="{FF2B5EF4-FFF2-40B4-BE49-F238E27FC236}">
                  <a16:creationId xmlns:a16="http://schemas.microsoft.com/office/drawing/2014/main" id="{9749E0AA-E8BB-4ECB-BA32-706033DAD66A}"/>
                </a:ext>
              </a:extLst>
            </p:cNvPr>
            <p:cNvSpPr/>
            <p:nvPr/>
          </p:nvSpPr>
          <p:spPr>
            <a:xfrm>
              <a:off x="7010400" y="1447800"/>
              <a:ext cx="4453221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Нефункциональные</a:t>
              </a:r>
              <a:endParaRPr lang="en-US" sz="2400" dirty="0"/>
            </a:p>
          </p:txBody>
        </p:sp>
        <p:grpSp>
          <p:nvGrpSpPr>
            <p:cNvPr id="166" name="Группа 165">
              <a:extLst>
                <a:ext uri="{FF2B5EF4-FFF2-40B4-BE49-F238E27FC236}">
                  <a16:creationId xmlns:a16="http://schemas.microsoft.com/office/drawing/2014/main" id="{EF054673-253A-4B7E-B4E8-C137CBEB4E72}"/>
                </a:ext>
              </a:extLst>
            </p:cNvPr>
            <p:cNvGrpSpPr/>
            <p:nvPr/>
          </p:nvGrpSpPr>
          <p:grpSpPr>
            <a:xfrm>
              <a:off x="6457950" y="2057400"/>
              <a:ext cx="5124450" cy="4076700"/>
              <a:chOff x="6457950" y="2057400"/>
              <a:chExt cx="5124450" cy="4076700"/>
            </a:xfrm>
          </p:grpSpPr>
          <p:sp>
            <p:nvSpPr>
              <p:cNvPr id="167" name="Shape 37">
                <a:extLst>
                  <a:ext uri="{FF2B5EF4-FFF2-40B4-BE49-F238E27FC236}">
                    <a16:creationId xmlns:a16="http://schemas.microsoft.com/office/drawing/2014/main" id="{8DF30F18-C655-4559-B143-75FCDDBE5375}"/>
                  </a:ext>
                </a:extLst>
              </p:cNvPr>
              <p:cNvSpPr/>
              <p:nvPr/>
            </p:nvSpPr>
            <p:spPr>
              <a:xfrm>
                <a:off x="6457950" y="20574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68" name="Shape 38">
                <a:extLst>
                  <a:ext uri="{FF2B5EF4-FFF2-40B4-BE49-F238E27FC236}">
                    <a16:creationId xmlns:a16="http://schemas.microsoft.com/office/drawing/2014/main" id="{C9103B44-F57B-4171-9E46-FE0DBC2CEFF3}"/>
                  </a:ext>
                </a:extLst>
              </p:cNvPr>
              <p:cNvSpPr/>
              <p:nvPr/>
            </p:nvSpPr>
            <p:spPr>
              <a:xfrm>
                <a:off x="6457950" y="20574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69" name="Shape 39">
                <a:extLst>
                  <a:ext uri="{FF2B5EF4-FFF2-40B4-BE49-F238E27FC236}">
                    <a16:creationId xmlns:a16="http://schemas.microsoft.com/office/drawing/2014/main" id="{D3CF797B-A6C4-40B2-8583-6477A3710917}"/>
                  </a:ext>
                </a:extLst>
              </p:cNvPr>
              <p:cNvSpPr/>
              <p:nvPr/>
            </p:nvSpPr>
            <p:spPr>
              <a:xfrm>
                <a:off x="6653213" y="23241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107156" y="35719"/>
                    </a:moveTo>
                    <a:cubicBezTo>
                      <a:pt x="107156" y="29148"/>
                      <a:pt x="101821" y="23812"/>
                      <a:pt x="95250" y="23812"/>
                    </a:cubicBezTo>
                    <a:cubicBezTo>
                      <a:pt x="88679" y="23812"/>
                      <a:pt x="83344" y="29148"/>
                      <a:pt x="83344" y="35719"/>
                    </a:cubicBezTo>
                    <a:cubicBezTo>
                      <a:pt x="83344" y="42290"/>
                      <a:pt x="88679" y="47625"/>
                      <a:pt x="95250" y="47625"/>
                    </a:cubicBezTo>
                    <a:cubicBezTo>
                      <a:pt x="101821" y="47625"/>
                      <a:pt x="107156" y="42290"/>
                      <a:pt x="107156" y="35719"/>
                    </a:cubicBezTo>
                    <a:close/>
                    <a:moveTo>
                      <a:pt x="95250" y="154781"/>
                    </a:moveTo>
                    <a:cubicBezTo>
                      <a:pt x="108384" y="154781"/>
                      <a:pt x="119063" y="144103"/>
                      <a:pt x="119063" y="130969"/>
                    </a:cubicBezTo>
                    <a:cubicBezTo>
                      <a:pt x="119063" y="124941"/>
                      <a:pt x="116830" y="119397"/>
                      <a:pt x="113109" y="115230"/>
                    </a:cubicBezTo>
                    <a:lnTo>
                      <a:pt x="138968" y="63550"/>
                    </a:lnTo>
                    <a:cubicBezTo>
                      <a:pt x="141163" y="59122"/>
                      <a:pt x="139378" y="53764"/>
                      <a:pt x="134987" y="51569"/>
                    </a:cubicBezTo>
                    <a:cubicBezTo>
                      <a:pt x="130597" y="49374"/>
                      <a:pt x="125202" y="51160"/>
                      <a:pt x="123006" y="55550"/>
                    </a:cubicBezTo>
                    <a:lnTo>
                      <a:pt x="97148" y="107231"/>
                    </a:lnTo>
                    <a:cubicBezTo>
                      <a:pt x="96515" y="107193"/>
                      <a:pt x="95883" y="107156"/>
                      <a:pt x="95250" y="107156"/>
                    </a:cubicBezTo>
                    <a:cubicBezTo>
                      <a:pt x="82116" y="107156"/>
                      <a:pt x="71438" y="117835"/>
                      <a:pt x="71438" y="130969"/>
                    </a:cubicBezTo>
                    <a:cubicBezTo>
                      <a:pt x="71438" y="144103"/>
                      <a:pt x="82116" y="154781"/>
                      <a:pt x="95250" y="154781"/>
                    </a:cubicBezTo>
                    <a:close/>
                    <a:moveTo>
                      <a:pt x="65484" y="53578"/>
                    </a:moveTo>
                    <a:cubicBezTo>
                      <a:pt x="65484" y="47007"/>
                      <a:pt x="60149" y="41672"/>
                      <a:pt x="53578" y="41672"/>
                    </a:cubicBezTo>
                    <a:cubicBezTo>
                      <a:pt x="47007" y="41672"/>
                      <a:pt x="41672" y="47007"/>
                      <a:pt x="41672" y="53578"/>
                    </a:cubicBezTo>
                    <a:cubicBezTo>
                      <a:pt x="41672" y="60149"/>
                      <a:pt x="47007" y="65484"/>
                      <a:pt x="53578" y="65484"/>
                    </a:cubicBezTo>
                    <a:cubicBezTo>
                      <a:pt x="60149" y="65484"/>
                      <a:pt x="65484" y="60149"/>
                      <a:pt x="65484" y="53578"/>
                    </a:cubicBezTo>
                    <a:close/>
                    <a:moveTo>
                      <a:pt x="35719" y="107156"/>
                    </a:moveTo>
                    <a:cubicBezTo>
                      <a:pt x="42290" y="107156"/>
                      <a:pt x="47625" y="101821"/>
                      <a:pt x="47625" y="95250"/>
                    </a:cubicBezTo>
                    <a:cubicBezTo>
                      <a:pt x="47625" y="88679"/>
                      <a:pt x="42290" y="83344"/>
                      <a:pt x="35719" y="83344"/>
                    </a:cubicBezTo>
                    <a:cubicBezTo>
                      <a:pt x="29148" y="83344"/>
                      <a:pt x="23812" y="88679"/>
                      <a:pt x="23812" y="95250"/>
                    </a:cubicBezTo>
                    <a:cubicBezTo>
                      <a:pt x="23812" y="101821"/>
                      <a:pt x="29148" y="107156"/>
                      <a:pt x="35719" y="107156"/>
                    </a:cubicBezTo>
                    <a:close/>
                    <a:moveTo>
                      <a:pt x="166688" y="95250"/>
                    </a:moveTo>
                    <a:cubicBezTo>
                      <a:pt x="166688" y="88679"/>
                      <a:pt x="161352" y="83344"/>
                      <a:pt x="154781" y="83344"/>
                    </a:cubicBezTo>
                    <a:cubicBezTo>
                      <a:pt x="148210" y="83344"/>
                      <a:pt x="142875" y="88679"/>
                      <a:pt x="142875" y="95250"/>
                    </a:cubicBezTo>
                    <a:cubicBezTo>
                      <a:pt x="142875" y="101821"/>
                      <a:pt x="148210" y="107156"/>
                      <a:pt x="154781" y="107156"/>
                    </a:cubicBezTo>
                    <a:cubicBezTo>
                      <a:pt x="161352" y="107156"/>
                      <a:pt x="166688" y="101821"/>
                      <a:pt x="166688" y="9525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70" name="Text 40">
                <a:extLst>
                  <a:ext uri="{FF2B5EF4-FFF2-40B4-BE49-F238E27FC236}">
                    <a16:creationId xmlns:a16="http://schemas.microsoft.com/office/drawing/2014/main" id="{8F64BA95-D0A6-4D16-8DBC-8AF01DF543E4}"/>
                  </a:ext>
                </a:extLst>
              </p:cNvPr>
              <p:cNvSpPr/>
              <p:nvPr/>
            </p:nvSpPr>
            <p:spPr>
              <a:xfrm>
                <a:off x="6981825" y="2209800"/>
                <a:ext cx="355452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Время ответа &lt; 3 сек</a:t>
                </a:r>
                <a:endParaRPr lang="en-US" sz="2400" dirty="0"/>
              </a:p>
            </p:txBody>
          </p:sp>
          <p:sp>
            <p:nvSpPr>
              <p:cNvPr id="171" name="Text 41">
                <a:extLst>
                  <a:ext uri="{FF2B5EF4-FFF2-40B4-BE49-F238E27FC236}">
                    <a16:creationId xmlns:a16="http://schemas.microsoft.com/office/drawing/2014/main" id="{F9145B1E-1C27-4EFB-89A8-55010F528CEB}"/>
                  </a:ext>
                </a:extLst>
              </p:cNvPr>
              <p:cNvSpPr/>
              <p:nvPr/>
            </p:nvSpPr>
            <p:spPr>
              <a:xfrm>
                <a:off x="6981825" y="2486525"/>
                <a:ext cx="353521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Быстрая реакция системы</a:t>
                </a:r>
                <a:endParaRPr lang="en-US" sz="2400" dirty="0"/>
              </a:p>
            </p:txBody>
          </p:sp>
          <p:sp>
            <p:nvSpPr>
              <p:cNvPr id="172" name="Shape 42">
                <a:extLst>
                  <a:ext uri="{FF2B5EF4-FFF2-40B4-BE49-F238E27FC236}">
                    <a16:creationId xmlns:a16="http://schemas.microsoft.com/office/drawing/2014/main" id="{DBB5345E-98B4-4FE4-8F03-68650DE2C8C9}"/>
                  </a:ext>
                </a:extLst>
              </p:cNvPr>
              <p:cNvSpPr/>
              <p:nvPr/>
            </p:nvSpPr>
            <p:spPr>
              <a:xfrm>
                <a:off x="6457950" y="28956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73" name="Shape 43">
                <a:extLst>
                  <a:ext uri="{FF2B5EF4-FFF2-40B4-BE49-F238E27FC236}">
                    <a16:creationId xmlns:a16="http://schemas.microsoft.com/office/drawing/2014/main" id="{28A95FE8-0EFA-4E42-9CCF-34095388F216}"/>
                  </a:ext>
                </a:extLst>
              </p:cNvPr>
              <p:cNvSpPr/>
              <p:nvPr/>
            </p:nvSpPr>
            <p:spPr>
              <a:xfrm>
                <a:off x="6457950" y="28956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74" name="Shape 44">
                <a:extLst>
                  <a:ext uri="{FF2B5EF4-FFF2-40B4-BE49-F238E27FC236}">
                    <a16:creationId xmlns:a16="http://schemas.microsoft.com/office/drawing/2014/main" id="{8E27B342-3B98-49FB-807E-1B0C4A8C6327}"/>
                  </a:ext>
                </a:extLst>
              </p:cNvPr>
              <p:cNvSpPr/>
              <p:nvPr/>
            </p:nvSpPr>
            <p:spPr>
              <a:xfrm>
                <a:off x="6653213" y="31623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66688" y="95250"/>
                    </a:moveTo>
                    <a:cubicBezTo>
                      <a:pt x="166688" y="55823"/>
                      <a:pt x="134677" y="23812"/>
                      <a:pt x="95250" y="23812"/>
                    </a:cubicBezTo>
                    <a:cubicBezTo>
                      <a:pt x="55823" y="23812"/>
                      <a:pt x="23813" y="55823"/>
                      <a:pt x="23812" y="95250"/>
                    </a:cubicBezTo>
                    <a:cubicBezTo>
                      <a:pt x="23812" y="134677"/>
                      <a:pt x="55823" y="166688"/>
                      <a:pt x="95250" y="166688"/>
                    </a:cubicBezTo>
                    <a:cubicBezTo>
                      <a:pt x="134677" y="166688"/>
                      <a:pt x="166688" y="134677"/>
                      <a:pt x="166688" y="95250"/>
                    </a:cubicBezTo>
                    <a:close/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95250" y="125016"/>
                    </a:moveTo>
                    <a:cubicBezTo>
                      <a:pt x="111678" y="125016"/>
                      <a:pt x="125016" y="111678"/>
                      <a:pt x="125016" y="95250"/>
                    </a:cubicBezTo>
                    <a:cubicBezTo>
                      <a:pt x="125016" y="78822"/>
                      <a:pt x="111678" y="65484"/>
                      <a:pt x="95250" y="65484"/>
                    </a:cubicBezTo>
                    <a:cubicBezTo>
                      <a:pt x="78822" y="65484"/>
                      <a:pt x="65484" y="78822"/>
                      <a:pt x="65484" y="95250"/>
                    </a:cubicBezTo>
                    <a:cubicBezTo>
                      <a:pt x="65484" y="111678"/>
                      <a:pt x="78822" y="125016"/>
                      <a:pt x="95250" y="125016"/>
                    </a:cubicBezTo>
                    <a:close/>
                    <a:moveTo>
                      <a:pt x="95250" y="41672"/>
                    </a:moveTo>
                    <a:cubicBezTo>
                      <a:pt x="124821" y="41672"/>
                      <a:pt x="148828" y="65679"/>
                      <a:pt x="148828" y="95250"/>
                    </a:cubicBezTo>
                    <a:cubicBezTo>
                      <a:pt x="148828" y="124821"/>
                      <a:pt x="124821" y="148828"/>
                      <a:pt x="95250" y="148828"/>
                    </a:cubicBezTo>
                    <a:cubicBezTo>
                      <a:pt x="65679" y="148828"/>
                      <a:pt x="41672" y="124821"/>
                      <a:pt x="41672" y="95250"/>
                    </a:cubicBezTo>
                    <a:cubicBezTo>
                      <a:pt x="41672" y="65679"/>
                      <a:pt x="65679" y="41672"/>
                      <a:pt x="95250" y="41672"/>
                    </a:cubicBezTo>
                    <a:close/>
                    <a:moveTo>
                      <a:pt x="83344" y="95250"/>
                    </a:moveTo>
                    <a:cubicBezTo>
                      <a:pt x="83344" y="88679"/>
                      <a:pt x="88679" y="83344"/>
                      <a:pt x="95250" y="83344"/>
                    </a:cubicBezTo>
                    <a:cubicBezTo>
                      <a:pt x="101821" y="83344"/>
                      <a:pt x="107156" y="88679"/>
                      <a:pt x="107156" y="95250"/>
                    </a:cubicBezTo>
                    <a:cubicBezTo>
                      <a:pt x="107156" y="101821"/>
                      <a:pt x="101821" y="107156"/>
                      <a:pt x="95250" y="107156"/>
                    </a:cubicBezTo>
                    <a:cubicBezTo>
                      <a:pt x="88679" y="107156"/>
                      <a:pt x="83344" y="101821"/>
                      <a:pt x="83344" y="9525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75" name="Text 45">
                <a:extLst>
                  <a:ext uri="{FF2B5EF4-FFF2-40B4-BE49-F238E27FC236}">
                    <a16:creationId xmlns:a16="http://schemas.microsoft.com/office/drawing/2014/main" id="{362258D0-8017-472F-A60C-EDD9133FE2A8}"/>
                  </a:ext>
                </a:extLst>
              </p:cNvPr>
              <p:cNvSpPr/>
              <p:nvPr/>
            </p:nvSpPr>
            <p:spPr>
              <a:xfrm>
                <a:off x="6981825" y="3048000"/>
                <a:ext cx="450111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Точность &gt; 90%</a:t>
                </a:r>
                <a:endParaRPr lang="en-US" sz="2400" dirty="0"/>
              </a:p>
            </p:txBody>
          </p:sp>
          <p:sp>
            <p:nvSpPr>
              <p:cNvPr id="176" name="Text 46">
                <a:extLst>
                  <a:ext uri="{FF2B5EF4-FFF2-40B4-BE49-F238E27FC236}">
                    <a16:creationId xmlns:a16="http://schemas.microsoft.com/office/drawing/2014/main" id="{3620DC05-A723-4310-A0FC-10BBAE003A5B}"/>
                  </a:ext>
                </a:extLst>
              </p:cNvPr>
              <p:cNvSpPr/>
              <p:nvPr/>
            </p:nvSpPr>
            <p:spPr>
              <a:xfrm>
                <a:off x="6981825" y="3324725"/>
                <a:ext cx="4481796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Высокая точность распознавания</a:t>
                </a:r>
                <a:endParaRPr lang="en-US" sz="2400" dirty="0"/>
              </a:p>
            </p:txBody>
          </p:sp>
          <p:sp>
            <p:nvSpPr>
              <p:cNvPr id="177" name="Shape 47">
                <a:extLst>
                  <a:ext uri="{FF2B5EF4-FFF2-40B4-BE49-F238E27FC236}">
                    <a16:creationId xmlns:a16="http://schemas.microsoft.com/office/drawing/2014/main" id="{F451704F-B414-43B1-A55A-54CF198D5580}"/>
                  </a:ext>
                </a:extLst>
              </p:cNvPr>
              <p:cNvSpPr/>
              <p:nvPr/>
            </p:nvSpPr>
            <p:spPr>
              <a:xfrm>
                <a:off x="6457950" y="37338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78" name="Shape 48">
                <a:extLst>
                  <a:ext uri="{FF2B5EF4-FFF2-40B4-BE49-F238E27FC236}">
                    <a16:creationId xmlns:a16="http://schemas.microsoft.com/office/drawing/2014/main" id="{B932BE25-143A-46DA-AC88-F777941E353F}"/>
                  </a:ext>
                </a:extLst>
              </p:cNvPr>
              <p:cNvSpPr/>
              <p:nvPr/>
            </p:nvSpPr>
            <p:spPr>
              <a:xfrm>
                <a:off x="6457950" y="37338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79" name="Shape 49">
                <a:extLst>
                  <a:ext uri="{FF2B5EF4-FFF2-40B4-BE49-F238E27FC236}">
                    <a16:creationId xmlns:a16="http://schemas.microsoft.com/office/drawing/2014/main" id="{CEE6EBA7-A863-4CE1-8204-F649C0DB58D2}"/>
                  </a:ext>
                </a:extLst>
              </p:cNvPr>
              <p:cNvSpPr/>
              <p:nvPr/>
            </p:nvSpPr>
            <p:spPr>
              <a:xfrm>
                <a:off x="6665119" y="40005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62508" y="11906"/>
                    </a:moveTo>
                    <a:lnTo>
                      <a:pt x="8930" y="11906"/>
                    </a:lnTo>
                    <a:cubicBezTo>
                      <a:pt x="3981" y="11906"/>
                      <a:pt x="0" y="15887"/>
                      <a:pt x="0" y="20836"/>
                    </a:cubicBezTo>
                    <a:lnTo>
                      <a:pt x="0" y="74414"/>
                    </a:lnTo>
                    <a:cubicBezTo>
                      <a:pt x="0" y="78023"/>
                      <a:pt x="2158" y="81297"/>
                      <a:pt x="5507" y="82674"/>
                    </a:cubicBezTo>
                    <a:cubicBezTo>
                      <a:pt x="8855" y="84051"/>
                      <a:pt x="12688" y="83269"/>
                      <a:pt x="15255" y="80739"/>
                    </a:cubicBezTo>
                    <a:lnTo>
                      <a:pt x="30138" y="65856"/>
                    </a:lnTo>
                    <a:lnTo>
                      <a:pt x="59531" y="95250"/>
                    </a:lnTo>
                    <a:lnTo>
                      <a:pt x="30138" y="124644"/>
                    </a:lnTo>
                    <a:lnTo>
                      <a:pt x="15255" y="109761"/>
                    </a:lnTo>
                    <a:cubicBezTo>
                      <a:pt x="12688" y="107193"/>
                      <a:pt x="8855" y="106449"/>
                      <a:pt x="5507" y="107826"/>
                    </a:cubicBezTo>
                    <a:cubicBezTo>
                      <a:pt x="2158" y="109203"/>
                      <a:pt x="0" y="112477"/>
                      <a:pt x="0" y="116086"/>
                    </a:cubicBezTo>
                    <a:lnTo>
                      <a:pt x="0" y="169664"/>
                    </a:lnTo>
                    <a:cubicBezTo>
                      <a:pt x="0" y="174613"/>
                      <a:pt x="3981" y="178594"/>
                      <a:pt x="8930" y="178594"/>
                    </a:cubicBezTo>
                    <a:lnTo>
                      <a:pt x="62508" y="178594"/>
                    </a:lnTo>
                    <a:cubicBezTo>
                      <a:pt x="66117" y="178594"/>
                      <a:pt x="69391" y="176436"/>
                      <a:pt x="70768" y="173087"/>
                    </a:cubicBezTo>
                    <a:cubicBezTo>
                      <a:pt x="72144" y="169738"/>
                      <a:pt x="71400" y="165906"/>
                      <a:pt x="68833" y="163339"/>
                    </a:cubicBezTo>
                    <a:lnTo>
                      <a:pt x="53950" y="148456"/>
                    </a:lnTo>
                    <a:lnTo>
                      <a:pt x="83344" y="119063"/>
                    </a:lnTo>
                    <a:lnTo>
                      <a:pt x="112737" y="148456"/>
                    </a:lnTo>
                    <a:lnTo>
                      <a:pt x="97854" y="163339"/>
                    </a:lnTo>
                    <a:cubicBezTo>
                      <a:pt x="95287" y="165906"/>
                      <a:pt x="94543" y="169738"/>
                      <a:pt x="95920" y="173087"/>
                    </a:cubicBezTo>
                    <a:cubicBezTo>
                      <a:pt x="97296" y="176436"/>
                      <a:pt x="100571" y="178594"/>
                      <a:pt x="104180" y="178594"/>
                    </a:cubicBezTo>
                    <a:lnTo>
                      <a:pt x="157758" y="178594"/>
                    </a:lnTo>
                    <a:cubicBezTo>
                      <a:pt x="162706" y="178594"/>
                      <a:pt x="166688" y="174613"/>
                      <a:pt x="166688" y="169664"/>
                    </a:cubicBezTo>
                    <a:lnTo>
                      <a:pt x="166688" y="116086"/>
                    </a:lnTo>
                    <a:cubicBezTo>
                      <a:pt x="166688" y="112477"/>
                      <a:pt x="164529" y="109203"/>
                      <a:pt x="161181" y="107826"/>
                    </a:cubicBezTo>
                    <a:cubicBezTo>
                      <a:pt x="157832" y="106449"/>
                      <a:pt x="154000" y="107193"/>
                      <a:pt x="151433" y="109761"/>
                    </a:cubicBezTo>
                    <a:lnTo>
                      <a:pt x="136550" y="124644"/>
                    </a:lnTo>
                    <a:lnTo>
                      <a:pt x="107156" y="95250"/>
                    </a:lnTo>
                    <a:lnTo>
                      <a:pt x="136550" y="65856"/>
                    </a:lnTo>
                    <a:lnTo>
                      <a:pt x="151433" y="80739"/>
                    </a:lnTo>
                    <a:cubicBezTo>
                      <a:pt x="154000" y="83307"/>
                      <a:pt x="157832" y="84051"/>
                      <a:pt x="161181" y="82674"/>
                    </a:cubicBezTo>
                    <a:cubicBezTo>
                      <a:pt x="164529" y="81297"/>
                      <a:pt x="166688" y="78023"/>
                      <a:pt x="166688" y="74414"/>
                    </a:cubicBezTo>
                    <a:lnTo>
                      <a:pt x="166688" y="20836"/>
                    </a:lnTo>
                    <a:cubicBezTo>
                      <a:pt x="166688" y="15887"/>
                      <a:pt x="162706" y="11906"/>
                      <a:pt x="157758" y="11906"/>
                    </a:cubicBezTo>
                    <a:lnTo>
                      <a:pt x="104180" y="11906"/>
                    </a:lnTo>
                    <a:cubicBezTo>
                      <a:pt x="100571" y="11906"/>
                      <a:pt x="97296" y="14064"/>
                      <a:pt x="95920" y="17413"/>
                    </a:cubicBezTo>
                    <a:cubicBezTo>
                      <a:pt x="94543" y="20762"/>
                      <a:pt x="95324" y="24594"/>
                      <a:pt x="97854" y="27161"/>
                    </a:cubicBezTo>
                    <a:lnTo>
                      <a:pt x="112737" y="42044"/>
                    </a:lnTo>
                    <a:lnTo>
                      <a:pt x="83344" y="71438"/>
                    </a:lnTo>
                    <a:lnTo>
                      <a:pt x="53950" y="42044"/>
                    </a:lnTo>
                    <a:lnTo>
                      <a:pt x="68833" y="27161"/>
                    </a:lnTo>
                    <a:cubicBezTo>
                      <a:pt x="71400" y="24594"/>
                      <a:pt x="72144" y="20762"/>
                      <a:pt x="70768" y="17413"/>
                    </a:cubicBezTo>
                    <a:cubicBezTo>
                      <a:pt x="69391" y="14064"/>
                      <a:pt x="66117" y="11906"/>
                      <a:pt x="62508" y="11906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0" name="Text 50">
                <a:extLst>
                  <a:ext uri="{FF2B5EF4-FFF2-40B4-BE49-F238E27FC236}">
                    <a16:creationId xmlns:a16="http://schemas.microsoft.com/office/drawing/2014/main" id="{90D0DD4D-05FD-45F9-A7A5-C45FA5E7A6FA}"/>
                  </a:ext>
                </a:extLst>
              </p:cNvPr>
              <p:cNvSpPr/>
              <p:nvPr/>
            </p:nvSpPr>
            <p:spPr>
              <a:xfrm>
                <a:off x="6981825" y="3886200"/>
                <a:ext cx="3206802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Масштабируемость</a:t>
                </a:r>
                <a:endParaRPr lang="en-US" sz="2400" dirty="0"/>
              </a:p>
            </p:txBody>
          </p:sp>
          <p:sp>
            <p:nvSpPr>
              <p:cNvPr id="181" name="Text 51">
                <a:extLst>
                  <a:ext uri="{FF2B5EF4-FFF2-40B4-BE49-F238E27FC236}">
                    <a16:creationId xmlns:a16="http://schemas.microsoft.com/office/drawing/2014/main" id="{D6B32363-7806-4EA9-A73A-73CE8D08D0C2}"/>
                  </a:ext>
                </a:extLst>
              </p:cNvPr>
              <p:cNvSpPr/>
              <p:nvPr/>
            </p:nvSpPr>
            <p:spPr>
              <a:xfrm>
                <a:off x="6981825" y="4162925"/>
                <a:ext cx="3187484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Рост с бизнесом</a:t>
                </a:r>
                <a:endParaRPr lang="en-US" sz="2400" dirty="0"/>
              </a:p>
            </p:txBody>
          </p:sp>
          <p:sp>
            <p:nvSpPr>
              <p:cNvPr id="182" name="Shape 52">
                <a:extLst>
                  <a:ext uri="{FF2B5EF4-FFF2-40B4-BE49-F238E27FC236}">
                    <a16:creationId xmlns:a16="http://schemas.microsoft.com/office/drawing/2014/main" id="{EA366A2A-0789-4346-8F5F-A8E1499F90F1}"/>
                  </a:ext>
                </a:extLst>
              </p:cNvPr>
              <p:cNvSpPr/>
              <p:nvPr/>
            </p:nvSpPr>
            <p:spPr>
              <a:xfrm>
                <a:off x="6457950" y="45720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83" name="Shape 53">
                <a:extLst>
                  <a:ext uri="{FF2B5EF4-FFF2-40B4-BE49-F238E27FC236}">
                    <a16:creationId xmlns:a16="http://schemas.microsoft.com/office/drawing/2014/main" id="{5891A216-0CE5-46A8-8235-E3C63833E7CE}"/>
                  </a:ext>
                </a:extLst>
              </p:cNvPr>
              <p:cNvSpPr/>
              <p:nvPr/>
            </p:nvSpPr>
            <p:spPr>
              <a:xfrm>
                <a:off x="6457950" y="45720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4" name="Shape 54">
                <a:extLst>
                  <a:ext uri="{FF2B5EF4-FFF2-40B4-BE49-F238E27FC236}">
                    <a16:creationId xmlns:a16="http://schemas.microsoft.com/office/drawing/2014/main" id="{DB6C5DFA-778F-4ACE-8307-631F4A07E810}"/>
                  </a:ext>
                </a:extLst>
              </p:cNvPr>
              <p:cNvSpPr/>
              <p:nvPr/>
            </p:nvSpPr>
            <p:spPr>
              <a:xfrm>
                <a:off x="6677025" y="48387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47625" y="35719"/>
                    </a:moveTo>
                    <a:lnTo>
                      <a:pt x="47625" y="59531"/>
                    </a:lnTo>
                    <a:lnTo>
                      <a:pt x="95250" y="59531"/>
                    </a:lnTo>
                    <a:lnTo>
                      <a:pt x="95250" y="35719"/>
                    </a:lnTo>
                    <a:cubicBezTo>
                      <a:pt x="95250" y="22585"/>
                      <a:pt x="84572" y="11906"/>
                      <a:pt x="71438" y="11906"/>
                    </a:cubicBezTo>
                    <a:cubicBezTo>
                      <a:pt x="58303" y="11906"/>
                      <a:pt x="47625" y="22585"/>
                      <a:pt x="47625" y="35719"/>
                    </a:cubicBezTo>
                    <a:close/>
                    <a:moveTo>
                      <a:pt x="23812" y="59531"/>
                    </a:moveTo>
                    <a:lnTo>
                      <a:pt x="23812" y="35719"/>
                    </a:lnTo>
                    <a:cubicBezTo>
                      <a:pt x="23812" y="9413"/>
                      <a:pt x="45132" y="-11906"/>
                      <a:pt x="71438" y="-11906"/>
                    </a:cubicBezTo>
                    <a:cubicBezTo>
                      <a:pt x="97743" y="-11906"/>
                      <a:pt x="119063" y="9413"/>
                      <a:pt x="119063" y="35719"/>
                    </a:cubicBezTo>
                    <a:lnTo>
                      <a:pt x="119063" y="59531"/>
                    </a:lnTo>
                    <a:cubicBezTo>
                      <a:pt x="132197" y="59531"/>
                      <a:pt x="142875" y="70210"/>
                      <a:pt x="142875" y="83344"/>
                    </a:cubicBezTo>
                    <a:lnTo>
                      <a:pt x="142875" y="166688"/>
                    </a:lnTo>
                    <a:cubicBezTo>
                      <a:pt x="142875" y="179822"/>
                      <a:pt x="132197" y="190500"/>
                      <a:pt x="119063" y="190500"/>
                    </a:cubicBezTo>
                    <a:lnTo>
                      <a:pt x="23812" y="190500"/>
                    </a:lnTo>
                    <a:cubicBezTo>
                      <a:pt x="10678" y="190500"/>
                      <a:pt x="0" y="179822"/>
                      <a:pt x="0" y="166688"/>
                    </a:cubicBezTo>
                    <a:lnTo>
                      <a:pt x="0" y="83344"/>
                    </a:lnTo>
                    <a:cubicBezTo>
                      <a:pt x="0" y="70210"/>
                      <a:pt x="10678" y="59531"/>
                      <a:pt x="23812" y="59531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5" name="Text 55">
                <a:extLst>
                  <a:ext uri="{FF2B5EF4-FFF2-40B4-BE49-F238E27FC236}">
                    <a16:creationId xmlns:a16="http://schemas.microsoft.com/office/drawing/2014/main" id="{283D0893-8F08-4930-9317-BED50825833A}"/>
                  </a:ext>
                </a:extLst>
              </p:cNvPr>
              <p:cNvSpPr/>
              <p:nvPr/>
            </p:nvSpPr>
            <p:spPr>
              <a:xfrm>
                <a:off x="6981825" y="4724400"/>
                <a:ext cx="355452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Безопасность данных</a:t>
                </a:r>
                <a:endParaRPr lang="en-US" sz="2400" dirty="0"/>
              </a:p>
            </p:txBody>
          </p:sp>
          <p:sp>
            <p:nvSpPr>
              <p:cNvPr id="186" name="Text 56">
                <a:extLst>
                  <a:ext uri="{FF2B5EF4-FFF2-40B4-BE49-F238E27FC236}">
                    <a16:creationId xmlns:a16="http://schemas.microsoft.com/office/drawing/2014/main" id="{07CF47D5-91B6-4715-803A-C6E7FDF606F6}"/>
                  </a:ext>
                </a:extLst>
              </p:cNvPr>
              <p:cNvSpPr/>
              <p:nvPr/>
            </p:nvSpPr>
            <p:spPr>
              <a:xfrm>
                <a:off x="6981825" y="5001125"/>
                <a:ext cx="353521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Защита информации</a:t>
                </a:r>
                <a:endParaRPr lang="en-US" sz="2400" dirty="0"/>
              </a:p>
            </p:txBody>
          </p:sp>
          <p:sp>
            <p:nvSpPr>
              <p:cNvPr id="187" name="Shape 57">
                <a:extLst>
                  <a:ext uri="{FF2B5EF4-FFF2-40B4-BE49-F238E27FC236}">
                    <a16:creationId xmlns:a16="http://schemas.microsoft.com/office/drawing/2014/main" id="{61424567-461E-4EA2-B1AA-AE4441C4D381}"/>
                  </a:ext>
                </a:extLst>
              </p:cNvPr>
              <p:cNvSpPr/>
              <p:nvPr/>
            </p:nvSpPr>
            <p:spPr>
              <a:xfrm>
                <a:off x="6457950" y="54102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88" name="Shape 58">
                <a:extLst>
                  <a:ext uri="{FF2B5EF4-FFF2-40B4-BE49-F238E27FC236}">
                    <a16:creationId xmlns:a16="http://schemas.microsoft.com/office/drawing/2014/main" id="{F8FC1DCE-B23B-4EC6-8862-E5E830939C32}"/>
                  </a:ext>
                </a:extLst>
              </p:cNvPr>
              <p:cNvSpPr/>
              <p:nvPr/>
            </p:nvSpPr>
            <p:spPr>
              <a:xfrm>
                <a:off x="6457950" y="54102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9" name="Shape 59">
                <a:extLst>
                  <a:ext uri="{FF2B5EF4-FFF2-40B4-BE49-F238E27FC236}">
                    <a16:creationId xmlns:a16="http://schemas.microsoft.com/office/drawing/2014/main" id="{56A11AB6-A9C9-4734-B643-051C320883AB}"/>
                  </a:ext>
                </a:extLst>
              </p:cNvPr>
              <p:cNvSpPr/>
              <p:nvPr/>
            </p:nvSpPr>
            <p:spPr>
              <a:xfrm>
                <a:off x="6653213" y="56769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83344" y="0"/>
                    </a:moveTo>
                    <a:cubicBezTo>
                      <a:pt x="96478" y="0"/>
                      <a:pt x="107156" y="8000"/>
                      <a:pt x="107156" y="17859"/>
                    </a:cubicBezTo>
                    <a:cubicBezTo>
                      <a:pt x="107156" y="21729"/>
                      <a:pt x="105519" y="25301"/>
                      <a:pt x="102691" y="28240"/>
                    </a:cubicBezTo>
                    <a:cubicBezTo>
                      <a:pt x="100236" y="30807"/>
                      <a:pt x="98227" y="33933"/>
                      <a:pt x="98227" y="37505"/>
                    </a:cubicBezTo>
                    <a:cubicBezTo>
                      <a:pt x="98227" y="43086"/>
                      <a:pt x="102766" y="47625"/>
                      <a:pt x="108347" y="47625"/>
                    </a:cubicBezTo>
                    <a:lnTo>
                      <a:pt x="125016" y="47625"/>
                    </a:lnTo>
                    <a:cubicBezTo>
                      <a:pt x="134875" y="47625"/>
                      <a:pt x="142875" y="55625"/>
                      <a:pt x="142875" y="65484"/>
                    </a:cubicBezTo>
                    <a:lnTo>
                      <a:pt x="142875" y="82153"/>
                    </a:lnTo>
                    <a:cubicBezTo>
                      <a:pt x="142875" y="87734"/>
                      <a:pt x="147414" y="92273"/>
                      <a:pt x="152995" y="92273"/>
                    </a:cubicBezTo>
                    <a:cubicBezTo>
                      <a:pt x="156530" y="92273"/>
                      <a:pt x="159693" y="90264"/>
                      <a:pt x="162260" y="87809"/>
                    </a:cubicBezTo>
                    <a:cubicBezTo>
                      <a:pt x="165199" y="85018"/>
                      <a:pt x="168771" y="83344"/>
                      <a:pt x="172641" y="83344"/>
                    </a:cubicBezTo>
                    <a:cubicBezTo>
                      <a:pt x="182500" y="83344"/>
                      <a:pt x="190500" y="94022"/>
                      <a:pt x="190500" y="107156"/>
                    </a:cubicBezTo>
                    <a:cubicBezTo>
                      <a:pt x="190500" y="120290"/>
                      <a:pt x="182500" y="130969"/>
                      <a:pt x="172641" y="130969"/>
                    </a:cubicBezTo>
                    <a:cubicBezTo>
                      <a:pt x="168771" y="130969"/>
                      <a:pt x="165162" y="129332"/>
                      <a:pt x="162260" y="126504"/>
                    </a:cubicBezTo>
                    <a:cubicBezTo>
                      <a:pt x="159693" y="124048"/>
                      <a:pt x="156567" y="122039"/>
                      <a:pt x="152995" y="122039"/>
                    </a:cubicBezTo>
                    <a:cubicBezTo>
                      <a:pt x="147414" y="122039"/>
                      <a:pt x="142875" y="126578"/>
                      <a:pt x="142875" y="132159"/>
                    </a:cubicBezTo>
                    <a:lnTo>
                      <a:pt x="142875" y="172641"/>
                    </a:lnTo>
                    <a:cubicBezTo>
                      <a:pt x="142875" y="182500"/>
                      <a:pt x="134875" y="190500"/>
                      <a:pt x="125016" y="190500"/>
                    </a:cubicBezTo>
                    <a:lnTo>
                      <a:pt x="103882" y="190500"/>
                    </a:lnTo>
                    <a:cubicBezTo>
                      <a:pt x="99120" y="190500"/>
                      <a:pt x="95250" y="186630"/>
                      <a:pt x="95250" y="181868"/>
                    </a:cubicBezTo>
                    <a:cubicBezTo>
                      <a:pt x="95250" y="178445"/>
                      <a:pt x="97408" y="175431"/>
                      <a:pt x="100161" y="173385"/>
                    </a:cubicBezTo>
                    <a:cubicBezTo>
                      <a:pt x="104477" y="170148"/>
                      <a:pt x="107156" y="165683"/>
                      <a:pt x="107156" y="160734"/>
                    </a:cubicBezTo>
                    <a:cubicBezTo>
                      <a:pt x="107156" y="150875"/>
                      <a:pt x="96478" y="142875"/>
                      <a:pt x="83344" y="142875"/>
                    </a:cubicBezTo>
                    <a:cubicBezTo>
                      <a:pt x="70210" y="142875"/>
                      <a:pt x="59531" y="150875"/>
                      <a:pt x="59531" y="160734"/>
                    </a:cubicBezTo>
                    <a:cubicBezTo>
                      <a:pt x="59531" y="165683"/>
                      <a:pt x="62210" y="170148"/>
                      <a:pt x="66526" y="173385"/>
                    </a:cubicBezTo>
                    <a:cubicBezTo>
                      <a:pt x="69279" y="175431"/>
                      <a:pt x="71438" y="178408"/>
                      <a:pt x="71438" y="181868"/>
                    </a:cubicBezTo>
                    <a:cubicBezTo>
                      <a:pt x="71438" y="186630"/>
                      <a:pt x="67568" y="190500"/>
                      <a:pt x="62805" y="190500"/>
                    </a:cubicBezTo>
                    <a:lnTo>
                      <a:pt x="17859" y="190500"/>
                    </a:lnTo>
                    <a:cubicBezTo>
                      <a:pt x="8000" y="190500"/>
                      <a:pt x="0" y="182500"/>
                      <a:pt x="0" y="172641"/>
                    </a:cubicBezTo>
                    <a:lnTo>
                      <a:pt x="0" y="127695"/>
                    </a:lnTo>
                    <a:cubicBezTo>
                      <a:pt x="0" y="122932"/>
                      <a:pt x="3870" y="119063"/>
                      <a:pt x="8632" y="119063"/>
                    </a:cubicBezTo>
                    <a:cubicBezTo>
                      <a:pt x="12055" y="119063"/>
                      <a:pt x="15069" y="121221"/>
                      <a:pt x="17115" y="123974"/>
                    </a:cubicBezTo>
                    <a:cubicBezTo>
                      <a:pt x="20352" y="128290"/>
                      <a:pt x="24817" y="130969"/>
                      <a:pt x="29766" y="130969"/>
                    </a:cubicBezTo>
                    <a:cubicBezTo>
                      <a:pt x="39625" y="130969"/>
                      <a:pt x="47625" y="120290"/>
                      <a:pt x="47625" y="107156"/>
                    </a:cubicBezTo>
                    <a:cubicBezTo>
                      <a:pt x="47625" y="94022"/>
                      <a:pt x="39625" y="83344"/>
                      <a:pt x="29766" y="83344"/>
                    </a:cubicBezTo>
                    <a:cubicBezTo>
                      <a:pt x="24817" y="83344"/>
                      <a:pt x="20352" y="86023"/>
                      <a:pt x="17115" y="90339"/>
                    </a:cubicBezTo>
                    <a:cubicBezTo>
                      <a:pt x="15069" y="93092"/>
                      <a:pt x="12092" y="95250"/>
                      <a:pt x="8632" y="95250"/>
                    </a:cubicBezTo>
                    <a:cubicBezTo>
                      <a:pt x="3870" y="95250"/>
                      <a:pt x="0" y="91380"/>
                      <a:pt x="0" y="86618"/>
                    </a:cubicBezTo>
                    <a:lnTo>
                      <a:pt x="0" y="65484"/>
                    </a:lnTo>
                    <a:cubicBezTo>
                      <a:pt x="0" y="55625"/>
                      <a:pt x="8000" y="47625"/>
                      <a:pt x="17859" y="47625"/>
                    </a:cubicBezTo>
                    <a:lnTo>
                      <a:pt x="58341" y="47625"/>
                    </a:lnTo>
                    <a:cubicBezTo>
                      <a:pt x="63922" y="47625"/>
                      <a:pt x="68461" y="43086"/>
                      <a:pt x="68461" y="37505"/>
                    </a:cubicBezTo>
                    <a:cubicBezTo>
                      <a:pt x="68461" y="33970"/>
                      <a:pt x="66452" y="30807"/>
                      <a:pt x="63996" y="28240"/>
                    </a:cubicBezTo>
                    <a:cubicBezTo>
                      <a:pt x="61206" y="25301"/>
                      <a:pt x="59531" y="21729"/>
                      <a:pt x="59531" y="17859"/>
                    </a:cubicBezTo>
                    <a:cubicBezTo>
                      <a:pt x="59531" y="8000"/>
                      <a:pt x="70210" y="0"/>
                      <a:pt x="83344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90" name="Text 60">
                <a:extLst>
                  <a:ext uri="{FF2B5EF4-FFF2-40B4-BE49-F238E27FC236}">
                    <a16:creationId xmlns:a16="http://schemas.microsoft.com/office/drawing/2014/main" id="{4BE41FAD-EE66-4B06-9A88-28A5F07AAB75}"/>
                  </a:ext>
                </a:extLst>
              </p:cNvPr>
              <p:cNvSpPr/>
              <p:nvPr/>
            </p:nvSpPr>
            <p:spPr>
              <a:xfrm>
                <a:off x="6981825" y="5562600"/>
                <a:ext cx="440452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Интеграция без изменений</a:t>
                </a:r>
                <a:endParaRPr lang="en-US" sz="2400" dirty="0"/>
              </a:p>
            </p:txBody>
          </p:sp>
          <p:sp>
            <p:nvSpPr>
              <p:cNvPr id="191" name="Text 61">
                <a:extLst>
                  <a:ext uri="{FF2B5EF4-FFF2-40B4-BE49-F238E27FC236}">
                    <a16:creationId xmlns:a16="http://schemas.microsoft.com/office/drawing/2014/main" id="{78E10A16-F069-45EA-9857-998CD1F00AC3}"/>
                  </a:ext>
                </a:extLst>
              </p:cNvPr>
              <p:cNvSpPr/>
              <p:nvPr/>
            </p:nvSpPr>
            <p:spPr>
              <a:xfrm>
                <a:off x="6981825" y="5839325"/>
                <a:ext cx="438520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Расширение, не доработка</a:t>
                </a:r>
                <a:endParaRPr lang="en-US" sz="2400"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61BAB803-46FB-420E-A5AD-C92B8CA48C18}"/>
              </a:ext>
            </a:extLst>
          </p:cNvPr>
          <p:cNvGrpSpPr/>
          <p:nvPr/>
        </p:nvGrpSpPr>
        <p:grpSpPr>
          <a:xfrm>
            <a:off x="-15716250" y="1143000"/>
            <a:ext cx="14958653" cy="4152900"/>
            <a:chOff x="381000" y="1143000"/>
            <a:chExt cx="14958653" cy="4152900"/>
          </a:xfrm>
        </p:grpSpPr>
        <p:sp>
          <p:nvSpPr>
            <p:cNvPr id="71" name="Shape 4">
              <a:extLst>
                <a:ext uri="{FF2B5EF4-FFF2-40B4-BE49-F238E27FC236}">
                  <a16:creationId xmlns:a16="http://schemas.microsoft.com/office/drawing/2014/main" id="{E70947EE-6AE5-487C-B6A2-78EAB428154D}"/>
                </a:ext>
              </a:extLst>
            </p:cNvPr>
            <p:cNvSpPr/>
            <p:nvPr/>
          </p:nvSpPr>
          <p:spPr>
            <a:xfrm>
              <a:off x="3810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72" name="Группа 71">
              <a:extLst>
                <a:ext uri="{FF2B5EF4-FFF2-40B4-BE49-F238E27FC236}">
                  <a16:creationId xmlns:a16="http://schemas.microsoft.com/office/drawing/2014/main" id="{116A150C-6303-4C03-A127-BA83AAD73207}"/>
                </a:ext>
              </a:extLst>
            </p:cNvPr>
            <p:cNvGrpSpPr/>
            <p:nvPr/>
          </p:nvGrpSpPr>
          <p:grpSpPr>
            <a:xfrm>
              <a:off x="614363" y="1409463"/>
              <a:ext cx="5851386" cy="829649"/>
              <a:chOff x="571500" y="1331896"/>
              <a:chExt cx="3305175" cy="468630"/>
            </a:xfrm>
          </p:grpSpPr>
          <p:sp>
            <p:nvSpPr>
              <p:cNvPr id="121" name="Shape 5">
                <a:extLst>
                  <a:ext uri="{FF2B5EF4-FFF2-40B4-BE49-F238E27FC236}">
                    <a16:creationId xmlns:a16="http://schemas.microsoft.com/office/drawing/2014/main" id="{109E8C62-4E80-4B9D-AF39-91C5143A5BE2}"/>
                  </a:ext>
                </a:extLst>
              </p:cNvPr>
              <p:cNvSpPr/>
              <p:nvPr/>
            </p:nvSpPr>
            <p:spPr>
              <a:xfrm>
                <a:off x="5715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22" name="Shape 6">
                <a:extLst>
                  <a:ext uri="{FF2B5EF4-FFF2-40B4-BE49-F238E27FC236}">
                    <a16:creationId xmlns:a16="http://schemas.microsoft.com/office/drawing/2014/main" id="{A52781A0-8221-4FF2-992B-F01E90678CCE}"/>
                  </a:ext>
                </a:extLst>
              </p:cNvPr>
              <p:cNvSpPr/>
              <p:nvPr/>
            </p:nvSpPr>
            <p:spPr>
              <a:xfrm>
                <a:off x="681038" y="146685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130969" y="0"/>
                    </a:moveTo>
                    <a:cubicBezTo>
                      <a:pt x="130969" y="-6586"/>
                      <a:pt x="125648" y="-11906"/>
                      <a:pt x="119063" y="-11906"/>
                    </a:cubicBezTo>
                    <a:cubicBezTo>
                      <a:pt x="112477" y="-11906"/>
                      <a:pt x="107156" y="-6586"/>
                      <a:pt x="107156" y="0"/>
                    </a:cubicBezTo>
                    <a:lnTo>
                      <a:pt x="107156" y="23812"/>
                    </a:lnTo>
                    <a:lnTo>
                      <a:pt x="71438" y="23812"/>
                    </a:lnTo>
                    <a:cubicBezTo>
                      <a:pt x="51718" y="23812"/>
                      <a:pt x="35719" y="39812"/>
                      <a:pt x="35719" y="59531"/>
                    </a:cubicBezTo>
                    <a:lnTo>
                      <a:pt x="35719" y="142875"/>
                    </a:lnTo>
                    <a:cubicBezTo>
                      <a:pt x="35719" y="162595"/>
                      <a:pt x="51718" y="178594"/>
                      <a:pt x="71438" y="178594"/>
                    </a:cubicBezTo>
                    <a:lnTo>
                      <a:pt x="166688" y="178594"/>
                    </a:lnTo>
                    <a:cubicBezTo>
                      <a:pt x="186407" y="178594"/>
                      <a:pt x="202406" y="162595"/>
                      <a:pt x="202406" y="142875"/>
                    </a:cubicBezTo>
                    <a:lnTo>
                      <a:pt x="202406" y="59531"/>
                    </a:lnTo>
                    <a:cubicBezTo>
                      <a:pt x="202406" y="39812"/>
                      <a:pt x="186407" y="23812"/>
                      <a:pt x="166688" y="23812"/>
                    </a:cubicBezTo>
                    <a:lnTo>
                      <a:pt x="130969" y="23812"/>
                    </a:lnTo>
                    <a:lnTo>
                      <a:pt x="130969" y="0"/>
                    </a:lnTo>
                    <a:close/>
                    <a:moveTo>
                      <a:pt x="59531" y="136922"/>
                    </a:moveTo>
                    <a:cubicBezTo>
                      <a:pt x="59531" y="131973"/>
                      <a:pt x="63512" y="127992"/>
                      <a:pt x="68461" y="127992"/>
                    </a:cubicBezTo>
                    <a:lnTo>
                      <a:pt x="80367" y="127992"/>
                    </a:lnTo>
                    <a:cubicBezTo>
                      <a:pt x="85316" y="127992"/>
                      <a:pt x="89297" y="131973"/>
                      <a:pt x="89297" y="136922"/>
                    </a:cubicBezTo>
                    <a:cubicBezTo>
                      <a:pt x="89297" y="141870"/>
                      <a:pt x="85316" y="145852"/>
                      <a:pt x="80367" y="145852"/>
                    </a:cubicBezTo>
                    <a:lnTo>
                      <a:pt x="68461" y="145852"/>
                    </a:lnTo>
                    <a:cubicBezTo>
                      <a:pt x="63512" y="145852"/>
                      <a:pt x="59531" y="141870"/>
                      <a:pt x="59531" y="136922"/>
                    </a:cubicBezTo>
                    <a:close/>
                    <a:moveTo>
                      <a:pt x="104180" y="136922"/>
                    </a:moveTo>
                    <a:cubicBezTo>
                      <a:pt x="104180" y="131973"/>
                      <a:pt x="108161" y="127992"/>
                      <a:pt x="113109" y="127992"/>
                    </a:cubicBezTo>
                    <a:lnTo>
                      <a:pt x="125016" y="127992"/>
                    </a:lnTo>
                    <a:cubicBezTo>
                      <a:pt x="129964" y="127992"/>
                      <a:pt x="133945" y="131973"/>
                      <a:pt x="133945" y="136922"/>
                    </a:cubicBezTo>
                    <a:cubicBezTo>
                      <a:pt x="133945" y="141870"/>
                      <a:pt x="129964" y="145852"/>
                      <a:pt x="125016" y="145852"/>
                    </a:cubicBezTo>
                    <a:lnTo>
                      <a:pt x="113109" y="145852"/>
                    </a:lnTo>
                    <a:cubicBezTo>
                      <a:pt x="108161" y="145852"/>
                      <a:pt x="104180" y="141870"/>
                      <a:pt x="104180" y="136922"/>
                    </a:cubicBezTo>
                    <a:close/>
                    <a:moveTo>
                      <a:pt x="148828" y="136922"/>
                    </a:moveTo>
                    <a:cubicBezTo>
                      <a:pt x="148828" y="131973"/>
                      <a:pt x="152809" y="127992"/>
                      <a:pt x="157758" y="127992"/>
                    </a:cubicBezTo>
                    <a:lnTo>
                      <a:pt x="169664" y="127992"/>
                    </a:lnTo>
                    <a:cubicBezTo>
                      <a:pt x="174613" y="127992"/>
                      <a:pt x="178594" y="131973"/>
                      <a:pt x="178594" y="136922"/>
                    </a:cubicBezTo>
                    <a:cubicBezTo>
                      <a:pt x="178594" y="141870"/>
                      <a:pt x="174613" y="145852"/>
                      <a:pt x="169664" y="145852"/>
                    </a:cubicBezTo>
                    <a:lnTo>
                      <a:pt x="157758" y="145852"/>
                    </a:lnTo>
                    <a:cubicBezTo>
                      <a:pt x="152809" y="145852"/>
                      <a:pt x="148828" y="141870"/>
                      <a:pt x="148828" y="136922"/>
                    </a:cubicBezTo>
                    <a:close/>
                    <a:moveTo>
                      <a:pt x="83344" y="65484"/>
                    </a:moveTo>
                    <a:cubicBezTo>
                      <a:pt x="93201" y="65484"/>
                      <a:pt x="101203" y="73487"/>
                      <a:pt x="101203" y="83344"/>
                    </a:cubicBezTo>
                    <a:cubicBezTo>
                      <a:pt x="101203" y="93201"/>
                      <a:pt x="93201" y="101203"/>
                      <a:pt x="83344" y="101203"/>
                    </a:cubicBezTo>
                    <a:cubicBezTo>
                      <a:pt x="73487" y="101203"/>
                      <a:pt x="65484" y="93201"/>
                      <a:pt x="65484" y="83344"/>
                    </a:cubicBezTo>
                    <a:cubicBezTo>
                      <a:pt x="65484" y="73487"/>
                      <a:pt x="73487" y="65484"/>
                      <a:pt x="83344" y="65484"/>
                    </a:cubicBezTo>
                    <a:close/>
                    <a:moveTo>
                      <a:pt x="136922" y="83344"/>
                    </a:moveTo>
                    <a:cubicBezTo>
                      <a:pt x="136922" y="73487"/>
                      <a:pt x="144924" y="65484"/>
                      <a:pt x="154781" y="65484"/>
                    </a:cubicBezTo>
                    <a:cubicBezTo>
                      <a:pt x="164638" y="65484"/>
                      <a:pt x="172641" y="73487"/>
                      <a:pt x="172641" y="83344"/>
                    </a:cubicBezTo>
                    <a:cubicBezTo>
                      <a:pt x="172641" y="93201"/>
                      <a:pt x="164638" y="101203"/>
                      <a:pt x="154781" y="101203"/>
                    </a:cubicBezTo>
                    <a:cubicBezTo>
                      <a:pt x="144924" y="101203"/>
                      <a:pt x="136922" y="93201"/>
                      <a:pt x="136922" y="83344"/>
                    </a:cubicBezTo>
                    <a:close/>
                    <a:moveTo>
                      <a:pt x="23812" y="83344"/>
                    </a:moveTo>
                    <a:cubicBezTo>
                      <a:pt x="23812" y="76758"/>
                      <a:pt x="18492" y="71438"/>
                      <a:pt x="11906" y="71438"/>
                    </a:cubicBezTo>
                    <a:cubicBezTo>
                      <a:pt x="5321" y="71438"/>
                      <a:pt x="0" y="76758"/>
                      <a:pt x="0" y="83344"/>
                    </a:cubicBezTo>
                    <a:lnTo>
                      <a:pt x="0" y="119063"/>
                    </a:lnTo>
                    <a:cubicBezTo>
                      <a:pt x="0" y="125648"/>
                      <a:pt x="5321" y="130969"/>
                      <a:pt x="11906" y="130969"/>
                    </a:cubicBezTo>
                    <a:cubicBezTo>
                      <a:pt x="18492" y="130969"/>
                      <a:pt x="23812" y="125648"/>
                      <a:pt x="23812" y="119063"/>
                    </a:cubicBezTo>
                    <a:lnTo>
                      <a:pt x="23812" y="83344"/>
                    </a:lnTo>
                    <a:close/>
                    <a:moveTo>
                      <a:pt x="226219" y="71438"/>
                    </a:moveTo>
                    <a:cubicBezTo>
                      <a:pt x="219633" y="71438"/>
                      <a:pt x="214313" y="76758"/>
                      <a:pt x="214313" y="83344"/>
                    </a:cubicBezTo>
                    <a:lnTo>
                      <a:pt x="214313" y="119063"/>
                    </a:lnTo>
                    <a:cubicBezTo>
                      <a:pt x="214313" y="125648"/>
                      <a:pt x="219633" y="130969"/>
                      <a:pt x="226219" y="130969"/>
                    </a:cubicBezTo>
                    <a:cubicBezTo>
                      <a:pt x="232804" y="130969"/>
                      <a:pt x="238125" y="125648"/>
                      <a:pt x="238125" y="119063"/>
                    </a:cubicBezTo>
                    <a:lnTo>
                      <a:pt x="238125" y="83344"/>
                    </a:lnTo>
                    <a:cubicBezTo>
                      <a:pt x="238125" y="76758"/>
                      <a:pt x="232804" y="71438"/>
                      <a:pt x="226219" y="71438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123" name="Text 7">
                <a:extLst>
                  <a:ext uri="{FF2B5EF4-FFF2-40B4-BE49-F238E27FC236}">
                    <a16:creationId xmlns:a16="http://schemas.microsoft.com/office/drawing/2014/main" id="{EB6317A5-1BC0-4D24-BE50-08EF571AAF43}"/>
                  </a:ext>
                </a:extLst>
              </p:cNvPr>
              <p:cNvSpPr/>
              <p:nvPr/>
            </p:nvSpPr>
            <p:spPr>
              <a:xfrm>
                <a:off x="1153862" y="1331896"/>
                <a:ext cx="123825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Чат-бот Ася</a:t>
                </a:r>
                <a:endParaRPr lang="en-US" sz="2800" dirty="0"/>
              </a:p>
            </p:txBody>
          </p:sp>
          <p:sp>
            <p:nvSpPr>
              <p:cNvPr id="124" name="Text 8">
                <a:extLst>
                  <a:ext uri="{FF2B5EF4-FFF2-40B4-BE49-F238E27FC236}">
                    <a16:creationId xmlns:a16="http://schemas.microsoft.com/office/drawing/2014/main" id="{5953BDB3-7645-49DB-A8E1-832258EA3032}"/>
                  </a:ext>
                </a:extLst>
              </p:cNvPr>
              <p:cNvSpPr/>
              <p:nvPr/>
            </p:nvSpPr>
            <p:spPr>
              <a:xfrm>
                <a:off x="1155942" y="1610026"/>
                <a:ext cx="272073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1С:Документооборот</a:t>
                </a:r>
                <a:endParaRPr lang="en-US" sz="1600" dirty="0"/>
              </a:p>
            </p:txBody>
          </p:sp>
        </p:grpSp>
        <p:grpSp>
          <p:nvGrpSpPr>
            <p:cNvPr id="73" name="Группа 72">
              <a:extLst>
                <a:ext uri="{FF2B5EF4-FFF2-40B4-BE49-F238E27FC236}">
                  <a16:creationId xmlns:a16="http://schemas.microsoft.com/office/drawing/2014/main" id="{D9725E63-CBF3-4854-B46D-62335E4F41C5}"/>
                </a:ext>
              </a:extLst>
            </p:cNvPr>
            <p:cNvGrpSpPr/>
            <p:nvPr/>
          </p:nvGrpSpPr>
          <p:grpSpPr>
            <a:xfrm>
              <a:off x="609600" y="2590800"/>
              <a:ext cx="3139440" cy="1828800"/>
              <a:chOff x="600075" y="2247900"/>
              <a:chExt cx="1962150" cy="1143000"/>
            </a:xfrm>
          </p:grpSpPr>
          <p:sp>
            <p:nvSpPr>
              <p:cNvPr id="113" name="Shape 9">
                <a:extLst>
                  <a:ext uri="{FF2B5EF4-FFF2-40B4-BE49-F238E27FC236}">
                    <a16:creationId xmlns:a16="http://schemas.microsoft.com/office/drawing/2014/main" id="{CED53C43-8D53-4D23-A163-EA54388E1E5A}"/>
                  </a:ext>
                </a:extLst>
              </p:cNvPr>
              <p:cNvSpPr/>
              <p:nvPr/>
            </p:nvSpPr>
            <p:spPr>
              <a:xfrm>
                <a:off x="6000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14" name="Text 10">
                <a:extLst>
                  <a:ext uri="{FF2B5EF4-FFF2-40B4-BE49-F238E27FC236}">
                    <a16:creationId xmlns:a16="http://schemas.microsoft.com/office/drawing/2014/main" id="{4DE50B67-9667-4583-A87C-8A7D45FCF077}"/>
                  </a:ext>
                </a:extLst>
              </p:cNvPr>
              <p:cNvSpPr/>
              <p:nvPr/>
            </p:nvSpPr>
            <p:spPr>
              <a:xfrm>
                <a:off x="838200" y="2247900"/>
                <a:ext cx="14668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Простая настройка</a:t>
                </a:r>
                <a:endParaRPr lang="en-US" sz="2400" dirty="0"/>
              </a:p>
            </p:txBody>
          </p:sp>
          <p:sp>
            <p:nvSpPr>
              <p:cNvPr id="115" name="Shape 11">
                <a:extLst>
                  <a:ext uri="{FF2B5EF4-FFF2-40B4-BE49-F238E27FC236}">
                    <a16:creationId xmlns:a16="http://schemas.microsoft.com/office/drawing/2014/main" id="{216CE77B-5AF0-4D2B-93F4-43453178EBEB}"/>
                  </a:ext>
                </a:extLst>
              </p:cNvPr>
              <p:cNvSpPr/>
              <p:nvPr/>
            </p:nvSpPr>
            <p:spPr>
              <a:xfrm>
                <a:off x="6000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16" name="Text 12">
                <a:extLst>
                  <a:ext uri="{FF2B5EF4-FFF2-40B4-BE49-F238E27FC236}">
                    <a16:creationId xmlns:a16="http://schemas.microsoft.com/office/drawing/2014/main" id="{378AE24F-B774-4694-9FC0-DA9938902CC9}"/>
                  </a:ext>
                </a:extLst>
              </p:cNvPr>
              <p:cNvSpPr/>
              <p:nvPr/>
            </p:nvSpPr>
            <p:spPr>
              <a:xfrm>
                <a:off x="838200" y="2552700"/>
                <a:ext cx="10191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Встроен в 1С</a:t>
                </a:r>
                <a:endParaRPr lang="en-US" sz="2400" dirty="0"/>
              </a:p>
            </p:txBody>
          </p:sp>
          <p:sp>
            <p:nvSpPr>
              <p:cNvPr id="117" name="Shape 13">
                <a:extLst>
                  <a:ext uri="{FF2B5EF4-FFF2-40B4-BE49-F238E27FC236}">
                    <a16:creationId xmlns:a16="http://schemas.microsoft.com/office/drawing/2014/main" id="{0841A9D3-47A4-46BF-8E8E-A985CE51A2E5}"/>
                  </a:ext>
                </a:extLst>
              </p:cNvPr>
              <p:cNvSpPr/>
              <p:nvPr/>
            </p:nvSpPr>
            <p:spPr>
              <a:xfrm>
                <a:off x="6096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18" name="Text 14">
                <a:extLst>
                  <a:ext uri="{FF2B5EF4-FFF2-40B4-BE49-F238E27FC236}">
                    <a16:creationId xmlns:a16="http://schemas.microsoft.com/office/drawing/2014/main" id="{7F8C55A7-CB51-45B6-8B03-F102AA3AD08C}"/>
                  </a:ext>
                </a:extLst>
              </p:cNvPr>
              <p:cNvSpPr/>
              <p:nvPr/>
            </p:nvSpPr>
            <p:spPr>
              <a:xfrm>
                <a:off x="838200" y="2857500"/>
                <a:ext cx="15049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Шаблонные ответы</a:t>
                </a:r>
                <a:endParaRPr lang="en-US" sz="2400" dirty="0"/>
              </a:p>
            </p:txBody>
          </p:sp>
          <p:sp>
            <p:nvSpPr>
              <p:cNvPr id="119" name="Shape 15">
                <a:extLst>
                  <a:ext uri="{FF2B5EF4-FFF2-40B4-BE49-F238E27FC236}">
                    <a16:creationId xmlns:a16="http://schemas.microsoft.com/office/drawing/2014/main" id="{CE71CCA2-8FC7-450B-96B6-DB5D81A19C7A}"/>
                  </a:ext>
                </a:extLst>
              </p:cNvPr>
              <p:cNvSpPr/>
              <p:nvPr/>
            </p:nvSpPr>
            <p:spPr>
              <a:xfrm>
                <a:off x="6096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20" name="Text 16">
                <a:extLst>
                  <a:ext uri="{FF2B5EF4-FFF2-40B4-BE49-F238E27FC236}">
                    <a16:creationId xmlns:a16="http://schemas.microsoft.com/office/drawing/2014/main" id="{B3C27D37-BFE3-4832-BAEE-A11E4E7E230A}"/>
                  </a:ext>
                </a:extLst>
              </p:cNvPr>
              <p:cNvSpPr/>
              <p:nvPr/>
            </p:nvSpPr>
            <p:spPr>
              <a:xfrm>
                <a:off x="838200" y="3162300"/>
                <a:ext cx="17240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Нет интеграции с УНФ</a:t>
                </a:r>
                <a:endParaRPr lang="en-US" sz="2400" dirty="0"/>
              </a:p>
            </p:txBody>
          </p:sp>
        </p:grpSp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A26F5A2C-5460-4269-8837-780C54EC006D}"/>
                </a:ext>
              </a:extLst>
            </p:cNvPr>
            <p:cNvGrpSpPr/>
            <p:nvPr/>
          </p:nvGrpSpPr>
          <p:grpSpPr>
            <a:xfrm>
              <a:off x="571500" y="4762500"/>
              <a:ext cx="3305175" cy="342900"/>
              <a:chOff x="571500" y="4762500"/>
              <a:chExt cx="3305175" cy="342900"/>
            </a:xfrm>
          </p:grpSpPr>
          <p:sp>
            <p:nvSpPr>
              <p:cNvPr id="111" name="Shape 17">
                <a:extLst>
                  <a:ext uri="{FF2B5EF4-FFF2-40B4-BE49-F238E27FC236}">
                    <a16:creationId xmlns:a16="http://schemas.microsoft.com/office/drawing/2014/main" id="{A4C28405-A404-470D-B9B1-6DC5E041CAE2}"/>
                  </a:ext>
                </a:extLst>
              </p:cNvPr>
              <p:cNvSpPr/>
              <p:nvPr/>
            </p:nvSpPr>
            <p:spPr>
              <a:xfrm>
                <a:off x="5715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12" name="Text 18">
                <a:extLst>
                  <a:ext uri="{FF2B5EF4-FFF2-40B4-BE49-F238E27FC236}">
                    <a16:creationId xmlns:a16="http://schemas.microsoft.com/office/drawing/2014/main" id="{0578BEC6-E184-4ABD-B7A9-A73322CDD35D}"/>
                  </a:ext>
                </a:extLst>
              </p:cNvPr>
              <p:cNvSpPr/>
              <p:nvPr/>
            </p:nvSpPr>
            <p:spPr>
              <a:xfrm>
                <a:off x="614363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Шаблонный бот</a:t>
                </a:r>
                <a:endParaRPr lang="en-US" sz="3200" dirty="0"/>
              </a:p>
            </p:txBody>
          </p:sp>
        </p:grpSp>
        <p:sp>
          <p:nvSpPr>
            <p:cNvPr id="75" name="Shape 19">
              <a:extLst>
                <a:ext uri="{FF2B5EF4-FFF2-40B4-BE49-F238E27FC236}">
                  <a16:creationId xmlns:a16="http://schemas.microsoft.com/office/drawing/2014/main" id="{896B65CC-5977-482E-80B7-D098F911850F}"/>
                </a:ext>
              </a:extLst>
            </p:cNvPr>
            <p:cNvSpPr/>
            <p:nvPr/>
          </p:nvSpPr>
          <p:spPr>
            <a:xfrm>
              <a:off x="42545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50A9784A-F895-4747-88B6-55C10B57C69E}"/>
                </a:ext>
              </a:extLst>
            </p:cNvPr>
            <p:cNvGrpSpPr/>
            <p:nvPr/>
          </p:nvGrpSpPr>
          <p:grpSpPr>
            <a:xfrm>
              <a:off x="4488815" y="1421235"/>
              <a:ext cx="6001492" cy="823960"/>
              <a:chOff x="4445000" y="1325283"/>
              <a:chExt cx="3389964" cy="465417"/>
            </a:xfrm>
          </p:grpSpPr>
          <p:sp>
            <p:nvSpPr>
              <p:cNvPr id="107" name="Shape 20">
                <a:extLst>
                  <a:ext uri="{FF2B5EF4-FFF2-40B4-BE49-F238E27FC236}">
                    <a16:creationId xmlns:a16="http://schemas.microsoft.com/office/drawing/2014/main" id="{76AEE393-304C-491F-B82F-3C839FFEAA39}"/>
                  </a:ext>
                </a:extLst>
              </p:cNvPr>
              <p:cNvSpPr/>
              <p:nvPr/>
            </p:nvSpPr>
            <p:spPr>
              <a:xfrm>
                <a:off x="44450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08" name="Shape 21">
                <a:extLst>
                  <a:ext uri="{FF2B5EF4-FFF2-40B4-BE49-F238E27FC236}">
                    <a16:creationId xmlns:a16="http://schemas.microsoft.com/office/drawing/2014/main" id="{E1D4B58E-04CC-4E4E-BBE0-14D0563BA827}"/>
                  </a:ext>
                </a:extLst>
              </p:cNvPr>
              <p:cNvSpPr/>
              <p:nvPr/>
            </p:nvSpPr>
            <p:spPr>
              <a:xfrm>
                <a:off x="4578350" y="14668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44648" y="20836"/>
                    </a:moveTo>
                    <a:cubicBezTo>
                      <a:pt x="44648" y="9339"/>
                      <a:pt x="53987" y="0"/>
                      <a:pt x="65484" y="0"/>
                    </a:cubicBezTo>
                    <a:lnTo>
                      <a:pt x="74414" y="0"/>
                    </a:lnTo>
                    <a:cubicBezTo>
                      <a:pt x="81000" y="0"/>
                      <a:pt x="86320" y="5321"/>
                      <a:pt x="86320" y="11906"/>
                    </a:cubicBezTo>
                    <a:lnTo>
                      <a:pt x="86320" y="178594"/>
                    </a:lnTo>
                    <a:cubicBezTo>
                      <a:pt x="86320" y="185179"/>
                      <a:pt x="81000" y="190500"/>
                      <a:pt x="74414" y="190500"/>
                    </a:cubicBezTo>
                    <a:lnTo>
                      <a:pt x="62508" y="190500"/>
                    </a:lnTo>
                    <a:cubicBezTo>
                      <a:pt x="51420" y="190500"/>
                      <a:pt x="42081" y="182910"/>
                      <a:pt x="39439" y="172641"/>
                    </a:cubicBezTo>
                    <a:cubicBezTo>
                      <a:pt x="39179" y="172641"/>
                      <a:pt x="38956" y="172641"/>
                      <a:pt x="38695" y="172641"/>
                    </a:cubicBezTo>
                    <a:cubicBezTo>
                      <a:pt x="22250" y="172641"/>
                      <a:pt x="8930" y="159321"/>
                      <a:pt x="8930" y="142875"/>
                    </a:cubicBezTo>
                    <a:cubicBezTo>
                      <a:pt x="8930" y="136178"/>
                      <a:pt x="11162" y="130001"/>
                      <a:pt x="14883" y="125016"/>
                    </a:cubicBezTo>
                    <a:cubicBezTo>
                      <a:pt x="7665" y="119583"/>
                      <a:pt x="2977" y="110951"/>
                      <a:pt x="2977" y="101203"/>
                    </a:cubicBezTo>
                    <a:cubicBezTo>
                      <a:pt x="2977" y="89706"/>
                      <a:pt x="9525" y="79697"/>
                      <a:pt x="19050" y="74749"/>
                    </a:cubicBezTo>
                    <a:cubicBezTo>
                      <a:pt x="16408" y="70284"/>
                      <a:pt x="14883" y="65075"/>
                      <a:pt x="14883" y="59531"/>
                    </a:cubicBezTo>
                    <a:cubicBezTo>
                      <a:pt x="14883" y="43086"/>
                      <a:pt x="28203" y="29766"/>
                      <a:pt x="44648" y="29766"/>
                    </a:cubicBezTo>
                    <a:lnTo>
                      <a:pt x="44648" y="20836"/>
                    </a:lnTo>
                    <a:close/>
                    <a:moveTo>
                      <a:pt x="145852" y="20836"/>
                    </a:moveTo>
                    <a:lnTo>
                      <a:pt x="145852" y="29766"/>
                    </a:lnTo>
                    <a:cubicBezTo>
                      <a:pt x="162297" y="29766"/>
                      <a:pt x="175617" y="43086"/>
                      <a:pt x="175617" y="59531"/>
                    </a:cubicBezTo>
                    <a:cubicBezTo>
                      <a:pt x="175617" y="65112"/>
                      <a:pt x="174092" y="70321"/>
                      <a:pt x="171450" y="74749"/>
                    </a:cubicBezTo>
                    <a:cubicBezTo>
                      <a:pt x="181012" y="79697"/>
                      <a:pt x="187523" y="89669"/>
                      <a:pt x="187523" y="101203"/>
                    </a:cubicBezTo>
                    <a:cubicBezTo>
                      <a:pt x="187523" y="110951"/>
                      <a:pt x="182835" y="119583"/>
                      <a:pt x="175617" y="125016"/>
                    </a:cubicBezTo>
                    <a:cubicBezTo>
                      <a:pt x="179338" y="130001"/>
                      <a:pt x="181570" y="136178"/>
                      <a:pt x="181570" y="142875"/>
                    </a:cubicBezTo>
                    <a:cubicBezTo>
                      <a:pt x="181570" y="159321"/>
                      <a:pt x="168250" y="172641"/>
                      <a:pt x="151805" y="172641"/>
                    </a:cubicBezTo>
                    <a:cubicBezTo>
                      <a:pt x="151544" y="172641"/>
                      <a:pt x="151321" y="172641"/>
                      <a:pt x="151061" y="172641"/>
                    </a:cubicBezTo>
                    <a:cubicBezTo>
                      <a:pt x="148419" y="182910"/>
                      <a:pt x="139080" y="190500"/>
                      <a:pt x="127992" y="190500"/>
                    </a:cubicBezTo>
                    <a:lnTo>
                      <a:pt x="116086" y="190500"/>
                    </a:lnTo>
                    <a:cubicBezTo>
                      <a:pt x="109500" y="190500"/>
                      <a:pt x="104180" y="185179"/>
                      <a:pt x="104180" y="178594"/>
                    </a:cubicBezTo>
                    <a:lnTo>
                      <a:pt x="104180" y="11906"/>
                    </a:lnTo>
                    <a:cubicBezTo>
                      <a:pt x="104180" y="5321"/>
                      <a:pt x="109500" y="0"/>
                      <a:pt x="116086" y="0"/>
                    </a:cubicBezTo>
                    <a:lnTo>
                      <a:pt x="125016" y="0"/>
                    </a:lnTo>
                    <a:cubicBezTo>
                      <a:pt x="136513" y="0"/>
                      <a:pt x="145852" y="9339"/>
                      <a:pt x="145852" y="20836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109" name="Text 22">
                <a:extLst>
                  <a:ext uri="{FF2B5EF4-FFF2-40B4-BE49-F238E27FC236}">
                    <a16:creationId xmlns:a16="http://schemas.microsoft.com/office/drawing/2014/main" id="{CCE43BAD-6728-4604-BF20-F06275FF0F92}"/>
                  </a:ext>
                </a:extLst>
              </p:cNvPr>
              <p:cNvSpPr/>
              <p:nvPr/>
            </p:nvSpPr>
            <p:spPr>
              <a:xfrm>
                <a:off x="4935537" y="1325283"/>
                <a:ext cx="990600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GigaChat</a:t>
                </a:r>
                <a:endParaRPr lang="en-US" sz="2800" dirty="0"/>
              </a:p>
            </p:txBody>
          </p:sp>
          <p:sp>
            <p:nvSpPr>
              <p:cNvPr id="110" name="Text 23">
                <a:extLst>
                  <a:ext uri="{FF2B5EF4-FFF2-40B4-BE49-F238E27FC236}">
                    <a16:creationId xmlns:a16="http://schemas.microsoft.com/office/drawing/2014/main" id="{0BCF281C-1C36-49C3-9A59-429965D77D3D}"/>
                  </a:ext>
                </a:extLst>
              </p:cNvPr>
              <p:cNvSpPr/>
              <p:nvPr/>
            </p:nvSpPr>
            <p:spPr>
              <a:xfrm>
                <a:off x="4956197" y="1575243"/>
                <a:ext cx="2878767" cy="2095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Сбер, интеграция с 1С</a:t>
                </a:r>
                <a:endParaRPr lang="en-US" sz="1600" dirty="0"/>
              </a:p>
            </p:txBody>
          </p:sp>
        </p:grpSp>
        <p:grpSp>
          <p:nvGrpSpPr>
            <p:cNvPr id="77" name="Группа 76">
              <a:extLst>
                <a:ext uri="{FF2B5EF4-FFF2-40B4-BE49-F238E27FC236}">
                  <a16:creationId xmlns:a16="http://schemas.microsoft.com/office/drawing/2014/main" id="{9A9A3FDA-2F41-4BE0-B4DD-BE96495154F9}"/>
                </a:ext>
              </a:extLst>
            </p:cNvPr>
            <p:cNvGrpSpPr/>
            <p:nvPr/>
          </p:nvGrpSpPr>
          <p:grpSpPr>
            <a:xfrm>
              <a:off x="4473575" y="2590800"/>
              <a:ext cx="3185160" cy="1828800"/>
              <a:chOff x="4473575" y="2247900"/>
              <a:chExt cx="1990725" cy="1143000"/>
            </a:xfrm>
          </p:grpSpPr>
          <p:sp>
            <p:nvSpPr>
              <p:cNvPr id="99" name="Shape 24">
                <a:extLst>
                  <a:ext uri="{FF2B5EF4-FFF2-40B4-BE49-F238E27FC236}">
                    <a16:creationId xmlns:a16="http://schemas.microsoft.com/office/drawing/2014/main" id="{528F6742-AA38-428F-9E74-4251D70BC294}"/>
                  </a:ext>
                </a:extLst>
              </p:cNvPr>
              <p:cNvSpPr/>
              <p:nvPr/>
            </p:nvSpPr>
            <p:spPr>
              <a:xfrm>
                <a:off x="44735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00" name="Text 25">
                <a:extLst>
                  <a:ext uri="{FF2B5EF4-FFF2-40B4-BE49-F238E27FC236}">
                    <a16:creationId xmlns:a16="http://schemas.microsoft.com/office/drawing/2014/main" id="{F88CA848-6DC0-402E-A0ED-F58BDEB917BF}"/>
                  </a:ext>
                </a:extLst>
              </p:cNvPr>
              <p:cNvSpPr/>
              <p:nvPr/>
            </p:nvSpPr>
            <p:spPr>
              <a:xfrm>
                <a:off x="4711700" y="2247900"/>
                <a:ext cx="17526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Русскоязычная модель</a:t>
                </a:r>
                <a:endParaRPr lang="en-US" sz="2400" dirty="0"/>
              </a:p>
            </p:txBody>
          </p:sp>
          <p:sp>
            <p:nvSpPr>
              <p:cNvPr id="101" name="Shape 26">
                <a:extLst>
                  <a:ext uri="{FF2B5EF4-FFF2-40B4-BE49-F238E27FC236}">
                    <a16:creationId xmlns:a16="http://schemas.microsoft.com/office/drawing/2014/main" id="{C1807E1A-2A47-40BE-A45A-C5E6C1BE2370}"/>
                  </a:ext>
                </a:extLst>
              </p:cNvPr>
              <p:cNvSpPr/>
              <p:nvPr/>
            </p:nvSpPr>
            <p:spPr>
              <a:xfrm>
                <a:off x="44735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02" name="Text 27">
                <a:extLst>
                  <a:ext uri="{FF2B5EF4-FFF2-40B4-BE49-F238E27FC236}">
                    <a16:creationId xmlns:a16="http://schemas.microsoft.com/office/drawing/2014/main" id="{FFFE14A9-30EA-4B9F-B69A-3A2D602571D9}"/>
                  </a:ext>
                </a:extLst>
              </p:cNvPr>
              <p:cNvSpPr/>
              <p:nvPr/>
            </p:nvSpPr>
            <p:spPr>
              <a:xfrm>
                <a:off x="4711700" y="2552700"/>
                <a:ext cx="8477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API доступ</a:t>
                </a:r>
                <a:endParaRPr lang="en-US" sz="2400" dirty="0"/>
              </a:p>
            </p:txBody>
          </p:sp>
          <p:sp>
            <p:nvSpPr>
              <p:cNvPr id="103" name="Shape 28">
                <a:extLst>
                  <a:ext uri="{FF2B5EF4-FFF2-40B4-BE49-F238E27FC236}">
                    <a16:creationId xmlns:a16="http://schemas.microsoft.com/office/drawing/2014/main" id="{7B4246AA-41AF-496C-AE2C-30616FE6A317}"/>
                  </a:ext>
                </a:extLst>
              </p:cNvPr>
              <p:cNvSpPr/>
              <p:nvPr/>
            </p:nvSpPr>
            <p:spPr>
              <a:xfrm>
                <a:off x="44831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04" name="Text 29">
                <a:extLst>
                  <a:ext uri="{FF2B5EF4-FFF2-40B4-BE49-F238E27FC236}">
                    <a16:creationId xmlns:a16="http://schemas.microsoft.com/office/drawing/2014/main" id="{08BA71B7-6E00-4B20-95CB-5E4C29D3EB48}"/>
                  </a:ext>
                </a:extLst>
              </p:cNvPr>
              <p:cNvSpPr/>
              <p:nvPr/>
            </p:nvSpPr>
            <p:spPr>
              <a:xfrm>
                <a:off x="4711700" y="2857500"/>
                <a:ext cx="14763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Требует доработки</a:t>
                </a:r>
                <a:endParaRPr lang="en-US" sz="2400" dirty="0"/>
              </a:p>
            </p:txBody>
          </p:sp>
          <p:sp>
            <p:nvSpPr>
              <p:cNvPr id="105" name="Shape 30">
                <a:extLst>
                  <a:ext uri="{FF2B5EF4-FFF2-40B4-BE49-F238E27FC236}">
                    <a16:creationId xmlns:a16="http://schemas.microsoft.com/office/drawing/2014/main" id="{6FB0BF2D-3886-4489-9484-1E30431D1F6B}"/>
                  </a:ext>
                </a:extLst>
              </p:cNvPr>
              <p:cNvSpPr/>
              <p:nvPr/>
            </p:nvSpPr>
            <p:spPr>
              <a:xfrm>
                <a:off x="44831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06" name="Text 31">
                <a:extLst>
                  <a:ext uri="{FF2B5EF4-FFF2-40B4-BE49-F238E27FC236}">
                    <a16:creationId xmlns:a16="http://schemas.microsoft.com/office/drawing/2014/main" id="{D9D648FE-175D-4470-8AF3-2AAFF5DB8CA1}"/>
                  </a:ext>
                </a:extLst>
              </p:cNvPr>
              <p:cNvSpPr/>
              <p:nvPr/>
            </p:nvSpPr>
            <p:spPr>
              <a:xfrm>
                <a:off x="4711700" y="3162300"/>
                <a:ext cx="17145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Нет готового решения</a:t>
                </a:r>
                <a:endParaRPr lang="en-US" sz="2400" dirty="0"/>
              </a:p>
            </p:txBody>
          </p:sp>
        </p:grpSp>
        <p:grpSp>
          <p:nvGrpSpPr>
            <p:cNvPr id="78" name="Группа 77">
              <a:extLst>
                <a:ext uri="{FF2B5EF4-FFF2-40B4-BE49-F238E27FC236}">
                  <a16:creationId xmlns:a16="http://schemas.microsoft.com/office/drawing/2014/main" id="{0062DF4F-0413-4A1E-88BA-3E175DAB80E9}"/>
                </a:ext>
              </a:extLst>
            </p:cNvPr>
            <p:cNvGrpSpPr/>
            <p:nvPr/>
          </p:nvGrpSpPr>
          <p:grpSpPr>
            <a:xfrm>
              <a:off x="4445000" y="4762500"/>
              <a:ext cx="3305175" cy="342900"/>
              <a:chOff x="4445000" y="4762500"/>
              <a:chExt cx="3305175" cy="342900"/>
            </a:xfrm>
          </p:grpSpPr>
          <p:sp>
            <p:nvSpPr>
              <p:cNvPr id="97" name="Shape 32">
                <a:extLst>
                  <a:ext uri="{FF2B5EF4-FFF2-40B4-BE49-F238E27FC236}">
                    <a16:creationId xmlns:a16="http://schemas.microsoft.com/office/drawing/2014/main" id="{21976FE9-4663-4533-AC70-0206F3DA1756}"/>
                  </a:ext>
                </a:extLst>
              </p:cNvPr>
              <p:cNvSpPr/>
              <p:nvPr/>
            </p:nvSpPr>
            <p:spPr>
              <a:xfrm>
                <a:off x="44450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98" name="Text 33">
                <a:extLst>
                  <a:ext uri="{FF2B5EF4-FFF2-40B4-BE49-F238E27FC236}">
                    <a16:creationId xmlns:a16="http://schemas.microsoft.com/office/drawing/2014/main" id="{DB6F41E3-170B-4224-80E9-7A119E89C52B}"/>
                  </a:ext>
                </a:extLst>
              </p:cNvPr>
              <p:cNvSpPr/>
              <p:nvPr/>
            </p:nvSpPr>
            <p:spPr>
              <a:xfrm>
                <a:off x="4487863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API</a:t>
                </a:r>
                <a:endParaRPr lang="en-US" sz="3200" dirty="0"/>
              </a:p>
            </p:txBody>
          </p:sp>
        </p:grpSp>
        <p:sp>
          <p:nvSpPr>
            <p:cNvPr id="79" name="Shape 34">
              <a:extLst>
                <a:ext uri="{FF2B5EF4-FFF2-40B4-BE49-F238E27FC236}">
                  <a16:creationId xmlns:a16="http://schemas.microsoft.com/office/drawing/2014/main" id="{C834EA80-DA28-454C-8BBC-4C191539BA21}"/>
                </a:ext>
              </a:extLst>
            </p:cNvPr>
            <p:cNvSpPr/>
            <p:nvPr/>
          </p:nvSpPr>
          <p:spPr>
            <a:xfrm>
              <a:off x="8128000" y="1143000"/>
              <a:ext cx="3686175" cy="4152900"/>
            </a:xfrm>
            <a:custGeom>
              <a:avLst/>
              <a:gdLst/>
              <a:ahLst/>
              <a:cxnLst/>
              <a:rect l="l" t="t" r="r" b="b"/>
              <a:pathLst>
                <a:path w="3686175" h="4152900">
                  <a:moveTo>
                    <a:pt x="152386" y="0"/>
                  </a:moveTo>
                  <a:lnTo>
                    <a:pt x="3533789" y="0"/>
                  </a:lnTo>
                  <a:cubicBezTo>
                    <a:pt x="3617949" y="0"/>
                    <a:pt x="3686175" y="68226"/>
                    <a:pt x="3686175" y="152386"/>
                  </a:cubicBezTo>
                  <a:lnTo>
                    <a:pt x="3686175" y="4000514"/>
                  </a:lnTo>
                  <a:cubicBezTo>
                    <a:pt x="3686175" y="4084674"/>
                    <a:pt x="3617949" y="4152900"/>
                    <a:pt x="3533789" y="4152900"/>
                  </a:cubicBezTo>
                  <a:lnTo>
                    <a:pt x="152386" y="4152900"/>
                  </a:lnTo>
                  <a:cubicBezTo>
                    <a:pt x="68226" y="4152900"/>
                    <a:pt x="0" y="4084674"/>
                    <a:pt x="0" y="4000514"/>
                  </a:cubicBezTo>
                  <a:lnTo>
                    <a:pt x="0" y="152386"/>
                  </a:lnTo>
                  <a:cubicBezTo>
                    <a:pt x="0" y="68282"/>
                    <a:pt x="68282" y="0"/>
                    <a:pt x="152386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grpSp>
          <p:nvGrpSpPr>
            <p:cNvPr id="80" name="Группа 79">
              <a:extLst>
                <a:ext uri="{FF2B5EF4-FFF2-40B4-BE49-F238E27FC236}">
                  <a16:creationId xmlns:a16="http://schemas.microsoft.com/office/drawing/2014/main" id="{5268ABBD-146B-4661-AB8F-AC472416FE77}"/>
                </a:ext>
              </a:extLst>
            </p:cNvPr>
            <p:cNvGrpSpPr/>
            <p:nvPr/>
          </p:nvGrpSpPr>
          <p:grpSpPr>
            <a:xfrm>
              <a:off x="8347075" y="1319753"/>
              <a:ext cx="6992578" cy="851201"/>
              <a:chOff x="8318500" y="1309896"/>
              <a:chExt cx="3949783" cy="480804"/>
            </a:xfrm>
          </p:grpSpPr>
          <p:sp>
            <p:nvSpPr>
              <p:cNvPr id="93" name="Shape 35">
                <a:extLst>
                  <a:ext uri="{FF2B5EF4-FFF2-40B4-BE49-F238E27FC236}">
                    <a16:creationId xmlns:a16="http://schemas.microsoft.com/office/drawing/2014/main" id="{26A71ED0-6367-4393-A8C7-AABDD634CCEE}"/>
                  </a:ext>
                </a:extLst>
              </p:cNvPr>
              <p:cNvSpPr/>
              <p:nvPr/>
            </p:nvSpPr>
            <p:spPr>
              <a:xfrm>
                <a:off x="8318500" y="13335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14300" y="0"/>
                    </a:moveTo>
                    <a:lnTo>
                      <a:pt x="342900" y="0"/>
                    </a:lnTo>
                    <a:cubicBezTo>
                      <a:pt x="405984" y="0"/>
                      <a:pt x="457200" y="51216"/>
                      <a:pt x="457200" y="114300"/>
                    </a:cubicBezTo>
                    <a:lnTo>
                      <a:pt x="457200" y="342900"/>
                    </a:lnTo>
                    <a:cubicBezTo>
                      <a:pt x="457200" y="405984"/>
                      <a:pt x="405984" y="457200"/>
                      <a:pt x="342900" y="457200"/>
                    </a:cubicBezTo>
                    <a:lnTo>
                      <a:pt x="114300" y="457200"/>
                    </a:lnTo>
                    <a:cubicBezTo>
                      <a:pt x="51216" y="457200"/>
                      <a:pt x="0" y="405984"/>
                      <a:pt x="0" y="342900"/>
                    </a:cubicBezTo>
                    <a:lnTo>
                      <a:pt x="0" y="114300"/>
                    </a:lnTo>
                    <a:cubicBezTo>
                      <a:pt x="0" y="51216"/>
                      <a:pt x="51216" y="0"/>
                      <a:pt x="1143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142875" dist="9525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94" name="Shape 36">
                <a:extLst>
                  <a:ext uri="{FF2B5EF4-FFF2-40B4-BE49-F238E27FC236}">
                    <a16:creationId xmlns:a16="http://schemas.microsoft.com/office/drawing/2014/main" id="{7620D460-5B6A-45B1-9501-FA3F54A40CFA}"/>
                  </a:ext>
                </a:extLst>
              </p:cNvPr>
              <p:cNvSpPr/>
              <p:nvPr/>
            </p:nvSpPr>
            <p:spPr>
              <a:xfrm>
                <a:off x="8463756" y="146685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-11906"/>
                    </a:moveTo>
                    <a:cubicBezTo>
                      <a:pt x="54211" y="-11906"/>
                      <a:pt x="59531" y="-6586"/>
                      <a:pt x="59531" y="0"/>
                    </a:cubicBezTo>
                    <a:lnTo>
                      <a:pt x="59531" y="35719"/>
                    </a:lnTo>
                    <a:lnTo>
                      <a:pt x="107156" y="35719"/>
                    </a:lnTo>
                    <a:lnTo>
                      <a:pt x="107156" y="0"/>
                    </a:lnTo>
                    <a:cubicBezTo>
                      <a:pt x="107156" y="-6586"/>
                      <a:pt x="112477" y="-11906"/>
                      <a:pt x="119063" y="-11906"/>
                    </a:cubicBezTo>
                    <a:cubicBezTo>
                      <a:pt x="125648" y="-11906"/>
                      <a:pt x="130969" y="-6586"/>
                      <a:pt x="130969" y="0"/>
                    </a:cubicBezTo>
                    <a:lnTo>
                      <a:pt x="130969" y="35719"/>
                    </a:lnTo>
                    <a:lnTo>
                      <a:pt x="154781" y="35719"/>
                    </a:lnTo>
                    <a:cubicBezTo>
                      <a:pt x="161367" y="35719"/>
                      <a:pt x="166688" y="41039"/>
                      <a:pt x="166688" y="47625"/>
                    </a:cubicBezTo>
                    <a:cubicBezTo>
                      <a:pt x="166688" y="54211"/>
                      <a:pt x="161367" y="59531"/>
                      <a:pt x="154781" y="59531"/>
                    </a:cubicBezTo>
                    <a:lnTo>
                      <a:pt x="154781" y="83344"/>
                    </a:lnTo>
                    <a:cubicBezTo>
                      <a:pt x="154781" y="118728"/>
                      <a:pt x="129034" y="148121"/>
                      <a:pt x="95250" y="153777"/>
                    </a:cubicBezTo>
                    <a:lnTo>
                      <a:pt x="95250" y="178594"/>
                    </a:lnTo>
                    <a:cubicBezTo>
                      <a:pt x="95250" y="185179"/>
                      <a:pt x="89929" y="190500"/>
                      <a:pt x="83344" y="190500"/>
                    </a:cubicBezTo>
                    <a:cubicBezTo>
                      <a:pt x="76758" y="190500"/>
                      <a:pt x="71438" y="185179"/>
                      <a:pt x="71438" y="178594"/>
                    </a:cubicBezTo>
                    <a:lnTo>
                      <a:pt x="71438" y="153777"/>
                    </a:lnTo>
                    <a:cubicBezTo>
                      <a:pt x="37654" y="148121"/>
                      <a:pt x="11906" y="118728"/>
                      <a:pt x="11906" y="83344"/>
                    </a:cubicBezTo>
                    <a:lnTo>
                      <a:pt x="11906" y="59531"/>
                    </a:lnTo>
                    <a:cubicBezTo>
                      <a:pt x="5321" y="59531"/>
                      <a:pt x="0" y="54211"/>
                      <a:pt x="0" y="47625"/>
                    </a:cubicBezTo>
                    <a:cubicBezTo>
                      <a:pt x="0" y="41039"/>
                      <a:pt x="5321" y="35719"/>
                      <a:pt x="11906" y="35719"/>
                    </a:cubicBezTo>
                    <a:lnTo>
                      <a:pt x="35719" y="35719"/>
                    </a:lnTo>
                    <a:lnTo>
                      <a:pt x="35719" y="0"/>
                    </a:lnTo>
                    <a:cubicBezTo>
                      <a:pt x="35719" y="-6586"/>
                      <a:pt x="41039" y="-11906"/>
                      <a:pt x="47625" y="-11906"/>
                    </a:cubicBezTo>
                    <a:close/>
                  </a:path>
                </a:pathLst>
              </a:custGeom>
              <a:solidFill>
                <a:srgbClr val="1A1A1A"/>
              </a:solidFill>
              <a:ln/>
            </p:spPr>
          </p:sp>
          <p:sp>
            <p:nvSpPr>
              <p:cNvPr id="95" name="Text 37">
                <a:extLst>
                  <a:ext uri="{FF2B5EF4-FFF2-40B4-BE49-F238E27FC236}">
                    <a16:creationId xmlns:a16="http://schemas.microsoft.com/office/drawing/2014/main" id="{DCE35524-76AD-4414-A37E-FAC6221A47EA}"/>
                  </a:ext>
                </a:extLst>
              </p:cNvPr>
              <p:cNvSpPr/>
              <p:nvPr/>
            </p:nvSpPr>
            <p:spPr>
              <a:xfrm>
                <a:off x="8890000" y="1309896"/>
                <a:ext cx="809625" cy="266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ИИкона</a:t>
                </a:r>
                <a:endParaRPr lang="en-US" sz="2800" dirty="0"/>
              </a:p>
            </p:txBody>
          </p:sp>
          <p:sp>
            <p:nvSpPr>
              <p:cNvPr id="96" name="Text 38">
                <a:extLst>
                  <a:ext uri="{FF2B5EF4-FFF2-40B4-BE49-F238E27FC236}">
                    <a16:creationId xmlns:a16="http://schemas.microsoft.com/office/drawing/2014/main" id="{EADE864E-5449-473F-8795-A40685B0197F}"/>
                  </a:ext>
                </a:extLst>
              </p:cNvPr>
              <p:cNvSpPr/>
              <p:nvPr/>
            </p:nvSpPr>
            <p:spPr>
              <a:xfrm>
                <a:off x="8896433" y="1576596"/>
                <a:ext cx="33718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Универсальный коннектор</a:t>
                </a:r>
                <a:endParaRPr lang="en-US" sz="1600" dirty="0"/>
              </a:p>
            </p:txBody>
          </p:sp>
        </p:grpSp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95FD3B6F-B344-4890-A839-4AD116F355A7}"/>
                </a:ext>
              </a:extLst>
            </p:cNvPr>
            <p:cNvGrpSpPr/>
            <p:nvPr/>
          </p:nvGrpSpPr>
          <p:grpSpPr>
            <a:xfrm>
              <a:off x="8347075" y="2604246"/>
              <a:ext cx="3343275" cy="1815353"/>
              <a:chOff x="8347075" y="2247900"/>
              <a:chExt cx="2105025" cy="1143000"/>
            </a:xfrm>
          </p:grpSpPr>
          <p:sp>
            <p:nvSpPr>
              <p:cNvPr id="85" name="Shape 39">
                <a:extLst>
                  <a:ext uri="{FF2B5EF4-FFF2-40B4-BE49-F238E27FC236}">
                    <a16:creationId xmlns:a16="http://schemas.microsoft.com/office/drawing/2014/main" id="{038DDB96-7AB6-4044-838F-21AFE1246D12}"/>
                  </a:ext>
                </a:extLst>
              </p:cNvPr>
              <p:cNvSpPr/>
              <p:nvPr/>
            </p:nvSpPr>
            <p:spPr>
              <a:xfrm>
                <a:off x="8347075" y="22860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86" name="Text 40">
                <a:extLst>
                  <a:ext uri="{FF2B5EF4-FFF2-40B4-BE49-F238E27FC236}">
                    <a16:creationId xmlns:a16="http://schemas.microsoft.com/office/drawing/2014/main" id="{BD93A3D7-F75B-43EA-934A-A17C49BE7F6D}"/>
                  </a:ext>
                </a:extLst>
              </p:cNvPr>
              <p:cNvSpPr/>
              <p:nvPr/>
            </p:nvSpPr>
            <p:spPr>
              <a:xfrm>
                <a:off x="8585200" y="2247900"/>
                <a:ext cx="15811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Множество моделей</a:t>
                </a:r>
                <a:endParaRPr lang="en-US" sz="2400" dirty="0"/>
              </a:p>
            </p:txBody>
          </p:sp>
          <p:sp>
            <p:nvSpPr>
              <p:cNvPr id="87" name="Shape 41">
                <a:extLst>
                  <a:ext uri="{FF2B5EF4-FFF2-40B4-BE49-F238E27FC236}">
                    <a16:creationId xmlns:a16="http://schemas.microsoft.com/office/drawing/2014/main" id="{177641D8-83EC-461F-BEFD-F010CC53C98E}"/>
                  </a:ext>
                </a:extLst>
              </p:cNvPr>
              <p:cNvSpPr/>
              <p:nvPr/>
            </p:nvSpPr>
            <p:spPr>
              <a:xfrm>
                <a:off x="8347075" y="25908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29421" y="20866"/>
                    </a:moveTo>
                    <a:cubicBezTo>
                      <a:pt x="133677" y="23961"/>
                      <a:pt x="134630" y="29914"/>
                      <a:pt x="131534" y="34171"/>
                    </a:cubicBezTo>
                    <a:lnTo>
                      <a:pt x="55334" y="138946"/>
                    </a:lnTo>
                    <a:cubicBezTo>
                      <a:pt x="53697" y="141208"/>
                      <a:pt x="51167" y="142607"/>
                      <a:pt x="48369" y="142845"/>
                    </a:cubicBezTo>
                    <a:cubicBezTo>
                      <a:pt x="45571" y="143083"/>
                      <a:pt x="42863" y="142042"/>
                      <a:pt x="40898" y="140077"/>
                    </a:cubicBezTo>
                    <a:lnTo>
                      <a:pt x="2798" y="101977"/>
                    </a:lnTo>
                    <a:cubicBezTo>
                      <a:pt x="-923" y="98256"/>
                      <a:pt x="-923" y="92214"/>
                      <a:pt x="2798" y="88493"/>
                    </a:cubicBezTo>
                    <a:cubicBezTo>
                      <a:pt x="6519" y="84773"/>
                      <a:pt x="12561" y="84773"/>
                      <a:pt x="16282" y="88493"/>
                    </a:cubicBezTo>
                    <a:lnTo>
                      <a:pt x="46494" y="118705"/>
                    </a:lnTo>
                    <a:lnTo>
                      <a:pt x="116145" y="22949"/>
                    </a:lnTo>
                    <a:cubicBezTo>
                      <a:pt x="119241" y="18693"/>
                      <a:pt x="125194" y="17740"/>
                      <a:pt x="129451" y="20836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88" name="Text 42">
                <a:extLst>
                  <a:ext uri="{FF2B5EF4-FFF2-40B4-BE49-F238E27FC236}">
                    <a16:creationId xmlns:a16="http://schemas.microsoft.com/office/drawing/2014/main" id="{EF1511AC-DCB9-42C7-A39E-562C983A812D}"/>
                  </a:ext>
                </a:extLst>
              </p:cNvPr>
              <p:cNvSpPr/>
              <p:nvPr/>
            </p:nvSpPr>
            <p:spPr>
              <a:xfrm>
                <a:off x="8585200" y="2552700"/>
                <a:ext cx="16097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Готовое расширение</a:t>
                </a:r>
                <a:endParaRPr lang="en-US" sz="2400" dirty="0"/>
              </a:p>
            </p:txBody>
          </p:sp>
          <p:sp>
            <p:nvSpPr>
              <p:cNvPr id="89" name="Shape 43">
                <a:extLst>
                  <a:ext uri="{FF2B5EF4-FFF2-40B4-BE49-F238E27FC236}">
                    <a16:creationId xmlns:a16="http://schemas.microsoft.com/office/drawing/2014/main" id="{10DD27CF-9D26-4C54-B367-BB1A31DD4DA0}"/>
                  </a:ext>
                </a:extLst>
              </p:cNvPr>
              <p:cNvSpPr/>
              <p:nvPr/>
            </p:nvSpPr>
            <p:spPr>
              <a:xfrm>
                <a:off x="8356600" y="2895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90" name="Text 44">
                <a:extLst>
                  <a:ext uri="{FF2B5EF4-FFF2-40B4-BE49-F238E27FC236}">
                    <a16:creationId xmlns:a16="http://schemas.microsoft.com/office/drawing/2014/main" id="{82E80C6A-4106-4B7E-8479-E791F9E58BDB}"/>
                  </a:ext>
                </a:extLst>
              </p:cNvPr>
              <p:cNvSpPr/>
              <p:nvPr/>
            </p:nvSpPr>
            <p:spPr>
              <a:xfrm>
                <a:off x="8585200" y="2857500"/>
                <a:ext cx="138112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Платное решение</a:t>
                </a:r>
                <a:endParaRPr lang="en-US" sz="2400" dirty="0"/>
              </a:p>
            </p:txBody>
          </p:sp>
          <p:sp>
            <p:nvSpPr>
              <p:cNvPr id="91" name="Shape 45">
                <a:extLst>
                  <a:ext uri="{FF2B5EF4-FFF2-40B4-BE49-F238E27FC236}">
                    <a16:creationId xmlns:a16="http://schemas.microsoft.com/office/drawing/2014/main" id="{C2D1A929-EBA8-4B5F-95CE-196044CCF42A}"/>
                  </a:ext>
                </a:extLst>
              </p:cNvPr>
              <p:cNvSpPr/>
              <p:nvPr/>
            </p:nvSpPr>
            <p:spPr>
              <a:xfrm>
                <a:off x="8356600" y="32004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6401" y="21848"/>
                    </a:moveTo>
                    <a:cubicBezTo>
                      <a:pt x="12680" y="18127"/>
                      <a:pt x="6638" y="18127"/>
                      <a:pt x="2917" y="21848"/>
                    </a:cubicBezTo>
                    <a:cubicBezTo>
                      <a:pt x="-804" y="25569"/>
                      <a:pt x="-804" y="31611"/>
                      <a:pt x="2917" y="35332"/>
                    </a:cubicBezTo>
                    <a:lnTo>
                      <a:pt x="43815" y="76200"/>
                    </a:lnTo>
                    <a:lnTo>
                      <a:pt x="2947" y="117098"/>
                    </a:lnTo>
                    <a:cubicBezTo>
                      <a:pt x="-774" y="120819"/>
                      <a:pt x="-774" y="126861"/>
                      <a:pt x="2947" y="130582"/>
                    </a:cubicBezTo>
                    <a:cubicBezTo>
                      <a:pt x="6668" y="134303"/>
                      <a:pt x="12710" y="134303"/>
                      <a:pt x="16431" y="130582"/>
                    </a:cubicBezTo>
                    <a:lnTo>
                      <a:pt x="57299" y="89684"/>
                    </a:lnTo>
                    <a:lnTo>
                      <a:pt x="98197" y="130552"/>
                    </a:lnTo>
                    <a:cubicBezTo>
                      <a:pt x="101918" y="134273"/>
                      <a:pt x="107960" y="134273"/>
                      <a:pt x="111681" y="130552"/>
                    </a:cubicBezTo>
                    <a:cubicBezTo>
                      <a:pt x="115401" y="126831"/>
                      <a:pt x="115401" y="120789"/>
                      <a:pt x="111681" y="117068"/>
                    </a:cubicBezTo>
                    <a:lnTo>
                      <a:pt x="70783" y="76200"/>
                    </a:lnTo>
                    <a:lnTo>
                      <a:pt x="111651" y="35302"/>
                    </a:lnTo>
                    <a:cubicBezTo>
                      <a:pt x="115372" y="31581"/>
                      <a:pt x="115372" y="25539"/>
                      <a:pt x="111651" y="21818"/>
                    </a:cubicBezTo>
                    <a:cubicBezTo>
                      <a:pt x="107930" y="18098"/>
                      <a:pt x="101888" y="18098"/>
                      <a:pt x="98167" y="21818"/>
                    </a:cubicBezTo>
                    <a:lnTo>
                      <a:pt x="57299" y="62716"/>
                    </a:lnTo>
                    <a:lnTo>
                      <a:pt x="16401" y="21848"/>
                    </a:ln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92" name="Text 46">
                <a:extLst>
                  <a:ext uri="{FF2B5EF4-FFF2-40B4-BE49-F238E27FC236}">
                    <a16:creationId xmlns:a16="http://schemas.microsoft.com/office/drawing/2014/main" id="{D8CC77C5-8773-457C-9533-8CF09B4F9CFC}"/>
                  </a:ext>
                </a:extLst>
              </p:cNvPr>
              <p:cNvSpPr/>
              <p:nvPr/>
            </p:nvSpPr>
            <p:spPr>
              <a:xfrm>
                <a:off x="8585200" y="3162300"/>
                <a:ext cx="1866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Зависимость от вендора</a:t>
                </a:r>
                <a:endParaRPr lang="en-US" sz="2400" dirty="0"/>
              </a:p>
            </p:txBody>
          </p:sp>
        </p:grpSp>
        <p:grpSp>
          <p:nvGrpSpPr>
            <p:cNvPr id="82" name="Группа 81">
              <a:extLst>
                <a:ext uri="{FF2B5EF4-FFF2-40B4-BE49-F238E27FC236}">
                  <a16:creationId xmlns:a16="http://schemas.microsoft.com/office/drawing/2014/main" id="{F4B6853B-DD7F-493E-B409-7A088CB3D63F}"/>
                </a:ext>
              </a:extLst>
            </p:cNvPr>
            <p:cNvGrpSpPr/>
            <p:nvPr/>
          </p:nvGrpSpPr>
          <p:grpSpPr>
            <a:xfrm>
              <a:off x="8318500" y="4762500"/>
              <a:ext cx="3305175" cy="342900"/>
              <a:chOff x="8318500" y="4762500"/>
              <a:chExt cx="3305175" cy="342900"/>
            </a:xfrm>
          </p:grpSpPr>
          <p:sp>
            <p:nvSpPr>
              <p:cNvPr id="83" name="Shape 47">
                <a:extLst>
                  <a:ext uri="{FF2B5EF4-FFF2-40B4-BE49-F238E27FC236}">
                    <a16:creationId xmlns:a16="http://schemas.microsoft.com/office/drawing/2014/main" id="{A199E8D4-6C39-4778-801B-6C58F80708F7}"/>
                  </a:ext>
                </a:extLst>
              </p:cNvPr>
              <p:cNvSpPr/>
              <p:nvPr/>
            </p:nvSpPr>
            <p:spPr>
              <a:xfrm>
                <a:off x="8318500" y="4762500"/>
                <a:ext cx="3305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342900">
                    <a:moveTo>
                      <a:pt x="76199" y="0"/>
                    </a:moveTo>
                    <a:lnTo>
                      <a:pt x="3228976" y="0"/>
                    </a:lnTo>
                    <a:cubicBezTo>
                      <a:pt x="3271059" y="0"/>
                      <a:pt x="3305175" y="34116"/>
                      <a:pt x="3305175" y="76199"/>
                    </a:cubicBezTo>
                    <a:lnTo>
                      <a:pt x="3305175" y="266701"/>
                    </a:lnTo>
                    <a:cubicBezTo>
                      <a:pt x="3305175" y="308784"/>
                      <a:pt x="3271059" y="342900"/>
                      <a:pt x="3228976" y="342900"/>
                    </a:cubicBezTo>
                    <a:lnTo>
                      <a:pt x="76199" y="342900"/>
                    </a:lnTo>
                    <a:cubicBezTo>
                      <a:pt x="34144" y="342900"/>
                      <a:pt x="0" y="308756"/>
                      <a:pt x="0" y="266701"/>
                    </a:cubicBezTo>
                    <a:lnTo>
                      <a:pt x="0" y="76199"/>
                    </a:lnTo>
                    <a:cubicBezTo>
                      <a:pt x="0" y="34144"/>
                      <a:pt x="34144" y="0"/>
                      <a:pt x="761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84" name="Text 48">
                <a:extLst>
                  <a:ext uri="{FF2B5EF4-FFF2-40B4-BE49-F238E27FC236}">
                    <a16:creationId xmlns:a16="http://schemas.microsoft.com/office/drawing/2014/main" id="{7743F43A-6FE2-4FF0-A9D9-27A676422C3F}"/>
                  </a:ext>
                </a:extLst>
              </p:cNvPr>
              <p:cNvSpPr/>
              <p:nvPr/>
            </p:nvSpPr>
            <p:spPr>
              <a:xfrm>
                <a:off x="8361362" y="4838700"/>
                <a:ext cx="321945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Тип: </a:t>
                </a: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Платный коннектор</a:t>
                </a:r>
                <a:endParaRPr lang="en-US" sz="3200" dirty="0"/>
              </a:p>
            </p:txBody>
          </p:sp>
        </p:grpSp>
      </p:grpSp>
      <p:grpSp>
        <p:nvGrpSpPr>
          <p:cNvPr id="125" name="Группа 124">
            <a:extLst>
              <a:ext uri="{FF2B5EF4-FFF2-40B4-BE49-F238E27FC236}">
                <a16:creationId xmlns:a16="http://schemas.microsoft.com/office/drawing/2014/main" id="{7765AB3F-792C-4A9E-8164-4C23DC82214C}"/>
              </a:ext>
            </a:extLst>
          </p:cNvPr>
          <p:cNvGrpSpPr/>
          <p:nvPr/>
        </p:nvGrpSpPr>
        <p:grpSpPr>
          <a:xfrm>
            <a:off x="381000" y="7562850"/>
            <a:ext cx="11430000" cy="990600"/>
            <a:chOff x="381000" y="5486400"/>
            <a:chExt cx="11430000" cy="990600"/>
          </a:xfrm>
        </p:grpSpPr>
        <p:sp>
          <p:nvSpPr>
            <p:cNvPr id="126" name="Shape 49">
              <a:extLst>
                <a:ext uri="{FF2B5EF4-FFF2-40B4-BE49-F238E27FC236}">
                  <a16:creationId xmlns:a16="http://schemas.microsoft.com/office/drawing/2014/main" id="{9573EAF0-E44C-4489-8F27-14284E591881}"/>
                </a:ext>
              </a:extLst>
            </p:cNvPr>
            <p:cNvSpPr/>
            <p:nvPr/>
          </p:nvSpPr>
          <p:spPr>
            <a:xfrm>
              <a:off x="381000" y="5486400"/>
              <a:ext cx="11430000" cy="990600"/>
            </a:xfrm>
            <a:custGeom>
              <a:avLst/>
              <a:gdLst/>
              <a:ahLst/>
              <a:cxnLst/>
              <a:rect l="l" t="t" r="r" b="b"/>
              <a:pathLst>
                <a:path w="11430000" h="990600">
                  <a:moveTo>
                    <a:pt x="152404" y="0"/>
                  </a:moveTo>
                  <a:lnTo>
                    <a:pt x="11277596" y="0"/>
                  </a:lnTo>
                  <a:cubicBezTo>
                    <a:pt x="11361766" y="0"/>
                    <a:pt x="11430000" y="68234"/>
                    <a:pt x="11430000" y="152404"/>
                  </a:cubicBezTo>
                  <a:lnTo>
                    <a:pt x="11430000" y="838196"/>
                  </a:lnTo>
                  <a:cubicBezTo>
                    <a:pt x="11430000" y="922366"/>
                    <a:pt x="11361766" y="990600"/>
                    <a:pt x="11277596" y="990600"/>
                  </a:cubicBezTo>
                  <a:lnTo>
                    <a:pt x="152404" y="990600"/>
                  </a:lnTo>
                  <a:cubicBezTo>
                    <a:pt x="68234" y="990600"/>
                    <a:pt x="0" y="922366"/>
                    <a:pt x="0" y="838196"/>
                  </a:cubicBezTo>
                  <a:lnTo>
                    <a:pt x="0" y="152404"/>
                  </a:lnTo>
                  <a:cubicBezTo>
                    <a:pt x="0" y="68234"/>
                    <a:pt x="68234" y="0"/>
                    <a:pt x="15240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7" name="Shape 50">
              <a:extLst>
                <a:ext uri="{FF2B5EF4-FFF2-40B4-BE49-F238E27FC236}">
                  <a16:creationId xmlns:a16="http://schemas.microsoft.com/office/drawing/2014/main" id="{809F6280-2F30-4570-8F9F-024CC9F88739}"/>
                </a:ext>
              </a:extLst>
            </p:cNvPr>
            <p:cNvSpPr/>
            <p:nvPr/>
          </p:nvSpPr>
          <p:spPr>
            <a:xfrm>
              <a:off x="571500" y="5715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8" name="Shape 51">
              <a:extLst>
                <a:ext uri="{FF2B5EF4-FFF2-40B4-BE49-F238E27FC236}">
                  <a16:creationId xmlns:a16="http://schemas.microsoft.com/office/drawing/2014/main" id="{9EACFBEA-CCD2-4230-892C-C12013CB69BA}"/>
                </a:ext>
              </a:extLst>
            </p:cNvPr>
            <p:cNvSpPr/>
            <p:nvPr/>
          </p:nvSpPr>
          <p:spPr>
            <a:xfrm>
              <a:off x="709613" y="58674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38187" y="-8439"/>
                  </a:moveTo>
                  <a:cubicBezTo>
                    <a:pt x="136356" y="-12010"/>
                    <a:pt x="132651" y="-14287"/>
                    <a:pt x="128632" y="-14287"/>
                  </a:cubicBezTo>
                  <a:cubicBezTo>
                    <a:pt x="124614" y="-14287"/>
                    <a:pt x="120908" y="-12010"/>
                    <a:pt x="119077" y="-8439"/>
                  </a:cubicBezTo>
                  <a:lnTo>
                    <a:pt x="86216" y="55944"/>
                  </a:lnTo>
                  <a:lnTo>
                    <a:pt x="14823" y="67285"/>
                  </a:lnTo>
                  <a:cubicBezTo>
                    <a:pt x="10850" y="67910"/>
                    <a:pt x="7546" y="70723"/>
                    <a:pt x="6295" y="74563"/>
                  </a:cubicBezTo>
                  <a:cubicBezTo>
                    <a:pt x="5045" y="78403"/>
                    <a:pt x="6072" y="82600"/>
                    <a:pt x="8885" y="85457"/>
                  </a:cubicBezTo>
                  <a:lnTo>
                    <a:pt x="59963" y="136580"/>
                  </a:lnTo>
                  <a:lnTo>
                    <a:pt x="48711" y="207972"/>
                  </a:lnTo>
                  <a:cubicBezTo>
                    <a:pt x="48086" y="211946"/>
                    <a:pt x="49738" y="215964"/>
                    <a:pt x="52998" y="218331"/>
                  </a:cubicBezTo>
                  <a:cubicBezTo>
                    <a:pt x="56257" y="220697"/>
                    <a:pt x="60543" y="221054"/>
                    <a:pt x="64160" y="219224"/>
                  </a:cubicBezTo>
                  <a:lnTo>
                    <a:pt x="128632" y="186452"/>
                  </a:lnTo>
                  <a:lnTo>
                    <a:pt x="193060" y="219224"/>
                  </a:lnTo>
                  <a:cubicBezTo>
                    <a:pt x="196632" y="221054"/>
                    <a:pt x="200963" y="220697"/>
                    <a:pt x="204222" y="218331"/>
                  </a:cubicBezTo>
                  <a:cubicBezTo>
                    <a:pt x="207481" y="215964"/>
                    <a:pt x="209133" y="211991"/>
                    <a:pt x="208508" y="207972"/>
                  </a:cubicBezTo>
                  <a:lnTo>
                    <a:pt x="197212" y="136580"/>
                  </a:lnTo>
                  <a:lnTo>
                    <a:pt x="248290" y="85457"/>
                  </a:lnTo>
                  <a:cubicBezTo>
                    <a:pt x="251147" y="82600"/>
                    <a:pt x="252130" y="78403"/>
                    <a:pt x="250880" y="74563"/>
                  </a:cubicBezTo>
                  <a:cubicBezTo>
                    <a:pt x="249629" y="70723"/>
                    <a:pt x="246370" y="67910"/>
                    <a:pt x="242352" y="67285"/>
                  </a:cubicBezTo>
                  <a:lnTo>
                    <a:pt x="171004" y="55944"/>
                  </a:lnTo>
                  <a:lnTo>
                    <a:pt x="138187" y="-8439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9" name="Text 52">
              <a:extLst>
                <a:ext uri="{FF2B5EF4-FFF2-40B4-BE49-F238E27FC236}">
                  <a16:creationId xmlns:a16="http://schemas.microsoft.com/office/drawing/2014/main" id="{49D75117-58E1-4026-A9B9-F38EFE611109}"/>
                </a:ext>
              </a:extLst>
            </p:cNvPr>
            <p:cNvSpPr/>
            <p:nvPr/>
          </p:nvSpPr>
          <p:spPr>
            <a:xfrm>
              <a:off x="1257300" y="5676900"/>
              <a:ext cx="72580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Почему собственное решение?</a:t>
              </a:r>
              <a:endParaRPr lang="en-US" sz="1600" dirty="0"/>
            </a:p>
          </p:txBody>
        </p:sp>
        <p:sp>
          <p:nvSpPr>
            <p:cNvPr id="130" name="Text 53">
              <a:extLst>
                <a:ext uri="{FF2B5EF4-FFF2-40B4-BE49-F238E27FC236}">
                  <a16:creationId xmlns:a16="http://schemas.microsoft.com/office/drawing/2014/main" id="{5430B9B9-F5C8-40D7-8387-6786541B8871}"/>
                </a:ext>
              </a:extLst>
            </p:cNvPr>
            <p:cNvSpPr/>
            <p:nvPr/>
          </p:nvSpPr>
          <p:spPr>
            <a:xfrm>
              <a:off x="1257300" y="6019800"/>
              <a:ext cx="866806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Полный контроль • Адаптация под УНФ • Оптимальная стоимость • Независимость</a:t>
              </a:r>
              <a:endParaRPr lang="en-US" sz="2000" dirty="0"/>
            </a:p>
          </p:txBody>
        </p:sp>
        <p:sp>
          <p:nvSpPr>
            <p:cNvPr id="131" name="Shape 54">
              <a:extLst>
                <a:ext uri="{FF2B5EF4-FFF2-40B4-BE49-F238E27FC236}">
                  <a16:creationId xmlns:a16="http://schemas.microsoft.com/office/drawing/2014/main" id="{AC5F2DD3-ED3F-4892-8DAF-1E0776D4F119}"/>
                </a:ext>
              </a:extLst>
            </p:cNvPr>
            <p:cNvSpPr/>
            <p:nvPr/>
          </p:nvSpPr>
          <p:spPr>
            <a:xfrm>
              <a:off x="9925367" y="5695950"/>
              <a:ext cx="1695450" cy="571500"/>
            </a:xfrm>
            <a:custGeom>
              <a:avLst/>
              <a:gdLst/>
              <a:ahLst/>
              <a:cxnLst/>
              <a:rect l="l" t="t" r="r" b="b"/>
              <a:pathLst>
                <a:path w="1695450" h="571500">
                  <a:moveTo>
                    <a:pt x="114300" y="0"/>
                  </a:moveTo>
                  <a:lnTo>
                    <a:pt x="1581150" y="0"/>
                  </a:lnTo>
                  <a:cubicBezTo>
                    <a:pt x="1644234" y="0"/>
                    <a:pt x="1695450" y="51216"/>
                    <a:pt x="1695450" y="114300"/>
                  </a:cubicBezTo>
                  <a:lnTo>
                    <a:pt x="1695450" y="457200"/>
                  </a:lnTo>
                  <a:cubicBezTo>
                    <a:pt x="1695450" y="520284"/>
                    <a:pt x="1644234" y="571500"/>
                    <a:pt x="1581150" y="571500"/>
                  </a:cubicBezTo>
                  <a:lnTo>
                    <a:pt x="114300" y="571500"/>
                  </a:lnTo>
                  <a:cubicBezTo>
                    <a:pt x="51216" y="571500"/>
                    <a:pt x="0" y="520284"/>
                    <a:pt x="0" y="457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2" name="Text 55">
              <a:extLst>
                <a:ext uri="{FF2B5EF4-FFF2-40B4-BE49-F238E27FC236}">
                  <a16:creationId xmlns:a16="http://schemas.microsoft.com/office/drawing/2014/main" id="{D149E3A1-7E4E-4A72-B80B-FBC11862C3F0}"/>
                </a:ext>
              </a:extLst>
            </p:cNvPr>
            <p:cNvSpPr/>
            <p:nvPr/>
          </p:nvSpPr>
          <p:spPr>
            <a:xfrm>
              <a:off x="10153967" y="5810250"/>
              <a:ext cx="13811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chemeClr val="accent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Выгодно</a:t>
              </a:r>
              <a:endParaRPr lang="en-US" sz="16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33" name="Группа 132">
            <a:extLst>
              <a:ext uri="{FF2B5EF4-FFF2-40B4-BE49-F238E27FC236}">
                <a16:creationId xmlns:a16="http://schemas.microsoft.com/office/drawing/2014/main" id="{C851B630-B3F9-402C-8CB1-45C1C32C99EF}"/>
              </a:ext>
            </a:extLst>
          </p:cNvPr>
          <p:cNvGrpSpPr/>
          <p:nvPr/>
        </p:nvGrpSpPr>
        <p:grpSpPr>
          <a:xfrm>
            <a:off x="-4343400" y="400050"/>
            <a:ext cx="3486150" cy="533400"/>
            <a:chOff x="381000" y="381000"/>
            <a:chExt cx="3486150" cy="533400"/>
          </a:xfrm>
        </p:grpSpPr>
        <p:sp>
          <p:nvSpPr>
            <p:cNvPr id="134" name="Shape 0">
              <a:extLst>
                <a:ext uri="{FF2B5EF4-FFF2-40B4-BE49-F238E27FC236}">
                  <a16:creationId xmlns:a16="http://schemas.microsoft.com/office/drawing/2014/main" id="{C16A510F-DF87-49C3-B5A4-537B7C7721B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5" name="Shape 1">
              <a:extLst>
                <a:ext uri="{FF2B5EF4-FFF2-40B4-BE49-F238E27FC236}">
                  <a16:creationId xmlns:a16="http://schemas.microsoft.com/office/drawing/2014/main" id="{01AC9A53-93FB-41A3-B9BC-E344A772E442}"/>
                </a:ext>
              </a:extLst>
            </p:cNvPr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71450" y="14288"/>
                  </a:moveTo>
                  <a:lnTo>
                    <a:pt x="228600" y="14288"/>
                  </a:lnTo>
                  <a:cubicBezTo>
                    <a:pt x="236503" y="14288"/>
                    <a:pt x="242888" y="20672"/>
                    <a:pt x="242888" y="28575"/>
                  </a:cubicBezTo>
                  <a:cubicBezTo>
                    <a:pt x="242888" y="36478"/>
                    <a:pt x="236503" y="42863"/>
                    <a:pt x="228600" y="42863"/>
                  </a:cubicBezTo>
                  <a:lnTo>
                    <a:pt x="177879" y="42863"/>
                  </a:lnTo>
                  <a:cubicBezTo>
                    <a:pt x="175558" y="54382"/>
                    <a:pt x="167655" y="63892"/>
                    <a:pt x="157163" y="68446"/>
                  </a:cubicBezTo>
                  <a:lnTo>
                    <a:pt x="157163" y="200025"/>
                  </a:lnTo>
                  <a:lnTo>
                    <a:pt x="228600" y="200025"/>
                  </a:lnTo>
                  <a:cubicBezTo>
                    <a:pt x="236503" y="200025"/>
                    <a:pt x="242888" y="206410"/>
                    <a:pt x="242888" y="214313"/>
                  </a:cubicBezTo>
                  <a:cubicBezTo>
                    <a:pt x="242888" y="222215"/>
                    <a:pt x="236503" y="228600"/>
                    <a:pt x="228600" y="228600"/>
                  </a:cubicBezTo>
                  <a:lnTo>
                    <a:pt x="57150" y="228600"/>
                  </a:lnTo>
                  <a:cubicBezTo>
                    <a:pt x="49247" y="228600"/>
                    <a:pt x="42863" y="222215"/>
                    <a:pt x="42863" y="214313"/>
                  </a:cubicBezTo>
                  <a:cubicBezTo>
                    <a:pt x="42863" y="206410"/>
                    <a:pt x="49247" y="200025"/>
                    <a:pt x="57150" y="200025"/>
                  </a:cubicBezTo>
                  <a:lnTo>
                    <a:pt x="128588" y="200025"/>
                  </a:lnTo>
                  <a:lnTo>
                    <a:pt x="128588" y="68446"/>
                  </a:lnTo>
                  <a:cubicBezTo>
                    <a:pt x="118095" y="63847"/>
                    <a:pt x="110192" y="54337"/>
                    <a:pt x="107871" y="42863"/>
                  </a:cubicBezTo>
                  <a:lnTo>
                    <a:pt x="57150" y="42863"/>
                  </a:lnTo>
                  <a:cubicBezTo>
                    <a:pt x="49247" y="42863"/>
                    <a:pt x="42863" y="36478"/>
                    <a:pt x="42863" y="28575"/>
                  </a:cubicBezTo>
                  <a:cubicBezTo>
                    <a:pt x="42863" y="20672"/>
                    <a:pt x="49247" y="14288"/>
                    <a:pt x="57150" y="14288"/>
                  </a:cubicBezTo>
                  <a:lnTo>
                    <a:pt x="114300" y="14288"/>
                  </a:lnTo>
                  <a:cubicBezTo>
                    <a:pt x="120819" y="5626"/>
                    <a:pt x="131177" y="0"/>
                    <a:pt x="142875" y="0"/>
                  </a:cubicBezTo>
                  <a:cubicBezTo>
                    <a:pt x="154573" y="0"/>
                    <a:pt x="164931" y="5626"/>
                    <a:pt x="171450" y="14288"/>
                  </a:cubicBezTo>
                  <a:close/>
                  <a:moveTo>
                    <a:pt x="196275" y="142875"/>
                  </a:moveTo>
                  <a:lnTo>
                    <a:pt x="260925" y="142875"/>
                  </a:lnTo>
                  <a:lnTo>
                    <a:pt x="228600" y="87422"/>
                  </a:lnTo>
                  <a:lnTo>
                    <a:pt x="196275" y="142875"/>
                  </a:lnTo>
                  <a:close/>
                  <a:moveTo>
                    <a:pt x="228600" y="185738"/>
                  </a:moveTo>
                  <a:cubicBezTo>
                    <a:pt x="200516" y="185738"/>
                    <a:pt x="177165" y="170557"/>
                    <a:pt x="172343" y="150510"/>
                  </a:cubicBezTo>
                  <a:cubicBezTo>
                    <a:pt x="171182" y="145599"/>
                    <a:pt x="172789" y="140553"/>
                    <a:pt x="175334" y="136178"/>
                  </a:cubicBezTo>
                  <a:lnTo>
                    <a:pt x="217840" y="63311"/>
                  </a:lnTo>
                  <a:cubicBezTo>
                    <a:pt x="220072" y="59472"/>
                    <a:pt x="224180" y="57150"/>
                    <a:pt x="228600" y="57150"/>
                  </a:cubicBezTo>
                  <a:cubicBezTo>
                    <a:pt x="233020" y="57150"/>
                    <a:pt x="237128" y="59516"/>
                    <a:pt x="239360" y="63311"/>
                  </a:cubicBezTo>
                  <a:lnTo>
                    <a:pt x="281866" y="136178"/>
                  </a:lnTo>
                  <a:cubicBezTo>
                    <a:pt x="284411" y="140553"/>
                    <a:pt x="286018" y="145599"/>
                    <a:pt x="284857" y="150510"/>
                  </a:cubicBezTo>
                  <a:cubicBezTo>
                    <a:pt x="280035" y="170512"/>
                    <a:pt x="256684" y="185738"/>
                    <a:pt x="228600" y="185738"/>
                  </a:cubicBezTo>
                  <a:close/>
                  <a:moveTo>
                    <a:pt x="56614" y="87422"/>
                  </a:moveTo>
                  <a:lnTo>
                    <a:pt x="24289" y="142875"/>
                  </a:lnTo>
                  <a:lnTo>
                    <a:pt x="88984" y="142875"/>
                  </a:lnTo>
                  <a:lnTo>
                    <a:pt x="56614" y="87422"/>
                  </a:lnTo>
                  <a:close/>
                  <a:moveTo>
                    <a:pt x="402" y="150510"/>
                  </a:moveTo>
                  <a:cubicBezTo>
                    <a:pt x="-759" y="145599"/>
                    <a:pt x="848" y="140553"/>
                    <a:pt x="3393" y="136178"/>
                  </a:cubicBezTo>
                  <a:lnTo>
                    <a:pt x="45899" y="63311"/>
                  </a:lnTo>
                  <a:cubicBezTo>
                    <a:pt x="48131" y="59472"/>
                    <a:pt x="52239" y="57150"/>
                    <a:pt x="56659" y="57150"/>
                  </a:cubicBezTo>
                  <a:cubicBezTo>
                    <a:pt x="61079" y="57150"/>
                    <a:pt x="65187" y="59516"/>
                    <a:pt x="67419" y="63311"/>
                  </a:cubicBezTo>
                  <a:lnTo>
                    <a:pt x="109924" y="136178"/>
                  </a:lnTo>
                  <a:cubicBezTo>
                    <a:pt x="112469" y="140553"/>
                    <a:pt x="114077" y="145599"/>
                    <a:pt x="112916" y="150510"/>
                  </a:cubicBezTo>
                  <a:cubicBezTo>
                    <a:pt x="108094" y="170512"/>
                    <a:pt x="84743" y="185738"/>
                    <a:pt x="56659" y="185738"/>
                  </a:cubicBezTo>
                  <a:cubicBezTo>
                    <a:pt x="28575" y="185738"/>
                    <a:pt x="5224" y="170557"/>
                    <a:pt x="402" y="15051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36" name="Text 2">
              <a:extLst>
                <a:ext uri="{FF2B5EF4-FFF2-40B4-BE49-F238E27FC236}">
                  <a16:creationId xmlns:a16="http://schemas.microsoft.com/office/drawing/2014/main" id="{7702C6E5-DCD8-453E-9604-84EDE6D51BC3}"/>
                </a:ext>
              </a:extLst>
            </p:cNvPr>
            <p:cNvSpPr/>
            <p:nvPr/>
          </p:nvSpPr>
          <p:spPr>
            <a:xfrm>
              <a:off x="1066800" y="400050"/>
              <a:ext cx="28003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Обзор аналогов</a:t>
              </a:r>
              <a:endParaRPr lang="en-US" sz="1600" dirty="0"/>
            </a:p>
          </p:txBody>
        </p:sp>
        <p:sp>
          <p:nvSpPr>
            <p:cNvPr id="137" name="Shape 3">
              <a:extLst>
                <a:ext uri="{FF2B5EF4-FFF2-40B4-BE49-F238E27FC236}">
                  <a16:creationId xmlns:a16="http://schemas.microsoft.com/office/drawing/2014/main" id="{FF34FF8C-6854-495E-9053-BA7EC3429DBF}"/>
                </a:ext>
              </a:extLst>
            </p:cNvPr>
            <p:cNvSpPr/>
            <p:nvPr/>
          </p:nvSpPr>
          <p:spPr>
            <a:xfrm>
              <a:off x="709613" y="866875"/>
              <a:ext cx="3040189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38" name="Text 7">
            <a:extLst>
              <a:ext uri="{FF2B5EF4-FFF2-40B4-BE49-F238E27FC236}">
                <a16:creationId xmlns:a16="http://schemas.microsoft.com/office/drawing/2014/main" id="{D825DDF1-6858-4D8C-9B45-03A787C20C89}"/>
              </a:ext>
            </a:extLst>
          </p:cNvPr>
          <p:cNvSpPr/>
          <p:nvPr/>
        </p:nvSpPr>
        <p:spPr>
          <a:xfrm>
            <a:off x="12270263" y="28336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5</a:t>
            </a:r>
            <a:endParaRPr lang="en-US" sz="1600" dirty="0"/>
          </a:p>
        </p:txBody>
      </p: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5C73663-BFBB-43E2-992D-C70ABB15BA88}"/>
              </a:ext>
            </a:extLst>
          </p:cNvPr>
          <p:cNvGrpSpPr/>
          <p:nvPr/>
        </p:nvGrpSpPr>
        <p:grpSpPr>
          <a:xfrm>
            <a:off x="381000" y="381000"/>
            <a:ext cx="5600700" cy="533800"/>
            <a:chOff x="381000" y="381000"/>
            <a:chExt cx="5600700" cy="5338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61975" y="5334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39035" y="14288"/>
                  </a:moveTo>
                  <a:lnTo>
                    <a:pt x="142875" y="14288"/>
                  </a:lnTo>
                  <a:cubicBezTo>
                    <a:pt x="158636" y="14288"/>
                    <a:pt x="171450" y="27102"/>
                    <a:pt x="171450" y="42863"/>
                  </a:cubicBezTo>
                  <a:lnTo>
                    <a:pt x="171450" y="200025"/>
                  </a:lnTo>
                  <a:cubicBezTo>
                    <a:pt x="171450" y="215786"/>
                    <a:pt x="158636" y="228600"/>
                    <a:pt x="14287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42863"/>
                  </a:lnTo>
                  <a:cubicBezTo>
                    <a:pt x="0" y="27102"/>
                    <a:pt x="12814" y="14288"/>
                    <a:pt x="28575" y="14288"/>
                  </a:cubicBezTo>
                  <a:lnTo>
                    <a:pt x="32415" y="14288"/>
                  </a:lnTo>
                  <a:cubicBezTo>
                    <a:pt x="37326" y="5760"/>
                    <a:pt x="46568" y="0"/>
                    <a:pt x="57150" y="0"/>
                  </a:cubicBezTo>
                  <a:lnTo>
                    <a:pt x="114300" y="0"/>
                  </a:lnTo>
                  <a:cubicBezTo>
                    <a:pt x="124882" y="0"/>
                    <a:pt x="134124" y="5760"/>
                    <a:pt x="139035" y="14288"/>
                  </a:cubicBezTo>
                  <a:close/>
                  <a:moveTo>
                    <a:pt x="110728" y="50006"/>
                  </a:moveTo>
                  <a:cubicBezTo>
                    <a:pt x="116666" y="50006"/>
                    <a:pt x="121444" y="45229"/>
                    <a:pt x="121444" y="39291"/>
                  </a:cubicBezTo>
                  <a:cubicBezTo>
                    <a:pt x="121444" y="33352"/>
                    <a:pt x="116666" y="28575"/>
                    <a:pt x="110728" y="28575"/>
                  </a:cubicBezTo>
                  <a:lnTo>
                    <a:pt x="60722" y="28575"/>
                  </a:lnTo>
                  <a:cubicBezTo>
                    <a:pt x="54784" y="28575"/>
                    <a:pt x="50006" y="33352"/>
                    <a:pt x="50006" y="39291"/>
                  </a:cubicBezTo>
                  <a:cubicBezTo>
                    <a:pt x="50006" y="45229"/>
                    <a:pt x="54784" y="50006"/>
                    <a:pt x="60722" y="50006"/>
                  </a:cubicBezTo>
                  <a:lnTo>
                    <a:pt x="110728" y="50006"/>
                  </a:lnTo>
                  <a:close/>
                  <a:moveTo>
                    <a:pt x="57150" y="114300"/>
                  </a:moveTo>
                  <a:cubicBezTo>
                    <a:pt x="57150" y="106415"/>
                    <a:pt x="50748" y="100013"/>
                    <a:pt x="42863" y="100013"/>
                  </a:cubicBezTo>
                  <a:cubicBezTo>
                    <a:pt x="34977" y="100013"/>
                    <a:pt x="28575" y="106415"/>
                    <a:pt x="28575" y="114300"/>
                  </a:cubicBezTo>
                  <a:cubicBezTo>
                    <a:pt x="28575" y="122185"/>
                    <a:pt x="34977" y="128588"/>
                    <a:pt x="42863" y="128588"/>
                  </a:cubicBezTo>
                  <a:cubicBezTo>
                    <a:pt x="50748" y="128588"/>
                    <a:pt x="57150" y="122185"/>
                    <a:pt x="57150" y="114300"/>
                  </a:cubicBezTo>
                  <a:close/>
                  <a:moveTo>
                    <a:pt x="71438" y="114300"/>
                  </a:moveTo>
                  <a:cubicBezTo>
                    <a:pt x="71438" y="120238"/>
                    <a:pt x="76215" y="125016"/>
                    <a:pt x="82153" y="125016"/>
                  </a:cubicBezTo>
                  <a:lnTo>
                    <a:pt x="132159" y="125016"/>
                  </a:lnTo>
                  <a:cubicBezTo>
                    <a:pt x="138098" y="125016"/>
                    <a:pt x="142875" y="120238"/>
                    <a:pt x="142875" y="114300"/>
                  </a:cubicBezTo>
                  <a:cubicBezTo>
                    <a:pt x="142875" y="108362"/>
                    <a:pt x="138098" y="103584"/>
                    <a:pt x="132159" y="103584"/>
                  </a:cubicBezTo>
                  <a:lnTo>
                    <a:pt x="82153" y="103584"/>
                  </a:lnTo>
                  <a:cubicBezTo>
                    <a:pt x="76215" y="103584"/>
                    <a:pt x="71438" y="108362"/>
                    <a:pt x="71438" y="114300"/>
                  </a:cubicBezTo>
                  <a:close/>
                  <a:moveTo>
                    <a:pt x="71438" y="171450"/>
                  </a:moveTo>
                  <a:cubicBezTo>
                    <a:pt x="71438" y="177388"/>
                    <a:pt x="76215" y="182166"/>
                    <a:pt x="82153" y="182166"/>
                  </a:cubicBezTo>
                  <a:lnTo>
                    <a:pt x="132159" y="182166"/>
                  </a:lnTo>
                  <a:cubicBezTo>
                    <a:pt x="138098" y="182166"/>
                    <a:pt x="142875" y="177388"/>
                    <a:pt x="142875" y="171450"/>
                  </a:cubicBezTo>
                  <a:cubicBezTo>
                    <a:pt x="142875" y="165512"/>
                    <a:pt x="138098" y="160734"/>
                    <a:pt x="132159" y="160734"/>
                  </a:cubicBezTo>
                  <a:lnTo>
                    <a:pt x="82153" y="160734"/>
                  </a:lnTo>
                  <a:cubicBezTo>
                    <a:pt x="76215" y="160734"/>
                    <a:pt x="71438" y="165512"/>
                    <a:pt x="71438" y="171450"/>
                  </a:cubicBezTo>
                  <a:close/>
                  <a:moveTo>
                    <a:pt x="42863" y="185738"/>
                  </a:moveTo>
                  <a:cubicBezTo>
                    <a:pt x="50748" y="185738"/>
                    <a:pt x="57150" y="179335"/>
                    <a:pt x="57150" y="171450"/>
                  </a:cubicBezTo>
                  <a:cubicBezTo>
                    <a:pt x="57150" y="163565"/>
                    <a:pt x="50748" y="157163"/>
                    <a:pt x="42863" y="157163"/>
                  </a:cubicBezTo>
                  <a:cubicBezTo>
                    <a:pt x="34977" y="157163"/>
                    <a:pt x="28575" y="163565"/>
                    <a:pt x="28575" y="171450"/>
                  </a:cubicBezTo>
                  <a:cubicBezTo>
                    <a:pt x="28575" y="179335"/>
                    <a:pt x="34977" y="185738"/>
                    <a:pt x="42863" y="18573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49149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Требования к системе</a:t>
              </a:r>
              <a:endParaRPr lang="en-US" sz="2000" dirty="0"/>
            </a:p>
          </p:txBody>
        </p:sp>
        <p:sp>
          <p:nvSpPr>
            <p:cNvPr id="5" name="Shape 3"/>
            <p:cNvSpPr/>
            <p:nvPr/>
          </p:nvSpPr>
          <p:spPr>
            <a:xfrm flipV="1">
              <a:off x="719137" y="857650"/>
              <a:ext cx="4786513" cy="57150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BF1BFE60-BF4B-44BD-A9B5-19F605E67AA2}"/>
              </a:ext>
            </a:extLst>
          </p:cNvPr>
          <p:cNvGrpSpPr/>
          <p:nvPr/>
        </p:nvGrpSpPr>
        <p:grpSpPr>
          <a:xfrm>
            <a:off x="381000" y="1143000"/>
            <a:ext cx="5600700" cy="5334000"/>
            <a:chOff x="381000" y="1143000"/>
            <a:chExt cx="5600700" cy="5334000"/>
          </a:xfrm>
        </p:grpSpPr>
        <p:sp>
          <p:nvSpPr>
            <p:cNvPr id="6" name="Shape 4"/>
            <p:cNvSpPr/>
            <p:nvPr/>
          </p:nvSpPr>
          <p:spPr>
            <a:xfrm>
              <a:off x="381000" y="1143000"/>
              <a:ext cx="5600700" cy="5334000"/>
            </a:xfrm>
            <a:custGeom>
              <a:avLst/>
              <a:gdLst/>
              <a:ahLst/>
              <a:cxnLst/>
              <a:rect l="l" t="t" r="r" b="b"/>
              <a:pathLst>
                <a:path w="5600700" h="5334000">
                  <a:moveTo>
                    <a:pt x="152392" y="0"/>
                  </a:moveTo>
                  <a:lnTo>
                    <a:pt x="5448308" y="0"/>
                  </a:lnTo>
                  <a:cubicBezTo>
                    <a:pt x="5532472" y="0"/>
                    <a:pt x="5600700" y="68228"/>
                    <a:pt x="5600700" y="152392"/>
                  </a:cubicBezTo>
                  <a:lnTo>
                    <a:pt x="5600700" y="5181608"/>
                  </a:lnTo>
                  <a:cubicBezTo>
                    <a:pt x="5600700" y="5265772"/>
                    <a:pt x="5532472" y="5334000"/>
                    <a:pt x="5448308" y="5334000"/>
                  </a:cubicBezTo>
                  <a:lnTo>
                    <a:pt x="152392" y="5334000"/>
                  </a:lnTo>
                  <a:cubicBezTo>
                    <a:pt x="68228" y="5334000"/>
                    <a:pt x="0" y="5265772"/>
                    <a:pt x="0" y="5181608"/>
                  </a:cubicBezTo>
                  <a:lnTo>
                    <a:pt x="0" y="152392"/>
                  </a:lnTo>
                  <a:cubicBezTo>
                    <a:pt x="0" y="68285"/>
                    <a:pt x="68285" y="0"/>
                    <a:pt x="1523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096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719138" y="1504950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54744" y="78321"/>
                  </a:moveTo>
                  <a:cubicBezTo>
                    <a:pt x="159283" y="77093"/>
                    <a:pt x="164046" y="79251"/>
                    <a:pt x="166092" y="83455"/>
                  </a:cubicBezTo>
                  <a:lnTo>
                    <a:pt x="173013" y="97445"/>
                  </a:lnTo>
                  <a:cubicBezTo>
                    <a:pt x="176845" y="97966"/>
                    <a:pt x="180603" y="99008"/>
                    <a:pt x="184138" y="100459"/>
                  </a:cubicBezTo>
                  <a:lnTo>
                    <a:pt x="197160" y="91790"/>
                  </a:lnTo>
                  <a:cubicBezTo>
                    <a:pt x="201067" y="89185"/>
                    <a:pt x="206239" y="89706"/>
                    <a:pt x="209550" y="93018"/>
                  </a:cubicBezTo>
                  <a:lnTo>
                    <a:pt x="216694" y="100161"/>
                  </a:lnTo>
                  <a:cubicBezTo>
                    <a:pt x="220005" y="103473"/>
                    <a:pt x="220526" y="108682"/>
                    <a:pt x="217922" y="112551"/>
                  </a:cubicBezTo>
                  <a:lnTo>
                    <a:pt x="209252" y="125537"/>
                  </a:lnTo>
                  <a:cubicBezTo>
                    <a:pt x="209959" y="127285"/>
                    <a:pt x="210592" y="129108"/>
                    <a:pt x="211113" y="131006"/>
                  </a:cubicBezTo>
                  <a:cubicBezTo>
                    <a:pt x="211634" y="132904"/>
                    <a:pt x="211968" y="134764"/>
                    <a:pt x="212229" y="136661"/>
                  </a:cubicBezTo>
                  <a:lnTo>
                    <a:pt x="226256" y="143582"/>
                  </a:lnTo>
                  <a:cubicBezTo>
                    <a:pt x="230460" y="145666"/>
                    <a:pt x="232618" y="150428"/>
                    <a:pt x="231391" y="154930"/>
                  </a:cubicBezTo>
                  <a:lnTo>
                    <a:pt x="228786" y="164678"/>
                  </a:lnTo>
                  <a:cubicBezTo>
                    <a:pt x="227558" y="169180"/>
                    <a:pt x="223354" y="172231"/>
                    <a:pt x="218666" y="171934"/>
                  </a:cubicBezTo>
                  <a:lnTo>
                    <a:pt x="203039" y="170929"/>
                  </a:lnTo>
                  <a:cubicBezTo>
                    <a:pt x="200695" y="173943"/>
                    <a:pt x="197979" y="176733"/>
                    <a:pt x="194890" y="179115"/>
                  </a:cubicBezTo>
                  <a:lnTo>
                    <a:pt x="195895" y="194704"/>
                  </a:lnTo>
                  <a:cubicBezTo>
                    <a:pt x="196193" y="199392"/>
                    <a:pt x="193142" y="203634"/>
                    <a:pt x="188640" y="204825"/>
                  </a:cubicBezTo>
                  <a:lnTo>
                    <a:pt x="178891" y="207429"/>
                  </a:lnTo>
                  <a:cubicBezTo>
                    <a:pt x="174352" y="208657"/>
                    <a:pt x="169627" y="206499"/>
                    <a:pt x="167543" y="202295"/>
                  </a:cubicBezTo>
                  <a:lnTo>
                    <a:pt x="160623" y="188305"/>
                  </a:lnTo>
                  <a:cubicBezTo>
                    <a:pt x="156790" y="187784"/>
                    <a:pt x="153033" y="186742"/>
                    <a:pt x="149498" y="185291"/>
                  </a:cubicBezTo>
                  <a:lnTo>
                    <a:pt x="136475" y="193960"/>
                  </a:lnTo>
                  <a:cubicBezTo>
                    <a:pt x="132569" y="196565"/>
                    <a:pt x="127397" y="196044"/>
                    <a:pt x="124085" y="192732"/>
                  </a:cubicBezTo>
                  <a:lnTo>
                    <a:pt x="116942" y="185589"/>
                  </a:lnTo>
                  <a:cubicBezTo>
                    <a:pt x="113630" y="182277"/>
                    <a:pt x="113109" y="177105"/>
                    <a:pt x="115714" y="173199"/>
                  </a:cubicBezTo>
                  <a:lnTo>
                    <a:pt x="124383" y="160176"/>
                  </a:lnTo>
                  <a:cubicBezTo>
                    <a:pt x="123676" y="158428"/>
                    <a:pt x="123044" y="156604"/>
                    <a:pt x="122523" y="154707"/>
                  </a:cubicBezTo>
                  <a:cubicBezTo>
                    <a:pt x="122002" y="152809"/>
                    <a:pt x="121667" y="150912"/>
                    <a:pt x="121407" y="149051"/>
                  </a:cubicBezTo>
                  <a:lnTo>
                    <a:pt x="107379" y="142131"/>
                  </a:lnTo>
                  <a:cubicBezTo>
                    <a:pt x="103175" y="140047"/>
                    <a:pt x="101054" y="135285"/>
                    <a:pt x="102245" y="130783"/>
                  </a:cubicBezTo>
                  <a:lnTo>
                    <a:pt x="104849" y="121034"/>
                  </a:lnTo>
                  <a:cubicBezTo>
                    <a:pt x="106077" y="116532"/>
                    <a:pt x="110282" y="113481"/>
                    <a:pt x="114970" y="113779"/>
                  </a:cubicBezTo>
                  <a:lnTo>
                    <a:pt x="130559" y="114784"/>
                  </a:lnTo>
                  <a:cubicBezTo>
                    <a:pt x="132904" y="111770"/>
                    <a:pt x="135620" y="108979"/>
                    <a:pt x="138708" y="106598"/>
                  </a:cubicBezTo>
                  <a:lnTo>
                    <a:pt x="137703" y="91046"/>
                  </a:lnTo>
                  <a:cubicBezTo>
                    <a:pt x="137406" y="86358"/>
                    <a:pt x="140457" y="82116"/>
                    <a:pt x="144959" y="80925"/>
                  </a:cubicBezTo>
                  <a:lnTo>
                    <a:pt x="154707" y="78321"/>
                  </a:lnTo>
                  <a:close/>
                  <a:moveTo>
                    <a:pt x="166836" y="126504"/>
                  </a:moveTo>
                  <a:cubicBezTo>
                    <a:pt x="157801" y="126514"/>
                    <a:pt x="150474" y="133858"/>
                    <a:pt x="150484" y="142894"/>
                  </a:cubicBezTo>
                  <a:cubicBezTo>
                    <a:pt x="150494" y="151929"/>
                    <a:pt x="157838" y="159256"/>
                    <a:pt x="166874" y="159246"/>
                  </a:cubicBezTo>
                  <a:cubicBezTo>
                    <a:pt x="175909" y="159236"/>
                    <a:pt x="183236" y="151892"/>
                    <a:pt x="183226" y="142856"/>
                  </a:cubicBezTo>
                  <a:cubicBezTo>
                    <a:pt x="183216" y="133821"/>
                    <a:pt x="175872" y="126494"/>
                    <a:pt x="166836" y="126504"/>
                  </a:cubicBezTo>
                  <a:close/>
                  <a:moveTo>
                    <a:pt x="83679" y="-16929"/>
                  </a:moveTo>
                  <a:lnTo>
                    <a:pt x="93427" y="-14325"/>
                  </a:lnTo>
                  <a:cubicBezTo>
                    <a:pt x="97929" y="-13097"/>
                    <a:pt x="100980" y="-8855"/>
                    <a:pt x="100682" y="-4204"/>
                  </a:cubicBezTo>
                  <a:lnTo>
                    <a:pt x="99678" y="11348"/>
                  </a:lnTo>
                  <a:cubicBezTo>
                    <a:pt x="102766" y="13729"/>
                    <a:pt x="105482" y="16483"/>
                    <a:pt x="107826" y="19534"/>
                  </a:cubicBezTo>
                  <a:lnTo>
                    <a:pt x="123453" y="18529"/>
                  </a:lnTo>
                  <a:cubicBezTo>
                    <a:pt x="128104" y="18231"/>
                    <a:pt x="132345" y="21282"/>
                    <a:pt x="133573" y="25784"/>
                  </a:cubicBezTo>
                  <a:lnTo>
                    <a:pt x="136178" y="35533"/>
                  </a:lnTo>
                  <a:cubicBezTo>
                    <a:pt x="137368" y="40035"/>
                    <a:pt x="135248" y="44797"/>
                    <a:pt x="131043" y="46881"/>
                  </a:cubicBezTo>
                  <a:lnTo>
                    <a:pt x="117016" y="53801"/>
                  </a:lnTo>
                  <a:cubicBezTo>
                    <a:pt x="116756" y="55699"/>
                    <a:pt x="116384" y="57596"/>
                    <a:pt x="115900" y="59457"/>
                  </a:cubicBezTo>
                  <a:cubicBezTo>
                    <a:pt x="115416" y="61317"/>
                    <a:pt x="114746" y="63178"/>
                    <a:pt x="114040" y="64926"/>
                  </a:cubicBezTo>
                  <a:lnTo>
                    <a:pt x="122709" y="77949"/>
                  </a:lnTo>
                  <a:cubicBezTo>
                    <a:pt x="125313" y="81855"/>
                    <a:pt x="124792" y="87027"/>
                    <a:pt x="121481" y="90339"/>
                  </a:cubicBezTo>
                  <a:lnTo>
                    <a:pt x="114337" y="97482"/>
                  </a:lnTo>
                  <a:cubicBezTo>
                    <a:pt x="111026" y="100794"/>
                    <a:pt x="105854" y="101315"/>
                    <a:pt x="101947" y="98710"/>
                  </a:cubicBezTo>
                  <a:lnTo>
                    <a:pt x="88925" y="90041"/>
                  </a:lnTo>
                  <a:cubicBezTo>
                    <a:pt x="85390" y="91492"/>
                    <a:pt x="81632" y="92534"/>
                    <a:pt x="77800" y="93055"/>
                  </a:cubicBezTo>
                  <a:lnTo>
                    <a:pt x="70879" y="107045"/>
                  </a:lnTo>
                  <a:cubicBezTo>
                    <a:pt x="68796" y="111249"/>
                    <a:pt x="64033" y="113370"/>
                    <a:pt x="59531" y="112179"/>
                  </a:cubicBezTo>
                  <a:lnTo>
                    <a:pt x="49783" y="109575"/>
                  </a:lnTo>
                  <a:cubicBezTo>
                    <a:pt x="45244" y="108347"/>
                    <a:pt x="42230" y="104105"/>
                    <a:pt x="42528" y="99454"/>
                  </a:cubicBezTo>
                  <a:lnTo>
                    <a:pt x="43532" y="83865"/>
                  </a:lnTo>
                  <a:cubicBezTo>
                    <a:pt x="40444" y="81483"/>
                    <a:pt x="37728" y="78730"/>
                    <a:pt x="35384" y="75679"/>
                  </a:cubicBezTo>
                  <a:lnTo>
                    <a:pt x="19757" y="76684"/>
                  </a:lnTo>
                  <a:cubicBezTo>
                    <a:pt x="15106" y="76981"/>
                    <a:pt x="10864" y="73930"/>
                    <a:pt x="9637" y="69428"/>
                  </a:cubicBezTo>
                  <a:lnTo>
                    <a:pt x="7032" y="59680"/>
                  </a:lnTo>
                  <a:cubicBezTo>
                    <a:pt x="5842" y="55178"/>
                    <a:pt x="7962" y="50416"/>
                    <a:pt x="12167" y="48332"/>
                  </a:cubicBezTo>
                  <a:lnTo>
                    <a:pt x="26194" y="41411"/>
                  </a:lnTo>
                  <a:cubicBezTo>
                    <a:pt x="26454" y="39514"/>
                    <a:pt x="26826" y="37654"/>
                    <a:pt x="27310" y="35756"/>
                  </a:cubicBezTo>
                  <a:cubicBezTo>
                    <a:pt x="27831" y="33858"/>
                    <a:pt x="28426" y="32035"/>
                    <a:pt x="29170" y="30287"/>
                  </a:cubicBezTo>
                  <a:lnTo>
                    <a:pt x="20501" y="17301"/>
                  </a:lnTo>
                  <a:cubicBezTo>
                    <a:pt x="17897" y="13395"/>
                    <a:pt x="18417" y="8223"/>
                    <a:pt x="21729" y="4911"/>
                  </a:cubicBezTo>
                  <a:lnTo>
                    <a:pt x="28873" y="-2232"/>
                  </a:lnTo>
                  <a:cubicBezTo>
                    <a:pt x="32184" y="-5544"/>
                    <a:pt x="37356" y="-6065"/>
                    <a:pt x="41263" y="-3460"/>
                  </a:cubicBezTo>
                  <a:lnTo>
                    <a:pt x="54285" y="5209"/>
                  </a:lnTo>
                  <a:cubicBezTo>
                    <a:pt x="57820" y="3758"/>
                    <a:pt x="61578" y="2716"/>
                    <a:pt x="65410" y="2195"/>
                  </a:cubicBezTo>
                  <a:lnTo>
                    <a:pt x="72330" y="-11795"/>
                  </a:lnTo>
                  <a:cubicBezTo>
                    <a:pt x="74414" y="-15999"/>
                    <a:pt x="79139" y="-18120"/>
                    <a:pt x="83679" y="-16929"/>
                  </a:cubicBezTo>
                  <a:close/>
                  <a:moveTo>
                    <a:pt x="71586" y="31254"/>
                  </a:moveTo>
                  <a:cubicBezTo>
                    <a:pt x="62551" y="31254"/>
                    <a:pt x="55215" y="38590"/>
                    <a:pt x="55215" y="47625"/>
                  </a:cubicBezTo>
                  <a:cubicBezTo>
                    <a:pt x="55215" y="56660"/>
                    <a:pt x="62551" y="63996"/>
                    <a:pt x="71586" y="63996"/>
                  </a:cubicBezTo>
                  <a:cubicBezTo>
                    <a:pt x="80622" y="63996"/>
                    <a:pt x="87957" y="56660"/>
                    <a:pt x="87957" y="47625"/>
                  </a:cubicBezTo>
                  <a:cubicBezTo>
                    <a:pt x="87957" y="38590"/>
                    <a:pt x="80622" y="31254"/>
                    <a:pt x="71586" y="31254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181100" y="1447800"/>
              <a:ext cx="4642184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Функциональные</a:t>
              </a:r>
              <a:endParaRPr lang="en-US" sz="2400" dirty="0"/>
            </a:p>
          </p:txBody>
        </p:sp>
        <p:grpSp>
          <p:nvGrpSpPr>
            <p:cNvPr id="65" name="Группа 64">
              <a:extLst>
                <a:ext uri="{FF2B5EF4-FFF2-40B4-BE49-F238E27FC236}">
                  <a16:creationId xmlns:a16="http://schemas.microsoft.com/office/drawing/2014/main" id="{3CEBF2A6-3C3B-4F51-A50E-302708BADDBE}"/>
                </a:ext>
              </a:extLst>
            </p:cNvPr>
            <p:cNvGrpSpPr/>
            <p:nvPr/>
          </p:nvGrpSpPr>
          <p:grpSpPr>
            <a:xfrm>
              <a:off x="628650" y="2057400"/>
              <a:ext cx="5124450" cy="4076700"/>
              <a:chOff x="628650" y="2057400"/>
              <a:chExt cx="5124450" cy="4076700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628650" y="20574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1" name="Shape 9"/>
              <p:cNvSpPr/>
              <p:nvPr/>
            </p:nvSpPr>
            <p:spPr>
              <a:xfrm>
                <a:off x="628650" y="20574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2" name="Shape 10"/>
              <p:cNvSpPr/>
              <p:nvPr/>
            </p:nvSpPr>
            <p:spPr>
              <a:xfrm>
                <a:off x="812006" y="2324100"/>
                <a:ext cx="2143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90500">
                    <a:moveTo>
                      <a:pt x="142875" y="53578"/>
                    </a:moveTo>
                    <a:cubicBezTo>
                      <a:pt x="142875" y="89743"/>
                      <a:pt x="110877" y="119063"/>
                      <a:pt x="71438" y="119063"/>
                    </a:cubicBezTo>
                    <a:cubicBezTo>
                      <a:pt x="61503" y="119063"/>
                      <a:pt x="52053" y="117202"/>
                      <a:pt x="43458" y="113854"/>
                    </a:cubicBezTo>
                    <a:lnTo>
                      <a:pt x="13097" y="129927"/>
                    </a:lnTo>
                    <a:cubicBezTo>
                      <a:pt x="9637" y="131750"/>
                      <a:pt x="5395" y="131118"/>
                      <a:pt x="2604" y="128364"/>
                    </a:cubicBezTo>
                    <a:cubicBezTo>
                      <a:pt x="-186" y="125611"/>
                      <a:pt x="-819" y="121332"/>
                      <a:pt x="1042" y="117872"/>
                    </a:cubicBezTo>
                    <a:lnTo>
                      <a:pt x="14288" y="92869"/>
                    </a:lnTo>
                    <a:cubicBezTo>
                      <a:pt x="5321" y="81930"/>
                      <a:pt x="0" y="68312"/>
                      <a:pt x="0" y="53578"/>
                    </a:cubicBezTo>
                    <a:cubicBezTo>
                      <a:pt x="0" y="17413"/>
                      <a:pt x="31998" y="-11906"/>
                      <a:pt x="71438" y="-11906"/>
                    </a:cubicBezTo>
                    <a:cubicBezTo>
                      <a:pt x="110877" y="-11906"/>
                      <a:pt x="142875" y="17413"/>
                      <a:pt x="142875" y="53578"/>
                    </a:cubicBezTo>
                    <a:close/>
                    <a:moveTo>
                      <a:pt x="142875" y="190500"/>
                    </a:moveTo>
                    <a:cubicBezTo>
                      <a:pt x="107863" y="190500"/>
                      <a:pt x="78730" y="167394"/>
                      <a:pt x="72628" y="136922"/>
                    </a:cubicBezTo>
                    <a:cubicBezTo>
                      <a:pt x="117277" y="136364"/>
                      <a:pt x="156083" y="104589"/>
                      <a:pt x="160362" y="61503"/>
                    </a:cubicBezTo>
                    <a:cubicBezTo>
                      <a:pt x="191356" y="68647"/>
                      <a:pt x="214313" y="94357"/>
                      <a:pt x="214313" y="125016"/>
                    </a:cubicBezTo>
                    <a:cubicBezTo>
                      <a:pt x="214313" y="139750"/>
                      <a:pt x="208992" y="153367"/>
                      <a:pt x="200025" y="164306"/>
                    </a:cubicBezTo>
                    <a:lnTo>
                      <a:pt x="213271" y="189309"/>
                    </a:lnTo>
                    <a:cubicBezTo>
                      <a:pt x="215094" y="192770"/>
                      <a:pt x="214461" y="197011"/>
                      <a:pt x="211708" y="199802"/>
                    </a:cubicBezTo>
                    <a:cubicBezTo>
                      <a:pt x="208955" y="202592"/>
                      <a:pt x="204676" y="203225"/>
                      <a:pt x="201216" y="201364"/>
                    </a:cubicBezTo>
                    <a:lnTo>
                      <a:pt x="170855" y="185291"/>
                    </a:lnTo>
                    <a:cubicBezTo>
                      <a:pt x="162260" y="188640"/>
                      <a:pt x="152809" y="190500"/>
                      <a:pt x="142875" y="19050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3" name="Text 11"/>
              <p:cNvSpPr/>
              <p:nvPr/>
            </p:nvSpPr>
            <p:spPr>
              <a:xfrm>
                <a:off x="1152525" y="2209800"/>
                <a:ext cx="4550692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Обработка естественного языка</a:t>
                </a:r>
                <a:endParaRPr lang="en-US" sz="24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152525" y="2476900"/>
                <a:ext cx="45339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Понимание запросов на русском языке</a:t>
                </a:r>
                <a:endParaRPr lang="en-US" sz="2400" dirty="0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628650" y="28956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6" name="Shape 14"/>
              <p:cNvSpPr/>
              <p:nvPr/>
            </p:nvSpPr>
            <p:spPr>
              <a:xfrm>
                <a:off x="628650" y="28956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7" name="Shape 15"/>
              <p:cNvSpPr/>
              <p:nvPr/>
            </p:nvSpPr>
            <p:spPr>
              <a:xfrm>
                <a:off x="823913" y="31623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54781" y="77391"/>
                    </a:moveTo>
                    <a:cubicBezTo>
                      <a:pt x="154781" y="94469"/>
                      <a:pt x="149237" y="110244"/>
                      <a:pt x="139898" y="123044"/>
                    </a:cubicBezTo>
                    <a:lnTo>
                      <a:pt x="187003" y="170185"/>
                    </a:lnTo>
                    <a:cubicBezTo>
                      <a:pt x="191653" y="174836"/>
                      <a:pt x="191653" y="182389"/>
                      <a:pt x="187003" y="187040"/>
                    </a:cubicBezTo>
                    <a:cubicBezTo>
                      <a:pt x="182352" y="191691"/>
                      <a:pt x="174799" y="191691"/>
                      <a:pt x="170148" y="187040"/>
                    </a:cubicBezTo>
                    <a:lnTo>
                      <a:pt x="123044" y="139898"/>
                    </a:lnTo>
                    <a:cubicBezTo>
                      <a:pt x="110244" y="149237"/>
                      <a:pt x="94469" y="154781"/>
                      <a:pt x="77391" y="154781"/>
                    </a:cubicBezTo>
                    <a:cubicBezTo>
                      <a:pt x="34640" y="154781"/>
                      <a:pt x="0" y="120142"/>
                      <a:pt x="0" y="77391"/>
                    </a:cubicBezTo>
                    <a:cubicBezTo>
                      <a:pt x="0" y="34640"/>
                      <a:pt x="34640" y="0"/>
                      <a:pt x="77391" y="0"/>
                    </a:cubicBezTo>
                    <a:cubicBezTo>
                      <a:pt x="120142" y="0"/>
                      <a:pt x="154781" y="34640"/>
                      <a:pt x="154781" y="77391"/>
                    </a:cubicBezTo>
                    <a:close/>
                    <a:moveTo>
                      <a:pt x="77391" y="130969"/>
                    </a:moveTo>
                    <a:cubicBezTo>
                      <a:pt x="106961" y="130969"/>
                      <a:pt x="130969" y="106961"/>
                      <a:pt x="130969" y="77391"/>
                    </a:cubicBezTo>
                    <a:cubicBezTo>
                      <a:pt x="130969" y="47820"/>
                      <a:pt x="106961" y="23812"/>
                      <a:pt x="77391" y="23812"/>
                    </a:cubicBezTo>
                    <a:cubicBezTo>
                      <a:pt x="47820" y="23812"/>
                      <a:pt x="23813" y="47820"/>
                      <a:pt x="23812" y="77391"/>
                    </a:cubicBezTo>
                    <a:cubicBezTo>
                      <a:pt x="23812" y="106961"/>
                      <a:pt x="47820" y="130969"/>
                      <a:pt x="77391" y="130969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8" name="Text 16"/>
              <p:cNvSpPr/>
              <p:nvPr/>
            </p:nvSpPr>
            <p:spPr>
              <a:xfrm>
                <a:off x="1152525" y="3048000"/>
                <a:ext cx="4550692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Поиск документов</a:t>
                </a:r>
                <a:endParaRPr lang="en-US" sz="24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152525" y="3315100"/>
                <a:ext cx="4528164" cy="158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Быстрый поиск по описанию</a:t>
                </a:r>
                <a:endParaRPr lang="en-US" sz="2400" dirty="0"/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628650" y="37338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21" name="Shape 19"/>
              <p:cNvSpPr/>
              <p:nvPr/>
            </p:nvSpPr>
            <p:spPr>
              <a:xfrm>
                <a:off x="628650" y="37338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2" name="Shape 20"/>
              <p:cNvSpPr/>
              <p:nvPr/>
            </p:nvSpPr>
            <p:spPr>
              <a:xfrm>
                <a:off x="847725" y="40005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0" y="23812"/>
                    </a:moveTo>
                    <a:cubicBezTo>
                      <a:pt x="0" y="10678"/>
                      <a:pt x="10678" y="0"/>
                      <a:pt x="23812" y="0"/>
                    </a:cubicBezTo>
                    <a:lnTo>
                      <a:pt x="79437" y="0"/>
                    </a:lnTo>
                    <a:cubicBezTo>
                      <a:pt x="85762" y="0"/>
                      <a:pt x="91827" y="2493"/>
                      <a:pt x="96292" y="6958"/>
                    </a:cubicBezTo>
                    <a:lnTo>
                      <a:pt x="135917" y="46620"/>
                    </a:lnTo>
                    <a:cubicBezTo>
                      <a:pt x="140382" y="51085"/>
                      <a:pt x="142875" y="57150"/>
                      <a:pt x="142875" y="63475"/>
                    </a:cubicBezTo>
                    <a:lnTo>
                      <a:pt x="142875" y="166688"/>
                    </a:lnTo>
                    <a:cubicBezTo>
                      <a:pt x="142875" y="179822"/>
                      <a:pt x="132197" y="190500"/>
                      <a:pt x="119063" y="190500"/>
                    </a:cubicBezTo>
                    <a:lnTo>
                      <a:pt x="23812" y="190500"/>
                    </a:lnTo>
                    <a:cubicBezTo>
                      <a:pt x="10678" y="190500"/>
                      <a:pt x="0" y="179822"/>
                      <a:pt x="0" y="166688"/>
                    </a:cubicBezTo>
                    <a:lnTo>
                      <a:pt x="0" y="23812"/>
                    </a:lnTo>
                    <a:close/>
                    <a:moveTo>
                      <a:pt x="77391" y="21766"/>
                    </a:moveTo>
                    <a:lnTo>
                      <a:pt x="77391" y="56555"/>
                    </a:lnTo>
                    <a:cubicBezTo>
                      <a:pt x="77391" y="61503"/>
                      <a:pt x="81372" y="65484"/>
                      <a:pt x="86320" y="65484"/>
                    </a:cubicBezTo>
                    <a:lnTo>
                      <a:pt x="121109" y="65484"/>
                    </a:lnTo>
                    <a:lnTo>
                      <a:pt x="77391" y="21766"/>
                    </a:lnTo>
                    <a:close/>
                    <a:moveTo>
                      <a:pt x="44648" y="95250"/>
                    </a:moveTo>
                    <a:cubicBezTo>
                      <a:pt x="39700" y="95250"/>
                      <a:pt x="35719" y="99231"/>
                      <a:pt x="35719" y="104180"/>
                    </a:cubicBezTo>
                    <a:cubicBezTo>
                      <a:pt x="35719" y="109128"/>
                      <a:pt x="39700" y="113109"/>
                      <a:pt x="44648" y="113109"/>
                    </a:cubicBezTo>
                    <a:lnTo>
                      <a:pt x="98227" y="113109"/>
                    </a:lnTo>
                    <a:cubicBezTo>
                      <a:pt x="103175" y="113109"/>
                      <a:pt x="107156" y="109128"/>
                      <a:pt x="107156" y="104180"/>
                    </a:cubicBezTo>
                    <a:cubicBezTo>
                      <a:pt x="107156" y="99231"/>
                      <a:pt x="103175" y="95250"/>
                      <a:pt x="98227" y="95250"/>
                    </a:cubicBezTo>
                    <a:lnTo>
                      <a:pt x="44648" y="95250"/>
                    </a:lnTo>
                    <a:close/>
                    <a:moveTo>
                      <a:pt x="44648" y="130969"/>
                    </a:moveTo>
                    <a:cubicBezTo>
                      <a:pt x="39700" y="130969"/>
                      <a:pt x="35719" y="134950"/>
                      <a:pt x="35719" y="139898"/>
                    </a:cubicBezTo>
                    <a:cubicBezTo>
                      <a:pt x="35719" y="144847"/>
                      <a:pt x="39700" y="148828"/>
                      <a:pt x="44648" y="148828"/>
                    </a:cubicBezTo>
                    <a:lnTo>
                      <a:pt x="98227" y="148828"/>
                    </a:lnTo>
                    <a:cubicBezTo>
                      <a:pt x="103175" y="148828"/>
                      <a:pt x="107156" y="144847"/>
                      <a:pt x="107156" y="139898"/>
                    </a:cubicBezTo>
                    <a:cubicBezTo>
                      <a:pt x="107156" y="134950"/>
                      <a:pt x="103175" y="130969"/>
                      <a:pt x="98227" y="130969"/>
                    </a:cubicBezTo>
                    <a:lnTo>
                      <a:pt x="44648" y="130969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3" name="Text 21"/>
              <p:cNvSpPr/>
              <p:nvPr/>
            </p:nvSpPr>
            <p:spPr>
              <a:xfrm>
                <a:off x="1152525" y="3886200"/>
                <a:ext cx="452816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Создание черновиков</a:t>
                </a:r>
                <a:endParaRPr lang="en-US" sz="24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1152525" y="4153300"/>
                <a:ext cx="450552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Автозаполнение документов</a:t>
                </a:r>
                <a:endParaRPr lang="en-US" sz="2400" dirty="0"/>
              </a:p>
            </p:txBody>
          </p:sp>
          <p:sp>
            <p:nvSpPr>
              <p:cNvPr id="25" name="Shape 23"/>
              <p:cNvSpPr/>
              <p:nvPr/>
            </p:nvSpPr>
            <p:spPr>
              <a:xfrm>
                <a:off x="628650" y="45720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26" name="Shape 24"/>
              <p:cNvSpPr/>
              <p:nvPr/>
            </p:nvSpPr>
            <p:spPr>
              <a:xfrm>
                <a:off x="628650" y="45720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7" name="Shape 25"/>
              <p:cNvSpPr/>
              <p:nvPr/>
            </p:nvSpPr>
            <p:spPr>
              <a:xfrm>
                <a:off x="835819" y="48387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137443" y="47625"/>
                    </a:moveTo>
                    <a:lnTo>
                      <a:pt x="124681" y="29766"/>
                    </a:lnTo>
                    <a:lnTo>
                      <a:pt x="42044" y="29766"/>
                    </a:lnTo>
                    <a:lnTo>
                      <a:pt x="29282" y="47625"/>
                    </a:lnTo>
                    <a:lnTo>
                      <a:pt x="137443" y="47625"/>
                    </a:lnTo>
                    <a:close/>
                    <a:moveTo>
                      <a:pt x="0" y="55252"/>
                    </a:moveTo>
                    <a:cubicBezTo>
                      <a:pt x="0" y="50304"/>
                      <a:pt x="1563" y="45467"/>
                      <a:pt x="4428" y="41411"/>
                    </a:cubicBezTo>
                    <a:lnTo>
                      <a:pt x="22659" y="15925"/>
                    </a:lnTo>
                    <a:cubicBezTo>
                      <a:pt x="27124" y="9674"/>
                      <a:pt x="34342" y="5953"/>
                      <a:pt x="42007" y="5953"/>
                    </a:cubicBezTo>
                    <a:lnTo>
                      <a:pt x="124644" y="5953"/>
                    </a:lnTo>
                    <a:cubicBezTo>
                      <a:pt x="132345" y="5953"/>
                      <a:pt x="139564" y="9674"/>
                      <a:pt x="144028" y="15925"/>
                    </a:cubicBezTo>
                    <a:lnTo>
                      <a:pt x="162223" y="41411"/>
                    </a:lnTo>
                    <a:cubicBezTo>
                      <a:pt x="165125" y="45467"/>
                      <a:pt x="166650" y="50304"/>
                      <a:pt x="166650" y="55252"/>
                    </a:cubicBezTo>
                    <a:lnTo>
                      <a:pt x="166688" y="154781"/>
                    </a:lnTo>
                    <a:cubicBezTo>
                      <a:pt x="166688" y="167915"/>
                      <a:pt x="156009" y="178594"/>
                      <a:pt x="142875" y="178594"/>
                    </a:cubicBezTo>
                    <a:lnTo>
                      <a:pt x="23812" y="178594"/>
                    </a:lnTo>
                    <a:cubicBezTo>
                      <a:pt x="10678" y="178594"/>
                      <a:pt x="0" y="167915"/>
                      <a:pt x="0" y="154781"/>
                    </a:cubicBezTo>
                    <a:lnTo>
                      <a:pt x="0" y="55252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8" name="Text 26"/>
              <p:cNvSpPr/>
              <p:nvPr/>
            </p:nvSpPr>
            <p:spPr>
              <a:xfrm>
                <a:off x="1152525" y="4724400"/>
                <a:ext cx="452718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Проверка остатков</a:t>
                </a:r>
                <a:endParaRPr lang="en-US" sz="24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1152524" y="4991500"/>
                <a:ext cx="450552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Мгновенный доступ к данным</a:t>
                </a:r>
                <a:endParaRPr lang="en-US" sz="2400" dirty="0"/>
              </a:p>
            </p:txBody>
          </p:sp>
          <p:sp>
            <p:nvSpPr>
              <p:cNvPr id="30" name="Shape 28"/>
              <p:cNvSpPr/>
              <p:nvPr/>
            </p:nvSpPr>
            <p:spPr>
              <a:xfrm>
                <a:off x="628650" y="54102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31" name="Shape 29"/>
              <p:cNvSpPr/>
              <p:nvPr/>
            </p:nvSpPr>
            <p:spPr>
              <a:xfrm>
                <a:off x="628650" y="54102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2" name="Shape 30"/>
              <p:cNvSpPr/>
              <p:nvPr/>
            </p:nvSpPr>
            <p:spPr>
              <a:xfrm>
                <a:off x="823913" y="56769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114114" y="120960"/>
                    </a:moveTo>
                    <a:lnTo>
                      <a:pt x="60424" y="141610"/>
                    </a:lnTo>
                    <a:cubicBezTo>
                      <a:pt x="53206" y="144400"/>
                      <a:pt x="46100" y="137294"/>
                      <a:pt x="48890" y="130076"/>
                    </a:cubicBezTo>
                    <a:lnTo>
                      <a:pt x="69540" y="76386"/>
                    </a:lnTo>
                    <a:cubicBezTo>
                      <a:pt x="70768" y="73223"/>
                      <a:pt x="73223" y="70768"/>
                      <a:pt x="76386" y="69540"/>
                    </a:cubicBezTo>
                    <a:lnTo>
                      <a:pt x="130076" y="48890"/>
                    </a:lnTo>
                    <a:cubicBezTo>
                      <a:pt x="137294" y="46100"/>
                      <a:pt x="144400" y="53206"/>
                      <a:pt x="141610" y="60424"/>
                    </a:cubicBezTo>
                    <a:lnTo>
                      <a:pt x="120960" y="114114"/>
                    </a:lnTo>
                    <a:cubicBezTo>
                      <a:pt x="119769" y="117277"/>
                      <a:pt x="117277" y="119732"/>
                      <a:pt x="114114" y="120960"/>
                    </a:cubicBezTo>
                    <a:close/>
                    <a:moveTo>
                      <a:pt x="107156" y="95250"/>
                    </a:moveTo>
                    <a:cubicBezTo>
                      <a:pt x="107156" y="88679"/>
                      <a:pt x="101821" y="83344"/>
                      <a:pt x="95250" y="83344"/>
                    </a:cubicBezTo>
                    <a:cubicBezTo>
                      <a:pt x="88679" y="83344"/>
                      <a:pt x="83344" y="88679"/>
                      <a:pt x="83344" y="95250"/>
                    </a:cubicBezTo>
                    <a:cubicBezTo>
                      <a:pt x="83344" y="101821"/>
                      <a:pt x="88679" y="107156"/>
                      <a:pt x="95250" y="107156"/>
                    </a:cubicBezTo>
                    <a:cubicBezTo>
                      <a:pt x="101821" y="107156"/>
                      <a:pt x="107156" y="101821"/>
                      <a:pt x="107156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3" name="Text 31"/>
              <p:cNvSpPr/>
              <p:nvPr/>
            </p:nvSpPr>
            <p:spPr>
              <a:xfrm>
                <a:off x="1152524" y="5562600"/>
                <a:ext cx="450552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Навигация по формам</a:t>
                </a:r>
                <a:endParaRPr lang="en-US" sz="24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1152525" y="5829700"/>
                <a:ext cx="44813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Открытие нужных окон</a:t>
                </a:r>
                <a:endParaRPr lang="en-US" sz="2400" dirty="0"/>
              </a:p>
            </p:txBody>
          </p:sp>
        </p:grp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535F763C-CBE5-4424-BAEC-FC77CEF0A1F7}"/>
              </a:ext>
            </a:extLst>
          </p:cNvPr>
          <p:cNvGrpSpPr/>
          <p:nvPr/>
        </p:nvGrpSpPr>
        <p:grpSpPr>
          <a:xfrm>
            <a:off x="6210300" y="1143000"/>
            <a:ext cx="5600700" cy="5334000"/>
            <a:chOff x="6210300" y="1143000"/>
            <a:chExt cx="5600700" cy="5334000"/>
          </a:xfrm>
        </p:grpSpPr>
        <p:sp>
          <p:nvSpPr>
            <p:cNvPr id="35" name="Shape 33"/>
            <p:cNvSpPr/>
            <p:nvPr/>
          </p:nvSpPr>
          <p:spPr>
            <a:xfrm>
              <a:off x="6210300" y="1143000"/>
              <a:ext cx="5600700" cy="5334000"/>
            </a:xfrm>
            <a:custGeom>
              <a:avLst/>
              <a:gdLst/>
              <a:ahLst/>
              <a:cxnLst/>
              <a:rect l="l" t="t" r="r" b="b"/>
              <a:pathLst>
                <a:path w="5600700" h="5334000">
                  <a:moveTo>
                    <a:pt x="152392" y="0"/>
                  </a:moveTo>
                  <a:lnTo>
                    <a:pt x="5448308" y="0"/>
                  </a:lnTo>
                  <a:cubicBezTo>
                    <a:pt x="5532472" y="0"/>
                    <a:pt x="5600700" y="68228"/>
                    <a:pt x="5600700" y="152392"/>
                  </a:cubicBezTo>
                  <a:lnTo>
                    <a:pt x="5600700" y="5181608"/>
                  </a:lnTo>
                  <a:cubicBezTo>
                    <a:pt x="5600700" y="5265772"/>
                    <a:pt x="5532472" y="5334000"/>
                    <a:pt x="5448308" y="5334000"/>
                  </a:cubicBezTo>
                  <a:lnTo>
                    <a:pt x="152392" y="5334000"/>
                  </a:lnTo>
                  <a:cubicBezTo>
                    <a:pt x="68228" y="5334000"/>
                    <a:pt x="0" y="5265772"/>
                    <a:pt x="0" y="5181608"/>
                  </a:cubicBezTo>
                  <a:lnTo>
                    <a:pt x="0" y="152392"/>
                  </a:lnTo>
                  <a:cubicBezTo>
                    <a:pt x="0" y="68285"/>
                    <a:pt x="68285" y="0"/>
                    <a:pt x="1523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64389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7" name="Shape 35"/>
            <p:cNvSpPr/>
            <p:nvPr/>
          </p:nvSpPr>
          <p:spPr>
            <a:xfrm>
              <a:off x="65722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96962" y="0"/>
                    <a:pt x="98673" y="372"/>
                    <a:pt x="100236" y="1079"/>
                  </a:cubicBezTo>
                  <a:lnTo>
                    <a:pt x="170334" y="30807"/>
                  </a:lnTo>
                  <a:cubicBezTo>
                    <a:pt x="178519" y="34268"/>
                    <a:pt x="184621" y="42342"/>
                    <a:pt x="184584" y="52090"/>
                  </a:cubicBezTo>
                  <a:cubicBezTo>
                    <a:pt x="184398" y="88999"/>
                    <a:pt x="169218" y="156530"/>
                    <a:pt x="105110" y="187226"/>
                  </a:cubicBezTo>
                  <a:cubicBezTo>
                    <a:pt x="98896" y="190202"/>
                    <a:pt x="91678" y="190202"/>
                    <a:pt x="85465" y="187226"/>
                  </a:cubicBezTo>
                  <a:cubicBezTo>
                    <a:pt x="21320" y="156530"/>
                    <a:pt x="6176" y="88999"/>
                    <a:pt x="5990" y="52090"/>
                  </a:cubicBezTo>
                  <a:cubicBezTo>
                    <a:pt x="5953" y="42342"/>
                    <a:pt x="12055" y="34268"/>
                    <a:pt x="20241" y="30807"/>
                  </a:cubicBezTo>
                  <a:lnTo>
                    <a:pt x="90301" y="1079"/>
                  </a:lnTo>
                  <a:cubicBezTo>
                    <a:pt x="91864" y="372"/>
                    <a:pt x="93538" y="0"/>
                    <a:pt x="95250" y="0"/>
                  </a:cubicBezTo>
                  <a:close/>
                  <a:moveTo>
                    <a:pt x="95250" y="24854"/>
                  </a:moveTo>
                  <a:lnTo>
                    <a:pt x="95250" y="165534"/>
                  </a:lnTo>
                  <a:cubicBezTo>
                    <a:pt x="146596" y="140680"/>
                    <a:pt x="160400" y="85613"/>
                    <a:pt x="160734" y="52648"/>
                  </a:cubicBezTo>
                  <a:lnTo>
                    <a:pt x="95250" y="24892"/>
                  </a:lnTo>
                  <a:lnTo>
                    <a:pt x="95250" y="24892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7010400" y="1447800"/>
              <a:ext cx="4453221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Нефункциональные</a:t>
              </a:r>
              <a:endParaRPr lang="en-US" sz="2400" dirty="0"/>
            </a:p>
          </p:txBody>
        </p:sp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ABF6058B-7E08-4D61-BB22-3A00E5A1512E}"/>
                </a:ext>
              </a:extLst>
            </p:cNvPr>
            <p:cNvGrpSpPr/>
            <p:nvPr/>
          </p:nvGrpSpPr>
          <p:grpSpPr>
            <a:xfrm>
              <a:off x="6457950" y="2057400"/>
              <a:ext cx="5124450" cy="4076700"/>
              <a:chOff x="6457950" y="2057400"/>
              <a:chExt cx="5124450" cy="4076700"/>
            </a:xfrm>
          </p:grpSpPr>
          <p:sp>
            <p:nvSpPr>
              <p:cNvPr id="39" name="Shape 37"/>
              <p:cNvSpPr/>
              <p:nvPr/>
            </p:nvSpPr>
            <p:spPr>
              <a:xfrm>
                <a:off x="6457950" y="20574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40" name="Shape 38"/>
              <p:cNvSpPr/>
              <p:nvPr/>
            </p:nvSpPr>
            <p:spPr>
              <a:xfrm>
                <a:off x="6457950" y="20574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41" name="Shape 39"/>
              <p:cNvSpPr/>
              <p:nvPr/>
            </p:nvSpPr>
            <p:spPr>
              <a:xfrm>
                <a:off x="6653213" y="23241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107156" y="35719"/>
                    </a:moveTo>
                    <a:cubicBezTo>
                      <a:pt x="107156" y="29148"/>
                      <a:pt x="101821" y="23812"/>
                      <a:pt x="95250" y="23812"/>
                    </a:cubicBezTo>
                    <a:cubicBezTo>
                      <a:pt x="88679" y="23812"/>
                      <a:pt x="83344" y="29148"/>
                      <a:pt x="83344" y="35719"/>
                    </a:cubicBezTo>
                    <a:cubicBezTo>
                      <a:pt x="83344" y="42290"/>
                      <a:pt x="88679" y="47625"/>
                      <a:pt x="95250" y="47625"/>
                    </a:cubicBezTo>
                    <a:cubicBezTo>
                      <a:pt x="101821" y="47625"/>
                      <a:pt x="107156" y="42290"/>
                      <a:pt x="107156" y="35719"/>
                    </a:cubicBezTo>
                    <a:close/>
                    <a:moveTo>
                      <a:pt x="95250" y="154781"/>
                    </a:moveTo>
                    <a:cubicBezTo>
                      <a:pt x="108384" y="154781"/>
                      <a:pt x="119063" y="144103"/>
                      <a:pt x="119063" y="130969"/>
                    </a:cubicBezTo>
                    <a:cubicBezTo>
                      <a:pt x="119063" y="124941"/>
                      <a:pt x="116830" y="119397"/>
                      <a:pt x="113109" y="115230"/>
                    </a:cubicBezTo>
                    <a:lnTo>
                      <a:pt x="138968" y="63550"/>
                    </a:lnTo>
                    <a:cubicBezTo>
                      <a:pt x="141163" y="59122"/>
                      <a:pt x="139378" y="53764"/>
                      <a:pt x="134987" y="51569"/>
                    </a:cubicBezTo>
                    <a:cubicBezTo>
                      <a:pt x="130597" y="49374"/>
                      <a:pt x="125202" y="51160"/>
                      <a:pt x="123006" y="55550"/>
                    </a:cubicBezTo>
                    <a:lnTo>
                      <a:pt x="97148" y="107231"/>
                    </a:lnTo>
                    <a:cubicBezTo>
                      <a:pt x="96515" y="107193"/>
                      <a:pt x="95883" y="107156"/>
                      <a:pt x="95250" y="107156"/>
                    </a:cubicBezTo>
                    <a:cubicBezTo>
                      <a:pt x="82116" y="107156"/>
                      <a:pt x="71438" y="117835"/>
                      <a:pt x="71438" y="130969"/>
                    </a:cubicBezTo>
                    <a:cubicBezTo>
                      <a:pt x="71438" y="144103"/>
                      <a:pt x="82116" y="154781"/>
                      <a:pt x="95250" y="154781"/>
                    </a:cubicBezTo>
                    <a:close/>
                    <a:moveTo>
                      <a:pt x="65484" y="53578"/>
                    </a:moveTo>
                    <a:cubicBezTo>
                      <a:pt x="65484" y="47007"/>
                      <a:pt x="60149" y="41672"/>
                      <a:pt x="53578" y="41672"/>
                    </a:cubicBezTo>
                    <a:cubicBezTo>
                      <a:pt x="47007" y="41672"/>
                      <a:pt x="41672" y="47007"/>
                      <a:pt x="41672" y="53578"/>
                    </a:cubicBezTo>
                    <a:cubicBezTo>
                      <a:pt x="41672" y="60149"/>
                      <a:pt x="47007" y="65484"/>
                      <a:pt x="53578" y="65484"/>
                    </a:cubicBezTo>
                    <a:cubicBezTo>
                      <a:pt x="60149" y="65484"/>
                      <a:pt x="65484" y="60149"/>
                      <a:pt x="65484" y="53578"/>
                    </a:cubicBezTo>
                    <a:close/>
                    <a:moveTo>
                      <a:pt x="35719" y="107156"/>
                    </a:moveTo>
                    <a:cubicBezTo>
                      <a:pt x="42290" y="107156"/>
                      <a:pt x="47625" y="101821"/>
                      <a:pt x="47625" y="95250"/>
                    </a:cubicBezTo>
                    <a:cubicBezTo>
                      <a:pt x="47625" y="88679"/>
                      <a:pt x="42290" y="83344"/>
                      <a:pt x="35719" y="83344"/>
                    </a:cubicBezTo>
                    <a:cubicBezTo>
                      <a:pt x="29148" y="83344"/>
                      <a:pt x="23812" y="88679"/>
                      <a:pt x="23812" y="95250"/>
                    </a:cubicBezTo>
                    <a:cubicBezTo>
                      <a:pt x="23812" y="101821"/>
                      <a:pt x="29148" y="107156"/>
                      <a:pt x="35719" y="107156"/>
                    </a:cubicBezTo>
                    <a:close/>
                    <a:moveTo>
                      <a:pt x="166688" y="95250"/>
                    </a:moveTo>
                    <a:cubicBezTo>
                      <a:pt x="166688" y="88679"/>
                      <a:pt x="161352" y="83344"/>
                      <a:pt x="154781" y="83344"/>
                    </a:cubicBezTo>
                    <a:cubicBezTo>
                      <a:pt x="148210" y="83344"/>
                      <a:pt x="142875" y="88679"/>
                      <a:pt x="142875" y="95250"/>
                    </a:cubicBezTo>
                    <a:cubicBezTo>
                      <a:pt x="142875" y="101821"/>
                      <a:pt x="148210" y="107156"/>
                      <a:pt x="154781" y="107156"/>
                    </a:cubicBezTo>
                    <a:cubicBezTo>
                      <a:pt x="161352" y="107156"/>
                      <a:pt x="166688" y="101821"/>
                      <a:pt x="166688" y="9525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42" name="Text 40"/>
              <p:cNvSpPr/>
              <p:nvPr/>
            </p:nvSpPr>
            <p:spPr>
              <a:xfrm>
                <a:off x="6981825" y="2209800"/>
                <a:ext cx="355452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Время ответа &lt; 3 сек</a:t>
                </a:r>
                <a:endParaRPr lang="en-US" sz="240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6981825" y="2486525"/>
                <a:ext cx="353521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Быстрая реакция системы</a:t>
                </a:r>
                <a:endParaRPr lang="en-US" sz="2400" dirty="0"/>
              </a:p>
            </p:txBody>
          </p:sp>
          <p:sp>
            <p:nvSpPr>
              <p:cNvPr id="44" name="Shape 42"/>
              <p:cNvSpPr/>
              <p:nvPr/>
            </p:nvSpPr>
            <p:spPr>
              <a:xfrm>
                <a:off x="6457950" y="28956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45" name="Shape 43"/>
              <p:cNvSpPr/>
              <p:nvPr/>
            </p:nvSpPr>
            <p:spPr>
              <a:xfrm>
                <a:off x="6457950" y="28956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46" name="Shape 44"/>
              <p:cNvSpPr/>
              <p:nvPr/>
            </p:nvSpPr>
            <p:spPr>
              <a:xfrm>
                <a:off x="6653213" y="31623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66688" y="95250"/>
                    </a:moveTo>
                    <a:cubicBezTo>
                      <a:pt x="166688" y="55823"/>
                      <a:pt x="134677" y="23812"/>
                      <a:pt x="95250" y="23812"/>
                    </a:cubicBezTo>
                    <a:cubicBezTo>
                      <a:pt x="55823" y="23812"/>
                      <a:pt x="23813" y="55823"/>
                      <a:pt x="23812" y="95250"/>
                    </a:cubicBezTo>
                    <a:cubicBezTo>
                      <a:pt x="23812" y="134677"/>
                      <a:pt x="55823" y="166688"/>
                      <a:pt x="95250" y="166688"/>
                    </a:cubicBezTo>
                    <a:cubicBezTo>
                      <a:pt x="134677" y="166688"/>
                      <a:pt x="166688" y="134677"/>
                      <a:pt x="166688" y="95250"/>
                    </a:cubicBezTo>
                    <a:close/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95250" y="125016"/>
                    </a:moveTo>
                    <a:cubicBezTo>
                      <a:pt x="111678" y="125016"/>
                      <a:pt x="125016" y="111678"/>
                      <a:pt x="125016" y="95250"/>
                    </a:cubicBezTo>
                    <a:cubicBezTo>
                      <a:pt x="125016" y="78822"/>
                      <a:pt x="111678" y="65484"/>
                      <a:pt x="95250" y="65484"/>
                    </a:cubicBezTo>
                    <a:cubicBezTo>
                      <a:pt x="78822" y="65484"/>
                      <a:pt x="65484" y="78822"/>
                      <a:pt x="65484" y="95250"/>
                    </a:cubicBezTo>
                    <a:cubicBezTo>
                      <a:pt x="65484" y="111678"/>
                      <a:pt x="78822" y="125016"/>
                      <a:pt x="95250" y="125016"/>
                    </a:cubicBezTo>
                    <a:close/>
                    <a:moveTo>
                      <a:pt x="95250" y="41672"/>
                    </a:moveTo>
                    <a:cubicBezTo>
                      <a:pt x="124821" y="41672"/>
                      <a:pt x="148828" y="65679"/>
                      <a:pt x="148828" y="95250"/>
                    </a:cubicBezTo>
                    <a:cubicBezTo>
                      <a:pt x="148828" y="124821"/>
                      <a:pt x="124821" y="148828"/>
                      <a:pt x="95250" y="148828"/>
                    </a:cubicBezTo>
                    <a:cubicBezTo>
                      <a:pt x="65679" y="148828"/>
                      <a:pt x="41672" y="124821"/>
                      <a:pt x="41672" y="95250"/>
                    </a:cubicBezTo>
                    <a:cubicBezTo>
                      <a:pt x="41672" y="65679"/>
                      <a:pt x="65679" y="41672"/>
                      <a:pt x="95250" y="41672"/>
                    </a:cubicBezTo>
                    <a:close/>
                    <a:moveTo>
                      <a:pt x="83344" y="95250"/>
                    </a:moveTo>
                    <a:cubicBezTo>
                      <a:pt x="83344" y="88679"/>
                      <a:pt x="88679" y="83344"/>
                      <a:pt x="95250" y="83344"/>
                    </a:cubicBezTo>
                    <a:cubicBezTo>
                      <a:pt x="101821" y="83344"/>
                      <a:pt x="107156" y="88679"/>
                      <a:pt x="107156" y="95250"/>
                    </a:cubicBezTo>
                    <a:cubicBezTo>
                      <a:pt x="107156" y="101821"/>
                      <a:pt x="101821" y="107156"/>
                      <a:pt x="95250" y="107156"/>
                    </a:cubicBezTo>
                    <a:cubicBezTo>
                      <a:pt x="88679" y="107156"/>
                      <a:pt x="83344" y="101821"/>
                      <a:pt x="83344" y="9525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47" name="Text 45"/>
              <p:cNvSpPr/>
              <p:nvPr/>
            </p:nvSpPr>
            <p:spPr>
              <a:xfrm>
                <a:off x="6981825" y="3048000"/>
                <a:ext cx="450111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Точность &gt; 90%</a:t>
                </a:r>
                <a:endParaRPr lang="en-US" sz="2400" dirty="0"/>
              </a:p>
            </p:txBody>
          </p:sp>
          <p:sp>
            <p:nvSpPr>
              <p:cNvPr id="48" name="Text 46"/>
              <p:cNvSpPr/>
              <p:nvPr/>
            </p:nvSpPr>
            <p:spPr>
              <a:xfrm>
                <a:off x="6981825" y="3324725"/>
                <a:ext cx="4481796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Высокая точность распознавания</a:t>
                </a:r>
                <a:endParaRPr lang="en-US" sz="2400" dirty="0"/>
              </a:p>
            </p:txBody>
          </p:sp>
          <p:sp>
            <p:nvSpPr>
              <p:cNvPr id="49" name="Shape 47"/>
              <p:cNvSpPr/>
              <p:nvPr/>
            </p:nvSpPr>
            <p:spPr>
              <a:xfrm>
                <a:off x="6457950" y="37338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50" name="Shape 48"/>
              <p:cNvSpPr/>
              <p:nvPr/>
            </p:nvSpPr>
            <p:spPr>
              <a:xfrm>
                <a:off x="6457950" y="37338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51" name="Shape 49"/>
              <p:cNvSpPr/>
              <p:nvPr/>
            </p:nvSpPr>
            <p:spPr>
              <a:xfrm>
                <a:off x="6665119" y="40005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62508" y="11906"/>
                    </a:moveTo>
                    <a:lnTo>
                      <a:pt x="8930" y="11906"/>
                    </a:lnTo>
                    <a:cubicBezTo>
                      <a:pt x="3981" y="11906"/>
                      <a:pt x="0" y="15887"/>
                      <a:pt x="0" y="20836"/>
                    </a:cubicBezTo>
                    <a:lnTo>
                      <a:pt x="0" y="74414"/>
                    </a:lnTo>
                    <a:cubicBezTo>
                      <a:pt x="0" y="78023"/>
                      <a:pt x="2158" y="81297"/>
                      <a:pt x="5507" y="82674"/>
                    </a:cubicBezTo>
                    <a:cubicBezTo>
                      <a:pt x="8855" y="84051"/>
                      <a:pt x="12688" y="83269"/>
                      <a:pt x="15255" y="80739"/>
                    </a:cubicBezTo>
                    <a:lnTo>
                      <a:pt x="30138" y="65856"/>
                    </a:lnTo>
                    <a:lnTo>
                      <a:pt x="59531" y="95250"/>
                    </a:lnTo>
                    <a:lnTo>
                      <a:pt x="30138" y="124644"/>
                    </a:lnTo>
                    <a:lnTo>
                      <a:pt x="15255" y="109761"/>
                    </a:lnTo>
                    <a:cubicBezTo>
                      <a:pt x="12688" y="107193"/>
                      <a:pt x="8855" y="106449"/>
                      <a:pt x="5507" y="107826"/>
                    </a:cubicBezTo>
                    <a:cubicBezTo>
                      <a:pt x="2158" y="109203"/>
                      <a:pt x="0" y="112477"/>
                      <a:pt x="0" y="116086"/>
                    </a:cubicBezTo>
                    <a:lnTo>
                      <a:pt x="0" y="169664"/>
                    </a:lnTo>
                    <a:cubicBezTo>
                      <a:pt x="0" y="174613"/>
                      <a:pt x="3981" y="178594"/>
                      <a:pt x="8930" y="178594"/>
                    </a:cubicBezTo>
                    <a:lnTo>
                      <a:pt x="62508" y="178594"/>
                    </a:lnTo>
                    <a:cubicBezTo>
                      <a:pt x="66117" y="178594"/>
                      <a:pt x="69391" y="176436"/>
                      <a:pt x="70768" y="173087"/>
                    </a:cubicBezTo>
                    <a:cubicBezTo>
                      <a:pt x="72144" y="169738"/>
                      <a:pt x="71400" y="165906"/>
                      <a:pt x="68833" y="163339"/>
                    </a:cubicBezTo>
                    <a:lnTo>
                      <a:pt x="53950" y="148456"/>
                    </a:lnTo>
                    <a:lnTo>
                      <a:pt x="83344" y="119063"/>
                    </a:lnTo>
                    <a:lnTo>
                      <a:pt x="112737" y="148456"/>
                    </a:lnTo>
                    <a:lnTo>
                      <a:pt x="97854" y="163339"/>
                    </a:lnTo>
                    <a:cubicBezTo>
                      <a:pt x="95287" y="165906"/>
                      <a:pt x="94543" y="169738"/>
                      <a:pt x="95920" y="173087"/>
                    </a:cubicBezTo>
                    <a:cubicBezTo>
                      <a:pt x="97296" y="176436"/>
                      <a:pt x="100571" y="178594"/>
                      <a:pt x="104180" y="178594"/>
                    </a:cubicBezTo>
                    <a:lnTo>
                      <a:pt x="157758" y="178594"/>
                    </a:lnTo>
                    <a:cubicBezTo>
                      <a:pt x="162706" y="178594"/>
                      <a:pt x="166688" y="174613"/>
                      <a:pt x="166688" y="169664"/>
                    </a:cubicBezTo>
                    <a:lnTo>
                      <a:pt x="166688" y="116086"/>
                    </a:lnTo>
                    <a:cubicBezTo>
                      <a:pt x="166688" y="112477"/>
                      <a:pt x="164529" y="109203"/>
                      <a:pt x="161181" y="107826"/>
                    </a:cubicBezTo>
                    <a:cubicBezTo>
                      <a:pt x="157832" y="106449"/>
                      <a:pt x="154000" y="107193"/>
                      <a:pt x="151433" y="109761"/>
                    </a:cubicBezTo>
                    <a:lnTo>
                      <a:pt x="136550" y="124644"/>
                    </a:lnTo>
                    <a:lnTo>
                      <a:pt x="107156" y="95250"/>
                    </a:lnTo>
                    <a:lnTo>
                      <a:pt x="136550" y="65856"/>
                    </a:lnTo>
                    <a:lnTo>
                      <a:pt x="151433" y="80739"/>
                    </a:lnTo>
                    <a:cubicBezTo>
                      <a:pt x="154000" y="83307"/>
                      <a:pt x="157832" y="84051"/>
                      <a:pt x="161181" y="82674"/>
                    </a:cubicBezTo>
                    <a:cubicBezTo>
                      <a:pt x="164529" y="81297"/>
                      <a:pt x="166688" y="78023"/>
                      <a:pt x="166688" y="74414"/>
                    </a:cubicBezTo>
                    <a:lnTo>
                      <a:pt x="166688" y="20836"/>
                    </a:lnTo>
                    <a:cubicBezTo>
                      <a:pt x="166688" y="15887"/>
                      <a:pt x="162706" y="11906"/>
                      <a:pt x="157758" y="11906"/>
                    </a:cubicBezTo>
                    <a:lnTo>
                      <a:pt x="104180" y="11906"/>
                    </a:lnTo>
                    <a:cubicBezTo>
                      <a:pt x="100571" y="11906"/>
                      <a:pt x="97296" y="14064"/>
                      <a:pt x="95920" y="17413"/>
                    </a:cubicBezTo>
                    <a:cubicBezTo>
                      <a:pt x="94543" y="20762"/>
                      <a:pt x="95324" y="24594"/>
                      <a:pt x="97854" y="27161"/>
                    </a:cubicBezTo>
                    <a:lnTo>
                      <a:pt x="112737" y="42044"/>
                    </a:lnTo>
                    <a:lnTo>
                      <a:pt x="83344" y="71438"/>
                    </a:lnTo>
                    <a:lnTo>
                      <a:pt x="53950" y="42044"/>
                    </a:lnTo>
                    <a:lnTo>
                      <a:pt x="68833" y="27161"/>
                    </a:lnTo>
                    <a:cubicBezTo>
                      <a:pt x="71400" y="24594"/>
                      <a:pt x="72144" y="20762"/>
                      <a:pt x="70768" y="17413"/>
                    </a:cubicBezTo>
                    <a:cubicBezTo>
                      <a:pt x="69391" y="14064"/>
                      <a:pt x="66117" y="11906"/>
                      <a:pt x="62508" y="11906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52" name="Text 50"/>
              <p:cNvSpPr/>
              <p:nvPr/>
            </p:nvSpPr>
            <p:spPr>
              <a:xfrm>
                <a:off x="6981825" y="3886200"/>
                <a:ext cx="3206802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Масштабируемость</a:t>
                </a:r>
                <a:endParaRPr lang="en-US" sz="2400" dirty="0"/>
              </a:p>
            </p:txBody>
          </p:sp>
          <p:sp>
            <p:nvSpPr>
              <p:cNvPr id="53" name="Text 51"/>
              <p:cNvSpPr/>
              <p:nvPr/>
            </p:nvSpPr>
            <p:spPr>
              <a:xfrm>
                <a:off x="6981825" y="4162925"/>
                <a:ext cx="3187484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Рост с бизнесом</a:t>
                </a:r>
                <a:endParaRPr lang="en-US" sz="2400" dirty="0"/>
              </a:p>
            </p:txBody>
          </p:sp>
          <p:sp>
            <p:nvSpPr>
              <p:cNvPr id="54" name="Shape 52"/>
              <p:cNvSpPr/>
              <p:nvPr/>
            </p:nvSpPr>
            <p:spPr>
              <a:xfrm>
                <a:off x="6457950" y="45720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55" name="Shape 53"/>
              <p:cNvSpPr/>
              <p:nvPr/>
            </p:nvSpPr>
            <p:spPr>
              <a:xfrm>
                <a:off x="6457950" y="45720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56" name="Shape 54"/>
              <p:cNvSpPr/>
              <p:nvPr/>
            </p:nvSpPr>
            <p:spPr>
              <a:xfrm>
                <a:off x="6677025" y="48387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47625" y="35719"/>
                    </a:moveTo>
                    <a:lnTo>
                      <a:pt x="47625" y="59531"/>
                    </a:lnTo>
                    <a:lnTo>
                      <a:pt x="95250" y="59531"/>
                    </a:lnTo>
                    <a:lnTo>
                      <a:pt x="95250" y="35719"/>
                    </a:lnTo>
                    <a:cubicBezTo>
                      <a:pt x="95250" y="22585"/>
                      <a:pt x="84572" y="11906"/>
                      <a:pt x="71438" y="11906"/>
                    </a:cubicBezTo>
                    <a:cubicBezTo>
                      <a:pt x="58303" y="11906"/>
                      <a:pt x="47625" y="22585"/>
                      <a:pt x="47625" y="35719"/>
                    </a:cubicBezTo>
                    <a:close/>
                    <a:moveTo>
                      <a:pt x="23812" y="59531"/>
                    </a:moveTo>
                    <a:lnTo>
                      <a:pt x="23812" y="35719"/>
                    </a:lnTo>
                    <a:cubicBezTo>
                      <a:pt x="23812" y="9413"/>
                      <a:pt x="45132" y="-11906"/>
                      <a:pt x="71438" y="-11906"/>
                    </a:cubicBezTo>
                    <a:cubicBezTo>
                      <a:pt x="97743" y="-11906"/>
                      <a:pt x="119063" y="9413"/>
                      <a:pt x="119063" y="35719"/>
                    </a:cubicBezTo>
                    <a:lnTo>
                      <a:pt x="119063" y="59531"/>
                    </a:lnTo>
                    <a:cubicBezTo>
                      <a:pt x="132197" y="59531"/>
                      <a:pt x="142875" y="70210"/>
                      <a:pt x="142875" y="83344"/>
                    </a:cubicBezTo>
                    <a:lnTo>
                      <a:pt x="142875" y="166688"/>
                    </a:lnTo>
                    <a:cubicBezTo>
                      <a:pt x="142875" y="179822"/>
                      <a:pt x="132197" y="190500"/>
                      <a:pt x="119063" y="190500"/>
                    </a:cubicBezTo>
                    <a:lnTo>
                      <a:pt x="23812" y="190500"/>
                    </a:lnTo>
                    <a:cubicBezTo>
                      <a:pt x="10678" y="190500"/>
                      <a:pt x="0" y="179822"/>
                      <a:pt x="0" y="166688"/>
                    </a:cubicBezTo>
                    <a:lnTo>
                      <a:pt x="0" y="83344"/>
                    </a:lnTo>
                    <a:cubicBezTo>
                      <a:pt x="0" y="70210"/>
                      <a:pt x="10678" y="59531"/>
                      <a:pt x="23812" y="59531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57" name="Text 55"/>
              <p:cNvSpPr/>
              <p:nvPr/>
            </p:nvSpPr>
            <p:spPr>
              <a:xfrm>
                <a:off x="6981825" y="4724400"/>
                <a:ext cx="355452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Безопасность данных</a:t>
                </a:r>
                <a:endParaRPr lang="en-US" sz="2400" dirty="0"/>
              </a:p>
            </p:txBody>
          </p:sp>
          <p:sp>
            <p:nvSpPr>
              <p:cNvPr id="58" name="Text 56"/>
              <p:cNvSpPr/>
              <p:nvPr/>
            </p:nvSpPr>
            <p:spPr>
              <a:xfrm>
                <a:off x="6981825" y="5001125"/>
                <a:ext cx="353521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Защита информации</a:t>
                </a:r>
                <a:endParaRPr lang="en-US" sz="2400" dirty="0"/>
              </a:p>
            </p:txBody>
          </p:sp>
          <p:sp>
            <p:nvSpPr>
              <p:cNvPr id="59" name="Shape 57"/>
              <p:cNvSpPr/>
              <p:nvPr/>
            </p:nvSpPr>
            <p:spPr>
              <a:xfrm>
                <a:off x="6457950" y="54102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60" name="Shape 58"/>
              <p:cNvSpPr/>
              <p:nvPr/>
            </p:nvSpPr>
            <p:spPr>
              <a:xfrm>
                <a:off x="6457950" y="54102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61" name="Shape 59"/>
              <p:cNvSpPr/>
              <p:nvPr/>
            </p:nvSpPr>
            <p:spPr>
              <a:xfrm>
                <a:off x="6653213" y="56769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83344" y="0"/>
                    </a:moveTo>
                    <a:cubicBezTo>
                      <a:pt x="96478" y="0"/>
                      <a:pt x="107156" y="8000"/>
                      <a:pt x="107156" y="17859"/>
                    </a:cubicBezTo>
                    <a:cubicBezTo>
                      <a:pt x="107156" y="21729"/>
                      <a:pt x="105519" y="25301"/>
                      <a:pt x="102691" y="28240"/>
                    </a:cubicBezTo>
                    <a:cubicBezTo>
                      <a:pt x="100236" y="30807"/>
                      <a:pt x="98227" y="33933"/>
                      <a:pt x="98227" y="37505"/>
                    </a:cubicBezTo>
                    <a:cubicBezTo>
                      <a:pt x="98227" y="43086"/>
                      <a:pt x="102766" y="47625"/>
                      <a:pt x="108347" y="47625"/>
                    </a:cubicBezTo>
                    <a:lnTo>
                      <a:pt x="125016" y="47625"/>
                    </a:lnTo>
                    <a:cubicBezTo>
                      <a:pt x="134875" y="47625"/>
                      <a:pt x="142875" y="55625"/>
                      <a:pt x="142875" y="65484"/>
                    </a:cubicBezTo>
                    <a:lnTo>
                      <a:pt x="142875" y="82153"/>
                    </a:lnTo>
                    <a:cubicBezTo>
                      <a:pt x="142875" y="87734"/>
                      <a:pt x="147414" y="92273"/>
                      <a:pt x="152995" y="92273"/>
                    </a:cubicBezTo>
                    <a:cubicBezTo>
                      <a:pt x="156530" y="92273"/>
                      <a:pt x="159693" y="90264"/>
                      <a:pt x="162260" y="87809"/>
                    </a:cubicBezTo>
                    <a:cubicBezTo>
                      <a:pt x="165199" y="85018"/>
                      <a:pt x="168771" y="83344"/>
                      <a:pt x="172641" y="83344"/>
                    </a:cubicBezTo>
                    <a:cubicBezTo>
                      <a:pt x="182500" y="83344"/>
                      <a:pt x="190500" y="94022"/>
                      <a:pt x="190500" y="107156"/>
                    </a:cubicBezTo>
                    <a:cubicBezTo>
                      <a:pt x="190500" y="120290"/>
                      <a:pt x="182500" y="130969"/>
                      <a:pt x="172641" y="130969"/>
                    </a:cubicBezTo>
                    <a:cubicBezTo>
                      <a:pt x="168771" y="130969"/>
                      <a:pt x="165162" y="129332"/>
                      <a:pt x="162260" y="126504"/>
                    </a:cubicBezTo>
                    <a:cubicBezTo>
                      <a:pt x="159693" y="124048"/>
                      <a:pt x="156567" y="122039"/>
                      <a:pt x="152995" y="122039"/>
                    </a:cubicBezTo>
                    <a:cubicBezTo>
                      <a:pt x="147414" y="122039"/>
                      <a:pt x="142875" y="126578"/>
                      <a:pt x="142875" y="132159"/>
                    </a:cubicBezTo>
                    <a:lnTo>
                      <a:pt x="142875" y="172641"/>
                    </a:lnTo>
                    <a:cubicBezTo>
                      <a:pt x="142875" y="182500"/>
                      <a:pt x="134875" y="190500"/>
                      <a:pt x="125016" y="190500"/>
                    </a:cubicBezTo>
                    <a:lnTo>
                      <a:pt x="103882" y="190500"/>
                    </a:lnTo>
                    <a:cubicBezTo>
                      <a:pt x="99120" y="190500"/>
                      <a:pt x="95250" y="186630"/>
                      <a:pt x="95250" y="181868"/>
                    </a:cubicBezTo>
                    <a:cubicBezTo>
                      <a:pt x="95250" y="178445"/>
                      <a:pt x="97408" y="175431"/>
                      <a:pt x="100161" y="173385"/>
                    </a:cubicBezTo>
                    <a:cubicBezTo>
                      <a:pt x="104477" y="170148"/>
                      <a:pt x="107156" y="165683"/>
                      <a:pt x="107156" y="160734"/>
                    </a:cubicBezTo>
                    <a:cubicBezTo>
                      <a:pt x="107156" y="150875"/>
                      <a:pt x="96478" y="142875"/>
                      <a:pt x="83344" y="142875"/>
                    </a:cubicBezTo>
                    <a:cubicBezTo>
                      <a:pt x="70210" y="142875"/>
                      <a:pt x="59531" y="150875"/>
                      <a:pt x="59531" y="160734"/>
                    </a:cubicBezTo>
                    <a:cubicBezTo>
                      <a:pt x="59531" y="165683"/>
                      <a:pt x="62210" y="170148"/>
                      <a:pt x="66526" y="173385"/>
                    </a:cubicBezTo>
                    <a:cubicBezTo>
                      <a:pt x="69279" y="175431"/>
                      <a:pt x="71438" y="178408"/>
                      <a:pt x="71438" y="181868"/>
                    </a:cubicBezTo>
                    <a:cubicBezTo>
                      <a:pt x="71438" y="186630"/>
                      <a:pt x="67568" y="190500"/>
                      <a:pt x="62805" y="190500"/>
                    </a:cubicBezTo>
                    <a:lnTo>
                      <a:pt x="17859" y="190500"/>
                    </a:lnTo>
                    <a:cubicBezTo>
                      <a:pt x="8000" y="190500"/>
                      <a:pt x="0" y="182500"/>
                      <a:pt x="0" y="172641"/>
                    </a:cubicBezTo>
                    <a:lnTo>
                      <a:pt x="0" y="127695"/>
                    </a:lnTo>
                    <a:cubicBezTo>
                      <a:pt x="0" y="122932"/>
                      <a:pt x="3870" y="119063"/>
                      <a:pt x="8632" y="119063"/>
                    </a:cubicBezTo>
                    <a:cubicBezTo>
                      <a:pt x="12055" y="119063"/>
                      <a:pt x="15069" y="121221"/>
                      <a:pt x="17115" y="123974"/>
                    </a:cubicBezTo>
                    <a:cubicBezTo>
                      <a:pt x="20352" y="128290"/>
                      <a:pt x="24817" y="130969"/>
                      <a:pt x="29766" y="130969"/>
                    </a:cubicBezTo>
                    <a:cubicBezTo>
                      <a:pt x="39625" y="130969"/>
                      <a:pt x="47625" y="120290"/>
                      <a:pt x="47625" y="107156"/>
                    </a:cubicBezTo>
                    <a:cubicBezTo>
                      <a:pt x="47625" y="94022"/>
                      <a:pt x="39625" y="83344"/>
                      <a:pt x="29766" y="83344"/>
                    </a:cubicBezTo>
                    <a:cubicBezTo>
                      <a:pt x="24817" y="83344"/>
                      <a:pt x="20352" y="86023"/>
                      <a:pt x="17115" y="90339"/>
                    </a:cubicBezTo>
                    <a:cubicBezTo>
                      <a:pt x="15069" y="93092"/>
                      <a:pt x="12092" y="95250"/>
                      <a:pt x="8632" y="95250"/>
                    </a:cubicBezTo>
                    <a:cubicBezTo>
                      <a:pt x="3870" y="95250"/>
                      <a:pt x="0" y="91380"/>
                      <a:pt x="0" y="86618"/>
                    </a:cubicBezTo>
                    <a:lnTo>
                      <a:pt x="0" y="65484"/>
                    </a:lnTo>
                    <a:cubicBezTo>
                      <a:pt x="0" y="55625"/>
                      <a:pt x="8000" y="47625"/>
                      <a:pt x="17859" y="47625"/>
                    </a:cubicBezTo>
                    <a:lnTo>
                      <a:pt x="58341" y="47625"/>
                    </a:lnTo>
                    <a:cubicBezTo>
                      <a:pt x="63922" y="47625"/>
                      <a:pt x="68461" y="43086"/>
                      <a:pt x="68461" y="37505"/>
                    </a:cubicBezTo>
                    <a:cubicBezTo>
                      <a:pt x="68461" y="33970"/>
                      <a:pt x="66452" y="30807"/>
                      <a:pt x="63996" y="28240"/>
                    </a:cubicBezTo>
                    <a:cubicBezTo>
                      <a:pt x="61206" y="25301"/>
                      <a:pt x="59531" y="21729"/>
                      <a:pt x="59531" y="17859"/>
                    </a:cubicBezTo>
                    <a:cubicBezTo>
                      <a:pt x="59531" y="8000"/>
                      <a:pt x="70210" y="0"/>
                      <a:pt x="83344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62" name="Text 60"/>
              <p:cNvSpPr/>
              <p:nvPr/>
            </p:nvSpPr>
            <p:spPr>
              <a:xfrm>
                <a:off x="6981825" y="5562600"/>
                <a:ext cx="440452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Интеграция без изменений</a:t>
                </a:r>
                <a:endParaRPr lang="en-US" sz="2400" dirty="0"/>
              </a:p>
            </p:txBody>
          </p:sp>
          <p:sp>
            <p:nvSpPr>
              <p:cNvPr id="63" name="Text 61"/>
              <p:cNvSpPr/>
              <p:nvPr/>
            </p:nvSpPr>
            <p:spPr>
              <a:xfrm>
                <a:off x="6981825" y="5839325"/>
                <a:ext cx="438520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Расширение, не доработка</a:t>
                </a:r>
                <a:endParaRPr lang="en-US" sz="2400" dirty="0"/>
              </a:p>
            </p:txBody>
          </p:sp>
        </p:grpSp>
      </p:grpSp>
      <p:sp>
        <p:nvSpPr>
          <p:cNvPr id="69" name="Text 7">
            <a:extLst>
              <a:ext uri="{FF2B5EF4-FFF2-40B4-BE49-F238E27FC236}">
                <a16:creationId xmlns:a16="http://schemas.microsoft.com/office/drawing/2014/main" id="{D90FB5CC-18C1-4D43-B747-032247318D83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6</a:t>
            </a:r>
            <a:endParaRPr lang="en-US" sz="1600" dirty="0"/>
          </a:p>
        </p:txBody>
      </p: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5D2CCCA9-7F7A-4793-8FD3-15D5F06008E0}"/>
              </a:ext>
            </a:extLst>
          </p:cNvPr>
          <p:cNvGrpSpPr/>
          <p:nvPr/>
        </p:nvGrpSpPr>
        <p:grpSpPr>
          <a:xfrm>
            <a:off x="419100" y="-2133600"/>
            <a:ext cx="3914775" cy="535168"/>
            <a:chOff x="381000" y="381000"/>
            <a:chExt cx="3914775" cy="535168"/>
          </a:xfrm>
        </p:grpSpPr>
        <p:sp>
          <p:nvSpPr>
            <p:cNvPr id="140" name="Shape 0">
              <a:extLst>
                <a:ext uri="{FF2B5EF4-FFF2-40B4-BE49-F238E27FC236}">
                  <a16:creationId xmlns:a16="http://schemas.microsoft.com/office/drawing/2014/main" id="{19511FD1-3AE9-4E7A-9189-6C95E8F6661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1" name="Shape 1">
              <a:extLst>
                <a:ext uri="{FF2B5EF4-FFF2-40B4-BE49-F238E27FC236}">
                  <a16:creationId xmlns:a16="http://schemas.microsoft.com/office/drawing/2014/main" id="{23A42228-677F-44D4-A175-687C0682A142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808" y="2322"/>
                  </a:moveTo>
                  <a:cubicBezTo>
                    <a:pt x="110460" y="-759"/>
                    <a:pt x="118140" y="-759"/>
                    <a:pt x="124792" y="2322"/>
                  </a:cubicBezTo>
                  <a:lnTo>
                    <a:pt x="222394" y="47417"/>
                  </a:lnTo>
                  <a:cubicBezTo>
                    <a:pt x="226189" y="49158"/>
                    <a:pt x="228600" y="52953"/>
                    <a:pt x="228600" y="57150"/>
                  </a:cubicBezTo>
                  <a:cubicBezTo>
                    <a:pt x="228600" y="61347"/>
                    <a:pt x="226189" y="65142"/>
                    <a:pt x="222394" y="66883"/>
                  </a:cubicBezTo>
                  <a:lnTo>
                    <a:pt x="124792" y="111978"/>
                  </a:lnTo>
                  <a:cubicBezTo>
                    <a:pt x="118140" y="115059"/>
                    <a:pt x="110460" y="115059"/>
                    <a:pt x="103808" y="111978"/>
                  </a:cubicBezTo>
                  <a:lnTo>
                    <a:pt x="6206" y="66883"/>
                  </a:lnTo>
                  <a:cubicBezTo>
                    <a:pt x="2411" y="65097"/>
                    <a:pt x="0" y="61302"/>
                    <a:pt x="0" y="57150"/>
                  </a:cubicBezTo>
                  <a:cubicBezTo>
                    <a:pt x="0" y="52998"/>
                    <a:pt x="2411" y="49158"/>
                    <a:pt x="6206" y="47417"/>
                  </a:cubicBezTo>
                  <a:lnTo>
                    <a:pt x="103808" y="2322"/>
                  </a:lnTo>
                  <a:close/>
                  <a:moveTo>
                    <a:pt x="21476" y="97512"/>
                  </a:moveTo>
                  <a:lnTo>
                    <a:pt x="94833" y="131400"/>
                  </a:lnTo>
                  <a:cubicBezTo>
                    <a:pt x="107201" y="137115"/>
                    <a:pt x="121444" y="137115"/>
                    <a:pt x="133811" y="131400"/>
                  </a:cubicBezTo>
                  <a:lnTo>
                    <a:pt x="207169" y="97512"/>
                  </a:lnTo>
                  <a:lnTo>
                    <a:pt x="222394" y="104567"/>
                  </a:lnTo>
                  <a:cubicBezTo>
                    <a:pt x="226189" y="106308"/>
                    <a:pt x="228600" y="110103"/>
                    <a:pt x="228600" y="114300"/>
                  </a:cubicBezTo>
                  <a:cubicBezTo>
                    <a:pt x="228600" y="118497"/>
                    <a:pt x="226189" y="122292"/>
                    <a:pt x="222394" y="124033"/>
                  </a:cubicBezTo>
                  <a:lnTo>
                    <a:pt x="124792" y="169128"/>
                  </a:lnTo>
                  <a:cubicBezTo>
                    <a:pt x="118140" y="172209"/>
                    <a:pt x="110460" y="172209"/>
                    <a:pt x="103808" y="169128"/>
                  </a:cubicBezTo>
                  <a:lnTo>
                    <a:pt x="6206" y="124033"/>
                  </a:lnTo>
                  <a:cubicBezTo>
                    <a:pt x="2411" y="122247"/>
                    <a:pt x="0" y="118452"/>
                    <a:pt x="0" y="114300"/>
                  </a:cubicBezTo>
                  <a:cubicBezTo>
                    <a:pt x="0" y="110148"/>
                    <a:pt x="2411" y="106308"/>
                    <a:pt x="6206" y="104567"/>
                  </a:cubicBezTo>
                  <a:lnTo>
                    <a:pt x="21431" y="97512"/>
                  </a:lnTo>
                  <a:close/>
                  <a:moveTo>
                    <a:pt x="6206" y="161717"/>
                  </a:moveTo>
                  <a:lnTo>
                    <a:pt x="21431" y="154662"/>
                  </a:lnTo>
                  <a:lnTo>
                    <a:pt x="94789" y="188550"/>
                  </a:lnTo>
                  <a:cubicBezTo>
                    <a:pt x="107156" y="194265"/>
                    <a:pt x="121399" y="194265"/>
                    <a:pt x="133767" y="188550"/>
                  </a:cubicBezTo>
                  <a:lnTo>
                    <a:pt x="207124" y="154662"/>
                  </a:lnTo>
                  <a:lnTo>
                    <a:pt x="222349" y="161717"/>
                  </a:lnTo>
                  <a:cubicBezTo>
                    <a:pt x="226144" y="163458"/>
                    <a:pt x="228555" y="167253"/>
                    <a:pt x="228555" y="171450"/>
                  </a:cubicBezTo>
                  <a:cubicBezTo>
                    <a:pt x="228555" y="175647"/>
                    <a:pt x="226144" y="179442"/>
                    <a:pt x="222349" y="181183"/>
                  </a:cubicBezTo>
                  <a:lnTo>
                    <a:pt x="124748" y="226278"/>
                  </a:lnTo>
                  <a:cubicBezTo>
                    <a:pt x="118095" y="229359"/>
                    <a:pt x="110416" y="229359"/>
                    <a:pt x="103763" y="226278"/>
                  </a:cubicBezTo>
                  <a:lnTo>
                    <a:pt x="6206" y="181183"/>
                  </a:lnTo>
                  <a:cubicBezTo>
                    <a:pt x="2411" y="179397"/>
                    <a:pt x="0" y="175602"/>
                    <a:pt x="0" y="171450"/>
                  </a:cubicBezTo>
                  <a:cubicBezTo>
                    <a:pt x="0" y="167298"/>
                    <a:pt x="2411" y="163458"/>
                    <a:pt x="6206" y="16171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2" name="Text 2">
              <a:extLst>
                <a:ext uri="{FF2B5EF4-FFF2-40B4-BE49-F238E27FC236}">
                  <a16:creationId xmlns:a16="http://schemas.microsoft.com/office/drawing/2014/main" id="{85B96D43-D214-44D4-A63D-E2B33E652311}"/>
                </a:ext>
              </a:extLst>
            </p:cNvPr>
            <p:cNvSpPr/>
            <p:nvPr/>
          </p:nvSpPr>
          <p:spPr>
            <a:xfrm>
              <a:off x="1066800" y="400050"/>
              <a:ext cx="32289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Выбор технологий</a:t>
              </a:r>
              <a:endParaRPr lang="en-US" sz="1600" dirty="0"/>
            </a:p>
          </p:txBody>
        </p:sp>
        <p:sp>
          <p:nvSpPr>
            <p:cNvPr id="143" name="Shape 3">
              <a:extLst>
                <a:ext uri="{FF2B5EF4-FFF2-40B4-BE49-F238E27FC236}">
                  <a16:creationId xmlns:a16="http://schemas.microsoft.com/office/drawing/2014/main" id="{162FC054-5707-4E37-A903-573C8430C015}"/>
                </a:ext>
              </a:extLst>
            </p:cNvPr>
            <p:cNvSpPr/>
            <p:nvPr/>
          </p:nvSpPr>
          <p:spPr>
            <a:xfrm>
              <a:off x="790099" y="870449"/>
              <a:ext cx="339137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44" name="Text 7">
            <a:extLst>
              <a:ext uri="{FF2B5EF4-FFF2-40B4-BE49-F238E27FC236}">
                <a16:creationId xmlns:a16="http://schemas.microsoft.com/office/drawing/2014/main" id="{6B35C94E-EBD0-4D96-A970-FCEE576ACAF1}"/>
              </a:ext>
            </a:extLst>
          </p:cNvPr>
          <p:cNvSpPr/>
          <p:nvPr/>
        </p:nvSpPr>
        <p:spPr>
          <a:xfrm>
            <a:off x="11165363" y="-225028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7</a:t>
            </a:r>
            <a:endParaRPr lang="en-US" sz="1600" dirty="0"/>
          </a:p>
        </p:txBody>
      </p:sp>
      <p:grpSp>
        <p:nvGrpSpPr>
          <p:cNvPr id="145" name="Группа 144">
            <a:extLst>
              <a:ext uri="{FF2B5EF4-FFF2-40B4-BE49-F238E27FC236}">
                <a16:creationId xmlns:a16="http://schemas.microsoft.com/office/drawing/2014/main" id="{3419EB49-1E7D-4959-9652-598AFB8ABB73}"/>
              </a:ext>
            </a:extLst>
          </p:cNvPr>
          <p:cNvGrpSpPr/>
          <p:nvPr/>
        </p:nvGrpSpPr>
        <p:grpSpPr>
          <a:xfrm>
            <a:off x="-4114800" y="1143000"/>
            <a:ext cx="3686175" cy="2247900"/>
            <a:chOff x="381000" y="1143000"/>
            <a:chExt cx="3686175" cy="2247900"/>
          </a:xfrm>
        </p:grpSpPr>
        <p:sp>
          <p:nvSpPr>
            <p:cNvPr id="146" name="Shape 4">
              <a:extLst>
                <a:ext uri="{FF2B5EF4-FFF2-40B4-BE49-F238E27FC236}">
                  <a16:creationId xmlns:a16="http://schemas.microsoft.com/office/drawing/2014/main" id="{1FD32CA5-4476-47D3-82AC-E9C01B2B26C0}"/>
                </a:ext>
              </a:extLst>
            </p:cNvPr>
            <p:cNvSpPr/>
            <p:nvPr/>
          </p:nvSpPr>
          <p:spPr>
            <a:xfrm>
              <a:off x="3810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7" name="Shape 5">
              <a:extLst>
                <a:ext uri="{FF2B5EF4-FFF2-40B4-BE49-F238E27FC236}">
                  <a16:creationId xmlns:a16="http://schemas.microsoft.com/office/drawing/2014/main" id="{94CEFCB1-CD4C-47AA-9C8F-2F86C75B66AB}"/>
                </a:ext>
              </a:extLst>
            </p:cNvPr>
            <p:cNvSpPr/>
            <p:nvPr/>
          </p:nvSpPr>
          <p:spPr>
            <a:xfrm>
              <a:off x="19177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8" name="Text 6">
              <a:extLst>
                <a:ext uri="{FF2B5EF4-FFF2-40B4-BE49-F238E27FC236}">
                  <a16:creationId xmlns:a16="http://schemas.microsoft.com/office/drawing/2014/main" id="{33BFB674-54C1-47A7-A8C0-F9C677852867}"/>
                </a:ext>
              </a:extLst>
            </p:cNvPr>
            <p:cNvSpPr/>
            <p:nvPr/>
          </p:nvSpPr>
          <p:spPr>
            <a:xfrm>
              <a:off x="2012474" y="1485900"/>
              <a:ext cx="4191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</a:t>
              </a:r>
              <a:endParaRPr lang="en-US" sz="1600" dirty="0"/>
            </a:p>
          </p:txBody>
        </p:sp>
        <p:sp>
          <p:nvSpPr>
            <p:cNvPr id="149" name="Text 7">
              <a:extLst>
                <a:ext uri="{FF2B5EF4-FFF2-40B4-BE49-F238E27FC236}">
                  <a16:creationId xmlns:a16="http://schemas.microsoft.com/office/drawing/2014/main" id="{95F417D9-DCD8-4D85-8E7F-0E4F319D73B1}"/>
                </a:ext>
              </a:extLst>
            </p:cNvPr>
            <p:cNvSpPr/>
            <p:nvPr/>
          </p:nvSpPr>
          <p:spPr>
            <a:xfrm>
              <a:off x="1571149" y="1990725"/>
              <a:ext cx="141970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1С:УНФ</a:t>
              </a:r>
              <a:endParaRPr lang="en-US" sz="1600" dirty="0"/>
            </a:p>
          </p:txBody>
        </p:sp>
        <p:sp>
          <p:nvSpPr>
            <p:cNvPr id="150" name="Text 8">
              <a:extLst>
                <a:ext uri="{FF2B5EF4-FFF2-40B4-BE49-F238E27FC236}">
                  <a16:creationId xmlns:a16="http://schemas.microsoft.com/office/drawing/2014/main" id="{0385FA31-6E20-42B3-BFF0-F045672820A7}"/>
                </a:ext>
              </a:extLst>
            </p:cNvPr>
            <p:cNvSpPr/>
            <p:nvPr/>
          </p:nvSpPr>
          <p:spPr>
            <a:xfrm>
              <a:off x="916780" y="2321926"/>
              <a:ext cx="2645569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Целевая конфигурация</a:t>
              </a:r>
              <a:endParaRPr lang="en-US" sz="1600" dirty="0"/>
            </a:p>
          </p:txBody>
        </p:sp>
        <p:sp>
          <p:nvSpPr>
            <p:cNvPr id="151" name="Shape 9">
              <a:extLst>
                <a:ext uri="{FF2B5EF4-FFF2-40B4-BE49-F238E27FC236}">
                  <a16:creationId xmlns:a16="http://schemas.microsoft.com/office/drawing/2014/main" id="{650AFE00-2AC7-4037-9C54-DC2CFE5A7B14}"/>
                </a:ext>
              </a:extLst>
            </p:cNvPr>
            <p:cNvSpPr/>
            <p:nvPr/>
          </p:nvSpPr>
          <p:spPr>
            <a:xfrm>
              <a:off x="5715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52" name="Text 10">
              <a:extLst>
                <a:ext uri="{FF2B5EF4-FFF2-40B4-BE49-F238E27FC236}">
                  <a16:creationId xmlns:a16="http://schemas.microsoft.com/office/drawing/2014/main" id="{9865B6E0-7AB1-4249-B0F5-2AD71456F4EE}"/>
                </a:ext>
              </a:extLst>
            </p:cNvPr>
            <p:cNvSpPr/>
            <p:nvPr/>
          </p:nvSpPr>
          <p:spPr>
            <a:xfrm>
              <a:off x="652463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Платформа 8.3.25+</a:t>
              </a:r>
              <a:endParaRPr lang="en-US" sz="1600" dirty="0"/>
            </a:p>
          </p:txBody>
        </p:sp>
      </p:grpSp>
      <p:grpSp>
        <p:nvGrpSpPr>
          <p:cNvPr id="153" name="Группа 152">
            <a:extLst>
              <a:ext uri="{FF2B5EF4-FFF2-40B4-BE49-F238E27FC236}">
                <a16:creationId xmlns:a16="http://schemas.microsoft.com/office/drawing/2014/main" id="{9573EE34-2EA0-4F28-BDC0-ECA7147A2387}"/>
              </a:ext>
            </a:extLst>
          </p:cNvPr>
          <p:cNvGrpSpPr/>
          <p:nvPr/>
        </p:nvGrpSpPr>
        <p:grpSpPr>
          <a:xfrm>
            <a:off x="4254500" y="-5067300"/>
            <a:ext cx="3686175" cy="2247900"/>
            <a:chOff x="4254500" y="1143000"/>
            <a:chExt cx="3686175" cy="2247900"/>
          </a:xfrm>
        </p:grpSpPr>
        <p:sp>
          <p:nvSpPr>
            <p:cNvPr id="154" name="Shape 11">
              <a:extLst>
                <a:ext uri="{FF2B5EF4-FFF2-40B4-BE49-F238E27FC236}">
                  <a16:creationId xmlns:a16="http://schemas.microsoft.com/office/drawing/2014/main" id="{F41E63F3-70F6-4B24-879F-A41401C30364}"/>
                </a:ext>
              </a:extLst>
            </p:cNvPr>
            <p:cNvSpPr/>
            <p:nvPr/>
          </p:nvSpPr>
          <p:spPr>
            <a:xfrm>
              <a:off x="42545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55" name="Shape 12">
              <a:extLst>
                <a:ext uri="{FF2B5EF4-FFF2-40B4-BE49-F238E27FC236}">
                  <a16:creationId xmlns:a16="http://schemas.microsoft.com/office/drawing/2014/main" id="{E2CF094B-ECC5-4407-A237-44804808430C}"/>
                </a:ext>
              </a:extLst>
            </p:cNvPr>
            <p:cNvSpPr/>
            <p:nvPr/>
          </p:nvSpPr>
          <p:spPr>
            <a:xfrm>
              <a:off x="57912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6" name="Shape 13">
              <a:extLst>
                <a:ext uri="{FF2B5EF4-FFF2-40B4-BE49-F238E27FC236}">
                  <a16:creationId xmlns:a16="http://schemas.microsoft.com/office/drawing/2014/main" id="{902D08E1-9B1B-4CED-A10F-DB4F90B5945E}"/>
                </a:ext>
              </a:extLst>
            </p:cNvPr>
            <p:cNvSpPr/>
            <p:nvPr/>
          </p:nvSpPr>
          <p:spPr>
            <a:xfrm>
              <a:off x="5981700" y="1524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0013" y="0"/>
                  </a:moveTo>
                  <a:cubicBezTo>
                    <a:pt x="115773" y="0"/>
                    <a:pt x="128588" y="9599"/>
                    <a:pt x="128588" y="21431"/>
                  </a:cubicBezTo>
                  <a:cubicBezTo>
                    <a:pt x="128588" y="26075"/>
                    <a:pt x="126623" y="30361"/>
                    <a:pt x="123230" y="33888"/>
                  </a:cubicBezTo>
                  <a:cubicBezTo>
                    <a:pt x="120283" y="36969"/>
                    <a:pt x="117872" y="40719"/>
                    <a:pt x="117872" y="45006"/>
                  </a:cubicBezTo>
                  <a:cubicBezTo>
                    <a:pt x="117872" y="51703"/>
                    <a:pt x="123319" y="57150"/>
                    <a:pt x="130016" y="57150"/>
                  </a:cubicBezTo>
                  <a:lnTo>
                    <a:pt x="150019" y="57150"/>
                  </a:lnTo>
                  <a:cubicBezTo>
                    <a:pt x="161851" y="57150"/>
                    <a:pt x="171450" y="66749"/>
                    <a:pt x="171450" y="78581"/>
                  </a:cubicBezTo>
                  <a:lnTo>
                    <a:pt x="171450" y="98584"/>
                  </a:lnTo>
                  <a:cubicBezTo>
                    <a:pt x="171450" y="105281"/>
                    <a:pt x="176897" y="110728"/>
                    <a:pt x="183594" y="110728"/>
                  </a:cubicBezTo>
                  <a:cubicBezTo>
                    <a:pt x="187836" y="110728"/>
                    <a:pt x="191631" y="108317"/>
                    <a:pt x="194712" y="105370"/>
                  </a:cubicBezTo>
                  <a:cubicBezTo>
                    <a:pt x="198239" y="102022"/>
                    <a:pt x="202525" y="100013"/>
                    <a:pt x="207169" y="100013"/>
                  </a:cubicBezTo>
                  <a:cubicBezTo>
                    <a:pt x="219001" y="100013"/>
                    <a:pt x="228600" y="112827"/>
                    <a:pt x="228600" y="128588"/>
                  </a:cubicBezTo>
                  <a:cubicBezTo>
                    <a:pt x="228600" y="144348"/>
                    <a:pt x="219001" y="157163"/>
                    <a:pt x="207169" y="157163"/>
                  </a:cubicBezTo>
                  <a:cubicBezTo>
                    <a:pt x="202525" y="157163"/>
                    <a:pt x="198194" y="155198"/>
                    <a:pt x="194712" y="151805"/>
                  </a:cubicBezTo>
                  <a:cubicBezTo>
                    <a:pt x="191631" y="148858"/>
                    <a:pt x="187881" y="146447"/>
                    <a:pt x="183594" y="146447"/>
                  </a:cubicBezTo>
                  <a:cubicBezTo>
                    <a:pt x="176897" y="146447"/>
                    <a:pt x="171450" y="151894"/>
                    <a:pt x="171450" y="158591"/>
                  </a:cubicBezTo>
                  <a:lnTo>
                    <a:pt x="171450" y="207169"/>
                  </a:lnTo>
                  <a:cubicBezTo>
                    <a:pt x="171450" y="219001"/>
                    <a:pt x="161851" y="228600"/>
                    <a:pt x="150019" y="228600"/>
                  </a:cubicBezTo>
                  <a:lnTo>
                    <a:pt x="124658" y="228600"/>
                  </a:lnTo>
                  <a:cubicBezTo>
                    <a:pt x="118943" y="228600"/>
                    <a:pt x="114300" y="223957"/>
                    <a:pt x="114300" y="218242"/>
                  </a:cubicBezTo>
                  <a:cubicBezTo>
                    <a:pt x="114300" y="214134"/>
                    <a:pt x="116890" y="210517"/>
                    <a:pt x="120194" y="208062"/>
                  </a:cubicBezTo>
                  <a:cubicBezTo>
                    <a:pt x="125373" y="204177"/>
                    <a:pt x="128588" y="198819"/>
                    <a:pt x="128588" y="192881"/>
                  </a:cubicBezTo>
                  <a:cubicBezTo>
                    <a:pt x="128588" y="181049"/>
                    <a:pt x="115773" y="171450"/>
                    <a:pt x="100013" y="171450"/>
                  </a:cubicBezTo>
                  <a:cubicBezTo>
                    <a:pt x="84252" y="171450"/>
                    <a:pt x="71438" y="181049"/>
                    <a:pt x="71438" y="192881"/>
                  </a:cubicBezTo>
                  <a:cubicBezTo>
                    <a:pt x="71438" y="198819"/>
                    <a:pt x="74652" y="204177"/>
                    <a:pt x="79831" y="208062"/>
                  </a:cubicBezTo>
                  <a:cubicBezTo>
                    <a:pt x="83135" y="210517"/>
                    <a:pt x="85725" y="214089"/>
                    <a:pt x="85725" y="218242"/>
                  </a:cubicBezTo>
                  <a:cubicBezTo>
                    <a:pt x="85725" y="223957"/>
                    <a:pt x="81082" y="228600"/>
                    <a:pt x="75367" y="228600"/>
                  </a:cubicBezTo>
                  <a:lnTo>
                    <a:pt x="21431" y="228600"/>
                  </a:lnTo>
                  <a:cubicBezTo>
                    <a:pt x="9599" y="228600"/>
                    <a:pt x="0" y="219001"/>
                    <a:pt x="0" y="207169"/>
                  </a:cubicBezTo>
                  <a:lnTo>
                    <a:pt x="0" y="153233"/>
                  </a:lnTo>
                  <a:cubicBezTo>
                    <a:pt x="0" y="147518"/>
                    <a:pt x="4643" y="142875"/>
                    <a:pt x="10358" y="142875"/>
                  </a:cubicBezTo>
                  <a:cubicBezTo>
                    <a:pt x="14466" y="142875"/>
                    <a:pt x="18083" y="145465"/>
                    <a:pt x="20538" y="148769"/>
                  </a:cubicBezTo>
                  <a:cubicBezTo>
                    <a:pt x="24423" y="153948"/>
                    <a:pt x="29781" y="157163"/>
                    <a:pt x="35719" y="157163"/>
                  </a:cubicBezTo>
                  <a:cubicBezTo>
                    <a:pt x="47551" y="157163"/>
                    <a:pt x="57150" y="144348"/>
                    <a:pt x="57150" y="128588"/>
                  </a:cubicBezTo>
                  <a:cubicBezTo>
                    <a:pt x="57150" y="112827"/>
                    <a:pt x="47551" y="100013"/>
                    <a:pt x="35719" y="100013"/>
                  </a:cubicBezTo>
                  <a:cubicBezTo>
                    <a:pt x="29781" y="100013"/>
                    <a:pt x="24423" y="103227"/>
                    <a:pt x="20538" y="108406"/>
                  </a:cubicBezTo>
                  <a:cubicBezTo>
                    <a:pt x="18083" y="111710"/>
                    <a:pt x="14511" y="114300"/>
                    <a:pt x="10358" y="114300"/>
                  </a:cubicBezTo>
                  <a:cubicBezTo>
                    <a:pt x="4643" y="114300"/>
                    <a:pt x="0" y="109657"/>
                    <a:pt x="0" y="103942"/>
                  </a:cubicBezTo>
                  <a:lnTo>
                    <a:pt x="0" y="78581"/>
                  </a:lnTo>
                  <a:cubicBezTo>
                    <a:pt x="0" y="66749"/>
                    <a:pt x="9599" y="57150"/>
                    <a:pt x="21431" y="57150"/>
                  </a:cubicBezTo>
                  <a:lnTo>
                    <a:pt x="70009" y="57150"/>
                  </a:lnTo>
                  <a:cubicBezTo>
                    <a:pt x="76706" y="57150"/>
                    <a:pt x="82153" y="51703"/>
                    <a:pt x="82153" y="45006"/>
                  </a:cubicBezTo>
                  <a:cubicBezTo>
                    <a:pt x="82153" y="40764"/>
                    <a:pt x="79742" y="36969"/>
                    <a:pt x="76795" y="33888"/>
                  </a:cubicBezTo>
                  <a:cubicBezTo>
                    <a:pt x="73447" y="30361"/>
                    <a:pt x="71438" y="26075"/>
                    <a:pt x="71438" y="21431"/>
                  </a:cubicBezTo>
                  <a:cubicBezTo>
                    <a:pt x="71438" y="9599"/>
                    <a:pt x="84252" y="0"/>
                    <a:pt x="100013" y="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57" name="Text 14">
              <a:extLst>
                <a:ext uri="{FF2B5EF4-FFF2-40B4-BE49-F238E27FC236}">
                  <a16:creationId xmlns:a16="http://schemas.microsoft.com/office/drawing/2014/main" id="{1BF64903-14AF-4856-B9E9-C80B6ABA7304}"/>
                </a:ext>
              </a:extLst>
            </p:cNvPr>
            <p:cNvSpPr/>
            <p:nvPr/>
          </p:nvSpPr>
          <p:spPr>
            <a:xfrm>
              <a:off x="5080658" y="2000250"/>
              <a:ext cx="202814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Расширение</a:t>
              </a:r>
              <a:endParaRPr lang="en-US" sz="1600" dirty="0"/>
            </a:p>
          </p:txBody>
        </p:sp>
        <p:sp>
          <p:nvSpPr>
            <p:cNvPr id="158" name="Text 15">
              <a:extLst>
                <a:ext uri="{FF2B5EF4-FFF2-40B4-BE49-F238E27FC236}">
                  <a16:creationId xmlns:a16="http://schemas.microsoft.com/office/drawing/2014/main" id="{A03EA840-6A1C-4827-8777-97BB9EFEC33B}"/>
                </a:ext>
              </a:extLst>
            </p:cNvPr>
            <p:cNvSpPr/>
            <p:nvPr/>
          </p:nvSpPr>
          <p:spPr>
            <a:xfrm>
              <a:off x="5027930" y="2321926"/>
              <a:ext cx="2156714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Метод интеграции</a:t>
              </a:r>
              <a:endParaRPr lang="en-US" sz="1600" dirty="0"/>
            </a:p>
          </p:txBody>
        </p:sp>
        <p:sp>
          <p:nvSpPr>
            <p:cNvPr id="159" name="Shape 16">
              <a:extLst>
                <a:ext uri="{FF2B5EF4-FFF2-40B4-BE49-F238E27FC236}">
                  <a16:creationId xmlns:a16="http://schemas.microsoft.com/office/drawing/2014/main" id="{8730EBCC-F071-4B2F-9523-1AFF82796A96}"/>
                </a:ext>
              </a:extLst>
            </p:cNvPr>
            <p:cNvSpPr/>
            <p:nvPr/>
          </p:nvSpPr>
          <p:spPr>
            <a:xfrm>
              <a:off x="44450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0" name="Text 17">
              <a:extLst>
                <a:ext uri="{FF2B5EF4-FFF2-40B4-BE49-F238E27FC236}">
                  <a16:creationId xmlns:a16="http://schemas.microsoft.com/office/drawing/2014/main" id="{E7ED6466-57A8-4F5C-88A0-40C28AB473D2}"/>
                </a:ext>
              </a:extLst>
            </p:cNvPr>
            <p:cNvSpPr/>
            <p:nvPr/>
          </p:nvSpPr>
          <p:spPr>
            <a:xfrm>
              <a:off x="4525963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Без изменения типовой</a:t>
              </a:r>
              <a:endParaRPr lang="en-US" sz="1600" dirty="0"/>
            </a:p>
          </p:txBody>
        </p:sp>
      </p:grpSp>
      <p:grpSp>
        <p:nvGrpSpPr>
          <p:cNvPr id="161" name="Группа 160">
            <a:extLst>
              <a:ext uri="{FF2B5EF4-FFF2-40B4-BE49-F238E27FC236}">
                <a16:creationId xmlns:a16="http://schemas.microsoft.com/office/drawing/2014/main" id="{EBACE54B-6D35-49F5-B257-CF124627E6CF}"/>
              </a:ext>
            </a:extLst>
          </p:cNvPr>
          <p:cNvGrpSpPr/>
          <p:nvPr/>
        </p:nvGrpSpPr>
        <p:grpSpPr>
          <a:xfrm>
            <a:off x="13004800" y="1143000"/>
            <a:ext cx="3686175" cy="2247900"/>
            <a:chOff x="8128000" y="1143000"/>
            <a:chExt cx="3686175" cy="2247900"/>
          </a:xfrm>
        </p:grpSpPr>
        <p:sp>
          <p:nvSpPr>
            <p:cNvPr id="162" name="Shape 18">
              <a:extLst>
                <a:ext uri="{FF2B5EF4-FFF2-40B4-BE49-F238E27FC236}">
                  <a16:creationId xmlns:a16="http://schemas.microsoft.com/office/drawing/2014/main" id="{07102995-F65C-4F2D-916F-33325EE4D435}"/>
                </a:ext>
              </a:extLst>
            </p:cNvPr>
            <p:cNvSpPr/>
            <p:nvPr/>
          </p:nvSpPr>
          <p:spPr>
            <a:xfrm>
              <a:off x="81280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63" name="Shape 19">
              <a:extLst>
                <a:ext uri="{FF2B5EF4-FFF2-40B4-BE49-F238E27FC236}">
                  <a16:creationId xmlns:a16="http://schemas.microsoft.com/office/drawing/2014/main" id="{4AB1961D-7A61-410D-96CE-ED45BE4DDB13}"/>
                </a:ext>
              </a:extLst>
            </p:cNvPr>
            <p:cNvSpPr/>
            <p:nvPr/>
          </p:nvSpPr>
          <p:spPr>
            <a:xfrm>
              <a:off x="96647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64" name="Shape 20">
              <a:extLst>
                <a:ext uri="{FF2B5EF4-FFF2-40B4-BE49-F238E27FC236}">
                  <a16:creationId xmlns:a16="http://schemas.microsoft.com/office/drawing/2014/main" id="{E16BF15C-0B11-480D-9FE8-A836637FA5F9}"/>
                </a:ext>
              </a:extLst>
            </p:cNvPr>
            <p:cNvSpPr/>
            <p:nvPr/>
          </p:nvSpPr>
          <p:spPr>
            <a:xfrm>
              <a:off x="9869487" y="15240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96364" y="89520"/>
                  </a:moveTo>
                  <a:cubicBezTo>
                    <a:pt x="192926" y="75724"/>
                    <a:pt x="186407" y="65321"/>
                    <a:pt x="172522" y="65321"/>
                  </a:cubicBezTo>
                  <a:lnTo>
                    <a:pt x="154618" y="65321"/>
                  </a:lnTo>
                  <a:lnTo>
                    <a:pt x="154618" y="86484"/>
                  </a:lnTo>
                  <a:cubicBezTo>
                    <a:pt x="154618" y="102915"/>
                    <a:pt x="140687" y="116756"/>
                    <a:pt x="124792" y="116756"/>
                  </a:cubicBezTo>
                  <a:lnTo>
                    <a:pt x="77108" y="116756"/>
                  </a:lnTo>
                  <a:cubicBezTo>
                    <a:pt x="64071" y="116756"/>
                    <a:pt x="53266" y="127918"/>
                    <a:pt x="53266" y="141000"/>
                  </a:cubicBezTo>
                  <a:lnTo>
                    <a:pt x="53266" y="186452"/>
                  </a:lnTo>
                  <a:cubicBezTo>
                    <a:pt x="53266" y="199400"/>
                    <a:pt x="64517" y="206990"/>
                    <a:pt x="77108" y="210696"/>
                  </a:cubicBezTo>
                  <a:cubicBezTo>
                    <a:pt x="92199" y="215116"/>
                    <a:pt x="106710" y="215920"/>
                    <a:pt x="124792" y="210696"/>
                  </a:cubicBezTo>
                  <a:cubicBezTo>
                    <a:pt x="136803" y="207213"/>
                    <a:pt x="148635" y="200204"/>
                    <a:pt x="148635" y="186452"/>
                  </a:cubicBezTo>
                  <a:lnTo>
                    <a:pt x="148635" y="168280"/>
                  </a:lnTo>
                  <a:lnTo>
                    <a:pt x="100995" y="168280"/>
                  </a:lnTo>
                  <a:lnTo>
                    <a:pt x="100995" y="162208"/>
                  </a:lnTo>
                  <a:lnTo>
                    <a:pt x="172522" y="162208"/>
                  </a:lnTo>
                  <a:cubicBezTo>
                    <a:pt x="186407" y="162208"/>
                    <a:pt x="191542" y="152519"/>
                    <a:pt x="196364" y="138008"/>
                  </a:cubicBezTo>
                  <a:cubicBezTo>
                    <a:pt x="201364" y="123051"/>
                    <a:pt x="201141" y="108674"/>
                    <a:pt x="196364" y="89520"/>
                  </a:cubicBezTo>
                  <a:close/>
                  <a:moveTo>
                    <a:pt x="127784" y="198552"/>
                  </a:moveTo>
                  <a:cubicBezTo>
                    <a:pt x="124386" y="198790"/>
                    <a:pt x="121139" y="197112"/>
                    <a:pt x="119367" y="194203"/>
                  </a:cubicBezTo>
                  <a:cubicBezTo>
                    <a:pt x="117595" y="191293"/>
                    <a:pt x="117595" y="187638"/>
                    <a:pt x="119367" y="184729"/>
                  </a:cubicBezTo>
                  <a:cubicBezTo>
                    <a:pt x="121139" y="181819"/>
                    <a:pt x="124386" y="180141"/>
                    <a:pt x="127784" y="180380"/>
                  </a:cubicBezTo>
                  <a:cubicBezTo>
                    <a:pt x="131182" y="180141"/>
                    <a:pt x="134429" y="181819"/>
                    <a:pt x="136201" y="184729"/>
                  </a:cubicBezTo>
                  <a:cubicBezTo>
                    <a:pt x="137972" y="187638"/>
                    <a:pt x="137972" y="191293"/>
                    <a:pt x="136201" y="194203"/>
                  </a:cubicBezTo>
                  <a:cubicBezTo>
                    <a:pt x="134429" y="197112"/>
                    <a:pt x="131182" y="198790"/>
                    <a:pt x="127784" y="198552"/>
                  </a:cubicBezTo>
                  <a:close/>
                  <a:moveTo>
                    <a:pt x="74920" y="110773"/>
                  </a:moveTo>
                  <a:lnTo>
                    <a:pt x="122605" y="110773"/>
                  </a:lnTo>
                  <a:cubicBezTo>
                    <a:pt x="135865" y="110773"/>
                    <a:pt x="146447" y="99834"/>
                    <a:pt x="146447" y="86529"/>
                  </a:cubicBezTo>
                  <a:lnTo>
                    <a:pt x="146447" y="41032"/>
                  </a:lnTo>
                  <a:cubicBezTo>
                    <a:pt x="146447" y="28084"/>
                    <a:pt x="135553" y="18395"/>
                    <a:pt x="122605" y="16207"/>
                  </a:cubicBezTo>
                  <a:cubicBezTo>
                    <a:pt x="106620" y="13573"/>
                    <a:pt x="89252" y="13707"/>
                    <a:pt x="74920" y="16252"/>
                  </a:cubicBezTo>
                  <a:cubicBezTo>
                    <a:pt x="54739" y="19824"/>
                    <a:pt x="51078" y="27280"/>
                    <a:pt x="51078" y="41077"/>
                  </a:cubicBezTo>
                  <a:lnTo>
                    <a:pt x="51078" y="59248"/>
                  </a:lnTo>
                  <a:lnTo>
                    <a:pt x="98807" y="59248"/>
                  </a:lnTo>
                  <a:lnTo>
                    <a:pt x="98807" y="65321"/>
                  </a:lnTo>
                  <a:lnTo>
                    <a:pt x="33174" y="65321"/>
                  </a:lnTo>
                  <a:cubicBezTo>
                    <a:pt x="19288" y="65321"/>
                    <a:pt x="7144" y="73670"/>
                    <a:pt x="3349" y="89520"/>
                  </a:cubicBezTo>
                  <a:cubicBezTo>
                    <a:pt x="-1027" y="107692"/>
                    <a:pt x="-1206" y="119033"/>
                    <a:pt x="3349" y="138008"/>
                  </a:cubicBezTo>
                  <a:cubicBezTo>
                    <a:pt x="6742" y="152117"/>
                    <a:pt x="14823" y="162208"/>
                    <a:pt x="28709" y="162208"/>
                  </a:cubicBezTo>
                  <a:lnTo>
                    <a:pt x="45095" y="162208"/>
                  </a:lnTo>
                  <a:lnTo>
                    <a:pt x="45095" y="140419"/>
                  </a:lnTo>
                  <a:cubicBezTo>
                    <a:pt x="45095" y="124658"/>
                    <a:pt x="58713" y="110773"/>
                    <a:pt x="74920" y="110773"/>
                  </a:cubicBezTo>
                  <a:close/>
                  <a:moveTo>
                    <a:pt x="71973" y="28888"/>
                  </a:moveTo>
                  <a:cubicBezTo>
                    <a:pt x="77000" y="28888"/>
                    <a:pt x="81082" y="32969"/>
                    <a:pt x="81082" y="37996"/>
                  </a:cubicBezTo>
                  <a:cubicBezTo>
                    <a:pt x="81082" y="43023"/>
                    <a:pt x="77000" y="47104"/>
                    <a:pt x="71973" y="47104"/>
                  </a:cubicBezTo>
                  <a:cubicBezTo>
                    <a:pt x="66946" y="47104"/>
                    <a:pt x="62865" y="43023"/>
                    <a:pt x="62865" y="37996"/>
                  </a:cubicBezTo>
                  <a:cubicBezTo>
                    <a:pt x="62865" y="32969"/>
                    <a:pt x="66946" y="28888"/>
                    <a:pt x="71973" y="288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5" name="Text 21">
              <a:extLst>
                <a:ext uri="{FF2B5EF4-FFF2-40B4-BE49-F238E27FC236}">
                  <a16:creationId xmlns:a16="http://schemas.microsoft.com/office/drawing/2014/main" id="{C9AD5283-AD73-432F-8AF1-A8233CB74E5A}"/>
                </a:ext>
              </a:extLst>
            </p:cNvPr>
            <p:cNvSpPr/>
            <p:nvPr/>
          </p:nvSpPr>
          <p:spPr>
            <a:xfrm>
              <a:off x="8635604" y="2000250"/>
              <a:ext cx="266779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Python/FastAPI</a:t>
              </a:r>
              <a:endParaRPr lang="en-US" sz="1600" dirty="0"/>
            </a:p>
          </p:txBody>
        </p:sp>
        <p:sp>
          <p:nvSpPr>
            <p:cNvPr id="166" name="Text 22">
              <a:extLst>
                <a:ext uri="{FF2B5EF4-FFF2-40B4-BE49-F238E27FC236}">
                  <a16:creationId xmlns:a16="http://schemas.microsoft.com/office/drawing/2014/main" id="{305F2ED1-A6E4-4914-A4A0-593B4D91491A}"/>
                </a:ext>
              </a:extLst>
            </p:cNvPr>
            <p:cNvSpPr/>
            <p:nvPr/>
          </p:nvSpPr>
          <p:spPr>
            <a:xfrm>
              <a:off x="9023350" y="2321926"/>
              <a:ext cx="1941042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Middleware слой</a:t>
              </a:r>
              <a:endParaRPr lang="en-US" sz="1600" dirty="0"/>
            </a:p>
          </p:txBody>
        </p:sp>
        <p:sp>
          <p:nvSpPr>
            <p:cNvPr id="167" name="Shape 23">
              <a:extLst>
                <a:ext uri="{FF2B5EF4-FFF2-40B4-BE49-F238E27FC236}">
                  <a16:creationId xmlns:a16="http://schemas.microsoft.com/office/drawing/2014/main" id="{1DDF075F-0074-4616-A9E8-54CC0353E452}"/>
                </a:ext>
              </a:extLst>
            </p:cNvPr>
            <p:cNvSpPr/>
            <p:nvPr/>
          </p:nvSpPr>
          <p:spPr>
            <a:xfrm>
              <a:off x="83185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8" name="Text 24">
              <a:extLst>
                <a:ext uri="{FF2B5EF4-FFF2-40B4-BE49-F238E27FC236}">
                  <a16:creationId xmlns:a16="http://schemas.microsoft.com/office/drawing/2014/main" id="{082596D3-29ED-45E1-B2BD-1140988FBC95}"/>
                </a:ext>
              </a:extLst>
            </p:cNvPr>
            <p:cNvSpPr/>
            <p:nvPr/>
          </p:nvSpPr>
          <p:spPr>
            <a:xfrm>
              <a:off x="8399462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Обработка запросов</a:t>
              </a:r>
              <a:endParaRPr lang="en-US" sz="1600" dirty="0"/>
            </a:p>
          </p:txBody>
        </p:sp>
      </p:grpSp>
      <p:grpSp>
        <p:nvGrpSpPr>
          <p:cNvPr id="169" name="Группа 168">
            <a:extLst>
              <a:ext uri="{FF2B5EF4-FFF2-40B4-BE49-F238E27FC236}">
                <a16:creationId xmlns:a16="http://schemas.microsoft.com/office/drawing/2014/main" id="{82AA5F6F-A6CF-4C0F-BF7F-0C2A6468F2BA}"/>
              </a:ext>
            </a:extLst>
          </p:cNvPr>
          <p:cNvGrpSpPr/>
          <p:nvPr/>
        </p:nvGrpSpPr>
        <p:grpSpPr>
          <a:xfrm>
            <a:off x="-4114800" y="3581400"/>
            <a:ext cx="3686175" cy="2247900"/>
            <a:chOff x="381000" y="3581400"/>
            <a:chExt cx="3686175" cy="2247900"/>
          </a:xfrm>
        </p:grpSpPr>
        <p:sp>
          <p:nvSpPr>
            <p:cNvPr id="170" name="Shape 25">
              <a:extLst>
                <a:ext uri="{FF2B5EF4-FFF2-40B4-BE49-F238E27FC236}">
                  <a16:creationId xmlns:a16="http://schemas.microsoft.com/office/drawing/2014/main" id="{63BE14EF-EC7D-481C-8C5A-95CC2A6045B6}"/>
                </a:ext>
              </a:extLst>
            </p:cNvPr>
            <p:cNvSpPr/>
            <p:nvPr/>
          </p:nvSpPr>
          <p:spPr>
            <a:xfrm>
              <a:off x="3810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71" name="Shape 26">
              <a:extLst>
                <a:ext uri="{FF2B5EF4-FFF2-40B4-BE49-F238E27FC236}">
                  <a16:creationId xmlns:a16="http://schemas.microsoft.com/office/drawing/2014/main" id="{60A71AA9-F3B7-412C-901E-72DE24D942A3}"/>
                </a:ext>
              </a:extLst>
            </p:cNvPr>
            <p:cNvSpPr/>
            <p:nvPr/>
          </p:nvSpPr>
          <p:spPr>
            <a:xfrm>
              <a:off x="19177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2" name="Shape 27">
              <a:extLst>
                <a:ext uri="{FF2B5EF4-FFF2-40B4-BE49-F238E27FC236}">
                  <a16:creationId xmlns:a16="http://schemas.microsoft.com/office/drawing/2014/main" id="{3A07E54F-E933-4956-B717-842921A1B4B0}"/>
                </a:ext>
              </a:extLst>
            </p:cNvPr>
            <p:cNvSpPr/>
            <p:nvPr/>
          </p:nvSpPr>
          <p:spPr>
            <a:xfrm>
              <a:off x="2108200" y="3962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3578" y="25003"/>
                  </a:moveTo>
                  <a:cubicBezTo>
                    <a:pt x="53578" y="11207"/>
                    <a:pt x="64785" y="0"/>
                    <a:pt x="78581" y="0"/>
                  </a:cubicBezTo>
                  <a:lnTo>
                    <a:pt x="89297" y="0"/>
                  </a:lnTo>
                  <a:cubicBezTo>
                    <a:pt x="97200" y="0"/>
                    <a:pt x="103584" y="6385"/>
                    <a:pt x="103584" y="14288"/>
                  </a:cubicBezTo>
                  <a:lnTo>
                    <a:pt x="103584" y="214313"/>
                  </a:lnTo>
                  <a:cubicBezTo>
                    <a:pt x="103584" y="222215"/>
                    <a:pt x="97200" y="228600"/>
                    <a:pt x="89297" y="228600"/>
                  </a:cubicBezTo>
                  <a:lnTo>
                    <a:pt x="75009" y="228600"/>
                  </a:lnTo>
                  <a:cubicBezTo>
                    <a:pt x="61704" y="228600"/>
                    <a:pt x="50497" y="219492"/>
                    <a:pt x="47327" y="207169"/>
                  </a:cubicBezTo>
                  <a:cubicBezTo>
                    <a:pt x="47015" y="207169"/>
                    <a:pt x="46747" y="207169"/>
                    <a:pt x="46434" y="207169"/>
                  </a:cubicBezTo>
                  <a:cubicBezTo>
                    <a:pt x="26700" y="207169"/>
                    <a:pt x="10716" y="191185"/>
                    <a:pt x="10716" y="171450"/>
                  </a:cubicBezTo>
                  <a:cubicBezTo>
                    <a:pt x="10716" y="163413"/>
                    <a:pt x="13395" y="156002"/>
                    <a:pt x="17859" y="150019"/>
                  </a:cubicBezTo>
                  <a:cubicBezTo>
                    <a:pt x="9198" y="143500"/>
                    <a:pt x="3572" y="133142"/>
                    <a:pt x="3572" y="121444"/>
                  </a:cubicBezTo>
                  <a:cubicBezTo>
                    <a:pt x="3572" y="107647"/>
                    <a:pt x="11430" y="95637"/>
                    <a:pt x="22860" y="89699"/>
                  </a:cubicBezTo>
                  <a:cubicBezTo>
                    <a:pt x="19690" y="84341"/>
                    <a:pt x="17859" y="78090"/>
                    <a:pt x="17859" y="71438"/>
                  </a:cubicBezTo>
                  <a:cubicBezTo>
                    <a:pt x="17859" y="51703"/>
                    <a:pt x="33844" y="35719"/>
                    <a:pt x="53578" y="35719"/>
                  </a:cubicBezTo>
                  <a:lnTo>
                    <a:pt x="53578" y="25003"/>
                  </a:lnTo>
                  <a:close/>
                  <a:moveTo>
                    <a:pt x="175022" y="25003"/>
                  </a:moveTo>
                  <a:lnTo>
                    <a:pt x="175022" y="35719"/>
                  </a:lnTo>
                  <a:cubicBezTo>
                    <a:pt x="194756" y="35719"/>
                    <a:pt x="210741" y="51703"/>
                    <a:pt x="210741" y="71438"/>
                  </a:cubicBezTo>
                  <a:cubicBezTo>
                    <a:pt x="210741" y="78135"/>
                    <a:pt x="208910" y="84386"/>
                    <a:pt x="205740" y="89699"/>
                  </a:cubicBezTo>
                  <a:cubicBezTo>
                    <a:pt x="217215" y="95637"/>
                    <a:pt x="225028" y="107603"/>
                    <a:pt x="225028" y="121444"/>
                  </a:cubicBezTo>
                  <a:cubicBezTo>
                    <a:pt x="225028" y="133142"/>
                    <a:pt x="219402" y="143500"/>
                    <a:pt x="210741" y="150019"/>
                  </a:cubicBezTo>
                  <a:cubicBezTo>
                    <a:pt x="215205" y="156002"/>
                    <a:pt x="217884" y="163413"/>
                    <a:pt x="217884" y="171450"/>
                  </a:cubicBezTo>
                  <a:cubicBezTo>
                    <a:pt x="217884" y="191185"/>
                    <a:pt x="201900" y="207169"/>
                    <a:pt x="182166" y="207169"/>
                  </a:cubicBezTo>
                  <a:cubicBezTo>
                    <a:pt x="181853" y="207169"/>
                    <a:pt x="181585" y="207169"/>
                    <a:pt x="181273" y="207169"/>
                  </a:cubicBezTo>
                  <a:cubicBezTo>
                    <a:pt x="178103" y="219492"/>
                    <a:pt x="166896" y="228600"/>
                    <a:pt x="153591" y="228600"/>
                  </a:cubicBezTo>
                  <a:lnTo>
                    <a:pt x="139303" y="228600"/>
                  </a:lnTo>
                  <a:cubicBezTo>
                    <a:pt x="131400" y="228600"/>
                    <a:pt x="125016" y="222215"/>
                    <a:pt x="125016" y="214313"/>
                  </a:cubicBezTo>
                  <a:lnTo>
                    <a:pt x="125016" y="14288"/>
                  </a:lnTo>
                  <a:cubicBezTo>
                    <a:pt x="125016" y="6385"/>
                    <a:pt x="131400" y="0"/>
                    <a:pt x="139303" y="0"/>
                  </a:cubicBezTo>
                  <a:lnTo>
                    <a:pt x="150019" y="0"/>
                  </a:lnTo>
                  <a:cubicBezTo>
                    <a:pt x="163815" y="0"/>
                    <a:pt x="175022" y="11207"/>
                    <a:pt x="175022" y="2500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73" name="Text 28">
              <a:extLst>
                <a:ext uri="{FF2B5EF4-FFF2-40B4-BE49-F238E27FC236}">
                  <a16:creationId xmlns:a16="http://schemas.microsoft.com/office/drawing/2014/main" id="{F154F7BE-D549-4E16-936D-AD08B00D0727}"/>
                </a:ext>
              </a:extLst>
            </p:cNvPr>
            <p:cNvSpPr/>
            <p:nvPr/>
          </p:nvSpPr>
          <p:spPr>
            <a:xfrm>
              <a:off x="1831678" y="4429125"/>
              <a:ext cx="78005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LLM</a:t>
              </a:r>
              <a:endParaRPr lang="en-US" sz="1600" dirty="0"/>
            </a:p>
          </p:txBody>
        </p:sp>
        <p:sp>
          <p:nvSpPr>
            <p:cNvPr id="174" name="Text 29">
              <a:extLst>
                <a:ext uri="{FF2B5EF4-FFF2-40B4-BE49-F238E27FC236}">
                  <a16:creationId xmlns:a16="http://schemas.microsoft.com/office/drawing/2014/main" id="{804C1A23-B08E-4187-A097-70222AE73629}"/>
                </a:ext>
              </a:extLst>
            </p:cNvPr>
            <p:cNvSpPr/>
            <p:nvPr/>
          </p:nvSpPr>
          <p:spPr>
            <a:xfrm>
              <a:off x="995521" y="4760326"/>
              <a:ext cx="2415520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GigaChat/YandexGPT</a:t>
              </a:r>
              <a:endParaRPr lang="en-US" sz="1600" dirty="0"/>
            </a:p>
          </p:txBody>
        </p:sp>
        <p:sp>
          <p:nvSpPr>
            <p:cNvPr id="175" name="Shape 30">
              <a:extLst>
                <a:ext uri="{FF2B5EF4-FFF2-40B4-BE49-F238E27FC236}">
                  <a16:creationId xmlns:a16="http://schemas.microsoft.com/office/drawing/2014/main" id="{C798BCD5-417D-4131-9F9D-28A11EB9EB9E}"/>
                </a:ext>
              </a:extLst>
            </p:cNvPr>
            <p:cNvSpPr/>
            <p:nvPr/>
          </p:nvSpPr>
          <p:spPr>
            <a:xfrm>
              <a:off x="5715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76" name="Text 31">
              <a:extLst>
                <a:ext uri="{FF2B5EF4-FFF2-40B4-BE49-F238E27FC236}">
                  <a16:creationId xmlns:a16="http://schemas.microsoft.com/office/drawing/2014/main" id="{F50367FF-1FE0-4509-A0F3-635EF0C72E28}"/>
                </a:ext>
              </a:extLst>
            </p:cNvPr>
            <p:cNvSpPr/>
            <p:nvPr/>
          </p:nvSpPr>
          <p:spPr>
            <a:xfrm>
              <a:off x="652463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Понимание запросов</a:t>
              </a:r>
              <a:endParaRPr lang="en-US" sz="1600" dirty="0"/>
            </a:p>
          </p:txBody>
        </p:sp>
      </p:grpSp>
      <p:grpSp>
        <p:nvGrpSpPr>
          <p:cNvPr id="177" name="Группа 176">
            <a:extLst>
              <a:ext uri="{FF2B5EF4-FFF2-40B4-BE49-F238E27FC236}">
                <a16:creationId xmlns:a16="http://schemas.microsoft.com/office/drawing/2014/main" id="{FB15B11D-50C6-4951-916A-00D531FDD7B5}"/>
              </a:ext>
            </a:extLst>
          </p:cNvPr>
          <p:cNvGrpSpPr/>
          <p:nvPr/>
        </p:nvGrpSpPr>
        <p:grpSpPr>
          <a:xfrm>
            <a:off x="4254500" y="-2628900"/>
            <a:ext cx="3686175" cy="2247900"/>
            <a:chOff x="4254500" y="3581400"/>
            <a:chExt cx="3686175" cy="2247900"/>
          </a:xfrm>
        </p:grpSpPr>
        <p:sp>
          <p:nvSpPr>
            <p:cNvPr id="178" name="Shape 32">
              <a:extLst>
                <a:ext uri="{FF2B5EF4-FFF2-40B4-BE49-F238E27FC236}">
                  <a16:creationId xmlns:a16="http://schemas.microsoft.com/office/drawing/2014/main" id="{8BB44E7C-9214-4B2D-8E52-65E469180BC3}"/>
                </a:ext>
              </a:extLst>
            </p:cNvPr>
            <p:cNvSpPr/>
            <p:nvPr/>
          </p:nvSpPr>
          <p:spPr>
            <a:xfrm>
              <a:off x="42545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79" name="Shape 33">
              <a:extLst>
                <a:ext uri="{FF2B5EF4-FFF2-40B4-BE49-F238E27FC236}">
                  <a16:creationId xmlns:a16="http://schemas.microsoft.com/office/drawing/2014/main" id="{A7695213-6B32-4662-8A56-F07DFE712F7C}"/>
                </a:ext>
              </a:extLst>
            </p:cNvPr>
            <p:cNvSpPr/>
            <p:nvPr/>
          </p:nvSpPr>
          <p:spPr>
            <a:xfrm>
              <a:off x="57912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0" name="Shape 34">
              <a:extLst>
                <a:ext uri="{FF2B5EF4-FFF2-40B4-BE49-F238E27FC236}">
                  <a16:creationId xmlns:a16="http://schemas.microsoft.com/office/drawing/2014/main" id="{DA677376-7915-4C81-8FA5-3403C8B923C5}"/>
                </a:ext>
              </a:extLst>
            </p:cNvPr>
            <p:cNvSpPr/>
            <p:nvPr/>
          </p:nvSpPr>
          <p:spPr>
            <a:xfrm>
              <a:off x="5995988" y="39624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200025" y="91886"/>
                  </a:moveTo>
                  <a:cubicBezTo>
                    <a:pt x="193417" y="96262"/>
                    <a:pt x="185827" y="99789"/>
                    <a:pt x="177924" y="102602"/>
                  </a:cubicBezTo>
                  <a:cubicBezTo>
                    <a:pt x="156939" y="110103"/>
                    <a:pt x="129391" y="114300"/>
                    <a:pt x="100013" y="114300"/>
                  </a:cubicBezTo>
                  <a:cubicBezTo>
                    <a:pt x="70634" y="114300"/>
                    <a:pt x="43041" y="110058"/>
                    <a:pt x="22101" y="102602"/>
                  </a:cubicBezTo>
                  <a:cubicBezTo>
                    <a:pt x="14243" y="99789"/>
                    <a:pt x="6608" y="96262"/>
                    <a:pt x="0" y="91886"/>
                  </a:cubicBezTo>
                  <a:lnTo>
                    <a:pt x="0" y="128588"/>
                  </a:lnTo>
                  <a:cubicBezTo>
                    <a:pt x="0" y="148322"/>
                    <a:pt x="44782" y="164306"/>
                    <a:pt x="100013" y="164306"/>
                  </a:cubicBezTo>
                  <a:cubicBezTo>
                    <a:pt x="155243" y="164306"/>
                    <a:pt x="200025" y="148322"/>
                    <a:pt x="200025" y="128588"/>
                  </a:cubicBezTo>
                  <a:lnTo>
                    <a:pt x="200025" y="91886"/>
                  </a:lnTo>
                  <a:close/>
                  <a:moveTo>
                    <a:pt x="200025" y="57150"/>
                  </a:moveTo>
                  <a:lnTo>
                    <a:pt x="200025" y="35719"/>
                  </a:lnTo>
                  <a:cubicBezTo>
                    <a:pt x="200025" y="15984"/>
                    <a:pt x="155243" y="0"/>
                    <a:pt x="100013" y="0"/>
                  </a:cubicBezTo>
                  <a:cubicBezTo>
                    <a:pt x="44782" y="0"/>
                    <a:pt x="0" y="15984"/>
                    <a:pt x="0" y="35719"/>
                  </a:cubicBezTo>
                  <a:lnTo>
                    <a:pt x="0" y="57150"/>
                  </a:lnTo>
                  <a:cubicBezTo>
                    <a:pt x="0" y="76885"/>
                    <a:pt x="44782" y="92869"/>
                    <a:pt x="100013" y="92869"/>
                  </a:cubicBezTo>
                  <a:cubicBezTo>
                    <a:pt x="155243" y="92869"/>
                    <a:pt x="200025" y="76885"/>
                    <a:pt x="200025" y="57150"/>
                  </a:cubicBezTo>
                  <a:close/>
                  <a:moveTo>
                    <a:pt x="177924" y="174040"/>
                  </a:moveTo>
                  <a:cubicBezTo>
                    <a:pt x="156984" y="181496"/>
                    <a:pt x="129436" y="185738"/>
                    <a:pt x="100013" y="185738"/>
                  </a:cubicBezTo>
                  <a:cubicBezTo>
                    <a:pt x="70589" y="185738"/>
                    <a:pt x="43041" y="181496"/>
                    <a:pt x="22101" y="174040"/>
                  </a:cubicBezTo>
                  <a:cubicBezTo>
                    <a:pt x="14243" y="171227"/>
                    <a:pt x="6608" y="167700"/>
                    <a:pt x="0" y="163324"/>
                  </a:cubicBezTo>
                  <a:lnTo>
                    <a:pt x="0" y="192881"/>
                  </a:lnTo>
                  <a:cubicBezTo>
                    <a:pt x="0" y="212616"/>
                    <a:pt x="44782" y="228600"/>
                    <a:pt x="100013" y="228600"/>
                  </a:cubicBezTo>
                  <a:cubicBezTo>
                    <a:pt x="155243" y="228600"/>
                    <a:pt x="200025" y="212616"/>
                    <a:pt x="200025" y="192881"/>
                  </a:cubicBezTo>
                  <a:lnTo>
                    <a:pt x="200025" y="163324"/>
                  </a:lnTo>
                  <a:cubicBezTo>
                    <a:pt x="193417" y="167700"/>
                    <a:pt x="185827" y="171227"/>
                    <a:pt x="177924" y="17404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81" name="Text 35">
              <a:extLst>
                <a:ext uri="{FF2B5EF4-FFF2-40B4-BE49-F238E27FC236}">
                  <a16:creationId xmlns:a16="http://schemas.microsoft.com/office/drawing/2014/main" id="{0472BB26-6C25-43D8-9E4C-BE3D677184FC}"/>
                </a:ext>
              </a:extLst>
            </p:cNvPr>
            <p:cNvSpPr/>
            <p:nvPr/>
          </p:nvSpPr>
          <p:spPr>
            <a:xfrm>
              <a:off x="5681300" y="4429125"/>
              <a:ext cx="82685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RAG</a:t>
              </a:r>
              <a:endParaRPr lang="en-US" sz="1600" dirty="0"/>
            </a:p>
          </p:txBody>
        </p:sp>
        <p:sp>
          <p:nvSpPr>
            <p:cNvPr id="182" name="Text 36">
              <a:extLst>
                <a:ext uri="{FF2B5EF4-FFF2-40B4-BE49-F238E27FC236}">
                  <a16:creationId xmlns:a16="http://schemas.microsoft.com/office/drawing/2014/main" id="{A67F8F9B-EA86-42D9-9BEB-D3E92B524B4E}"/>
                </a:ext>
              </a:extLst>
            </p:cNvPr>
            <p:cNvSpPr/>
            <p:nvPr/>
          </p:nvSpPr>
          <p:spPr>
            <a:xfrm>
              <a:off x="4823143" y="4760326"/>
              <a:ext cx="2544922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 по метаданным</a:t>
              </a:r>
              <a:endParaRPr lang="en-US" sz="1600" dirty="0"/>
            </a:p>
          </p:txBody>
        </p:sp>
        <p:sp>
          <p:nvSpPr>
            <p:cNvPr id="183" name="Shape 37">
              <a:extLst>
                <a:ext uri="{FF2B5EF4-FFF2-40B4-BE49-F238E27FC236}">
                  <a16:creationId xmlns:a16="http://schemas.microsoft.com/office/drawing/2014/main" id="{F8B60E2A-4838-4588-BBF7-BD20A04AF4AE}"/>
                </a:ext>
              </a:extLst>
            </p:cNvPr>
            <p:cNvSpPr/>
            <p:nvPr/>
          </p:nvSpPr>
          <p:spPr>
            <a:xfrm>
              <a:off x="44450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84" name="Text 38">
              <a:extLst>
                <a:ext uri="{FF2B5EF4-FFF2-40B4-BE49-F238E27FC236}">
                  <a16:creationId xmlns:a16="http://schemas.microsoft.com/office/drawing/2014/main" id="{5E1A58D4-351D-405D-9BEE-CF13AA6452D7}"/>
                </a:ext>
              </a:extLst>
            </p:cNvPr>
            <p:cNvSpPr/>
            <p:nvPr/>
          </p:nvSpPr>
          <p:spPr>
            <a:xfrm>
              <a:off x="4525963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Точные ответы</a:t>
              </a:r>
              <a:endParaRPr lang="en-US" sz="1600" dirty="0"/>
            </a:p>
          </p:txBody>
        </p:sp>
      </p:grpSp>
      <p:grpSp>
        <p:nvGrpSpPr>
          <p:cNvPr id="185" name="Группа 184">
            <a:extLst>
              <a:ext uri="{FF2B5EF4-FFF2-40B4-BE49-F238E27FC236}">
                <a16:creationId xmlns:a16="http://schemas.microsoft.com/office/drawing/2014/main" id="{9E310057-6F29-4E09-86BF-AB766C5A1235}"/>
              </a:ext>
            </a:extLst>
          </p:cNvPr>
          <p:cNvGrpSpPr/>
          <p:nvPr/>
        </p:nvGrpSpPr>
        <p:grpSpPr>
          <a:xfrm>
            <a:off x="13004800" y="3581400"/>
            <a:ext cx="3686175" cy="2247900"/>
            <a:chOff x="8128000" y="3581400"/>
            <a:chExt cx="3686175" cy="2247900"/>
          </a:xfrm>
        </p:grpSpPr>
        <p:sp>
          <p:nvSpPr>
            <p:cNvPr id="186" name="Shape 39">
              <a:extLst>
                <a:ext uri="{FF2B5EF4-FFF2-40B4-BE49-F238E27FC236}">
                  <a16:creationId xmlns:a16="http://schemas.microsoft.com/office/drawing/2014/main" id="{7AC856B9-9388-46AB-95AB-95FAE2329386}"/>
                </a:ext>
              </a:extLst>
            </p:cNvPr>
            <p:cNvSpPr/>
            <p:nvPr/>
          </p:nvSpPr>
          <p:spPr>
            <a:xfrm>
              <a:off x="81280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87" name="Shape 40">
              <a:extLst>
                <a:ext uri="{FF2B5EF4-FFF2-40B4-BE49-F238E27FC236}">
                  <a16:creationId xmlns:a16="http://schemas.microsoft.com/office/drawing/2014/main" id="{F700D53F-B017-469F-9643-72174B5EE68E}"/>
                </a:ext>
              </a:extLst>
            </p:cNvPr>
            <p:cNvSpPr/>
            <p:nvPr/>
          </p:nvSpPr>
          <p:spPr>
            <a:xfrm>
              <a:off x="96647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8" name="Shape 41">
              <a:extLst>
                <a:ext uri="{FF2B5EF4-FFF2-40B4-BE49-F238E27FC236}">
                  <a16:creationId xmlns:a16="http://schemas.microsoft.com/office/drawing/2014/main" id="{19FE3B83-C3D8-4A8C-808B-4B6EBF04F5C5}"/>
                </a:ext>
              </a:extLst>
            </p:cNvPr>
            <p:cNvSpPr/>
            <p:nvPr/>
          </p:nvSpPr>
          <p:spPr>
            <a:xfrm>
              <a:off x="9855200" y="3962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67241"/>
                  </a:moveTo>
                  <a:lnTo>
                    <a:pt x="181541" y="110103"/>
                  </a:lnTo>
                  <a:cubicBezTo>
                    <a:pt x="177433" y="114211"/>
                    <a:pt x="171316" y="115416"/>
                    <a:pt x="165958" y="113184"/>
                  </a:cubicBezTo>
                  <a:cubicBezTo>
                    <a:pt x="160600" y="110951"/>
                    <a:pt x="157163" y="105772"/>
                    <a:pt x="157163" y="100013"/>
                  </a:cubicBezTo>
                  <a:lnTo>
                    <a:pt x="157163" y="71438"/>
                  </a:lnTo>
                  <a:lnTo>
                    <a:pt x="14288" y="71438"/>
                  </a:lnTo>
                  <a:cubicBezTo>
                    <a:pt x="6385" y="71438"/>
                    <a:pt x="0" y="65053"/>
                    <a:pt x="0" y="57150"/>
                  </a:cubicBezTo>
                  <a:cubicBezTo>
                    <a:pt x="0" y="49247"/>
                    <a:pt x="6385" y="42863"/>
                    <a:pt x="14288" y="42863"/>
                  </a:cubicBezTo>
                  <a:lnTo>
                    <a:pt x="157163" y="42863"/>
                  </a:lnTo>
                  <a:lnTo>
                    <a:pt x="157163" y="14288"/>
                  </a:lnTo>
                  <a:cubicBezTo>
                    <a:pt x="157163" y="8528"/>
                    <a:pt x="160645" y="3304"/>
                    <a:pt x="166003" y="1072"/>
                  </a:cubicBezTo>
                  <a:cubicBezTo>
                    <a:pt x="171361" y="-1161"/>
                    <a:pt x="177478" y="89"/>
                    <a:pt x="181585" y="4152"/>
                  </a:cubicBezTo>
                  <a:lnTo>
                    <a:pt x="224448" y="47015"/>
                  </a:lnTo>
                  <a:cubicBezTo>
                    <a:pt x="230029" y="52596"/>
                    <a:pt x="230029" y="61659"/>
                    <a:pt x="224448" y="67241"/>
                  </a:cubicBezTo>
                  <a:close/>
                  <a:moveTo>
                    <a:pt x="47015" y="224403"/>
                  </a:moveTo>
                  <a:lnTo>
                    <a:pt x="4152" y="181541"/>
                  </a:lnTo>
                  <a:cubicBezTo>
                    <a:pt x="-1429" y="175959"/>
                    <a:pt x="-1429" y="166896"/>
                    <a:pt x="4152" y="161315"/>
                  </a:cubicBezTo>
                  <a:lnTo>
                    <a:pt x="47015" y="118452"/>
                  </a:lnTo>
                  <a:cubicBezTo>
                    <a:pt x="51122" y="114345"/>
                    <a:pt x="57239" y="113139"/>
                    <a:pt x="62597" y="115372"/>
                  </a:cubicBezTo>
                  <a:cubicBezTo>
                    <a:pt x="67955" y="117604"/>
                    <a:pt x="71438" y="122828"/>
                    <a:pt x="71438" y="128588"/>
                  </a:cubicBezTo>
                  <a:lnTo>
                    <a:pt x="71438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cubicBezTo>
                    <a:pt x="228600" y="179353"/>
                    <a:pt x="222215" y="185738"/>
                    <a:pt x="214313" y="185738"/>
                  </a:cubicBezTo>
                  <a:lnTo>
                    <a:pt x="71438" y="185738"/>
                  </a:lnTo>
                  <a:lnTo>
                    <a:pt x="71438" y="214313"/>
                  </a:lnTo>
                  <a:cubicBezTo>
                    <a:pt x="71438" y="220072"/>
                    <a:pt x="67955" y="225296"/>
                    <a:pt x="62597" y="227528"/>
                  </a:cubicBezTo>
                  <a:cubicBezTo>
                    <a:pt x="57239" y="229761"/>
                    <a:pt x="51122" y="228511"/>
                    <a:pt x="47015" y="22444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89" name="Text 42">
              <a:extLst>
                <a:ext uri="{FF2B5EF4-FFF2-40B4-BE49-F238E27FC236}">
                  <a16:creationId xmlns:a16="http://schemas.microsoft.com/office/drawing/2014/main" id="{444C1F4B-6135-4517-8A00-B784A682F30A}"/>
                </a:ext>
              </a:extLst>
            </p:cNvPr>
            <p:cNvSpPr/>
            <p:nvPr/>
          </p:nvSpPr>
          <p:spPr>
            <a:xfrm>
              <a:off x="9125645" y="4429125"/>
              <a:ext cx="188773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REST/JSON</a:t>
              </a:r>
              <a:endParaRPr lang="en-US" sz="1600" dirty="0"/>
            </a:p>
          </p:txBody>
        </p:sp>
        <p:sp>
          <p:nvSpPr>
            <p:cNvPr id="190" name="Text 43">
              <a:extLst>
                <a:ext uri="{FF2B5EF4-FFF2-40B4-BE49-F238E27FC236}">
                  <a16:creationId xmlns:a16="http://schemas.microsoft.com/office/drawing/2014/main" id="{606B6AD0-B1F8-4DD4-BA47-199BAEB1AB76}"/>
                </a:ext>
              </a:extLst>
            </p:cNvPr>
            <p:cNvSpPr/>
            <p:nvPr/>
          </p:nvSpPr>
          <p:spPr>
            <a:xfrm>
              <a:off x="9037319" y="4760326"/>
              <a:ext cx="2041689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Протокол обмена</a:t>
              </a:r>
              <a:endParaRPr lang="en-US" sz="1600" dirty="0"/>
            </a:p>
          </p:txBody>
        </p:sp>
        <p:sp>
          <p:nvSpPr>
            <p:cNvPr id="191" name="Shape 44">
              <a:extLst>
                <a:ext uri="{FF2B5EF4-FFF2-40B4-BE49-F238E27FC236}">
                  <a16:creationId xmlns:a16="http://schemas.microsoft.com/office/drawing/2014/main" id="{EE9BD0B3-4FC4-465F-A7F4-A128D432A5D0}"/>
                </a:ext>
              </a:extLst>
            </p:cNvPr>
            <p:cNvSpPr/>
            <p:nvPr/>
          </p:nvSpPr>
          <p:spPr>
            <a:xfrm>
              <a:off x="83185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92" name="Text 45">
              <a:extLst>
                <a:ext uri="{FF2B5EF4-FFF2-40B4-BE49-F238E27FC236}">
                  <a16:creationId xmlns:a16="http://schemas.microsoft.com/office/drawing/2014/main" id="{5A5ACE0C-68E7-4F4A-AFC9-9DE6A36F56A9}"/>
                </a:ext>
              </a:extLst>
            </p:cNvPr>
            <p:cNvSpPr/>
            <p:nvPr/>
          </p:nvSpPr>
          <p:spPr>
            <a:xfrm>
              <a:off x="8399462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Интеграция API</a:t>
              </a:r>
              <a:endParaRPr lang="en-US" sz="1600" dirty="0"/>
            </a:p>
          </p:txBody>
        </p:sp>
      </p:grpSp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11CCC672-58D7-46B9-A068-31B53C18D3F1}"/>
              </a:ext>
            </a:extLst>
          </p:cNvPr>
          <p:cNvGrpSpPr/>
          <p:nvPr/>
        </p:nvGrpSpPr>
        <p:grpSpPr>
          <a:xfrm>
            <a:off x="18307050" y="6019800"/>
            <a:ext cx="11430000" cy="685800"/>
            <a:chOff x="381000" y="6019800"/>
            <a:chExt cx="11430000" cy="685800"/>
          </a:xfrm>
        </p:grpSpPr>
        <p:sp>
          <p:nvSpPr>
            <p:cNvPr id="194" name="Shape 46">
              <a:extLst>
                <a:ext uri="{FF2B5EF4-FFF2-40B4-BE49-F238E27FC236}">
                  <a16:creationId xmlns:a16="http://schemas.microsoft.com/office/drawing/2014/main" id="{2749ED6C-B520-4D60-89FA-04FF1B14528E}"/>
                </a:ext>
              </a:extLst>
            </p:cNvPr>
            <p:cNvSpPr/>
            <p:nvPr/>
          </p:nvSpPr>
          <p:spPr>
            <a:xfrm>
              <a:off x="381000" y="6019800"/>
              <a:ext cx="11430000" cy="685800"/>
            </a:xfrm>
            <a:custGeom>
              <a:avLst/>
              <a:gdLst/>
              <a:ahLst/>
              <a:cxnLst/>
              <a:rect l="l" t="t" r="r" b="b"/>
              <a:pathLst>
                <a:path w="11430000" h="685800">
                  <a:moveTo>
                    <a:pt x="152398" y="0"/>
                  </a:moveTo>
                  <a:lnTo>
                    <a:pt x="11277602" y="0"/>
                  </a:lnTo>
                  <a:cubicBezTo>
                    <a:pt x="11361769" y="0"/>
                    <a:pt x="11430000" y="68231"/>
                    <a:pt x="11430000" y="152398"/>
                  </a:cubicBezTo>
                  <a:lnTo>
                    <a:pt x="11430000" y="533402"/>
                  </a:lnTo>
                  <a:cubicBezTo>
                    <a:pt x="11430000" y="617569"/>
                    <a:pt x="11361769" y="685800"/>
                    <a:pt x="11277602" y="685800"/>
                  </a:cubicBezTo>
                  <a:lnTo>
                    <a:pt x="152398" y="685800"/>
                  </a:lnTo>
                  <a:cubicBezTo>
                    <a:pt x="68287" y="685800"/>
                    <a:pt x="0" y="617513"/>
                    <a:pt x="0" y="533402"/>
                  </a:cubicBezTo>
                  <a:lnTo>
                    <a:pt x="0" y="152398"/>
                  </a:lnTo>
                  <a:cubicBezTo>
                    <a:pt x="0" y="68287"/>
                    <a:pt x="68287" y="0"/>
                    <a:pt x="1523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5" name="Shape 47">
              <a:extLst>
                <a:ext uri="{FF2B5EF4-FFF2-40B4-BE49-F238E27FC236}">
                  <a16:creationId xmlns:a16="http://schemas.microsoft.com/office/drawing/2014/main" id="{B2FA3E89-4013-49CF-B804-7D8B5AB75B38}"/>
                </a:ext>
              </a:extLst>
            </p:cNvPr>
            <p:cNvSpPr/>
            <p:nvPr/>
          </p:nvSpPr>
          <p:spPr>
            <a:xfrm>
              <a:off x="1967639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96" name="Text 48">
              <a:extLst>
                <a:ext uri="{FF2B5EF4-FFF2-40B4-BE49-F238E27FC236}">
                  <a16:creationId xmlns:a16="http://schemas.microsoft.com/office/drawing/2014/main" id="{8153286C-33B8-4DB3-BABE-4E8D8D01F61B}"/>
                </a:ext>
              </a:extLst>
            </p:cNvPr>
            <p:cNvSpPr/>
            <p:nvPr/>
          </p:nvSpPr>
          <p:spPr>
            <a:xfrm>
              <a:off x="2516912" y="6184899"/>
              <a:ext cx="2590800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Современный стек</a:t>
              </a:r>
              <a:endParaRPr lang="en-US" sz="2400" dirty="0"/>
            </a:p>
          </p:txBody>
        </p:sp>
        <p:sp>
          <p:nvSpPr>
            <p:cNvPr id="197" name="Shape 49">
              <a:extLst>
                <a:ext uri="{FF2B5EF4-FFF2-40B4-BE49-F238E27FC236}">
                  <a16:creationId xmlns:a16="http://schemas.microsoft.com/office/drawing/2014/main" id="{76BFFFD5-6AE5-44C3-AE3D-5D82ED465520}"/>
                </a:ext>
              </a:extLst>
            </p:cNvPr>
            <p:cNvSpPr/>
            <p:nvPr/>
          </p:nvSpPr>
          <p:spPr>
            <a:xfrm>
              <a:off x="4702175" y="6223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9525" y="0"/>
                  </a:lnTo>
                  <a:lnTo>
                    <a:pt x="9525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98" name="Shape 50">
              <a:extLst>
                <a:ext uri="{FF2B5EF4-FFF2-40B4-BE49-F238E27FC236}">
                  <a16:creationId xmlns:a16="http://schemas.microsoft.com/office/drawing/2014/main" id="{C9F9E3D0-CAF6-4FA3-9775-710B6E9B049D}"/>
                </a:ext>
              </a:extLst>
            </p:cNvPr>
            <p:cNvSpPr/>
            <p:nvPr/>
          </p:nvSpPr>
          <p:spPr>
            <a:xfrm>
              <a:off x="4857651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99" name="Text 51">
              <a:extLst>
                <a:ext uri="{FF2B5EF4-FFF2-40B4-BE49-F238E27FC236}">
                  <a16:creationId xmlns:a16="http://schemas.microsoft.com/office/drawing/2014/main" id="{530E9C6E-625F-47DC-A3B8-DD0EF0C382BA}"/>
                </a:ext>
              </a:extLst>
            </p:cNvPr>
            <p:cNvSpPr/>
            <p:nvPr/>
          </p:nvSpPr>
          <p:spPr>
            <a:xfrm>
              <a:off x="5406924" y="6184899"/>
              <a:ext cx="2691553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Масштабируемость</a:t>
              </a:r>
              <a:endParaRPr lang="en-US" sz="2400" dirty="0"/>
            </a:p>
          </p:txBody>
        </p:sp>
        <p:sp>
          <p:nvSpPr>
            <p:cNvPr id="200" name="Shape 52">
              <a:extLst>
                <a:ext uri="{FF2B5EF4-FFF2-40B4-BE49-F238E27FC236}">
                  <a16:creationId xmlns:a16="http://schemas.microsoft.com/office/drawing/2014/main" id="{50A5D272-6AD0-48DE-A316-FF7CD2697075}"/>
                </a:ext>
              </a:extLst>
            </p:cNvPr>
            <p:cNvSpPr/>
            <p:nvPr/>
          </p:nvSpPr>
          <p:spPr>
            <a:xfrm>
              <a:off x="7731261" y="6223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9525" y="0"/>
                  </a:lnTo>
                  <a:lnTo>
                    <a:pt x="9525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01" name="Shape 53">
              <a:extLst>
                <a:ext uri="{FF2B5EF4-FFF2-40B4-BE49-F238E27FC236}">
                  <a16:creationId xmlns:a16="http://schemas.microsoft.com/office/drawing/2014/main" id="{9BE3DC96-7EC2-495D-85A1-5129FE750916}"/>
                </a:ext>
              </a:extLst>
            </p:cNvPr>
            <p:cNvSpPr/>
            <p:nvPr/>
          </p:nvSpPr>
          <p:spPr>
            <a:xfrm>
              <a:off x="7896362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02" name="Text 54">
              <a:extLst>
                <a:ext uri="{FF2B5EF4-FFF2-40B4-BE49-F238E27FC236}">
                  <a16:creationId xmlns:a16="http://schemas.microsoft.com/office/drawing/2014/main" id="{909F6387-0CD7-4A78-9D52-926B8A29B7DC}"/>
                </a:ext>
              </a:extLst>
            </p:cNvPr>
            <p:cNvSpPr/>
            <p:nvPr/>
          </p:nvSpPr>
          <p:spPr>
            <a:xfrm>
              <a:off x="8445636" y="6184899"/>
              <a:ext cx="1727200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Надежность</a:t>
              </a:r>
              <a:endParaRPr lang="en-US" sz="24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Группа 133">
            <a:extLst>
              <a:ext uri="{FF2B5EF4-FFF2-40B4-BE49-F238E27FC236}">
                <a16:creationId xmlns:a16="http://schemas.microsoft.com/office/drawing/2014/main" id="{C7636A9B-C8AF-4A39-AEEC-7079C6A046A3}"/>
              </a:ext>
            </a:extLst>
          </p:cNvPr>
          <p:cNvGrpSpPr/>
          <p:nvPr/>
        </p:nvGrpSpPr>
        <p:grpSpPr>
          <a:xfrm>
            <a:off x="-6000750" y="400050"/>
            <a:ext cx="5600700" cy="533800"/>
            <a:chOff x="381000" y="381000"/>
            <a:chExt cx="5600700" cy="533800"/>
          </a:xfrm>
        </p:grpSpPr>
        <p:sp>
          <p:nvSpPr>
            <p:cNvPr id="135" name="Shape 0">
              <a:extLst>
                <a:ext uri="{FF2B5EF4-FFF2-40B4-BE49-F238E27FC236}">
                  <a16:creationId xmlns:a16="http://schemas.microsoft.com/office/drawing/2014/main" id="{FDBCC05E-E2C6-4977-865B-C30BD52AFD0A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6" name="Shape 1">
              <a:extLst>
                <a:ext uri="{FF2B5EF4-FFF2-40B4-BE49-F238E27FC236}">
                  <a16:creationId xmlns:a16="http://schemas.microsoft.com/office/drawing/2014/main" id="{5BF79DAA-6BF1-4319-8A3C-5AF41650A983}"/>
                </a:ext>
              </a:extLst>
            </p:cNvPr>
            <p:cNvSpPr/>
            <p:nvPr/>
          </p:nvSpPr>
          <p:spPr>
            <a:xfrm>
              <a:off x="561975" y="5334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39035" y="14288"/>
                  </a:moveTo>
                  <a:lnTo>
                    <a:pt x="142875" y="14288"/>
                  </a:lnTo>
                  <a:cubicBezTo>
                    <a:pt x="158636" y="14288"/>
                    <a:pt x="171450" y="27102"/>
                    <a:pt x="171450" y="42863"/>
                  </a:cubicBezTo>
                  <a:lnTo>
                    <a:pt x="171450" y="200025"/>
                  </a:lnTo>
                  <a:cubicBezTo>
                    <a:pt x="171450" y="215786"/>
                    <a:pt x="158636" y="228600"/>
                    <a:pt x="14287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42863"/>
                  </a:lnTo>
                  <a:cubicBezTo>
                    <a:pt x="0" y="27102"/>
                    <a:pt x="12814" y="14288"/>
                    <a:pt x="28575" y="14288"/>
                  </a:cubicBezTo>
                  <a:lnTo>
                    <a:pt x="32415" y="14288"/>
                  </a:lnTo>
                  <a:cubicBezTo>
                    <a:pt x="37326" y="5760"/>
                    <a:pt x="46568" y="0"/>
                    <a:pt x="57150" y="0"/>
                  </a:cubicBezTo>
                  <a:lnTo>
                    <a:pt x="114300" y="0"/>
                  </a:lnTo>
                  <a:cubicBezTo>
                    <a:pt x="124882" y="0"/>
                    <a:pt x="134124" y="5760"/>
                    <a:pt x="139035" y="14288"/>
                  </a:cubicBezTo>
                  <a:close/>
                  <a:moveTo>
                    <a:pt x="110728" y="50006"/>
                  </a:moveTo>
                  <a:cubicBezTo>
                    <a:pt x="116666" y="50006"/>
                    <a:pt x="121444" y="45229"/>
                    <a:pt x="121444" y="39291"/>
                  </a:cubicBezTo>
                  <a:cubicBezTo>
                    <a:pt x="121444" y="33352"/>
                    <a:pt x="116666" y="28575"/>
                    <a:pt x="110728" y="28575"/>
                  </a:cubicBezTo>
                  <a:lnTo>
                    <a:pt x="60722" y="28575"/>
                  </a:lnTo>
                  <a:cubicBezTo>
                    <a:pt x="54784" y="28575"/>
                    <a:pt x="50006" y="33352"/>
                    <a:pt x="50006" y="39291"/>
                  </a:cubicBezTo>
                  <a:cubicBezTo>
                    <a:pt x="50006" y="45229"/>
                    <a:pt x="54784" y="50006"/>
                    <a:pt x="60722" y="50006"/>
                  </a:cubicBezTo>
                  <a:lnTo>
                    <a:pt x="110728" y="50006"/>
                  </a:lnTo>
                  <a:close/>
                  <a:moveTo>
                    <a:pt x="57150" y="114300"/>
                  </a:moveTo>
                  <a:cubicBezTo>
                    <a:pt x="57150" y="106415"/>
                    <a:pt x="50748" y="100013"/>
                    <a:pt x="42863" y="100013"/>
                  </a:cubicBezTo>
                  <a:cubicBezTo>
                    <a:pt x="34977" y="100013"/>
                    <a:pt x="28575" y="106415"/>
                    <a:pt x="28575" y="114300"/>
                  </a:cubicBezTo>
                  <a:cubicBezTo>
                    <a:pt x="28575" y="122185"/>
                    <a:pt x="34977" y="128588"/>
                    <a:pt x="42863" y="128588"/>
                  </a:cubicBezTo>
                  <a:cubicBezTo>
                    <a:pt x="50748" y="128588"/>
                    <a:pt x="57150" y="122185"/>
                    <a:pt x="57150" y="114300"/>
                  </a:cubicBezTo>
                  <a:close/>
                  <a:moveTo>
                    <a:pt x="71438" y="114300"/>
                  </a:moveTo>
                  <a:cubicBezTo>
                    <a:pt x="71438" y="120238"/>
                    <a:pt x="76215" y="125016"/>
                    <a:pt x="82153" y="125016"/>
                  </a:cubicBezTo>
                  <a:lnTo>
                    <a:pt x="132159" y="125016"/>
                  </a:lnTo>
                  <a:cubicBezTo>
                    <a:pt x="138098" y="125016"/>
                    <a:pt x="142875" y="120238"/>
                    <a:pt x="142875" y="114300"/>
                  </a:cubicBezTo>
                  <a:cubicBezTo>
                    <a:pt x="142875" y="108362"/>
                    <a:pt x="138098" y="103584"/>
                    <a:pt x="132159" y="103584"/>
                  </a:cubicBezTo>
                  <a:lnTo>
                    <a:pt x="82153" y="103584"/>
                  </a:lnTo>
                  <a:cubicBezTo>
                    <a:pt x="76215" y="103584"/>
                    <a:pt x="71438" y="108362"/>
                    <a:pt x="71438" y="114300"/>
                  </a:cubicBezTo>
                  <a:close/>
                  <a:moveTo>
                    <a:pt x="71438" y="171450"/>
                  </a:moveTo>
                  <a:cubicBezTo>
                    <a:pt x="71438" y="177388"/>
                    <a:pt x="76215" y="182166"/>
                    <a:pt x="82153" y="182166"/>
                  </a:cubicBezTo>
                  <a:lnTo>
                    <a:pt x="132159" y="182166"/>
                  </a:lnTo>
                  <a:cubicBezTo>
                    <a:pt x="138098" y="182166"/>
                    <a:pt x="142875" y="177388"/>
                    <a:pt x="142875" y="171450"/>
                  </a:cubicBezTo>
                  <a:cubicBezTo>
                    <a:pt x="142875" y="165512"/>
                    <a:pt x="138098" y="160734"/>
                    <a:pt x="132159" y="160734"/>
                  </a:cubicBezTo>
                  <a:lnTo>
                    <a:pt x="82153" y="160734"/>
                  </a:lnTo>
                  <a:cubicBezTo>
                    <a:pt x="76215" y="160734"/>
                    <a:pt x="71438" y="165512"/>
                    <a:pt x="71438" y="171450"/>
                  </a:cubicBezTo>
                  <a:close/>
                  <a:moveTo>
                    <a:pt x="42863" y="185738"/>
                  </a:moveTo>
                  <a:cubicBezTo>
                    <a:pt x="50748" y="185738"/>
                    <a:pt x="57150" y="179335"/>
                    <a:pt x="57150" y="171450"/>
                  </a:cubicBezTo>
                  <a:cubicBezTo>
                    <a:pt x="57150" y="163565"/>
                    <a:pt x="50748" y="157163"/>
                    <a:pt x="42863" y="157163"/>
                  </a:cubicBezTo>
                  <a:cubicBezTo>
                    <a:pt x="34977" y="157163"/>
                    <a:pt x="28575" y="163565"/>
                    <a:pt x="28575" y="171450"/>
                  </a:cubicBezTo>
                  <a:cubicBezTo>
                    <a:pt x="28575" y="179335"/>
                    <a:pt x="34977" y="185738"/>
                    <a:pt x="42863" y="18573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37" name="Text 2">
              <a:extLst>
                <a:ext uri="{FF2B5EF4-FFF2-40B4-BE49-F238E27FC236}">
                  <a16:creationId xmlns:a16="http://schemas.microsoft.com/office/drawing/2014/main" id="{BBCDAB8F-A2E1-4DB5-8456-49D9BCAE3027}"/>
                </a:ext>
              </a:extLst>
            </p:cNvPr>
            <p:cNvSpPr/>
            <p:nvPr/>
          </p:nvSpPr>
          <p:spPr>
            <a:xfrm>
              <a:off x="1066800" y="400050"/>
              <a:ext cx="49149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Требования к системе</a:t>
              </a:r>
              <a:endParaRPr lang="en-US" sz="2000" dirty="0"/>
            </a:p>
          </p:txBody>
        </p:sp>
        <p:sp>
          <p:nvSpPr>
            <p:cNvPr id="138" name="Shape 3">
              <a:extLst>
                <a:ext uri="{FF2B5EF4-FFF2-40B4-BE49-F238E27FC236}">
                  <a16:creationId xmlns:a16="http://schemas.microsoft.com/office/drawing/2014/main" id="{0E5763A6-AD38-4A1B-ADDE-21837270CB91}"/>
                </a:ext>
              </a:extLst>
            </p:cNvPr>
            <p:cNvSpPr/>
            <p:nvPr/>
          </p:nvSpPr>
          <p:spPr>
            <a:xfrm flipV="1">
              <a:off x="719137" y="857650"/>
              <a:ext cx="4786513" cy="57150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DBA0535F-B486-4013-8E6B-891DFF461421}"/>
              </a:ext>
            </a:extLst>
          </p:cNvPr>
          <p:cNvGrpSpPr/>
          <p:nvPr/>
        </p:nvGrpSpPr>
        <p:grpSpPr>
          <a:xfrm>
            <a:off x="400050" y="13582650"/>
            <a:ext cx="5600700" cy="5334000"/>
            <a:chOff x="381000" y="1143000"/>
            <a:chExt cx="5600700" cy="5334000"/>
          </a:xfrm>
        </p:grpSpPr>
        <p:sp>
          <p:nvSpPr>
            <p:cNvPr id="140" name="Shape 4">
              <a:extLst>
                <a:ext uri="{FF2B5EF4-FFF2-40B4-BE49-F238E27FC236}">
                  <a16:creationId xmlns:a16="http://schemas.microsoft.com/office/drawing/2014/main" id="{D1FBBE55-BF52-4F46-BFFA-77AE35B88FA4}"/>
                </a:ext>
              </a:extLst>
            </p:cNvPr>
            <p:cNvSpPr/>
            <p:nvPr/>
          </p:nvSpPr>
          <p:spPr>
            <a:xfrm>
              <a:off x="381000" y="1143000"/>
              <a:ext cx="5600700" cy="5334000"/>
            </a:xfrm>
            <a:custGeom>
              <a:avLst/>
              <a:gdLst/>
              <a:ahLst/>
              <a:cxnLst/>
              <a:rect l="l" t="t" r="r" b="b"/>
              <a:pathLst>
                <a:path w="5600700" h="5334000">
                  <a:moveTo>
                    <a:pt x="152392" y="0"/>
                  </a:moveTo>
                  <a:lnTo>
                    <a:pt x="5448308" y="0"/>
                  </a:lnTo>
                  <a:cubicBezTo>
                    <a:pt x="5532472" y="0"/>
                    <a:pt x="5600700" y="68228"/>
                    <a:pt x="5600700" y="152392"/>
                  </a:cubicBezTo>
                  <a:lnTo>
                    <a:pt x="5600700" y="5181608"/>
                  </a:lnTo>
                  <a:cubicBezTo>
                    <a:pt x="5600700" y="5265772"/>
                    <a:pt x="5532472" y="5334000"/>
                    <a:pt x="5448308" y="5334000"/>
                  </a:cubicBezTo>
                  <a:lnTo>
                    <a:pt x="152392" y="5334000"/>
                  </a:lnTo>
                  <a:cubicBezTo>
                    <a:pt x="68228" y="5334000"/>
                    <a:pt x="0" y="5265772"/>
                    <a:pt x="0" y="5181608"/>
                  </a:cubicBezTo>
                  <a:lnTo>
                    <a:pt x="0" y="152392"/>
                  </a:lnTo>
                  <a:cubicBezTo>
                    <a:pt x="0" y="68285"/>
                    <a:pt x="68285" y="0"/>
                    <a:pt x="1523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1" name="Shape 5">
              <a:extLst>
                <a:ext uri="{FF2B5EF4-FFF2-40B4-BE49-F238E27FC236}">
                  <a16:creationId xmlns:a16="http://schemas.microsoft.com/office/drawing/2014/main" id="{279307AC-04F7-4394-A707-14B9B54503D7}"/>
                </a:ext>
              </a:extLst>
            </p:cNvPr>
            <p:cNvSpPr/>
            <p:nvPr/>
          </p:nvSpPr>
          <p:spPr>
            <a:xfrm>
              <a:off x="6096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2" name="Shape 6">
              <a:extLst>
                <a:ext uri="{FF2B5EF4-FFF2-40B4-BE49-F238E27FC236}">
                  <a16:creationId xmlns:a16="http://schemas.microsoft.com/office/drawing/2014/main" id="{74BBE587-EF6B-47C7-B3F9-30BE1DA0E80A}"/>
                </a:ext>
              </a:extLst>
            </p:cNvPr>
            <p:cNvSpPr/>
            <p:nvPr/>
          </p:nvSpPr>
          <p:spPr>
            <a:xfrm>
              <a:off x="719138" y="1504950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54744" y="78321"/>
                  </a:moveTo>
                  <a:cubicBezTo>
                    <a:pt x="159283" y="77093"/>
                    <a:pt x="164046" y="79251"/>
                    <a:pt x="166092" y="83455"/>
                  </a:cubicBezTo>
                  <a:lnTo>
                    <a:pt x="173013" y="97445"/>
                  </a:lnTo>
                  <a:cubicBezTo>
                    <a:pt x="176845" y="97966"/>
                    <a:pt x="180603" y="99008"/>
                    <a:pt x="184138" y="100459"/>
                  </a:cubicBezTo>
                  <a:lnTo>
                    <a:pt x="197160" y="91790"/>
                  </a:lnTo>
                  <a:cubicBezTo>
                    <a:pt x="201067" y="89185"/>
                    <a:pt x="206239" y="89706"/>
                    <a:pt x="209550" y="93018"/>
                  </a:cubicBezTo>
                  <a:lnTo>
                    <a:pt x="216694" y="100161"/>
                  </a:lnTo>
                  <a:cubicBezTo>
                    <a:pt x="220005" y="103473"/>
                    <a:pt x="220526" y="108682"/>
                    <a:pt x="217922" y="112551"/>
                  </a:cubicBezTo>
                  <a:lnTo>
                    <a:pt x="209252" y="125537"/>
                  </a:lnTo>
                  <a:cubicBezTo>
                    <a:pt x="209959" y="127285"/>
                    <a:pt x="210592" y="129108"/>
                    <a:pt x="211113" y="131006"/>
                  </a:cubicBezTo>
                  <a:cubicBezTo>
                    <a:pt x="211634" y="132904"/>
                    <a:pt x="211968" y="134764"/>
                    <a:pt x="212229" y="136661"/>
                  </a:cubicBezTo>
                  <a:lnTo>
                    <a:pt x="226256" y="143582"/>
                  </a:lnTo>
                  <a:cubicBezTo>
                    <a:pt x="230460" y="145666"/>
                    <a:pt x="232618" y="150428"/>
                    <a:pt x="231391" y="154930"/>
                  </a:cubicBezTo>
                  <a:lnTo>
                    <a:pt x="228786" y="164678"/>
                  </a:lnTo>
                  <a:cubicBezTo>
                    <a:pt x="227558" y="169180"/>
                    <a:pt x="223354" y="172231"/>
                    <a:pt x="218666" y="171934"/>
                  </a:cubicBezTo>
                  <a:lnTo>
                    <a:pt x="203039" y="170929"/>
                  </a:lnTo>
                  <a:cubicBezTo>
                    <a:pt x="200695" y="173943"/>
                    <a:pt x="197979" y="176733"/>
                    <a:pt x="194890" y="179115"/>
                  </a:cubicBezTo>
                  <a:lnTo>
                    <a:pt x="195895" y="194704"/>
                  </a:lnTo>
                  <a:cubicBezTo>
                    <a:pt x="196193" y="199392"/>
                    <a:pt x="193142" y="203634"/>
                    <a:pt x="188640" y="204825"/>
                  </a:cubicBezTo>
                  <a:lnTo>
                    <a:pt x="178891" y="207429"/>
                  </a:lnTo>
                  <a:cubicBezTo>
                    <a:pt x="174352" y="208657"/>
                    <a:pt x="169627" y="206499"/>
                    <a:pt x="167543" y="202295"/>
                  </a:cubicBezTo>
                  <a:lnTo>
                    <a:pt x="160623" y="188305"/>
                  </a:lnTo>
                  <a:cubicBezTo>
                    <a:pt x="156790" y="187784"/>
                    <a:pt x="153033" y="186742"/>
                    <a:pt x="149498" y="185291"/>
                  </a:cubicBezTo>
                  <a:lnTo>
                    <a:pt x="136475" y="193960"/>
                  </a:lnTo>
                  <a:cubicBezTo>
                    <a:pt x="132569" y="196565"/>
                    <a:pt x="127397" y="196044"/>
                    <a:pt x="124085" y="192732"/>
                  </a:cubicBezTo>
                  <a:lnTo>
                    <a:pt x="116942" y="185589"/>
                  </a:lnTo>
                  <a:cubicBezTo>
                    <a:pt x="113630" y="182277"/>
                    <a:pt x="113109" y="177105"/>
                    <a:pt x="115714" y="173199"/>
                  </a:cubicBezTo>
                  <a:lnTo>
                    <a:pt x="124383" y="160176"/>
                  </a:lnTo>
                  <a:cubicBezTo>
                    <a:pt x="123676" y="158428"/>
                    <a:pt x="123044" y="156604"/>
                    <a:pt x="122523" y="154707"/>
                  </a:cubicBezTo>
                  <a:cubicBezTo>
                    <a:pt x="122002" y="152809"/>
                    <a:pt x="121667" y="150912"/>
                    <a:pt x="121407" y="149051"/>
                  </a:cubicBezTo>
                  <a:lnTo>
                    <a:pt x="107379" y="142131"/>
                  </a:lnTo>
                  <a:cubicBezTo>
                    <a:pt x="103175" y="140047"/>
                    <a:pt x="101054" y="135285"/>
                    <a:pt x="102245" y="130783"/>
                  </a:cubicBezTo>
                  <a:lnTo>
                    <a:pt x="104849" y="121034"/>
                  </a:lnTo>
                  <a:cubicBezTo>
                    <a:pt x="106077" y="116532"/>
                    <a:pt x="110282" y="113481"/>
                    <a:pt x="114970" y="113779"/>
                  </a:cubicBezTo>
                  <a:lnTo>
                    <a:pt x="130559" y="114784"/>
                  </a:lnTo>
                  <a:cubicBezTo>
                    <a:pt x="132904" y="111770"/>
                    <a:pt x="135620" y="108979"/>
                    <a:pt x="138708" y="106598"/>
                  </a:cubicBezTo>
                  <a:lnTo>
                    <a:pt x="137703" y="91046"/>
                  </a:lnTo>
                  <a:cubicBezTo>
                    <a:pt x="137406" y="86358"/>
                    <a:pt x="140457" y="82116"/>
                    <a:pt x="144959" y="80925"/>
                  </a:cubicBezTo>
                  <a:lnTo>
                    <a:pt x="154707" y="78321"/>
                  </a:lnTo>
                  <a:close/>
                  <a:moveTo>
                    <a:pt x="166836" y="126504"/>
                  </a:moveTo>
                  <a:cubicBezTo>
                    <a:pt x="157801" y="126514"/>
                    <a:pt x="150474" y="133858"/>
                    <a:pt x="150484" y="142894"/>
                  </a:cubicBezTo>
                  <a:cubicBezTo>
                    <a:pt x="150494" y="151929"/>
                    <a:pt x="157838" y="159256"/>
                    <a:pt x="166874" y="159246"/>
                  </a:cubicBezTo>
                  <a:cubicBezTo>
                    <a:pt x="175909" y="159236"/>
                    <a:pt x="183236" y="151892"/>
                    <a:pt x="183226" y="142856"/>
                  </a:cubicBezTo>
                  <a:cubicBezTo>
                    <a:pt x="183216" y="133821"/>
                    <a:pt x="175872" y="126494"/>
                    <a:pt x="166836" y="126504"/>
                  </a:cubicBezTo>
                  <a:close/>
                  <a:moveTo>
                    <a:pt x="83679" y="-16929"/>
                  </a:moveTo>
                  <a:lnTo>
                    <a:pt x="93427" y="-14325"/>
                  </a:lnTo>
                  <a:cubicBezTo>
                    <a:pt x="97929" y="-13097"/>
                    <a:pt x="100980" y="-8855"/>
                    <a:pt x="100682" y="-4204"/>
                  </a:cubicBezTo>
                  <a:lnTo>
                    <a:pt x="99678" y="11348"/>
                  </a:lnTo>
                  <a:cubicBezTo>
                    <a:pt x="102766" y="13729"/>
                    <a:pt x="105482" y="16483"/>
                    <a:pt x="107826" y="19534"/>
                  </a:cubicBezTo>
                  <a:lnTo>
                    <a:pt x="123453" y="18529"/>
                  </a:lnTo>
                  <a:cubicBezTo>
                    <a:pt x="128104" y="18231"/>
                    <a:pt x="132345" y="21282"/>
                    <a:pt x="133573" y="25784"/>
                  </a:cubicBezTo>
                  <a:lnTo>
                    <a:pt x="136178" y="35533"/>
                  </a:lnTo>
                  <a:cubicBezTo>
                    <a:pt x="137368" y="40035"/>
                    <a:pt x="135248" y="44797"/>
                    <a:pt x="131043" y="46881"/>
                  </a:cubicBezTo>
                  <a:lnTo>
                    <a:pt x="117016" y="53801"/>
                  </a:lnTo>
                  <a:cubicBezTo>
                    <a:pt x="116756" y="55699"/>
                    <a:pt x="116384" y="57596"/>
                    <a:pt x="115900" y="59457"/>
                  </a:cubicBezTo>
                  <a:cubicBezTo>
                    <a:pt x="115416" y="61317"/>
                    <a:pt x="114746" y="63178"/>
                    <a:pt x="114040" y="64926"/>
                  </a:cubicBezTo>
                  <a:lnTo>
                    <a:pt x="122709" y="77949"/>
                  </a:lnTo>
                  <a:cubicBezTo>
                    <a:pt x="125313" y="81855"/>
                    <a:pt x="124792" y="87027"/>
                    <a:pt x="121481" y="90339"/>
                  </a:cubicBezTo>
                  <a:lnTo>
                    <a:pt x="114337" y="97482"/>
                  </a:lnTo>
                  <a:cubicBezTo>
                    <a:pt x="111026" y="100794"/>
                    <a:pt x="105854" y="101315"/>
                    <a:pt x="101947" y="98710"/>
                  </a:cubicBezTo>
                  <a:lnTo>
                    <a:pt x="88925" y="90041"/>
                  </a:lnTo>
                  <a:cubicBezTo>
                    <a:pt x="85390" y="91492"/>
                    <a:pt x="81632" y="92534"/>
                    <a:pt x="77800" y="93055"/>
                  </a:cubicBezTo>
                  <a:lnTo>
                    <a:pt x="70879" y="107045"/>
                  </a:lnTo>
                  <a:cubicBezTo>
                    <a:pt x="68796" y="111249"/>
                    <a:pt x="64033" y="113370"/>
                    <a:pt x="59531" y="112179"/>
                  </a:cubicBezTo>
                  <a:lnTo>
                    <a:pt x="49783" y="109575"/>
                  </a:lnTo>
                  <a:cubicBezTo>
                    <a:pt x="45244" y="108347"/>
                    <a:pt x="42230" y="104105"/>
                    <a:pt x="42528" y="99454"/>
                  </a:cubicBezTo>
                  <a:lnTo>
                    <a:pt x="43532" y="83865"/>
                  </a:lnTo>
                  <a:cubicBezTo>
                    <a:pt x="40444" y="81483"/>
                    <a:pt x="37728" y="78730"/>
                    <a:pt x="35384" y="75679"/>
                  </a:cubicBezTo>
                  <a:lnTo>
                    <a:pt x="19757" y="76684"/>
                  </a:lnTo>
                  <a:cubicBezTo>
                    <a:pt x="15106" y="76981"/>
                    <a:pt x="10864" y="73930"/>
                    <a:pt x="9637" y="69428"/>
                  </a:cubicBezTo>
                  <a:lnTo>
                    <a:pt x="7032" y="59680"/>
                  </a:lnTo>
                  <a:cubicBezTo>
                    <a:pt x="5842" y="55178"/>
                    <a:pt x="7962" y="50416"/>
                    <a:pt x="12167" y="48332"/>
                  </a:cubicBezTo>
                  <a:lnTo>
                    <a:pt x="26194" y="41411"/>
                  </a:lnTo>
                  <a:cubicBezTo>
                    <a:pt x="26454" y="39514"/>
                    <a:pt x="26826" y="37654"/>
                    <a:pt x="27310" y="35756"/>
                  </a:cubicBezTo>
                  <a:cubicBezTo>
                    <a:pt x="27831" y="33858"/>
                    <a:pt x="28426" y="32035"/>
                    <a:pt x="29170" y="30287"/>
                  </a:cubicBezTo>
                  <a:lnTo>
                    <a:pt x="20501" y="17301"/>
                  </a:lnTo>
                  <a:cubicBezTo>
                    <a:pt x="17897" y="13395"/>
                    <a:pt x="18417" y="8223"/>
                    <a:pt x="21729" y="4911"/>
                  </a:cubicBezTo>
                  <a:lnTo>
                    <a:pt x="28873" y="-2232"/>
                  </a:lnTo>
                  <a:cubicBezTo>
                    <a:pt x="32184" y="-5544"/>
                    <a:pt x="37356" y="-6065"/>
                    <a:pt x="41263" y="-3460"/>
                  </a:cubicBezTo>
                  <a:lnTo>
                    <a:pt x="54285" y="5209"/>
                  </a:lnTo>
                  <a:cubicBezTo>
                    <a:pt x="57820" y="3758"/>
                    <a:pt x="61578" y="2716"/>
                    <a:pt x="65410" y="2195"/>
                  </a:cubicBezTo>
                  <a:lnTo>
                    <a:pt x="72330" y="-11795"/>
                  </a:lnTo>
                  <a:cubicBezTo>
                    <a:pt x="74414" y="-15999"/>
                    <a:pt x="79139" y="-18120"/>
                    <a:pt x="83679" y="-16929"/>
                  </a:cubicBezTo>
                  <a:close/>
                  <a:moveTo>
                    <a:pt x="71586" y="31254"/>
                  </a:moveTo>
                  <a:cubicBezTo>
                    <a:pt x="62551" y="31254"/>
                    <a:pt x="55215" y="38590"/>
                    <a:pt x="55215" y="47625"/>
                  </a:cubicBezTo>
                  <a:cubicBezTo>
                    <a:pt x="55215" y="56660"/>
                    <a:pt x="62551" y="63996"/>
                    <a:pt x="71586" y="63996"/>
                  </a:cubicBezTo>
                  <a:cubicBezTo>
                    <a:pt x="80622" y="63996"/>
                    <a:pt x="87957" y="56660"/>
                    <a:pt x="87957" y="47625"/>
                  </a:cubicBezTo>
                  <a:cubicBezTo>
                    <a:pt x="87957" y="38590"/>
                    <a:pt x="80622" y="31254"/>
                    <a:pt x="71586" y="31254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3" name="Text 7">
              <a:extLst>
                <a:ext uri="{FF2B5EF4-FFF2-40B4-BE49-F238E27FC236}">
                  <a16:creationId xmlns:a16="http://schemas.microsoft.com/office/drawing/2014/main" id="{AFD9CC3F-E238-4BB5-BD20-CE4318728674}"/>
                </a:ext>
              </a:extLst>
            </p:cNvPr>
            <p:cNvSpPr/>
            <p:nvPr/>
          </p:nvSpPr>
          <p:spPr>
            <a:xfrm>
              <a:off x="1181100" y="1447800"/>
              <a:ext cx="4642184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Функциональные</a:t>
              </a:r>
              <a:endParaRPr lang="en-US" sz="2400" dirty="0"/>
            </a:p>
          </p:txBody>
        </p:sp>
        <p:grpSp>
          <p:nvGrpSpPr>
            <p:cNvPr id="144" name="Группа 143">
              <a:extLst>
                <a:ext uri="{FF2B5EF4-FFF2-40B4-BE49-F238E27FC236}">
                  <a16:creationId xmlns:a16="http://schemas.microsoft.com/office/drawing/2014/main" id="{7C952ECA-FC89-44CA-B6AE-FF48A0F89370}"/>
                </a:ext>
              </a:extLst>
            </p:cNvPr>
            <p:cNvGrpSpPr/>
            <p:nvPr/>
          </p:nvGrpSpPr>
          <p:grpSpPr>
            <a:xfrm>
              <a:off x="628650" y="2057400"/>
              <a:ext cx="5124450" cy="4076700"/>
              <a:chOff x="628650" y="2057400"/>
              <a:chExt cx="5124450" cy="4076700"/>
            </a:xfrm>
          </p:grpSpPr>
          <p:sp>
            <p:nvSpPr>
              <p:cNvPr id="145" name="Shape 8">
                <a:extLst>
                  <a:ext uri="{FF2B5EF4-FFF2-40B4-BE49-F238E27FC236}">
                    <a16:creationId xmlns:a16="http://schemas.microsoft.com/office/drawing/2014/main" id="{59614143-0318-46CB-BB6E-54EA1B8B96C0}"/>
                  </a:ext>
                </a:extLst>
              </p:cNvPr>
              <p:cNvSpPr/>
              <p:nvPr/>
            </p:nvSpPr>
            <p:spPr>
              <a:xfrm>
                <a:off x="628650" y="20574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46" name="Shape 9">
                <a:extLst>
                  <a:ext uri="{FF2B5EF4-FFF2-40B4-BE49-F238E27FC236}">
                    <a16:creationId xmlns:a16="http://schemas.microsoft.com/office/drawing/2014/main" id="{EEE38645-80D1-4013-8D82-6AAE1694EA7D}"/>
                  </a:ext>
                </a:extLst>
              </p:cNvPr>
              <p:cNvSpPr/>
              <p:nvPr/>
            </p:nvSpPr>
            <p:spPr>
              <a:xfrm>
                <a:off x="628650" y="20574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47" name="Shape 10">
                <a:extLst>
                  <a:ext uri="{FF2B5EF4-FFF2-40B4-BE49-F238E27FC236}">
                    <a16:creationId xmlns:a16="http://schemas.microsoft.com/office/drawing/2014/main" id="{285F46A3-4CEF-4BC5-B3A4-0099596F4570}"/>
                  </a:ext>
                </a:extLst>
              </p:cNvPr>
              <p:cNvSpPr/>
              <p:nvPr/>
            </p:nvSpPr>
            <p:spPr>
              <a:xfrm>
                <a:off x="812006" y="2324100"/>
                <a:ext cx="2143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90500">
                    <a:moveTo>
                      <a:pt x="142875" y="53578"/>
                    </a:moveTo>
                    <a:cubicBezTo>
                      <a:pt x="142875" y="89743"/>
                      <a:pt x="110877" y="119063"/>
                      <a:pt x="71438" y="119063"/>
                    </a:cubicBezTo>
                    <a:cubicBezTo>
                      <a:pt x="61503" y="119063"/>
                      <a:pt x="52053" y="117202"/>
                      <a:pt x="43458" y="113854"/>
                    </a:cubicBezTo>
                    <a:lnTo>
                      <a:pt x="13097" y="129927"/>
                    </a:lnTo>
                    <a:cubicBezTo>
                      <a:pt x="9637" y="131750"/>
                      <a:pt x="5395" y="131118"/>
                      <a:pt x="2604" y="128364"/>
                    </a:cubicBezTo>
                    <a:cubicBezTo>
                      <a:pt x="-186" y="125611"/>
                      <a:pt x="-819" y="121332"/>
                      <a:pt x="1042" y="117872"/>
                    </a:cubicBezTo>
                    <a:lnTo>
                      <a:pt x="14288" y="92869"/>
                    </a:lnTo>
                    <a:cubicBezTo>
                      <a:pt x="5321" y="81930"/>
                      <a:pt x="0" y="68312"/>
                      <a:pt x="0" y="53578"/>
                    </a:cubicBezTo>
                    <a:cubicBezTo>
                      <a:pt x="0" y="17413"/>
                      <a:pt x="31998" y="-11906"/>
                      <a:pt x="71438" y="-11906"/>
                    </a:cubicBezTo>
                    <a:cubicBezTo>
                      <a:pt x="110877" y="-11906"/>
                      <a:pt x="142875" y="17413"/>
                      <a:pt x="142875" y="53578"/>
                    </a:cubicBezTo>
                    <a:close/>
                    <a:moveTo>
                      <a:pt x="142875" y="190500"/>
                    </a:moveTo>
                    <a:cubicBezTo>
                      <a:pt x="107863" y="190500"/>
                      <a:pt x="78730" y="167394"/>
                      <a:pt x="72628" y="136922"/>
                    </a:cubicBezTo>
                    <a:cubicBezTo>
                      <a:pt x="117277" y="136364"/>
                      <a:pt x="156083" y="104589"/>
                      <a:pt x="160362" y="61503"/>
                    </a:cubicBezTo>
                    <a:cubicBezTo>
                      <a:pt x="191356" y="68647"/>
                      <a:pt x="214313" y="94357"/>
                      <a:pt x="214313" y="125016"/>
                    </a:cubicBezTo>
                    <a:cubicBezTo>
                      <a:pt x="214313" y="139750"/>
                      <a:pt x="208992" y="153367"/>
                      <a:pt x="200025" y="164306"/>
                    </a:cubicBezTo>
                    <a:lnTo>
                      <a:pt x="213271" y="189309"/>
                    </a:lnTo>
                    <a:cubicBezTo>
                      <a:pt x="215094" y="192770"/>
                      <a:pt x="214461" y="197011"/>
                      <a:pt x="211708" y="199802"/>
                    </a:cubicBezTo>
                    <a:cubicBezTo>
                      <a:pt x="208955" y="202592"/>
                      <a:pt x="204676" y="203225"/>
                      <a:pt x="201216" y="201364"/>
                    </a:cubicBezTo>
                    <a:lnTo>
                      <a:pt x="170855" y="185291"/>
                    </a:lnTo>
                    <a:cubicBezTo>
                      <a:pt x="162260" y="188640"/>
                      <a:pt x="152809" y="190500"/>
                      <a:pt x="142875" y="19050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48" name="Text 11">
                <a:extLst>
                  <a:ext uri="{FF2B5EF4-FFF2-40B4-BE49-F238E27FC236}">
                    <a16:creationId xmlns:a16="http://schemas.microsoft.com/office/drawing/2014/main" id="{6DEF63F1-8A74-4514-8459-17CEE4CDB1FD}"/>
                  </a:ext>
                </a:extLst>
              </p:cNvPr>
              <p:cNvSpPr/>
              <p:nvPr/>
            </p:nvSpPr>
            <p:spPr>
              <a:xfrm>
                <a:off x="1152525" y="2209800"/>
                <a:ext cx="4550692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Обработка естественного языка</a:t>
                </a:r>
                <a:endParaRPr lang="en-US" sz="2400" dirty="0"/>
              </a:p>
            </p:txBody>
          </p:sp>
          <p:sp>
            <p:nvSpPr>
              <p:cNvPr id="149" name="Text 12">
                <a:extLst>
                  <a:ext uri="{FF2B5EF4-FFF2-40B4-BE49-F238E27FC236}">
                    <a16:creationId xmlns:a16="http://schemas.microsoft.com/office/drawing/2014/main" id="{98D3413D-CFD7-4D17-A21F-E99A0B429411}"/>
                  </a:ext>
                </a:extLst>
              </p:cNvPr>
              <p:cNvSpPr/>
              <p:nvPr/>
            </p:nvSpPr>
            <p:spPr>
              <a:xfrm>
                <a:off x="1152525" y="2476900"/>
                <a:ext cx="45339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Понимание запросов на русском языке</a:t>
                </a:r>
                <a:endParaRPr lang="en-US" sz="2400" dirty="0"/>
              </a:p>
            </p:txBody>
          </p:sp>
          <p:sp>
            <p:nvSpPr>
              <p:cNvPr id="150" name="Shape 13">
                <a:extLst>
                  <a:ext uri="{FF2B5EF4-FFF2-40B4-BE49-F238E27FC236}">
                    <a16:creationId xmlns:a16="http://schemas.microsoft.com/office/drawing/2014/main" id="{8C62A1E0-DC6D-433C-8ED6-DA9DE75F41E5}"/>
                  </a:ext>
                </a:extLst>
              </p:cNvPr>
              <p:cNvSpPr/>
              <p:nvPr/>
            </p:nvSpPr>
            <p:spPr>
              <a:xfrm>
                <a:off x="628650" y="28956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51" name="Shape 14">
                <a:extLst>
                  <a:ext uri="{FF2B5EF4-FFF2-40B4-BE49-F238E27FC236}">
                    <a16:creationId xmlns:a16="http://schemas.microsoft.com/office/drawing/2014/main" id="{4AEFA5BD-F716-4D2E-BC40-9ACD2DD9BDA2}"/>
                  </a:ext>
                </a:extLst>
              </p:cNvPr>
              <p:cNvSpPr/>
              <p:nvPr/>
            </p:nvSpPr>
            <p:spPr>
              <a:xfrm>
                <a:off x="628650" y="28956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2" name="Shape 15">
                <a:extLst>
                  <a:ext uri="{FF2B5EF4-FFF2-40B4-BE49-F238E27FC236}">
                    <a16:creationId xmlns:a16="http://schemas.microsoft.com/office/drawing/2014/main" id="{D3625DB5-12A0-4812-AF72-DD73C4628BF3}"/>
                  </a:ext>
                </a:extLst>
              </p:cNvPr>
              <p:cNvSpPr/>
              <p:nvPr/>
            </p:nvSpPr>
            <p:spPr>
              <a:xfrm>
                <a:off x="823913" y="31623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54781" y="77391"/>
                    </a:moveTo>
                    <a:cubicBezTo>
                      <a:pt x="154781" y="94469"/>
                      <a:pt x="149237" y="110244"/>
                      <a:pt x="139898" y="123044"/>
                    </a:cubicBezTo>
                    <a:lnTo>
                      <a:pt x="187003" y="170185"/>
                    </a:lnTo>
                    <a:cubicBezTo>
                      <a:pt x="191653" y="174836"/>
                      <a:pt x="191653" y="182389"/>
                      <a:pt x="187003" y="187040"/>
                    </a:cubicBezTo>
                    <a:cubicBezTo>
                      <a:pt x="182352" y="191691"/>
                      <a:pt x="174799" y="191691"/>
                      <a:pt x="170148" y="187040"/>
                    </a:cubicBezTo>
                    <a:lnTo>
                      <a:pt x="123044" y="139898"/>
                    </a:lnTo>
                    <a:cubicBezTo>
                      <a:pt x="110244" y="149237"/>
                      <a:pt x="94469" y="154781"/>
                      <a:pt x="77391" y="154781"/>
                    </a:cubicBezTo>
                    <a:cubicBezTo>
                      <a:pt x="34640" y="154781"/>
                      <a:pt x="0" y="120142"/>
                      <a:pt x="0" y="77391"/>
                    </a:cubicBezTo>
                    <a:cubicBezTo>
                      <a:pt x="0" y="34640"/>
                      <a:pt x="34640" y="0"/>
                      <a:pt x="77391" y="0"/>
                    </a:cubicBezTo>
                    <a:cubicBezTo>
                      <a:pt x="120142" y="0"/>
                      <a:pt x="154781" y="34640"/>
                      <a:pt x="154781" y="77391"/>
                    </a:cubicBezTo>
                    <a:close/>
                    <a:moveTo>
                      <a:pt x="77391" y="130969"/>
                    </a:moveTo>
                    <a:cubicBezTo>
                      <a:pt x="106961" y="130969"/>
                      <a:pt x="130969" y="106961"/>
                      <a:pt x="130969" y="77391"/>
                    </a:cubicBezTo>
                    <a:cubicBezTo>
                      <a:pt x="130969" y="47820"/>
                      <a:pt x="106961" y="23812"/>
                      <a:pt x="77391" y="23812"/>
                    </a:cubicBezTo>
                    <a:cubicBezTo>
                      <a:pt x="47820" y="23812"/>
                      <a:pt x="23813" y="47820"/>
                      <a:pt x="23812" y="77391"/>
                    </a:cubicBezTo>
                    <a:cubicBezTo>
                      <a:pt x="23812" y="106961"/>
                      <a:pt x="47820" y="130969"/>
                      <a:pt x="77391" y="130969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3" name="Text 16">
                <a:extLst>
                  <a:ext uri="{FF2B5EF4-FFF2-40B4-BE49-F238E27FC236}">
                    <a16:creationId xmlns:a16="http://schemas.microsoft.com/office/drawing/2014/main" id="{CAC366C4-11CF-44BA-B653-C95888853229}"/>
                  </a:ext>
                </a:extLst>
              </p:cNvPr>
              <p:cNvSpPr/>
              <p:nvPr/>
            </p:nvSpPr>
            <p:spPr>
              <a:xfrm>
                <a:off x="1152525" y="3048000"/>
                <a:ext cx="4550692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Поиск документов</a:t>
                </a:r>
                <a:endParaRPr lang="en-US" sz="2400" dirty="0"/>
              </a:p>
            </p:txBody>
          </p:sp>
          <p:sp>
            <p:nvSpPr>
              <p:cNvPr id="154" name="Text 17">
                <a:extLst>
                  <a:ext uri="{FF2B5EF4-FFF2-40B4-BE49-F238E27FC236}">
                    <a16:creationId xmlns:a16="http://schemas.microsoft.com/office/drawing/2014/main" id="{180BF761-C6C5-4B6A-BAD6-0C9C7FBFC8DD}"/>
                  </a:ext>
                </a:extLst>
              </p:cNvPr>
              <p:cNvSpPr/>
              <p:nvPr/>
            </p:nvSpPr>
            <p:spPr>
              <a:xfrm>
                <a:off x="1152525" y="3315100"/>
                <a:ext cx="4528164" cy="158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Быстрый поиск по описанию</a:t>
                </a:r>
                <a:endParaRPr lang="en-US" sz="2400" dirty="0"/>
              </a:p>
            </p:txBody>
          </p:sp>
          <p:sp>
            <p:nvSpPr>
              <p:cNvPr id="155" name="Shape 18">
                <a:extLst>
                  <a:ext uri="{FF2B5EF4-FFF2-40B4-BE49-F238E27FC236}">
                    <a16:creationId xmlns:a16="http://schemas.microsoft.com/office/drawing/2014/main" id="{B5E22310-E147-498C-BEA1-C843D14864C2}"/>
                  </a:ext>
                </a:extLst>
              </p:cNvPr>
              <p:cNvSpPr/>
              <p:nvPr/>
            </p:nvSpPr>
            <p:spPr>
              <a:xfrm>
                <a:off x="628650" y="37338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56" name="Shape 19">
                <a:extLst>
                  <a:ext uri="{FF2B5EF4-FFF2-40B4-BE49-F238E27FC236}">
                    <a16:creationId xmlns:a16="http://schemas.microsoft.com/office/drawing/2014/main" id="{EE6EC866-A5DE-490B-A12D-B70DC3B16ECC}"/>
                  </a:ext>
                </a:extLst>
              </p:cNvPr>
              <p:cNvSpPr/>
              <p:nvPr/>
            </p:nvSpPr>
            <p:spPr>
              <a:xfrm>
                <a:off x="628650" y="37338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7" name="Shape 20">
                <a:extLst>
                  <a:ext uri="{FF2B5EF4-FFF2-40B4-BE49-F238E27FC236}">
                    <a16:creationId xmlns:a16="http://schemas.microsoft.com/office/drawing/2014/main" id="{BBA5AE62-BCD3-48B4-A121-6E48F30C9FC3}"/>
                  </a:ext>
                </a:extLst>
              </p:cNvPr>
              <p:cNvSpPr/>
              <p:nvPr/>
            </p:nvSpPr>
            <p:spPr>
              <a:xfrm>
                <a:off x="847725" y="40005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0" y="23812"/>
                    </a:moveTo>
                    <a:cubicBezTo>
                      <a:pt x="0" y="10678"/>
                      <a:pt x="10678" y="0"/>
                      <a:pt x="23812" y="0"/>
                    </a:cubicBezTo>
                    <a:lnTo>
                      <a:pt x="79437" y="0"/>
                    </a:lnTo>
                    <a:cubicBezTo>
                      <a:pt x="85762" y="0"/>
                      <a:pt x="91827" y="2493"/>
                      <a:pt x="96292" y="6958"/>
                    </a:cubicBezTo>
                    <a:lnTo>
                      <a:pt x="135917" y="46620"/>
                    </a:lnTo>
                    <a:cubicBezTo>
                      <a:pt x="140382" y="51085"/>
                      <a:pt x="142875" y="57150"/>
                      <a:pt x="142875" y="63475"/>
                    </a:cubicBezTo>
                    <a:lnTo>
                      <a:pt x="142875" y="166688"/>
                    </a:lnTo>
                    <a:cubicBezTo>
                      <a:pt x="142875" y="179822"/>
                      <a:pt x="132197" y="190500"/>
                      <a:pt x="119063" y="190500"/>
                    </a:cubicBezTo>
                    <a:lnTo>
                      <a:pt x="23812" y="190500"/>
                    </a:lnTo>
                    <a:cubicBezTo>
                      <a:pt x="10678" y="190500"/>
                      <a:pt x="0" y="179822"/>
                      <a:pt x="0" y="166688"/>
                    </a:cubicBezTo>
                    <a:lnTo>
                      <a:pt x="0" y="23812"/>
                    </a:lnTo>
                    <a:close/>
                    <a:moveTo>
                      <a:pt x="77391" y="21766"/>
                    </a:moveTo>
                    <a:lnTo>
                      <a:pt x="77391" y="56555"/>
                    </a:lnTo>
                    <a:cubicBezTo>
                      <a:pt x="77391" y="61503"/>
                      <a:pt x="81372" y="65484"/>
                      <a:pt x="86320" y="65484"/>
                    </a:cubicBezTo>
                    <a:lnTo>
                      <a:pt x="121109" y="65484"/>
                    </a:lnTo>
                    <a:lnTo>
                      <a:pt x="77391" y="21766"/>
                    </a:lnTo>
                    <a:close/>
                    <a:moveTo>
                      <a:pt x="44648" y="95250"/>
                    </a:moveTo>
                    <a:cubicBezTo>
                      <a:pt x="39700" y="95250"/>
                      <a:pt x="35719" y="99231"/>
                      <a:pt x="35719" y="104180"/>
                    </a:cubicBezTo>
                    <a:cubicBezTo>
                      <a:pt x="35719" y="109128"/>
                      <a:pt x="39700" y="113109"/>
                      <a:pt x="44648" y="113109"/>
                    </a:cubicBezTo>
                    <a:lnTo>
                      <a:pt x="98227" y="113109"/>
                    </a:lnTo>
                    <a:cubicBezTo>
                      <a:pt x="103175" y="113109"/>
                      <a:pt x="107156" y="109128"/>
                      <a:pt x="107156" y="104180"/>
                    </a:cubicBezTo>
                    <a:cubicBezTo>
                      <a:pt x="107156" y="99231"/>
                      <a:pt x="103175" y="95250"/>
                      <a:pt x="98227" y="95250"/>
                    </a:cubicBezTo>
                    <a:lnTo>
                      <a:pt x="44648" y="95250"/>
                    </a:lnTo>
                    <a:close/>
                    <a:moveTo>
                      <a:pt x="44648" y="130969"/>
                    </a:moveTo>
                    <a:cubicBezTo>
                      <a:pt x="39700" y="130969"/>
                      <a:pt x="35719" y="134950"/>
                      <a:pt x="35719" y="139898"/>
                    </a:cubicBezTo>
                    <a:cubicBezTo>
                      <a:pt x="35719" y="144847"/>
                      <a:pt x="39700" y="148828"/>
                      <a:pt x="44648" y="148828"/>
                    </a:cubicBezTo>
                    <a:lnTo>
                      <a:pt x="98227" y="148828"/>
                    </a:lnTo>
                    <a:cubicBezTo>
                      <a:pt x="103175" y="148828"/>
                      <a:pt x="107156" y="144847"/>
                      <a:pt x="107156" y="139898"/>
                    </a:cubicBezTo>
                    <a:cubicBezTo>
                      <a:pt x="107156" y="134950"/>
                      <a:pt x="103175" y="130969"/>
                      <a:pt x="98227" y="130969"/>
                    </a:cubicBezTo>
                    <a:lnTo>
                      <a:pt x="44648" y="130969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8" name="Text 21">
                <a:extLst>
                  <a:ext uri="{FF2B5EF4-FFF2-40B4-BE49-F238E27FC236}">
                    <a16:creationId xmlns:a16="http://schemas.microsoft.com/office/drawing/2014/main" id="{C07BB3A7-83CD-491A-8C6C-DA3BC9107C85}"/>
                  </a:ext>
                </a:extLst>
              </p:cNvPr>
              <p:cNvSpPr/>
              <p:nvPr/>
            </p:nvSpPr>
            <p:spPr>
              <a:xfrm>
                <a:off x="1152525" y="3886200"/>
                <a:ext cx="452816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Создание черновиков</a:t>
                </a:r>
                <a:endParaRPr lang="en-US" sz="2400" dirty="0"/>
              </a:p>
            </p:txBody>
          </p:sp>
          <p:sp>
            <p:nvSpPr>
              <p:cNvPr id="159" name="Text 22">
                <a:extLst>
                  <a:ext uri="{FF2B5EF4-FFF2-40B4-BE49-F238E27FC236}">
                    <a16:creationId xmlns:a16="http://schemas.microsoft.com/office/drawing/2014/main" id="{CCB8156F-AF2B-4DF7-B2A6-BE3336AEFB9C}"/>
                  </a:ext>
                </a:extLst>
              </p:cNvPr>
              <p:cNvSpPr/>
              <p:nvPr/>
            </p:nvSpPr>
            <p:spPr>
              <a:xfrm>
                <a:off x="1152525" y="4153300"/>
                <a:ext cx="450552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Автозаполнение документов</a:t>
                </a:r>
                <a:endParaRPr lang="en-US" sz="2400" dirty="0"/>
              </a:p>
            </p:txBody>
          </p:sp>
          <p:sp>
            <p:nvSpPr>
              <p:cNvPr id="160" name="Shape 23">
                <a:extLst>
                  <a:ext uri="{FF2B5EF4-FFF2-40B4-BE49-F238E27FC236}">
                    <a16:creationId xmlns:a16="http://schemas.microsoft.com/office/drawing/2014/main" id="{76F49349-4BFB-43C9-B360-28C4622FDCCB}"/>
                  </a:ext>
                </a:extLst>
              </p:cNvPr>
              <p:cNvSpPr/>
              <p:nvPr/>
            </p:nvSpPr>
            <p:spPr>
              <a:xfrm>
                <a:off x="628650" y="45720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61" name="Shape 24">
                <a:extLst>
                  <a:ext uri="{FF2B5EF4-FFF2-40B4-BE49-F238E27FC236}">
                    <a16:creationId xmlns:a16="http://schemas.microsoft.com/office/drawing/2014/main" id="{91A2CA58-52E3-4A93-A283-A691111558AA}"/>
                  </a:ext>
                </a:extLst>
              </p:cNvPr>
              <p:cNvSpPr/>
              <p:nvPr/>
            </p:nvSpPr>
            <p:spPr>
              <a:xfrm>
                <a:off x="628650" y="45720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62" name="Shape 25">
                <a:extLst>
                  <a:ext uri="{FF2B5EF4-FFF2-40B4-BE49-F238E27FC236}">
                    <a16:creationId xmlns:a16="http://schemas.microsoft.com/office/drawing/2014/main" id="{8E9C30ED-5B09-457F-9928-F163AE8BC223}"/>
                  </a:ext>
                </a:extLst>
              </p:cNvPr>
              <p:cNvSpPr/>
              <p:nvPr/>
            </p:nvSpPr>
            <p:spPr>
              <a:xfrm>
                <a:off x="835819" y="48387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137443" y="47625"/>
                    </a:moveTo>
                    <a:lnTo>
                      <a:pt x="124681" y="29766"/>
                    </a:lnTo>
                    <a:lnTo>
                      <a:pt x="42044" y="29766"/>
                    </a:lnTo>
                    <a:lnTo>
                      <a:pt x="29282" y="47625"/>
                    </a:lnTo>
                    <a:lnTo>
                      <a:pt x="137443" y="47625"/>
                    </a:lnTo>
                    <a:close/>
                    <a:moveTo>
                      <a:pt x="0" y="55252"/>
                    </a:moveTo>
                    <a:cubicBezTo>
                      <a:pt x="0" y="50304"/>
                      <a:pt x="1563" y="45467"/>
                      <a:pt x="4428" y="41411"/>
                    </a:cubicBezTo>
                    <a:lnTo>
                      <a:pt x="22659" y="15925"/>
                    </a:lnTo>
                    <a:cubicBezTo>
                      <a:pt x="27124" y="9674"/>
                      <a:pt x="34342" y="5953"/>
                      <a:pt x="42007" y="5953"/>
                    </a:cubicBezTo>
                    <a:lnTo>
                      <a:pt x="124644" y="5953"/>
                    </a:lnTo>
                    <a:cubicBezTo>
                      <a:pt x="132345" y="5953"/>
                      <a:pt x="139564" y="9674"/>
                      <a:pt x="144028" y="15925"/>
                    </a:cubicBezTo>
                    <a:lnTo>
                      <a:pt x="162223" y="41411"/>
                    </a:lnTo>
                    <a:cubicBezTo>
                      <a:pt x="165125" y="45467"/>
                      <a:pt x="166650" y="50304"/>
                      <a:pt x="166650" y="55252"/>
                    </a:cubicBezTo>
                    <a:lnTo>
                      <a:pt x="166688" y="154781"/>
                    </a:lnTo>
                    <a:cubicBezTo>
                      <a:pt x="166688" y="167915"/>
                      <a:pt x="156009" y="178594"/>
                      <a:pt x="142875" y="178594"/>
                    </a:cubicBezTo>
                    <a:lnTo>
                      <a:pt x="23812" y="178594"/>
                    </a:lnTo>
                    <a:cubicBezTo>
                      <a:pt x="10678" y="178594"/>
                      <a:pt x="0" y="167915"/>
                      <a:pt x="0" y="154781"/>
                    </a:cubicBezTo>
                    <a:lnTo>
                      <a:pt x="0" y="55252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63" name="Text 26">
                <a:extLst>
                  <a:ext uri="{FF2B5EF4-FFF2-40B4-BE49-F238E27FC236}">
                    <a16:creationId xmlns:a16="http://schemas.microsoft.com/office/drawing/2014/main" id="{967E0515-4213-4793-B885-33616CFBD690}"/>
                  </a:ext>
                </a:extLst>
              </p:cNvPr>
              <p:cNvSpPr/>
              <p:nvPr/>
            </p:nvSpPr>
            <p:spPr>
              <a:xfrm>
                <a:off x="1152525" y="4724400"/>
                <a:ext cx="452718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Проверка остатков</a:t>
                </a:r>
                <a:endParaRPr lang="en-US" sz="2400" dirty="0"/>
              </a:p>
            </p:txBody>
          </p:sp>
          <p:sp>
            <p:nvSpPr>
              <p:cNvPr id="164" name="Text 27">
                <a:extLst>
                  <a:ext uri="{FF2B5EF4-FFF2-40B4-BE49-F238E27FC236}">
                    <a16:creationId xmlns:a16="http://schemas.microsoft.com/office/drawing/2014/main" id="{4C51008C-5922-48C5-98FA-CD1626DC5C4F}"/>
                  </a:ext>
                </a:extLst>
              </p:cNvPr>
              <p:cNvSpPr/>
              <p:nvPr/>
            </p:nvSpPr>
            <p:spPr>
              <a:xfrm>
                <a:off x="1152524" y="4991500"/>
                <a:ext cx="4505523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Мгновенный доступ к данным</a:t>
                </a:r>
                <a:endParaRPr lang="en-US" sz="2400" dirty="0"/>
              </a:p>
            </p:txBody>
          </p:sp>
          <p:sp>
            <p:nvSpPr>
              <p:cNvPr id="165" name="Shape 28">
                <a:extLst>
                  <a:ext uri="{FF2B5EF4-FFF2-40B4-BE49-F238E27FC236}">
                    <a16:creationId xmlns:a16="http://schemas.microsoft.com/office/drawing/2014/main" id="{90F4E7B3-25C6-4596-96FE-EDA4BCEE3A05}"/>
                  </a:ext>
                </a:extLst>
              </p:cNvPr>
              <p:cNvSpPr/>
              <p:nvPr/>
            </p:nvSpPr>
            <p:spPr>
              <a:xfrm>
                <a:off x="628650" y="54102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66" name="Shape 29">
                <a:extLst>
                  <a:ext uri="{FF2B5EF4-FFF2-40B4-BE49-F238E27FC236}">
                    <a16:creationId xmlns:a16="http://schemas.microsoft.com/office/drawing/2014/main" id="{9919AF77-1131-42E5-8931-6885D720E497}"/>
                  </a:ext>
                </a:extLst>
              </p:cNvPr>
              <p:cNvSpPr/>
              <p:nvPr/>
            </p:nvSpPr>
            <p:spPr>
              <a:xfrm>
                <a:off x="628650" y="54102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67" name="Shape 30">
                <a:extLst>
                  <a:ext uri="{FF2B5EF4-FFF2-40B4-BE49-F238E27FC236}">
                    <a16:creationId xmlns:a16="http://schemas.microsoft.com/office/drawing/2014/main" id="{DAC100AF-6055-44F0-9478-8688B01EEF00}"/>
                  </a:ext>
                </a:extLst>
              </p:cNvPr>
              <p:cNvSpPr/>
              <p:nvPr/>
            </p:nvSpPr>
            <p:spPr>
              <a:xfrm>
                <a:off x="823913" y="56769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114114" y="120960"/>
                    </a:moveTo>
                    <a:lnTo>
                      <a:pt x="60424" y="141610"/>
                    </a:lnTo>
                    <a:cubicBezTo>
                      <a:pt x="53206" y="144400"/>
                      <a:pt x="46100" y="137294"/>
                      <a:pt x="48890" y="130076"/>
                    </a:cubicBezTo>
                    <a:lnTo>
                      <a:pt x="69540" y="76386"/>
                    </a:lnTo>
                    <a:cubicBezTo>
                      <a:pt x="70768" y="73223"/>
                      <a:pt x="73223" y="70768"/>
                      <a:pt x="76386" y="69540"/>
                    </a:cubicBezTo>
                    <a:lnTo>
                      <a:pt x="130076" y="48890"/>
                    </a:lnTo>
                    <a:cubicBezTo>
                      <a:pt x="137294" y="46100"/>
                      <a:pt x="144400" y="53206"/>
                      <a:pt x="141610" y="60424"/>
                    </a:cubicBezTo>
                    <a:lnTo>
                      <a:pt x="120960" y="114114"/>
                    </a:lnTo>
                    <a:cubicBezTo>
                      <a:pt x="119769" y="117277"/>
                      <a:pt x="117277" y="119732"/>
                      <a:pt x="114114" y="120960"/>
                    </a:cubicBezTo>
                    <a:close/>
                    <a:moveTo>
                      <a:pt x="107156" y="95250"/>
                    </a:moveTo>
                    <a:cubicBezTo>
                      <a:pt x="107156" y="88679"/>
                      <a:pt x="101821" y="83344"/>
                      <a:pt x="95250" y="83344"/>
                    </a:cubicBezTo>
                    <a:cubicBezTo>
                      <a:pt x="88679" y="83344"/>
                      <a:pt x="83344" y="88679"/>
                      <a:pt x="83344" y="95250"/>
                    </a:cubicBezTo>
                    <a:cubicBezTo>
                      <a:pt x="83344" y="101821"/>
                      <a:pt x="88679" y="107156"/>
                      <a:pt x="95250" y="107156"/>
                    </a:cubicBezTo>
                    <a:cubicBezTo>
                      <a:pt x="101821" y="107156"/>
                      <a:pt x="107156" y="101821"/>
                      <a:pt x="107156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68" name="Text 31">
                <a:extLst>
                  <a:ext uri="{FF2B5EF4-FFF2-40B4-BE49-F238E27FC236}">
                    <a16:creationId xmlns:a16="http://schemas.microsoft.com/office/drawing/2014/main" id="{AB1ECF4A-CC92-4988-8128-EE75C01B7141}"/>
                  </a:ext>
                </a:extLst>
              </p:cNvPr>
              <p:cNvSpPr/>
              <p:nvPr/>
            </p:nvSpPr>
            <p:spPr>
              <a:xfrm>
                <a:off x="1152524" y="5562600"/>
                <a:ext cx="450552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Навигация по формам</a:t>
                </a:r>
                <a:endParaRPr lang="en-US" sz="2400" dirty="0"/>
              </a:p>
            </p:txBody>
          </p:sp>
          <p:sp>
            <p:nvSpPr>
              <p:cNvPr id="169" name="Text 32">
                <a:extLst>
                  <a:ext uri="{FF2B5EF4-FFF2-40B4-BE49-F238E27FC236}">
                    <a16:creationId xmlns:a16="http://schemas.microsoft.com/office/drawing/2014/main" id="{13CB4C0A-1F13-4D42-A098-B16DF3548B5D}"/>
                  </a:ext>
                </a:extLst>
              </p:cNvPr>
              <p:cNvSpPr/>
              <p:nvPr/>
            </p:nvSpPr>
            <p:spPr>
              <a:xfrm>
                <a:off x="1152525" y="5829700"/>
                <a:ext cx="448130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Открытие нужных окон</a:t>
                </a:r>
                <a:endParaRPr lang="en-US" sz="2400" dirty="0"/>
              </a:p>
            </p:txBody>
          </p:sp>
        </p:grpSp>
      </p:grpSp>
      <p:grpSp>
        <p:nvGrpSpPr>
          <p:cNvPr id="170" name="Группа 169">
            <a:extLst>
              <a:ext uri="{FF2B5EF4-FFF2-40B4-BE49-F238E27FC236}">
                <a16:creationId xmlns:a16="http://schemas.microsoft.com/office/drawing/2014/main" id="{4661BD77-47B9-4EF8-A1D7-98B0D72823E5}"/>
              </a:ext>
            </a:extLst>
          </p:cNvPr>
          <p:cNvGrpSpPr/>
          <p:nvPr/>
        </p:nvGrpSpPr>
        <p:grpSpPr>
          <a:xfrm>
            <a:off x="6229350" y="7753350"/>
            <a:ext cx="5600700" cy="5334000"/>
            <a:chOff x="6210300" y="1143000"/>
            <a:chExt cx="5600700" cy="5334000"/>
          </a:xfrm>
        </p:grpSpPr>
        <p:sp>
          <p:nvSpPr>
            <p:cNvPr id="171" name="Shape 33">
              <a:extLst>
                <a:ext uri="{FF2B5EF4-FFF2-40B4-BE49-F238E27FC236}">
                  <a16:creationId xmlns:a16="http://schemas.microsoft.com/office/drawing/2014/main" id="{D4D40E28-6420-41BA-BECA-0E250F68E503}"/>
                </a:ext>
              </a:extLst>
            </p:cNvPr>
            <p:cNvSpPr/>
            <p:nvPr/>
          </p:nvSpPr>
          <p:spPr>
            <a:xfrm>
              <a:off x="6210300" y="1143000"/>
              <a:ext cx="5600700" cy="5334000"/>
            </a:xfrm>
            <a:custGeom>
              <a:avLst/>
              <a:gdLst/>
              <a:ahLst/>
              <a:cxnLst/>
              <a:rect l="l" t="t" r="r" b="b"/>
              <a:pathLst>
                <a:path w="5600700" h="5334000">
                  <a:moveTo>
                    <a:pt x="152392" y="0"/>
                  </a:moveTo>
                  <a:lnTo>
                    <a:pt x="5448308" y="0"/>
                  </a:lnTo>
                  <a:cubicBezTo>
                    <a:pt x="5532472" y="0"/>
                    <a:pt x="5600700" y="68228"/>
                    <a:pt x="5600700" y="152392"/>
                  </a:cubicBezTo>
                  <a:lnTo>
                    <a:pt x="5600700" y="5181608"/>
                  </a:lnTo>
                  <a:cubicBezTo>
                    <a:pt x="5600700" y="5265772"/>
                    <a:pt x="5532472" y="5334000"/>
                    <a:pt x="5448308" y="5334000"/>
                  </a:cubicBezTo>
                  <a:lnTo>
                    <a:pt x="152392" y="5334000"/>
                  </a:lnTo>
                  <a:cubicBezTo>
                    <a:pt x="68228" y="5334000"/>
                    <a:pt x="0" y="5265772"/>
                    <a:pt x="0" y="5181608"/>
                  </a:cubicBezTo>
                  <a:lnTo>
                    <a:pt x="0" y="152392"/>
                  </a:lnTo>
                  <a:cubicBezTo>
                    <a:pt x="0" y="68285"/>
                    <a:pt x="68285" y="0"/>
                    <a:pt x="1523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72" name="Shape 34">
              <a:extLst>
                <a:ext uri="{FF2B5EF4-FFF2-40B4-BE49-F238E27FC236}">
                  <a16:creationId xmlns:a16="http://schemas.microsoft.com/office/drawing/2014/main" id="{565D2041-682E-46D9-B35F-3D69E4D9D058}"/>
                </a:ext>
              </a:extLst>
            </p:cNvPr>
            <p:cNvSpPr/>
            <p:nvPr/>
          </p:nvSpPr>
          <p:spPr>
            <a:xfrm>
              <a:off x="64389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3" name="Shape 35">
              <a:extLst>
                <a:ext uri="{FF2B5EF4-FFF2-40B4-BE49-F238E27FC236}">
                  <a16:creationId xmlns:a16="http://schemas.microsoft.com/office/drawing/2014/main" id="{F5A72B78-E826-466F-943C-56E90A41BCB1}"/>
                </a:ext>
              </a:extLst>
            </p:cNvPr>
            <p:cNvSpPr/>
            <p:nvPr/>
          </p:nvSpPr>
          <p:spPr>
            <a:xfrm>
              <a:off x="65722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96962" y="0"/>
                    <a:pt x="98673" y="372"/>
                    <a:pt x="100236" y="1079"/>
                  </a:cubicBezTo>
                  <a:lnTo>
                    <a:pt x="170334" y="30807"/>
                  </a:lnTo>
                  <a:cubicBezTo>
                    <a:pt x="178519" y="34268"/>
                    <a:pt x="184621" y="42342"/>
                    <a:pt x="184584" y="52090"/>
                  </a:cubicBezTo>
                  <a:cubicBezTo>
                    <a:pt x="184398" y="88999"/>
                    <a:pt x="169218" y="156530"/>
                    <a:pt x="105110" y="187226"/>
                  </a:cubicBezTo>
                  <a:cubicBezTo>
                    <a:pt x="98896" y="190202"/>
                    <a:pt x="91678" y="190202"/>
                    <a:pt x="85465" y="187226"/>
                  </a:cubicBezTo>
                  <a:cubicBezTo>
                    <a:pt x="21320" y="156530"/>
                    <a:pt x="6176" y="88999"/>
                    <a:pt x="5990" y="52090"/>
                  </a:cubicBezTo>
                  <a:cubicBezTo>
                    <a:pt x="5953" y="42342"/>
                    <a:pt x="12055" y="34268"/>
                    <a:pt x="20241" y="30807"/>
                  </a:cubicBezTo>
                  <a:lnTo>
                    <a:pt x="90301" y="1079"/>
                  </a:lnTo>
                  <a:cubicBezTo>
                    <a:pt x="91864" y="372"/>
                    <a:pt x="93538" y="0"/>
                    <a:pt x="95250" y="0"/>
                  </a:cubicBezTo>
                  <a:close/>
                  <a:moveTo>
                    <a:pt x="95250" y="24854"/>
                  </a:moveTo>
                  <a:lnTo>
                    <a:pt x="95250" y="165534"/>
                  </a:lnTo>
                  <a:cubicBezTo>
                    <a:pt x="146596" y="140680"/>
                    <a:pt x="160400" y="85613"/>
                    <a:pt x="160734" y="52648"/>
                  </a:cubicBezTo>
                  <a:lnTo>
                    <a:pt x="95250" y="24892"/>
                  </a:lnTo>
                  <a:lnTo>
                    <a:pt x="95250" y="24892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74" name="Text 36">
              <a:extLst>
                <a:ext uri="{FF2B5EF4-FFF2-40B4-BE49-F238E27FC236}">
                  <a16:creationId xmlns:a16="http://schemas.microsoft.com/office/drawing/2014/main" id="{18D4FF94-688F-48AF-92AC-E0F5E3E4EA2F}"/>
                </a:ext>
              </a:extLst>
            </p:cNvPr>
            <p:cNvSpPr/>
            <p:nvPr/>
          </p:nvSpPr>
          <p:spPr>
            <a:xfrm>
              <a:off x="7010400" y="1447800"/>
              <a:ext cx="4453221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Нефункциональные</a:t>
              </a:r>
              <a:endParaRPr lang="en-US" sz="2400" dirty="0"/>
            </a:p>
          </p:txBody>
        </p:sp>
        <p:grpSp>
          <p:nvGrpSpPr>
            <p:cNvPr id="175" name="Группа 174">
              <a:extLst>
                <a:ext uri="{FF2B5EF4-FFF2-40B4-BE49-F238E27FC236}">
                  <a16:creationId xmlns:a16="http://schemas.microsoft.com/office/drawing/2014/main" id="{3244EB03-227A-498D-BB00-7EB1335AA4AF}"/>
                </a:ext>
              </a:extLst>
            </p:cNvPr>
            <p:cNvGrpSpPr/>
            <p:nvPr/>
          </p:nvGrpSpPr>
          <p:grpSpPr>
            <a:xfrm>
              <a:off x="6457950" y="2057400"/>
              <a:ext cx="5124450" cy="4076700"/>
              <a:chOff x="6457950" y="2057400"/>
              <a:chExt cx="5124450" cy="4076700"/>
            </a:xfrm>
          </p:grpSpPr>
          <p:sp>
            <p:nvSpPr>
              <p:cNvPr id="176" name="Shape 37">
                <a:extLst>
                  <a:ext uri="{FF2B5EF4-FFF2-40B4-BE49-F238E27FC236}">
                    <a16:creationId xmlns:a16="http://schemas.microsoft.com/office/drawing/2014/main" id="{AF9C8361-00F7-4296-827E-A7846C5C23FB}"/>
                  </a:ext>
                </a:extLst>
              </p:cNvPr>
              <p:cNvSpPr/>
              <p:nvPr/>
            </p:nvSpPr>
            <p:spPr>
              <a:xfrm>
                <a:off x="6457950" y="20574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77" name="Shape 38">
                <a:extLst>
                  <a:ext uri="{FF2B5EF4-FFF2-40B4-BE49-F238E27FC236}">
                    <a16:creationId xmlns:a16="http://schemas.microsoft.com/office/drawing/2014/main" id="{82B81B39-1CAA-4510-A2C7-3E039220E1E1}"/>
                  </a:ext>
                </a:extLst>
              </p:cNvPr>
              <p:cNvSpPr/>
              <p:nvPr/>
            </p:nvSpPr>
            <p:spPr>
              <a:xfrm>
                <a:off x="6457950" y="20574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78" name="Shape 39">
                <a:extLst>
                  <a:ext uri="{FF2B5EF4-FFF2-40B4-BE49-F238E27FC236}">
                    <a16:creationId xmlns:a16="http://schemas.microsoft.com/office/drawing/2014/main" id="{21EB639C-FE5A-4B10-A699-26E1D33F99AB}"/>
                  </a:ext>
                </a:extLst>
              </p:cNvPr>
              <p:cNvSpPr/>
              <p:nvPr/>
            </p:nvSpPr>
            <p:spPr>
              <a:xfrm>
                <a:off x="6653213" y="23241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107156" y="35719"/>
                    </a:moveTo>
                    <a:cubicBezTo>
                      <a:pt x="107156" y="29148"/>
                      <a:pt x="101821" y="23812"/>
                      <a:pt x="95250" y="23812"/>
                    </a:cubicBezTo>
                    <a:cubicBezTo>
                      <a:pt x="88679" y="23812"/>
                      <a:pt x="83344" y="29148"/>
                      <a:pt x="83344" y="35719"/>
                    </a:cubicBezTo>
                    <a:cubicBezTo>
                      <a:pt x="83344" y="42290"/>
                      <a:pt x="88679" y="47625"/>
                      <a:pt x="95250" y="47625"/>
                    </a:cubicBezTo>
                    <a:cubicBezTo>
                      <a:pt x="101821" y="47625"/>
                      <a:pt x="107156" y="42290"/>
                      <a:pt x="107156" y="35719"/>
                    </a:cubicBezTo>
                    <a:close/>
                    <a:moveTo>
                      <a:pt x="95250" y="154781"/>
                    </a:moveTo>
                    <a:cubicBezTo>
                      <a:pt x="108384" y="154781"/>
                      <a:pt x="119063" y="144103"/>
                      <a:pt x="119063" y="130969"/>
                    </a:cubicBezTo>
                    <a:cubicBezTo>
                      <a:pt x="119063" y="124941"/>
                      <a:pt x="116830" y="119397"/>
                      <a:pt x="113109" y="115230"/>
                    </a:cubicBezTo>
                    <a:lnTo>
                      <a:pt x="138968" y="63550"/>
                    </a:lnTo>
                    <a:cubicBezTo>
                      <a:pt x="141163" y="59122"/>
                      <a:pt x="139378" y="53764"/>
                      <a:pt x="134987" y="51569"/>
                    </a:cubicBezTo>
                    <a:cubicBezTo>
                      <a:pt x="130597" y="49374"/>
                      <a:pt x="125202" y="51160"/>
                      <a:pt x="123006" y="55550"/>
                    </a:cubicBezTo>
                    <a:lnTo>
                      <a:pt x="97148" y="107231"/>
                    </a:lnTo>
                    <a:cubicBezTo>
                      <a:pt x="96515" y="107193"/>
                      <a:pt x="95883" y="107156"/>
                      <a:pt x="95250" y="107156"/>
                    </a:cubicBezTo>
                    <a:cubicBezTo>
                      <a:pt x="82116" y="107156"/>
                      <a:pt x="71438" y="117835"/>
                      <a:pt x="71438" y="130969"/>
                    </a:cubicBezTo>
                    <a:cubicBezTo>
                      <a:pt x="71438" y="144103"/>
                      <a:pt x="82116" y="154781"/>
                      <a:pt x="95250" y="154781"/>
                    </a:cubicBezTo>
                    <a:close/>
                    <a:moveTo>
                      <a:pt x="65484" y="53578"/>
                    </a:moveTo>
                    <a:cubicBezTo>
                      <a:pt x="65484" y="47007"/>
                      <a:pt x="60149" y="41672"/>
                      <a:pt x="53578" y="41672"/>
                    </a:cubicBezTo>
                    <a:cubicBezTo>
                      <a:pt x="47007" y="41672"/>
                      <a:pt x="41672" y="47007"/>
                      <a:pt x="41672" y="53578"/>
                    </a:cubicBezTo>
                    <a:cubicBezTo>
                      <a:pt x="41672" y="60149"/>
                      <a:pt x="47007" y="65484"/>
                      <a:pt x="53578" y="65484"/>
                    </a:cubicBezTo>
                    <a:cubicBezTo>
                      <a:pt x="60149" y="65484"/>
                      <a:pt x="65484" y="60149"/>
                      <a:pt x="65484" y="53578"/>
                    </a:cubicBezTo>
                    <a:close/>
                    <a:moveTo>
                      <a:pt x="35719" y="107156"/>
                    </a:moveTo>
                    <a:cubicBezTo>
                      <a:pt x="42290" y="107156"/>
                      <a:pt x="47625" y="101821"/>
                      <a:pt x="47625" y="95250"/>
                    </a:cubicBezTo>
                    <a:cubicBezTo>
                      <a:pt x="47625" y="88679"/>
                      <a:pt x="42290" y="83344"/>
                      <a:pt x="35719" y="83344"/>
                    </a:cubicBezTo>
                    <a:cubicBezTo>
                      <a:pt x="29148" y="83344"/>
                      <a:pt x="23812" y="88679"/>
                      <a:pt x="23812" y="95250"/>
                    </a:cubicBezTo>
                    <a:cubicBezTo>
                      <a:pt x="23812" y="101821"/>
                      <a:pt x="29148" y="107156"/>
                      <a:pt x="35719" y="107156"/>
                    </a:cubicBezTo>
                    <a:close/>
                    <a:moveTo>
                      <a:pt x="166688" y="95250"/>
                    </a:moveTo>
                    <a:cubicBezTo>
                      <a:pt x="166688" y="88679"/>
                      <a:pt x="161352" y="83344"/>
                      <a:pt x="154781" y="83344"/>
                    </a:cubicBezTo>
                    <a:cubicBezTo>
                      <a:pt x="148210" y="83344"/>
                      <a:pt x="142875" y="88679"/>
                      <a:pt x="142875" y="95250"/>
                    </a:cubicBezTo>
                    <a:cubicBezTo>
                      <a:pt x="142875" y="101821"/>
                      <a:pt x="148210" y="107156"/>
                      <a:pt x="154781" y="107156"/>
                    </a:cubicBezTo>
                    <a:cubicBezTo>
                      <a:pt x="161352" y="107156"/>
                      <a:pt x="166688" y="101821"/>
                      <a:pt x="166688" y="9525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79" name="Text 40">
                <a:extLst>
                  <a:ext uri="{FF2B5EF4-FFF2-40B4-BE49-F238E27FC236}">
                    <a16:creationId xmlns:a16="http://schemas.microsoft.com/office/drawing/2014/main" id="{7772454D-5E1E-45E3-B0C8-2A9C51F117A9}"/>
                  </a:ext>
                </a:extLst>
              </p:cNvPr>
              <p:cNvSpPr/>
              <p:nvPr/>
            </p:nvSpPr>
            <p:spPr>
              <a:xfrm>
                <a:off x="6981825" y="2209800"/>
                <a:ext cx="355452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Время ответа &lt; 3 сек</a:t>
                </a:r>
                <a:endParaRPr lang="en-US" sz="2400" dirty="0"/>
              </a:p>
            </p:txBody>
          </p:sp>
          <p:sp>
            <p:nvSpPr>
              <p:cNvPr id="180" name="Text 41">
                <a:extLst>
                  <a:ext uri="{FF2B5EF4-FFF2-40B4-BE49-F238E27FC236}">
                    <a16:creationId xmlns:a16="http://schemas.microsoft.com/office/drawing/2014/main" id="{683F266F-EB6B-477A-8816-F284C53DF100}"/>
                  </a:ext>
                </a:extLst>
              </p:cNvPr>
              <p:cNvSpPr/>
              <p:nvPr/>
            </p:nvSpPr>
            <p:spPr>
              <a:xfrm>
                <a:off x="6981825" y="2486525"/>
                <a:ext cx="353521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Быстрая реакция системы</a:t>
                </a:r>
                <a:endParaRPr lang="en-US" sz="2400" dirty="0"/>
              </a:p>
            </p:txBody>
          </p:sp>
          <p:sp>
            <p:nvSpPr>
              <p:cNvPr id="181" name="Shape 42">
                <a:extLst>
                  <a:ext uri="{FF2B5EF4-FFF2-40B4-BE49-F238E27FC236}">
                    <a16:creationId xmlns:a16="http://schemas.microsoft.com/office/drawing/2014/main" id="{158C26C4-EFA9-40B2-8C26-8822777251CB}"/>
                  </a:ext>
                </a:extLst>
              </p:cNvPr>
              <p:cNvSpPr/>
              <p:nvPr/>
            </p:nvSpPr>
            <p:spPr>
              <a:xfrm>
                <a:off x="6457950" y="28956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82" name="Shape 43">
                <a:extLst>
                  <a:ext uri="{FF2B5EF4-FFF2-40B4-BE49-F238E27FC236}">
                    <a16:creationId xmlns:a16="http://schemas.microsoft.com/office/drawing/2014/main" id="{8C36A3D2-D513-4A39-9D54-A6706C2A4A27}"/>
                  </a:ext>
                </a:extLst>
              </p:cNvPr>
              <p:cNvSpPr/>
              <p:nvPr/>
            </p:nvSpPr>
            <p:spPr>
              <a:xfrm>
                <a:off x="6457950" y="28956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3" name="Shape 44">
                <a:extLst>
                  <a:ext uri="{FF2B5EF4-FFF2-40B4-BE49-F238E27FC236}">
                    <a16:creationId xmlns:a16="http://schemas.microsoft.com/office/drawing/2014/main" id="{A6C4FAC1-3EF3-41B9-8698-A38127D80EDC}"/>
                  </a:ext>
                </a:extLst>
              </p:cNvPr>
              <p:cNvSpPr/>
              <p:nvPr/>
            </p:nvSpPr>
            <p:spPr>
              <a:xfrm>
                <a:off x="6653213" y="31623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66688" y="95250"/>
                    </a:moveTo>
                    <a:cubicBezTo>
                      <a:pt x="166688" y="55823"/>
                      <a:pt x="134677" y="23812"/>
                      <a:pt x="95250" y="23812"/>
                    </a:cubicBezTo>
                    <a:cubicBezTo>
                      <a:pt x="55823" y="23812"/>
                      <a:pt x="23813" y="55823"/>
                      <a:pt x="23812" y="95250"/>
                    </a:cubicBezTo>
                    <a:cubicBezTo>
                      <a:pt x="23812" y="134677"/>
                      <a:pt x="55823" y="166688"/>
                      <a:pt x="95250" y="166688"/>
                    </a:cubicBezTo>
                    <a:cubicBezTo>
                      <a:pt x="134677" y="166688"/>
                      <a:pt x="166688" y="134677"/>
                      <a:pt x="166688" y="95250"/>
                    </a:cubicBezTo>
                    <a:close/>
                    <a:moveTo>
                      <a:pt x="0" y="95250"/>
                    </a:moveTo>
                    <a:cubicBezTo>
                      <a:pt x="0" y="42680"/>
                      <a:pt x="42680" y="0"/>
                      <a:pt x="95250" y="0"/>
                    </a:cubicBezTo>
                    <a:cubicBezTo>
                      <a:pt x="147820" y="0"/>
                      <a:pt x="190500" y="42680"/>
                      <a:pt x="190500" y="95250"/>
                    </a:cubicBezTo>
                    <a:cubicBezTo>
                      <a:pt x="190500" y="147820"/>
                      <a:pt x="147820" y="190500"/>
                      <a:pt x="95250" y="190500"/>
                    </a:cubicBezTo>
                    <a:cubicBezTo>
                      <a:pt x="42680" y="190500"/>
                      <a:pt x="0" y="147820"/>
                      <a:pt x="0" y="95250"/>
                    </a:cubicBezTo>
                    <a:close/>
                    <a:moveTo>
                      <a:pt x="95250" y="125016"/>
                    </a:moveTo>
                    <a:cubicBezTo>
                      <a:pt x="111678" y="125016"/>
                      <a:pt x="125016" y="111678"/>
                      <a:pt x="125016" y="95250"/>
                    </a:cubicBezTo>
                    <a:cubicBezTo>
                      <a:pt x="125016" y="78822"/>
                      <a:pt x="111678" y="65484"/>
                      <a:pt x="95250" y="65484"/>
                    </a:cubicBezTo>
                    <a:cubicBezTo>
                      <a:pt x="78822" y="65484"/>
                      <a:pt x="65484" y="78822"/>
                      <a:pt x="65484" y="95250"/>
                    </a:cubicBezTo>
                    <a:cubicBezTo>
                      <a:pt x="65484" y="111678"/>
                      <a:pt x="78822" y="125016"/>
                      <a:pt x="95250" y="125016"/>
                    </a:cubicBezTo>
                    <a:close/>
                    <a:moveTo>
                      <a:pt x="95250" y="41672"/>
                    </a:moveTo>
                    <a:cubicBezTo>
                      <a:pt x="124821" y="41672"/>
                      <a:pt x="148828" y="65679"/>
                      <a:pt x="148828" y="95250"/>
                    </a:cubicBezTo>
                    <a:cubicBezTo>
                      <a:pt x="148828" y="124821"/>
                      <a:pt x="124821" y="148828"/>
                      <a:pt x="95250" y="148828"/>
                    </a:cubicBezTo>
                    <a:cubicBezTo>
                      <a:pt x="65679" y="148828"/>
                      <a:pt x="41672" y="124821"/>
                      <a:pt x="41672" y="95250"/>
                    </a:cubicBezTo>
                    <a:cubicBezTo>
                      <a:pt x="41672" y="65679"/>
                      <a:pt x="65679" y="41672"/>
                      <a:pt x="95250" y="41672"/>
                    </a:cubicBezTo>
                    <a:close/>
                    <a:moveTo>
                      <a:pt x="83344" y="95250"/>
                    </a:moveTo>
                    <a:cubicBezTo>
                      <a:pt x="83344" y="88679"/>
                      <a:pt x="88679" y="83344"/>
                      <a:pt x="95250" y="83344"/>
                    </a:cubicBezTo>
                    <a:cubicBezTo>
                      <a:pt x="101821" y="83344"/>
                      <a:pt x="107156" y="88679"/>
                      <a:pt x="107156" y="95250"/>
                    </a:cubicBezTo>
                    <a:cubicBezTo>
                      <a:pt x="107156" y="101821"/>
                      <a:pt x="101821" y="107156"/>
                      <a:pt x="95250" y="107156"/>
                    </a:cubicBezTo>
                    <a:cubicBezTo>
                      <a:pt x="88679" y="107156"/>
                      <a:pt x="83344" y="101821"/>
                      <a:pt x="83344" y="9525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4" name="Text 45">
                <a:extLst>
                  <a:ext uri="{FF2B5EF4-FFF2-40B4-BE49-F238E27FC236}">
                    <a16:creationId xmlns:a16="http://schemas.microsoft.com/office/drawing/2014/main" id="{C056A505-19AB-4A4E-A6A9-9462191688BC}"/>
                  </a:ext>
                </a:extLst>
              </p:cNvPr>
              <p:cNvSpPr/>
              <p:nvPr/>
            </p:nvSpPr>
            <p:spPr>
              <a:xfrm>
                <a:off x="6981825" y="3048000"/>
                <a:ext cx="450111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Точность &gt; 90%</a:t>
                </a:r>
                <a:endParaRPr lang="en-US" sz="2400" dirty="0"/>
              </a:p>
            </p:txBody>
          </p:sp>
          <p:sp>
            <p:nvSpPr>
              <p:cNvPr id="185" name="Text 46">
                <a:extLst>
                  <a:ext uri="{FF2B5EF4-FFF2-40B4-BE49-F238E27FC236}">
                    <a16:creationId xmlns:a16="http://schemas.microsoft.com/office/drawing/2014/main" id="{A9C4AD2C-E196-4BC1-822F-A44B50969A37}"/>
                  </a:ext>
                </a:extLst>
              </p:cNvPr>
              <p:cNvSpPr/>
              <p:nvPr/>
            </p:nvSpPr>
            <p:spPr>
              <a:xfrm>
                <a:off x="6981825" y="3324725"/>
                <a:ext cx="4481796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Высокая точность распознавания</a:t>
                </a:r>
                <a:endParaRPr lang="en-US" sz="2400" dirty="0"/>
              </a:p>
            </p:txBody>
          </p:sp>
          <p:sp>
            <p:nvSpPr>
              <p:cNvPr id="186" name="Shape 47">
                <a:extLst>
                  <a:ext uri="{FF2B5EF4-FFF2-40B4-BE49-F238E27FC236}">
                    <a16:creationId xmlns:a16="http://schemas.microsoft.com/office/drawing/2014/main" id="{86DEBFAD-CEAC-4479-9130-4763ACE03736}"/>
                  </a:ext>
                </a:extLst>
              </p:cNvPr>
              <p:cNvSpPr/>
              <p:nvPr/>
            </p:nvSpPr>
            <p:spPr>
              <a:xfrm>
                <a:off x="6457950" y="37338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87" name="Shape 48">
                <a:extLst>
                  <a:ext uri="{FF2B5EF4-FFF2-40B4-BE49-F238E27FC236}">
                    <a16:creationId xmlns:a16="http://schemas.microsoft.com/office/drawing/2014/main" id="{96AED2A2-5778-4DC0-A098-B7C8243B3DFE}"/>
                  </a:ext>
                </a:extLst>
              </p:cNvPr>
              <p:cNvSpPr/>
              <p:nvPr/>
            </p:nvSpPr>
            <p:spPr>
              <a:xfrm>
                <a:off x="6457950" y="37338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8" name="Shape 49">
                <a:extLst>
                  <a:ext uri="{FF2B5EF4-FFF2-40B4-BE49-F238E27FC236}">
                    <a16:creationId xmlns:a16="http://schemas.microsoft.com/office/drawing/2014/main" id="{92EA8D76-B858-40BD-826E-6B6407BA7DE2}"/>
                  </a:ext>
                </a:extLst>
              </p:cNvPr>
              <p:cNvSpPr/>
              <p:nvPr/>
            </p:nvSpPr>
            <p:spPr>
              <a:xfrm>
                <a:off x="6665119" y="4000500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62508" y="11906"/>
                    </a:moveTo>
                    <a:lnTo>
                      <a:pt x="8930" y="11906"/>
                    </a:lnTo>
                    <a:cubicBezTo>
                      <a:pt x="3981" y="11906"/>
                      <a:pt x="0" y="15887"/>
                      <a:pt x="0" y="20836"/>
                    </a:cubicBezTo>
                    <a:lnTo>
                      <a:pt x="0" y="74414"/>
                    </a:lnTo>
                    <a:cubicBezTo>
                      <a:pt x="0" y="78023"/>
                      <a:pt x="2158" y="81297"/>
                      <a:pt x="5507" y="82674"/>
                    </a:cubicBezTo>
                    <a:cubicBezTo>
                      <a:pt x="8855" y="84051"/>
                      <a:pt x="12688" y="83269"/>
                      <a:pt x="15255" y="80739"/>
                    </a:cubicBezTo>
                    <a:lnTo>
                      <a:pt x="30138" y="65856"/>
                    </a:lnTo>
                    <a:lnTo>
                      <a:pt x="59531" y="95250"/>
                    </a:lnTo>
                    <a:lnTo>
                      <a:pt x="30138" y="124644"/>
                    </a:lnTo>
                    <a:lnTo>
                      <a:pt x="15255" y="109761"/>
                    </a:lnTo>
                    <a:cubicBezTo>
                      <a:pt x="12688" y="107193"/>
                      <a:pt x="8855" y="106449"/>
                      <a:pt x="5507" y="107826"/>
                    </a:cubicBezTo>
                    <a:cubicBezTo>
                      <a:pt x="2158" y="109203"/>
                      <a:pt x="0" y="112477"/>
                      <a:pt x="0" y="116086"/>
                    </a:cubicBezTo>
                    <a:lnTo>
                      <a:pt x="0" y="169664"/>
                    </a:lnTo>
                    <a:cubicBezTo>
                      <a:pt x="0" y="174613"/>
                      <a:pt x="3981" y="178594"/>
                      <a:pt x="8930" y="178594"/>
                    </a:cubicBezTo>
                    <a:lnTo>
                      <a:pt x="62508" y="178594"/>
                    </a:lnTo>
                    <a:cubicBezTo>
                      <a:pt x="66117" y="178594"/>
                      <a:pt x="69391" y="176436"/>
                      <a:pt x="70768" y="173087"/>
                    </a:cubicBezTo>
                    <a:cubicBezTo>
                      <a:pt x="72144" y="169738"/>
                      <a:pt x="71400" y="165906"/>
                      <a:pt x="68833" y="163339"/>
                    </a:cubicBezTo>
                    <a:lnTo>
                      <a:pt x="53950" y="148456"/>
                    </a:lnTo>
                    <a:lnTo>
                      <a:pt x="83344" y="119063"/>
                    </a:lnTo>
                    <a:lnTo>
                      <a:pt x="112737" y="148456"/>
                    </a:lnTo>
                    <a:lnTo>
                      <a:pt x="97854" y="163339"/>
                    </a:lnTo>
                    <a:cubicBezTo>
                      <a:pt x="95287" y="165906"/>
                      <a:pt x="94543" y="169738"/>
                      <a:pt x="95920" y="173087"/>
                    </a:cubicBezTo>
                    <a:cubicBezTo>
                      <a:pt x="97296" y="176436"/>
                      <a:pt x="100571" y="178594"/>
                      <a:pt x="104180" y="178594"/>
                    </a:cubicBezTo>
                    <a:lnTo>
                      <a:pt x="157758" y="178594"/>
                    </a:lnTo>
                    <a:cubicBezTo>
                      <a:pt x="162706" y="178594"/>
                      <a:pt x="166688" y="174613"/>
                      <a:pt x="166688" y="169664"/>
                    </a:cubicBezTo>
                    <a:lnTo>
                      <a:pt x="166688" y="116086"/>
                    </a:lnTo>
                    <a:cubicBezTo>
                      <a:pt x="166688" y="112477"/>
                      <a:pt x="164529" y="109203"/>
                      <a:pt x="161181" y="107826"/>
                    </a:cubicBezTo>
                    <a:cubicBezTo>
                      <a:pt x="157832" y="106449"/>
                      <a:pt x="154000" y="107193"/>
                      <a:pt x="151433" y="109761"/>
                    </a:cubicBezTo>
                    <a:lnTo>
                      <a:pt x="136550" y="124644"/>
                    </a:lnTo>
                    <a:lnTo>
                      <a:pt x="107156" y="95250"/>
                    </a:lnTo>
                    <a:lnTo>
                      <a:pt x="136550" y="65856"/>
                    </a:lnTo>
                    <a:lnTo>
                      <a:pt x="151433" y="80739"/>
                    </a:lnTo>
                    <a:cubicBezTo>
                      <a:pt x="154000" y="83307"/>
                      <a:pt x="157832" y="84051"/>
                      <a:pt x="161181" y="82674"/>
                    </a:cubicBezTo>
                    <a:cubicBezTo>
                      <a:pt x="164529" y="81297"/>
                      <a:pt x="166688" y="78023"/>
                      <a:pt x="166688" y="74414"/>
                    </a:cubicBezTo>
                    <a:lnTo>
                      <a:pt x="166688" y="20836"/>
                    </a:lnTo>
                    <a:cubicBezTo>
                      <a:pt x="166688" y="15887"/>
                      <a:pt x="162706" y="11906"/>
                      <a:pt x="157758" y="11906"/>
                    </a:cubicBezTo>
                    <a:lnTo>
                      <a:pt x="104180" y="11906"/>
                    </a:lnTo>
                    <a:cubicBezTo>
                      <a:pt x="100571" y="11906"/>
                      <a:pt x="97296" y="14064"/>
                      <a:pt x="95920" y="17413"/>
                    </a:cubicBezTo>
                    <a:cubicBezTo>
                      <a:pt x="94543" y="20762"/>
                      <a:pt x="95324" y="24594"/>
                      <a:pt x="97854" y="27161"/>
                    </a:cubicBezTo>
                    <a:lnTo>
                      <a:pt x="112737" y="42044"/>
                    </a:lnTo>
                    <a:lnTo>
                      <a:pt x="83344" y="71438"/>
                    </a:lnTo>
                    <a:lnTo>
                      <a:pt x="53950" y="42044"/>
                    </a:lnTo>
                    <a:lnTo>
                      <a:pt x="68833" y="27161"/>
                    </a:lnTo>
                    <a:cubicBezTo>
                      <a:pt x="71400" y="24594"/>
                      <a:pt x="72144" y="20762"/>
                      <a:pt x="70768" y="17413"/>
                    </a:cubicBezTo>
                    <a:cubicBezTo>
                      <a:pt x="69391" y="14064"/>
                      <a:pt x="66117" y="11906"/>
                      <a:pt x="62508" y="11906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89" name="Text 50">
                <a:extLst>
                  <a:ext uri="{FF2B5EF4-FFF2-40B4-BE49-F238E27FC236}">
                    <a16:creationId xmlns:a16="http://schemas.microsoft.com/office/drawing/2014/main" id="{7CD2632F-48C7-44B7-B963-EA9F104797A2}"/>
                  </a:ext>
                </a:extLst>
              </p:cNvPr>
              <p:cNvSpPr/>
              <p:nvPr/>
            </p:nvSpPr>
            <p:spPr>
              <a:xfrm>
                <a:off x="6981825" y="3886200"/>
                <a:ext cx="3206802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Масштабируемость</a:t>
                </a:r>
                <a:endParaRPr lang="en-US" sz="2400" dirty="0"/>
              </a:p>
            </p:txBody>
          </p:sp>
          <p:sp>
            <p:nvSpPr>
              <p:cNvPr id="190" name="Text 51">
                <a:extLst>
                  <a:ext uri="{FF2B5EF4-FFF2-40B4-BE49-F238E27FC236}">
                    <a16:creationId xmlns:a16="http://schemas.microsoft.com/office/drawing/2014/main" id="{2692A84E-925E-46C8-B97B-D60570D46D8F}"/>
                  </a:ext>
                </a:extLst>
              </p:cNvPr>
              <p:cNvSpPr/>
              <p:nvPr/>
            </p:nvSpPr>
            <p:spPr>
              <a:xfrm>
                <a:off x="6981825" y="4162925"/>
                <a:ext cx="3187484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Рост с бизнесом</a:t>
                </a:r>
                <a:endParaRPr lang="en-US" sz="2400" dirty="0"/>
              </a:p>
            </p:txBody>
          </p:sp>
          <p:sp>
            <p:nvSpPr>
              <p:cNvPr id="191" name="Shape 52">
                <a:extLst>
                  <a:ext uri="{FF2B5EF4-FFF2-40B4-BE49-F238E27FC236}">
                    <a16:creationId xmlns:a16="http://schemas.microsoft.com/office/drawing/2014/main" id="{3C2C453C-2DBD-49CC-AB1F-F4587C5E5C41}"/>
                  </a:ext>
                </a:extLst>
              </p:cNvPr>
              <p:cNvSpPr/>
              <p:nvPr/>
            </p:nvSpPr>
            <p:spPr>
              <a:xfrm>
                <a:off x="6457950" y="45720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92" name="Shape 53">
                <a:extLst>
                  <a:ext uri="{FF2B5EF4-FFF2-40B4-BE49-F238E27FC236}">
                    <a16:creationId xmlns:a16="http://schemas.microsoft.com/office/drawing/2014/main" id="{71EF6ACF-D9AF-4483-B19F-CFC05C8C2E04}"/>
                  </a:ext>
                </a:extLst>
              </p:cNvPr>
              <p:cNvSpPr/>
              <p:nvPr/>
            </p:nvSpPr>
            <p:spPr>
              <a:xfrm>
                <a:off x="6457950" y="45720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93" name="Shape 54">
                <a:extLst>
                  <a:ext uri="{FF2B5EF4-FFF2-40B4-BE49-F238E27FC236}">
                    <a16:creationId xmlns:a16="http://schemas.microsoft.com/office/drawing/2014/main" id="{6EE266B8-7338-425D-A5A7-79F7B88E2E06}"/>
                  </a:ext>
                </a:extLst>
              </p:cNvPr>
              <p:cNvSpPr/>
              <p:nvPr/>
            </p:nvSpPr>
            <p:spPr>
              <a:xfrm>
                <a:off x="6677025" y="48387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47625" y="35719"/>
                    </a:moveTo>
                    <a:lnTo>
                      <a:pt x="47625" y="59531"/>
                    </a:lnTo>
                    <a:lnTo>
                      <a:pt x="95250" y="59531"/>
                    </a:lnTo>
                    <a:lnTo>
                      <a:pt x="95250" y="35719"/>
                    </a:lnTo>
                    <a:cubicBezTo>
                      <a:pt x="95250" y="22585"/>
                      <a:pt x="84572" y="11906"/>
                      <a:pt x="71438" y="11906"/>
                    </a:cubicBezTo>
                    <a:cubicBezTo>
                      <a:pt x="58303" y="11906"/>
                      <a:pt x="47625" y="22585"/>
                      <a:pt x="47625" y="35719"/>
                    </a:cubicBezTo>
                    <a:close/>
                    <a:moveTo>
                      <a:pt x="23812" y="59531"/>
                    </a:moveTo>
                    <a:lnTo>
                      <a:pt x="23812" y="35719"/>
                    </a:lnTo>
                    <a:cubicBezTo>
                      <a:pt x="23812" y="9413"/>
                      <a:pt x="45132" y="-11906"/>
                      <a:pt x="71438" y="-11906"/>
                    </a:cubicBezTo>
                    <a:cubicBezTo>
                      <a:pt x="97743" y="-11906"/>
                      <a:pt x="119063" y="9413"/>
                      <a:pt x="119063" y="35719"/>
                    </a:cubicBezTo>
                    <a:lnTo>
                      <a:pt x="119063" y="59531"/>
                    </a:lnTo>
                    <a:cubicBezTo>
                      <a:pt x="132197" y="59531"/>
                      <a:pt x="142875" y="70210"/>
                      <a:pt x="142875" y="83344"/>
                    </a:cubicBezTo>
                    <a:lnTo>
                      <a:pt x="142875" y="166688"/>
                    </a:lnTo>
                    <a:cubicBezTo>
                      <a:pt x="142875" y="179822"/>
                      <a:pt x="132197" y="190500"/>
                      <a:pt x="119063" y="190500"/>
                    </a:cubicBezTo>
                    <a:lnTo>
                      <a:pt x="23812" y="190500"/>
                    </a:lnTo>
                    <a:cubicBezTo>
                      <a:pt x="10678" y="190500"/>
                      <a:pt x="0" y="179822"/>
                      <a:pt x="0" y="166688"/>
                    </a:cubicBezTo>
                    <a:lnTo>
                      <a:pt x="0" y="83344"/>
                    </a:lnTo>
                    <a:cubicBezTo>
                      <a:pt x="0" y="70210"/>
                      <a:pt x="10678" y="59531"/>
                      <a:pt x="23812" y="59531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94" name="Text 55">
                <a:extLst>
                  <a:ext uri="{FF2B5EF4-FFF2-40B4-BE49-F238E27FC236}">
                    <a16:creationId xmlns:a16="http://schemas.microsoft.com/office/drawing/2014/main" id="{FFDD8830-7CD1-4C1F-A851-3BAA526A148E}"/>
                  </a:ext>
                </a:extLst>
              </p:cNvPr>
              <p:cNvSpPr/>
              <p:nvPr/>
            </p:nvSpPr>
            <p:spPr>
              <a:xfrm>
                <a:off x="6981825" y="4724400"/>
                <a:ext cx="355452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Безопасность данных</a:t>
                </a:r>
                <a:endParaRPr lang="en-US" sz="2400" dirty="0"/>
              </a:p>
            </p:txBody>
          </p:sp>
          <p:sp>
            <p:nvSpPr>
              <p:cNvPr id="195" name="Text 56">
                <a:extLst>
                  <a:ext uri="{FF2B5EF4-FFF2-40B4-BE49-F238E27FC236}">
                    <a16:creationId xmlns:a16="http://schemas.microsoft.com/office/drawing/2014/main" id="{E327A55D-A5CA-47AD-89C1-CBAD3D388A9C}"/>
                  </a:ext>
                </a:extLst>
              </p:cNvPr>
              <p:cNvSpPr/>
              <p:nvPr/>
            </p:nvSpPr>
            <p:spPr>
              <a:xfrm>
                <a:off x="6981825" y="5001125"/>
                <a:ext cx="3535210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Защита информации</a:t>
                </a:r>
                <a:endParaRPr lang="en-US" sz="2400" dirty="0"/>
              </a:p>
            </p:txBody>
          </p:sp>
          <p:sp>
            <p:nvSpPr>
              <p:cNvPr id="196" name="Shape 57">
                <a:extLst>
                  <a:ext uri="{FF2B5EF4-FFF2-40B4-BE49-F238E27FC236}">
                    <a16:creationId xmlns:a16="http://schemas.microsoft.com/office/drawing/2014/main" id="{C15C4D5E-A863-4EC0-8D26-A89609FB4083}"/>
                  </a:ext>
                </a:extLst>
              </p:cNvPr>
              <p:cNvSpPr/>
              <p:nvPr/>
            </p:nvSpPr>
            <p:spPr>
              <a:xfrm>
                <a:off x="6457950" y="5410200"/>
                <a:ext cx="51244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124450" h="723900">
                    <a:moveTo>
                      <a:pt x="38100" y="0"/>
                    </a:moveTo>
                    <a:lnTo>
                      <a:pt x="5010153" y="0"/>
                    </a:lnTo>
                    <a:cubicBezTo>
                      <a:pt x="5073278" y="0"/>
                      <a:pt x="5124450" y="51172"/>
                      <a:pt x="5124450" y="114297"/>
                    </a:cubicBezTo>
                    <a:lnTo>
                      <a:pt x="5124450" y="609603"/>
                    </a:lnTo>
                    <a:cubicBezTo>
                      <a:pt x="5124450" y="672728"/>
                      <a:pt x="5073278" y="723900"/>
                      <a:pt x="5010153" y="723900"/>
                    </a:cubicBez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97" name="Shape 58">
                <a:extLst>
                  <a:ext uri="{FF2B5EF4-FFF2-40B4-BE49-F238E27FC236}">
                    <a16:creationId xmlns:a16="http://schemas.microsoft.com/office/drawing/2014/main" id="{3F21B01E-A1EE-4624-A08C-1A875A2D007B}"/>
                  </a:ext>
                </a:extLst>
              </p:cNvPr>
              <p:cNvSpPr/>
              <p:nvPr/>
            </p:nvSpPr>
            <p:spPr>
              <a:xfrm>
                <a:off x="6457950" y="5410200"/>
                <a:ext cx="381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23900">
                    <a:moveTo>
                      <a:pt x="38100" y="0"/>
                    </a:moveTo>
                    <a:lnTo>
                      <a:pt x="38100" y="0"/>
                    </a:lnTo>
                    <a:lnTo>
                      <a:pt x="38100" y="723900"/>
                    </a:lnTo>
                    <a:lnTo>
                      <a:pt x="38100" y="723900"/>
                    </a:lnTo>
                    <a:cubicBezTo>
                      <a:pt x="17072" y="723900"/>
                      <a:pt x="0" y="706828"/>
                      <a:pt x="0" y="685800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98" name="Shape 59">
                <a:extLst>
                  <a:ext uri="{FF2B5EF4-FFF2-40B4-BE49-F238E27FC236}">
                    <a16:creationId xmlns:a16="http://schemas.microsoft.com/office/drawing/2014/main" id="{913933A3-C2E5-4FFD-B1D6-EB2591C698B7}"/>
                  </a:ext>
                </a:extLst>
              </p:cNvPr>
              <p:cNvSpPr/>
              <p:nvPr/>
            </p:nvSpPr>
            <p:spPr>
              <a:xfrm>
                <a:off x="6653213" y="56769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83344" y="0"/>
                    </a:moveTo>
                    <a:cubicBezTo>
                      <a:pt x="96478" y="0"/>
                      <a:pt x="107156" y="8000"/>
                      <a:pt x="107156" y="17859"/>
                    </a:cubicBezTo>
                    <a:cubicBezTo>
                      <a:pt x="107156" y="21729"/>
                      <a:pt x="105519" y="25301"/>
                      <a:pt x="102691" y="28240"/>
                    </a:cubicBezTo>
                    <a:cubicBezTo>
                      <a:pt x="100236" y="30807"/>
                      <a:pt x="98227" y="33933"/>
                      <a:pt x="98227" y="37505"/>
                    </a:cubicBezTo>
                    <a:cubicBezTo>
                      <a:pt x="98227" y="43086"/>
                      <a:pt x="102766" y="47625"/>
                      <a:pt x="108347" y="47625"/>
                    </a:cubicBezTo>
                    <a:lnTo>
                      <a:pt x="125016" y="47625"/>
                    </a:lnTo>
                    <a:cubicBezTo>
                      <a:pt x="134875" y="47625"/>
                      <a:pt x="142875" y="55625"/>
                      <a:pt x="142875" y="65484"/>
                    </a:cubicBezTo>
                    <a:lnTo>
                      <a:pt x="142875" y="82153"/>
                    </a:lnTo>
                    <a:cubicBezTo>
                      <a:pt x="142875" y="87734"/>
                      <a:pt x="147414" y="92273"/>
                      <a:pt x="152995" y="92273"/>
                    </a:cubicBezTo>
                    <a:cubicBezTo>
                      <a:pt x="156530" y="92273"/>
                      <a:pt x="159693" y="90264"/>
                      <a:pt x="162260" y="87809"/>
                    </a:cubicBezTo>
                    <a:cubicBezTo>
                      <a:pt x="165199" y="85018"/>
                      <a:pt x="168771" y="83344"/>
                      <a:pt x="172641" y="83344"/>
                    </a:cubicBezTo>
                    <a:cubicBezTo>
                      <a:pt x="182500" y="83344"/>
                      <a:pt x="190500" y="94022"/>
                      <a:pt x="190500" y="107156"/>
                    </a:cubicBezTo>
                    <a:cubicBezTo>
                      <a:pt x="190500" y="120290"/>
                      <a:pt x="182500" y="130969"/>
                      <a:pt x="172641" y="130969"/>
                    </a:cubicBezTo>
                    <a:cubicBezTo>
                      <a:pt x="168771" y="130969"/>
                      <a:pt x="165162" y="129332"/>
                      <a:pt x="162260" y="126504"/>
                    </a:cubicBezTo>
                    <a:cubicBezTo>
                      <a:pt x="159693" y="124048"/>
                      <a:pt x="156567" y="122039"/>
                      <a:pt x="152995" y="122039"/>
                    </a:cubicBezTo>
                    <a:cubicBezTo>
                      <a:pt x="147414" y="122039"/>
                      <a:pt x="142875" y="126578"/>
                      <a:pt x="142875" y="132159"/>
                    </a:cubicBezTo>
                    <a:lnTo>
                      <a:pt x="142875" y="172641"/>
                    </a:lnTo>
                    <a:cubicBezTo>
                      <a:pt x="142875" y="182500"/>
                      <a:pt x="134875" y="190500"/>
                      <a:pt x="125016" y="190500"/>
                    </a:cubicBezTo>
                    <a:lnTo>
                      <a:pt x="103882" y="190500"/>
                    </a:lnTo>
                    <a:cubicBezTo>
                      <a:pt x="99120" y="190500"/>
                      <a:pt x="95250" y="186630"/>
                      <a:pt x="95250" y="181868"/>
                    </a:cubicBezTo>
                    <a:cubicBezTo>
                      <a:pt x="95250" y="178445"/>
                      <a:pt x="97408" y="175431"/>
                      <a:pt x="100161" y="173385"/>
                    </a:cubicBezTo>
                    <a:cubicBezTo>
                      <a:pt x="104477" y="170148"/>
                      <a:pt x="107156" y="165683"/>
                      <a:pt x="107156" y="160734"/>
                    </a:cubicBezTo>
                    <a:cubicBezTo>
                      <a:pt x="107156" y="150875"/>
                      <a:pt x="96478" y="142875"/>
                      <a:pt x="83344" y="142875"/>
                    </a:cubicBezTo>
                    <a:cubicBezTo>
                      <a:pt x="70210" y="142875"/>
                      <a:pt x="59531" y="150875"/>
                      <a:pt x="59531" y="160734"/>
                    </a:cubicBezTo>
                    <a:cubicBezTo>
                      <a:pt x="59531" y="165683"/>
                      <a:pt x="62210" y="170148"/>
                      <a:pt x="66526" y="173385"/>
                    </a:cubicBezTo>
                    <a:cubicBezTo>
                      <a:pt x="69279" y="175431"/>
                      <a:pt x="71438" y="178408"/>
                      <a:pt x="71438" y="181868"/>
                    </a:cubicBezTo>
                    <a:cubicBezTo>
                      <a:pt x="71438" y="186630"/>
                      <a:pt x="67568" y="190500"/>
                      <a:pt x="62805" y="190500"/>
                    </a:cubicBezTo>
                    <a:lnTo>
                      <a:pt x="17859" y="190500"/>
                    </a:lnTo>
                    <a:cubicBezTo>
                      <a:pt x="8000" y="190500"/>
                      <a:pt x="0" y="182500"/>
                      <a:pt x="0" y="172641"/>
                    </a:cubicBezTo>
                    <a:lnTo>
                      <a:pt x="0" y="127695"/>
                    </a:lnTo>
                    <a:cubicBezTo>
                      <a:pt x="0" y="122932"/>
                      <a:pt x="3870" y="119063"/>
                      <a:pt x="8632" y="119063"/>
                    </a:cubicBezTo>
                    <a:cubicBezTo>
                      <a:pt x="12055" y="119063"/>
                      <a:pt x="15069" y="121221"/>
                      <a:pt x="17115" y="123974"/>
                    </a:cubicBezTo>
                    <a:cubicBezTo>
                      <a:pt x="20352" y="128290"/>
                      <a:pt x="24817" y="130969"/>
                      <a:pt x="29766" y="130969"/>
                    </a:cubicBezTo>
                    <a:cubicBezTo>
                      <a:pt x="39625" y="130969"/>
                      <a:pt x="47625" y="120290"/>
                      <a:pt x="47625" y="107156"/>
                    </a:cubicBezTo>
                    <a:cubicBezTo>
                      <a:pt x="47625" y="94022"/>
                      <a:pt x="39625" y="83344"/>
                      <a:pt x="29766" y="83344"/>
                    </a:cubicBezTo>
                    <a:cubicBezTo>
                      <a:pt x="24817" y="83344"/>
                      <a:pt x="20352" y="86023"/>
                      <a:pt x="17115" y="90339"/>
                    </a:cubicBezTo>
                    <a:cubicBezTo>
                      <a:pt x="15069" y="93092"/>
                      <a:pt x="12092" y="95250"/>
                      <a:pt x="8632" y="95250"/>
                    </a:cubicBezTo>
                    <a:cubicBezTo>
                      <a:pt x="3870" y="95250"/>
                      <a:pt x="0" y="91380"/>
                      <a:pt x="0" y="86618"/>
                    </a:cubicBezTo>
                    <a:lnTo>
                      <a:pt x="0" y="65484"/>
                    </a:lnTo>
                    <a:cubicBezTo>
                      <a:pt x="0" y="55625"/>
                      <a:pt x="8000" y="47625"/>
                      <a:pt x="17859" y="47625"/>
                    </a:cubicBezTo>
                    <a:lnTo>
                      <a:pt x="58341" y="47625"/>
                    </a:lnTo>
                    <a:cubicBezTo>
                      <a:pt x="63922" y="47625"/>
                      <a:pt x="68461" y="43086"/>
                      <a:pt x="68461" y="37505"/>
                    </a:cubicBezTo>
                    <a:cubicBezTo>
                      <a:pt x="68461" y="33970"/>
                      <a:pt x="66452" y="30807"/>
                      <a:pt x="63996" y="28240"/>
                    </a:cubicBezTo>
                    <a:cubicBezTo>
                      <a:pt x="61206" y="25301"/>
                      <a:pt x="59531" y="21729"/>
                      <a:pt x="59531" y="17859"/>
                    </a:cubicBezTo>
                    <a:cubicBezTo>
                      <a:pt x="59531" y="8000"/>
                      <a:pt x="70210" y="0"/>
                      <a:pt x="83344" y="0"/>
                    </a:cubicBezTo>
                    <a:close/>
                  </a:path>
                </a:pathLst>
              </a:custGeom>
              <a:solidFill>
                <a:srgbClr val="FF6B35"/>
              </a:solidFill>
              <a:ln/>
            </p:spPr>
          </p:sp>
          <p:sp>
            <p:nvSpPr>
              <p:cNvPr id="199" name="Text 60">
                <a:extLst>
                  <a:ext uri="{FF2B5EF4-FFF2-40B4-BE49-F238E27FC236}">
                    <a16:creationId xmlns:a16="http://schemas.microsoft.com/office/drawing/2014/main" id="{30EA09B1-2506-47BB-A6A6-4451DA831090}"/>
                  </a:ext>
                </a:extLst>
              </p:cNvPr>
              <p:cNvSpPr/>
              <p:nvPr/>
            </p:nvSpPr>
            <p:spPr>
              <a:xfrm>
                <a:off x="6981825" y="5562600"/>
                <a:ext cx="440452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Интеграция без изменений</a:t>
                </a:r>
                <a:endParaRPr lang="en-US" sz="2400" dirty="0"/>
              </a:p>
            </p:txBody>
          </p:sp>
          <p:sp>
            <p:nvSpPr>
              <p:cNvPr id="200" name="Text 61">
                <a:extLst>
                  <a:ext uri="{FF2B5EF4-FFF2-40B4-BE49-F238E27FC236}">
                    <a16:creationId xmlns:a16="http://schemas.microsoft.com/office/drawing/2014/main" id="{A23D0D73-E3F2-4191-8342-28CFD4790AB3}"/>
                  </a:ext>
                </a:extLst>
              </p:cNvPr>
              <p:cNvSpPr/>
              <p:nvPr/>
            </p:nvSpPr>
            <p:spPr>
              <a:xfrm>
                <a:off x="6981825" y="5839325"/>
                <a:ext cx="438520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Расширение, не доработка</a:t>
                </a:r>
                <a:endParaRPr lang="en-US" sz="2400" dirty="0"/>
              </a:p>
            </p:txBody>
          </p:sp>
        </p:grpSp>
      </p:grpSp>
      <p:sp>
        <p:nvSpPr>
          <p:cNvPr id="201" name="Text 7">
            <a:extLst>
              <a:ext uri="{FF2B5EF4-FFF2-40B4-BE49-F238E27FC236}">
                <a16:creationId xmlns:a16="http://schemas.microsoft.com/office/drawing/2014/main" id="{89FBD881-E1D4-43C8-88B7-2B99F5D657DA}"/>
              </a:ext>
            </a:extLst>
          </p:cNvPr>
          <p:cNvSpPr/>
          <p:nvPr/>
        </p:nvSpPr>
        <p:spPr>
          <a:xfrm>
            <a:off x="12879863" y="28336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6</a:t>
            </a:r>
            <a:endParaRPr lang="en-US" sz="1600" dirty="0"/>
          </a:p>
        </p:txBody>
      </p: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08292FF0-D333-4404-8BD7-2C255084BCD7}"/>
              </a:ext>
            </a:extLst>
          </p:cNvPr>
          <p:cNvGrpSpPr/>
          <p:nvPr/>
        </p:nvGrpSpPr>
        <p:grpSpPr>
          <a:xfrm>
            <a:off x="381000" y="381000"/>
            <a:ext cx="3914775" cy="535168"/>
            <a:chOff x="381000" y="381000"/>
            <a:chExt cx="3914775" cy="535168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808" y="2322"/>
                  </a:moveTo>
                  <a:cubicBezTo>
                    <a:pt x="110460" y="-759"/>
                    <a:pt x="118140" y="-759"/>
                    <a:pt x="124792" y="2322"/>
                  </a:cubicBezTo>
                  <a:lnTo>
                    <a:pt x="222394" y="47417"/>
                  </a:lnTo>
                  <a:cubicBezTo>
                    <a:pt x="226189" y="49158"/>
                    <a:pt x="228600" y="52953"/>
                    <a:pt x="228600" y="57150"/>
                  </a:cubicBezTo>
                  <a:cubicBezTo>
                    <a:pt x="228600" y="61347"/>
                    <a:pt x="226189" y="65142"/>
                    <a:pt x="222394" y="66883"/>
                  </a:cubicBezTo>
                  <a:lnTo>
                    <a:pt x="124792" y="111978"/>
                  </a:lnTo>
                  <a:cubicBezTo>
                    <a:pt x="118140" y="115059"/>
                    <a:pt x="110460" y="115059"/>
                    <a:pt x="103808" y="111978"/>
                  </a:cubicBezTo>
                  <a:lnTo>
                    <a:pt x="6206" y="66883"/>
                  </a:lnTo>
                  <a:cubicBezTo>
                    <a:pt x="2411" y="65097"/>
                    <a:pt x="0" y="61302"/>
                    <a:pt x="0" y="57150"/>
                  </a:cubicBezTo>
                  <a:cubicBezTo>
                    <a:pt x="0" y="52998"/>
                    <a:pt x="2411" y="49158"/>
                    <a:pt x="6206" y="47417"/>
                  </a:cubicBezTo>
                  <a:lnTo>
                    <a:pt x="103808" y="2322"/>
                  </a:lnTo>
                  <a:close/>
                  <a:moveTo>
                    <a:pt x="21476" y="97512"/>
                  </a:moveTo>
                  <a:lnTo>
                    <a:pt x="94833" y="131400"/>
                  </a:lnTo>
                  <a:cubicBezTo>
                    <a:pt x="107201" y="137115"/>
                    <a:pt x="121444" y="137115"/>
                    <a:pt x="133811" y="131400"/>
                  </a:cubicBezTo>
                  <a:lnTo>
                    <a:pt x="207169" y="97512"/>
                  </a:lnTo>
                  <a:lnTo>
                    <a:pt x="222394" y="104567"/>
                  </a:lnTo>
                  <a:cubicBezTo>
                    <a:pt x="226189" y="106308"/>
                    <a:pt x="228600" y="110103"/>
                    <a:pt x="228600" y="114300"/>
                  </a:cubicBezTo>
                  <a:cubicBezTo>
                    <a:pt x="228600" y="118497"/>
                    <a:pt x="226189" y="122292"/>
                    <a:pt x="222394" y="124033"/>
                  </a:cubicBezTo>
                  <a:lnTo>
                    <a:pt x="124792" y="169128"/>
                  </a:lnTo>
                  <a:cubicBezTo>
                    <a:pt x="118140" y="172209"/>
                    <a:pt x="110460" y="172209"/>
                    <a:pt x="103808" y="169128"/>
                  </a:cubicBezTo>
                  <a:lnTo>
                    <a:pt x="6206" y="124033"/>
                  </a:lnTo>
                  <a:cubicBezTo>
                    <a:pt x="2411" y="122247"/>
                    <a:pt x="0" y="118452"/>
                    <a:pt x="0" y="114300"/>
                  </a:cubicBezTo>
                  <a:cubicBezTo>
                    <a:pt x="0" y="110148"/>
                    <a:pt x="2411" y="106308"/>
                    <a:pt x="6206" y="104567"/>
                  </a:cubicBezTo>
                  <a:lnTo>
                    <a:pt x="21431" y="97512"/>
                  </a:lnTo>
                  <a:close/>
                  <a:moveTo>
                    <a:pt x="6206" y="161717"/>
                  </a:moveTo>
                  <a:lnTo>
                    <a:pt x="21431" y="154662"/>
                  </a:lnTo>
                  <a:lnTo>
                    <a:pt x="94789" y="188550"/>
                  </a:lnTo>
                  <a:cubicBezTo>
                    <a:pt x="107156" y="194265"/>
                    <a:pt x="121399" y="194265"/>
                    <a:pt x="133767" y="188550"/>
                  </a:cubicBezTo>
                  <a:lnTo>
                    <a:pt x="207124" y="154662"/>
                  </a:lnTo>
                  <a:lnTo>
                    <a:pt x="222349" y="161717"/>
                  </a:lnTo>
                  <a:cubicBezTo>
                    <a:pt x="226144" y="163458"/>
                    <a:pt x="228555" y="167253"/>
                    <a:pt x="228555" y="171450"/>
                  </a:cubicBezTo>
                  <a:cubicBezTo>
                    <a:pt x="228555" y="175647"/>
                    <a:pt x="226144" y="179442"/>
                    <a:pt x="222349" y="181183"/>
                  </a:cubicBezTo>
                  <a:lnTo>
                    <a:pt x="124748" y="226278"/>
                  </a:lnTo>
                  <a:cubicBezTo>
                    <a:pt x="118095" y="229359"/>
                    <a:pt x="110416" y="229359"/>
                    <a:pt x="103763" y="226278"/>
                  </a:cubicBezTo>
                  <a:lnTo>
                    <a:pt x="6206" y="181183"/>
                  </a:lnTo>
                  <a:cubicBezTo>
                    <a:pt x="2411" y="179397"/>
                    <a:pt x="0" y="175602"/>
                    <a:pt x="0" y="171450"/>
                  </a:cubicBezTo>
                  <a:cubicBezTo>
                    <a:pt x="0" y="167298"/>
                    <a:pt x="2411" y="163458"/>
                    <a:pt x="6206" y="16171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32289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Выбор технологий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90099" y="870449"/>
              <a:ext cx="339137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1E22639C-74CD-4794-B407-C2DCBBD1A104}"/>
              </a:ext>
            </a:extLst>
          </p:cNvPr>
          <p:cNvGrpSpPr/>
          <p:nvPr/>
        </p:nvGrpSpPr>
        <p:grpSpPr>
          <a:xfrm>
            <a:off x="381000" y="1143000"/>
            <a:ext cx="3686175" cy="2247900"/>
            <a:chOff x="381000" y="1143000"/>
            <a:chExt cx="3686175" cy="2247900"/>
          </a:xfrm>
        </p:grpSpPr>
        <p:sp>
          <p:nvSpPr>
            <p:cNvPr id="6" name="Shape 4"/>
            <p:cNvSpPr/>
            <p:nvPr/>
          </p:nvSpPr>
          <p:spPr>
            <a:xfrm>
              <a:off x="3810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19177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2012474" y="1485900"/>
              <a:ext cx="4191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571149" y="1990725"/>
              <a:ext cx="141970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1С:УНФ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16780" y="2321926"/>
              <a:ext cx="2645569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Целевая конфигурация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715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52463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Платформа 8.3.25+</a:t>
              </a:r>
              <a:endParaRPr lang="en-US" sz="1600" dirty="0"/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EE3FE72B-368D-4D3F-8EE5-32FEE8FEDD4B}"/>
              </a:ext>
            </a:extLst>
          </p:cNvPr>
          <p:cNvGrpSpPr/>
          <p:nvPr/>
        </p:nvGrpSpPr>
        <p:grpSpPr>
          <a:xfrm>
            <a:off x="4254500" y="1143000"/>
            <a:ext cx="3686175" cy="2247900"/>
            <a:chOff x="4254500" y="1143000"/>
            <a:chExt cx="3686175" cy="2247900"/>
          </a:xfrm>
        </p:grpSpPr>
        <p:sp>
          <p:nvSpPr>
            <p:cNvPr id="13" name="Shape 11"/>
            <p:cNvSpPr/>
            <p:nvPr/>
          </p:nvSpPr>
          <p:spPr>
            <a:xfrm>
              <a:off x="42545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57912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5981700" y="1524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0013" y="0"/>
                  </a:moveTo>
                  <a:cubicBezTo>
                    <a:pt x="115773" y="0"/>
                    <a:pt x="128588" y="9599"/>
                    <a:pt x="128588" y="21431"/>
                  </a:cubicBezTo>
                  <a:cubicBezTo>
                    <a:pt x="128588" y="26075"/>
                    <a:pt x="126623" y="30361"/>
                    <a:pt x="123230" y="33888"/>
                  </a:cubicBezTo>
                  <a:cubicBezTo>
                    <a:pt x="120283" y="36969"/>
                    <a:pt x="117872" y="40719"/>
                    <a:pt x="117872" y="45006"/>
                  </a:cubicBezTo>
                  <a:cubicBezTo>
                    <a:pt x="117872" y="51703"/>
                    <a:pt x="123319" y="57150"/>
                    <a:pt x="130016" y="57150"/>
                  </a:cubicBezTo>
                  <a:lnTo>
                    <a:pt x="150019" y="57150"/>
                  </a:lnTo>
                  <a:cubicBezTo>
                    <a:pt x="161851" y="57150"/>
                    <a:pt x="171450" y="66749"/>
                    <a:pt x="171450" y="78581"/>
                  </a:cubicBezTo>
                  <a:lnTo>
                    <a:pt x="171450" y="98584"/>
                  </a:lnTo>
                  <a:cubicBezTo>
                    <a:pt x="171450" y="105281"/>
                    <a:pt x="176897" y="110728"/>
                    <a:pt x="183594" y="110728"/>
                  </a:cubicBezTo>
                  <a:cubicBezTo>
                    <a:pt x="187836" y="110728"/>
                    <a:pt x="191631" y="108317"/>
                    <a:pt x="194712" y="105370"/>
                  </a:cubicBezTo>
                  <a:cubicBezTo>
                    <a:pt x="198239" y="102022"/>
                    <a:pt x="202525" y="100013"/>
                    <a:pt x="207169" y="100013"/>
                  </a:cubicBezTo>
                  <a:cubicBezTo>
                    <a:pt x="219001" y="100013"/>
                    <a:pt x="228600" y="112827"/>
                    <a:pt x="228600" y="128588"/>
                  </a:cubicBezTo>
                  <a:cubicBezTo>
                    <a:pt x="228600" y="144348"/>
                    <a:pt x="219001" y="157163"/>
                    <a:pt x="207169" y="157163"/>
                  </a:cubicBezTo>
                  <a:cubicBezTo>
                    <a:pt x="202525" y="157163"/>
                    <a:pt x="198194" y="155198"/>
                    <a:pt x="194712" y="151805"/>
                  </a:cubicBezTo>
                  <a:cubicBezTo>
                    <a:pt x="191631" y="148858"/>
                    <a:pt x="187881" y="146447"/>
                    <a:pt x="183594" y="146447"/>
                  </a:cubicBezTo>
                  <a:cubicBezTo>
                    <a:pt x="176897" y="146447"/>
                    <a:pt x="171450" y="151894"/>
                    <a:pt x="171450" y="158591"/>
                  </a:cubicBezTo>
                  <a:lnTo>
                    <a:pt x="171450" y="207169"/>
                  </a:lnTo>
                  <a:cubicBezTo>
                    <a:pt x="171450" y="219001"/>
                    <a:pt x="161851" y="228600"/>
                    <a:pt x="150019" y="228600"/>
                  </a:cubicBezTo>
                  <a:lnTo>
                    <a:pt x="124658" y="228600"/>
                  </a:lnTo>
                  <a:cubicBezTo>
                    <a:pt x="118943" y="228600"/>
                    <a:pt x="114300" y="223957"/>
                    <a:pt x="114300" y="218242"/>
                  </a:cubicBezTo>
                  <a:cubicBezTo>
                    <a:pt x="114300" y="214134"/>
                    <a:pt x="116890" y="210517"/>
                    <a:pt x="120194" y="208062"/>
                  </a:cubicBezTo>
                  <a:cubicBezTo>
                    <a:pt x="125373" y="204177"/>
                    <a:pt x="128588" y="198819"/>
                    <a:pt x="128588" y="192881"/>
                  </a:cubicBezTo>
                  <a:cubicBezTo>
                    <a:pt x="128588" y="181049"/>
                    <a:pt x="115773" y="171450"/>
                    <a:pt x="100013" y="171450"/>
                  </a:cubicBezTo>
                  <a:cubicBezTo>
                    <a:pt x="84252" y="171450"/>
                    <a:pt x="71438" y="181049"/>
                    <a:pt x="71438" y="192881"/>
                  </a:cubicBezTo>
                  <a:cubicBezTo>
                    <a:pt x="71438" y="198819"/>
                    <a:pt x="74652" y="204177"/>
                    <a:pt x="79831" y="208062"/>
                  </a:cubicBezTo>
                  <a:cubicBezTo>
                    <a:pt x="83135" y="210517"/>
                    <a:pt x="85725" y="214089"/>
                    <a:pt x="85725" y="218242"/>
                  </a:cubicBezTo>
                  <a:cubicBezTo>
                    <a:pt x="85725" y="223957"/>
                    <a:pt x="81082" y="228600"/>
                    <a:pt x="75367" y="228600"/>
                  </a:cubicBezTo>
                  <a:lnTo>
                    <a:pt x="21431" y="228600"/>
                  </a:lnTo>
                  <a:cubicBezTo>
                    <a:pt x="9599" y="228600"/>
                    <a:pt x="0" y="219001"/>
                    <a:pt x="0" y="207169"/>
                  </a:cubicBezTo>
                  <a:lnTo>
                    <a:pt x="0" y="153233"/>
                  </a:lnTo>
                  <a:cubicBezTo>
                    <a:pt x="0" y="147518"/>
                    <a:pt x="4643" y="142875"/>
                    <a:pt x="10358" y="142875"/>
                  </a:cubicBezTo>
                  <a:cubicBezTo>
                    <a:pt x="14466" y="142875"/>
                    <a:pt x="18083" y="145465"/>
                    <a:pt x="20538" y="148769"/>
                  </a:cubicBezTo>
                  <a:cubicBezTo>
                    <a:pt x="24423" y="153948"/>
                    <a:pt x="29781" y="157163"/>
                    <a:pt x="35719" y="157163"/>
                  </a:cubicBezTo>
                  <a:cubicBezTo>
                    <a:pt x="47551" y="157163"/>
                    <a:pt x="57150" y="144348"/>
                    <a:pt x="57150" y="128588"/>
                  </a:cubicBezTo>
                  <a:cubicBezTo>
                    <a:pt x="57150" y="112827"/>
                    <a:pt x="47551" y="100013"/>
                    <a:pt x="35719" y="100013"/>
                  </a:cubicBezTo>
                  <a:cubicBezTo>
                    <a:pt x="29781" y="100013"/>
                    <a:pt x="24423" y="103227"/>
                    <a:pt x="20538" y="108406"/>
                  </a:cubicBezTo>
                  <a:cubicBezTo>
                    <a:pt x="18083" y="111710"/>
                    <a:pt x="14511" y="114300"/>
                    <a:pt x="10358" y="114300"/>
                  </a:cubicBezTo>
                  <a:cubicBezTo>
                    <a:pt x="4643" y="114300"/>
                    <a:pt x="0" y="109657"/>
                    <a:pt x="0" y="103942"/>
                  </a:cubicBezTo>
                  <a:lnTo>
                    <a:pt x="0" y="78581"/>
                  </a:lnTo>
                  <a:cubicBezTo>
                    <a:pt x="0" y="66749"/>
                    <a:pt x="9599" y="57150"/>
                    <a:pt x="21431" y="57150"/>
                  </a:cubicBezTo>
                  <a:lnTo>
                    <a:pt x="70009" y="57150"/>
                  </a:lnTo>
                  <a:cubicBezTo>
                    <a:pt x="76706" y="57150"/>
                    <a:pt x="82153" y="51703"/>
                    <a:pt x="82153" y="45006"/>
                  </a:cubicBezTo>
                  <a:cubicBezTo>
                    <a:pt x="82153" y="40764"/>
                    <a:pt x="79742" y="36969"/>
                    <a:pt x="76795" y="33888"/>
                  </a:cubicBezTo>
                  <a:cubicBezTo>
                    <a:pt x="73447" y="30361"/>
                    <a:pt x="71438" y="26075"/>
                    <a:pt x="71438" y="21431"/>
                  </a:cubicBezTo>
                  <a:cubicBezTo>
                    <a:pt x="71438" y="9599"/>
                    <a:pt x="84252" y="0"/>
                    <a:pt x="100013" y="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080658" y="2000250"/>
              <a:ext cx="202814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Расширение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027930" y="2321926"/>
              <a:ext cx="2156714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Метод интеграции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4450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525963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Без изменения типовой</a:t>
              </a:r>
              <a:endParaRPr lang="en-US" sz="1600" dirty="0"/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20A64C6B-560B-440D-8755-B4D80A491949}"/>
              </a:ext>
            </a:extLst>
          </p:cNvPr>
          <p:cNvGrpSpPr/>
          <p:nvPr/>
        </p:nvGrpSpPr>
        <p:grpSpPr>
          <a:xfrm>
            <a:off x="8128000" y="1143000"/>
            <a:ext cx="3686175" cy="2247900"/>
            <a:chOff x="8128000" y="1143000"/>
            <a:chExt cx="3686175" cy="2247900"/>
          </a:xfrm>
        </p:grpSpPr>
        <p:sp>
          <p:nvSpPr>
            <p:cNvPr id="20" name="Shape 18"/>
            <p:cNvSpPr/>
            <p:nvPr/>
          </p:nvSpPr>
          <p:spPr>
            <a:xfrm>
              <a:off x="81280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96647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9869487" y="15240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96364" y="89520"/>
                  </a:moveTo>
                  <a:cubicBezTo>
                    <a:pt x="192926" y="75724"/>
                    <a:pt x="186407" y="65321"/>
                    <a:pt x="172522" y="65321"/>
                  </a:cubicBezTo>
                  <a:lnTo>
                    <a:pt x="154618" y="65321"/>
                  </a:lnTo>
                  <a:lnTo>
                    <a:pt x="154618" y="86484"/>
                  </a:lnTo>
                  <a:cubicBezTo>
                    <a:pt x="154618" y="102915"/>
                    <a:pt x="140687" y="116756"/>
                    <a:pt x="124792" y="116756"/>
                  </a:cubicBezTo>
                  <a:lnTo>
                    <a:pt x="77108" y="116756"/>
                  </a:lnTo>
                  <a:cubicBezTo>
                    <a:pt x="64071" y="116756"/>
                    <a:pt x="53266" y="127918"/>
                    <a:pt x="53266" y="141000"/>
                  </a:cubicBezTo>
                  <a:lnTo>
                    <a:pt x="53266" y="186452"/>
                  </a:lnTo>
                  <a:cubicBezTo>
                    <a:pt x="53266" y="199400"/>
                    <a:pt x="64517" y="206990"/>
                    <a:pt x="77108" y="210696"/>
                  </a:cubicBezTo>
                  <a:cubicBezTo>
                    <a:pt x="92199" y="215116"/>
                    <a:pt x="106710" y="215920"/>
                    <a:pt x="124792" y="210696"/>
                  </a:cubicBezTo>
                  <a:cubicBezTo>
                    <a:pt x="136803" y="207213"/>
                    <a:pt x="148635" y="200204"/>
                    <a:pt x="148635" y="186452"/>
                  </a:cubicBezTo>
                  <a:lnTo>
                    <a:pt x="148635" y="168280"/>
                  </a:lnTo>
                  <a:lnTo>
                    <a:pt x="100995" y="168280"/>
                  </a:lnTo>
                  <a:lnTo>
                    <a:pt x="100995" y="162208"/>
                  </a:lnTo>
                  <a:lnTo>
                    <a:pt x="172522" y="162208"/>
                  </a:lnTo>
                  <a:cubicBezTo>
                    <a:pt x="186407" y="162208"/>
                    <a:pt x="191542" y="152519"/>
                    <a:pt x="196364" y="138008"/>
                  </a:cubicBezTo>
                  <a:cubicBezTo>
                    <a:pt x="201364" y="123051"/>
                    <a:pt x="201141" y="108674"/>
                    <a:pt x="196364" y="89520"/>
                  </a:cubicBezTo>
                  <a:close/>
                  <a:moveTo>
                    <a:pt x="127784" y="198552"/>
                  </a:moveTo>
                  <a:cubicBezTo>
                    <a:pt x="124386" y="198790"/>
                    <a:pt x="121139" y="197112"/>
                    <a:pt x="119367" y="194203"/>
                  </a:cubicBezTo>
                  <a:cubicBezTo>
                    <a:pt x="117595" y="191293"/>
                    <a:pt x="117595" y="187638"/>
                    <a:pt x="119367" y="184729"/>
                  </a:cubicBezTo>
                  <a:cubicBezTo>
                    <a:pt x="121139" y="181819"/>
                    <a:pt x="124386" y="180141"/>
                    <a:pt x="127784" y="180380"/>
                  </a:cubicBezTo>
                  <a:cubicBezTo>
                    <a:pt x="131182" y="180141"/>
                    <a:pt x="134429" y="181819"/>
                    <a:pt x="136201" y="184729"/>
                  </a:cubicBezTo>
                  <a:cubicBezTo>
                    <a:pt x="137972" y="187638"/>
                    <a:pt x="137972" y="191293"/>
                    <a:pt x="136201" y="194203"/>
                  </a:cubicBezTo>
                  <a:cubicBezTo>
                    <a:pt x="134429" y="197112"/>
                    <a:pt x="131182" y="198790"/>
                    <a:pt x="127784" y="198552"/>
                  </a:cubicBezTo>
                  <a:close/>
                  <a:moveTo>
                    <a:pt x="74920" y="110773"/>
                  </a:moveTo>
                  <a:lnTo>
                    <a:pt x="122605" y="110773"/>
                  </a:lnTo>
                  <a:cubicBezTo>
                    <a:pt x="135865" y="110773"/>
                    <a:pt x="146447" y="99834"/>
                    <a:pt x="146447" y="86529"/>
                  </a:cubicBezTo>
                  <a:lnTo>
                    <a:pt x="146447" y="41032"/>
                  </a:lnTo>
                  <a:cubicBezTo>
                    <a:pt x="146447" y="28084"/>
                    <a:pt x="135553" y="18395"/>
                    <a:pt x="122605" y="16207"/>
                  </a:cubicBezTo>
                  <a:cubicBezTo>
                    <a:pt x="106620" y="13573"/>
                    <a:pt x="89252" y="13707"/>
                    <a:pt x="74920" y="16252"/>
                  </a:cubicBezTo>
                  <a:cubicBezTo>
                    <a:pt x="54739" y="19824"/>
                    <a:pt x="51078" y="27280"/>
                    <a:pt x="51078" y="41077"/>
                  </a:cubicBezTo>
                  <a:lnTo>
                    <a:pt x="51078" y="59248"/>
                  </a:lnTo>
                  <a:lnTo>
                    <a:pt x="98807" y="59248"/>
                  </a:lnTo>
                  <a:lnTo>
                    <a:pt x="98807" y="65321"/>
                  </a:lnTo>
                  <a:lnTo>
                    <a:pt x="33174" y="65321"/>
                  </a:lnTo>
                  <a:cubicBezTo>
                    <a:pt x="19288" y="65321"/>
                    <a:pt x="7144" y="73670"/>
                    <a:pt x="3349" y="89520"/>
                  </a:cubicBezTo>
                  <a:cubicBezTo>
                    <a:pt x="-1027" y="107692"/>
                    <a:pt x="-1206" y="119033"/>
                    <a:pt x="3349" y="138008"/>
                  </a:cubicBezTo>
                  <a:cubicBezTo>
                    <a:pt x="6742" y="152117"/>
                    <a:pt x="14823" y="162208"/>
                    <a:pt x="28709" y="162208"/>
                  </a:cubicBezTo>
                  <a:lnTo>
                    <a:pt x="45095" y="162208"/>
                  </a:lnTo>
                  <a:lnTo>
                    <a:pt x="45095" y="140419"/>
                  </a:lnTo>
                  <a:cubicBezTo>
                    <a:pt x="45095" y="124658"/>
                    <a:pt x="58713" y="110773"/>
                    <a:pt x="74920" y="110773"/>
                  </a:cubicBezTo>
                  <a:close/>
                  <a:moveTo>
                    <a:pt x="71973" y="28888"/>
                  </a:moveTo>
                  <a:cubicBezTo>
                    <a:pt x="77000" y="28888"/>
                    <a:pt x="81082" y="32969"/>
                    <a:pt x="81082" y="37996"/>
                  </a:cubicBezTo>
                  <a:cubicBezTo>
                    <a:pt x="81082" y="43023"/>
                    <a:pt x="77000" y="47104"/>
                    <a:pt x="71973" y="47104"/>
                  </a:cubicBezTo>
                  <a:cubicBezTo>
                    <a:pt x="66946" y="47104"/>
                    <a:pt x="62865" y="43023"/>
                    <a:pt x="62865" y="37996"/>
                  </a:cubicBezTo>
                  <a:cubicBezTo>
                    <a:pt x="62865" y="32969"/>
                    <a:pt x="66946" y="28888"/>
                    <a:pt x="71973" y="288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8635604" y="2000250"/>
              <a:ext cx="266779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Python/FastAPI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9023350" y="2321926"/>
              <a:ext cx="1941042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Middleware слой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3185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8399462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Обработка запросов</a:t>
              </a:r>
              <a:endParaRPr lang="en-US" sz="1600" dirty="0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00449DA1-E5AB-455A-A17D-8C893119FA1A}"/>
              </a:ext>
            </a:extLst>
          </p:cNvPr>
          <p:cNvGrpSpPr/>
          <p:nvPr/>
        </p:nvGrpSpPr>
        <p:grpSpPr>
          <a:xfrm>
            <a:off x="381000" y="3581400"/>
            <a:ext cx="3686175" cy="2247900"/>
            <a:chOff x="381000" y="3581400"/>
            <a:chExt cx="3686175" cy="2247900"/>
          </a:xfrm>
        </p:grpSpPr>
        <p:sp>
          <p:nvSpPr>
            <p:cNvPr id="27" name="Shape 25"/>
            <p:cNvSpPr/>
            <p:nvPr/>
          </p:nvSpPr>
          <p:spPr>
            <a:xfrm>
              <a:off x="3810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19177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2108200" y="3962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3578" y="25003"/>
                  </a:moveTo>
                  <a:cubicBezTo>
                    <a:pt x="53578" y="11207"/>
                    <a:pt x="64785" y="0"/>
                    <a:pt x="78581" y="0"/>
                  </a:cubicBezTo>
                  <a:lnTo>
                    <a:pt x="89297" y="0"/>
                  </a:lnTo>
                  <a:cubicBezTo>
                    <a:pt x="97200" y="0"/>
                    <a:pt x="103584" y="6385"/>
                    <a:pt x="103584" y="14288"/>
                  </a:cubicBezTo>
                  <a:lnTo>
                    <a:pt x="103584" y="214313"/>
                  </a:lnTo>
                  <a:cubicBezTo>
                    <a:pt x="103584" y="222215"/>
                    <a:pt x="97200" y="228600"/>
                    <a:pt x="89297" y="228600"/>
                  </a:cubicBezTo>
                  <a:lnTo>
                    <a:pt x="75009" y="228600"/>
                  </a:lnTo>
                  <a:cubicBezTo>
                    <a:pt x="61704" y="228600"/>
                    <a:pt x="50497" y="219492"/>
                    <a:pt x="47327" y="207169"/>
                  </a:cubicBezTo>
                  <a:cubicBezTo>
                    <a:pt x="47015" y="207169"/>
                    <a:pt x="46747" y="207169"/>
                    <a:pt x="46434" y="207169"/>
                  </a:cubicBezTo>
                  <a:cubicBezTo>
                    <a:pt x="26700" y="207169"/>
                    <a:pt x="10716" y="191185"/>
                    <a:pt x="10716" y="171450"/>
                  </a:cubicBezTo>
                  <a:cubicBezTo>
                    <a:pt x="10716" y="163413"/>
                    <a:pt x="13395" y="156002"/>
                    <a:pt x="17859" y="150019"/>
                  </a:cubicBezTo>
                  <a:cubicBezTo>
                    <a:pt x="9198" y="143500"/>
                    <a:pt x="3572" y="133142"/>
                    <a:pt x="3572" y="121444"/>
                  </a:cubicBezTo>
                  <a:cubicBezTo>
                    <a:pt x="3572" y="107647"/>
                    <a:pt x="11430" y="95637"/>
                    <a:pt x="22860" y="89699"/>
                  </a:cubicBezTo>
                  <a:cubicBezTo>
                    <a:pt x="19690" y="84341"/>
                    <a:pt x="17859" y="78090"/>
                    <a:pt x="17859" y="71438"/>
                  </a:cubicBezTo>
                  <a:cubicBezTo>
                    <a:pt x="17859" y="51703"/>
                    <a:pt x="33844" y="35719"/>
                    <a:pt x="53578" y="35719"/>
                  </a:cubicBezTo>
                  <a:lnTo>
                    <a:pt x="53578" y="25003"/>
                  </a:lnTo>
                  <a:close/>
                  <a:moveTo>
                    <a:pt x="175022" y="25003"/>
                  </a:moveTo>
                  <a:lnTo>
                    <a:pt x="175022" y="35719"/>
                  </a:lnTo>
                  <a:cubicBezTo>
                    <a:pt x="194756" y="35719"/>
                    <a:pt x="210741" y="51703"/>
                    <a:pt x="210741" y="71438"/>
                  </a:cubicBezTo>
                  <a:cubicBezTo>
                    <a:pt x="210741" y="78135"/>
                    <a:pt x="208910" y="84386"/>
                    <a:pt x="205740" y="89699"/>
                  </a:cubicBezTo>
                  <a:cubicBezTo>
                    <a:pt x="217215" y="95637"/>
                    <a:pt x="225028" y="107603"/>
                    <a:pt x="225028" y="121444"/>
                  </a:cubicBezTo>
                  <a:cubicBezTo>
                    <a:pt x="225028" y="133142"/>
                    <a:pt x="219402" y="143500"/>
                    <a:pt x="210741" y="150019"/>
                  </a:cubicBezTo>
                  <a:cubicBezTo>
                    <a:pt x="215205" y="156002"/>
                    <a:pt x="217884" y="163413"/>
                    <a:pt x="217884" y="171450"/>
                  </a:cubicBezTo>
                  <a:cubicBezTo>
                    <a:pt x="217884" y="191185"/>
                    <a:pt x="201900" y="207169"/>
                    <a:pt x="182166" y="207169"/>
                  </a:cubicBezTo>
                  <a:cubicBezTo>
                    <a:pt x="181853" y="207169"/>
                    <a:pt x="181585" y="207169"/>
                    <a:pt x="181273" y="207169"/>
                  </a:cubicBezTo>
                  <a:cubicBezTo>
                    <a:pt x="178103" y="219492"/>
                    <a:pt x="166896" y="228600"/>
                    <a:pt x="153591" y="228600"/>
                  </a:cubicBezTo>
                  <a:lnTo>
                    <a:pt x="139303" y="228600"/>
                  </a:lnTo>
                  <a:cubicBezTo>
                    <a:pt x="131400" y="228600"/>
                    <a:pt x="125016" y="222215"/>
                    <a:pt x="125016" y="214313"/>
                  </a:cubicBezTo>
                  <a:lnTo>
                    <a:pt x="125016" y="14288"/>
                  </a:lnTo>
                  <a:cubicBezTo>
                    <a:pt x="125016" y="6385"/>
                    <a:pt x="131400" y="0"/>
                    <a:pt x="139303" y="0"/>
                  </a:cubicBezTo>
                  <a:lnTo>
                    <a:pt x="150019" y="0"/>
                  </a:lnTo>
                  <a:cubicBezTo>
                    <a:pt x="163815" y="0"/>
                    <a:pt x="175022" y="11207"/>
                    <a:pt x="175022" y="2500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1831678" y="4429125"/>
              <a:ext cx="78005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LLM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95521" y="4760326"/>
              <a:ext cx="2415520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GigaChat/YandexGPT</a:t>
              </a:r>
              <a:endParaRPr lang="en-US" sz="16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715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652463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Понимание запросов</a:t>
              </a:r>
              <a:endParaRPr lang="en-US" sz="1600" dirty="0"/>
            </a:p>
          </p:txBody>
        </p: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79EB8630-D8E6-4B3B-AE8A-9A086495FEDF}"/>
              </a:ext>
            </a:extLst>
          </p:cNvPr>
          <p:cNvGrpSpPr/>
          <p:nvPr/>
        </p:nvGrpSpPr>
        <p:grpSpPr>
          <a:xfrm>
            <a:off x="4254500" y="3581400"/>
            <a:ext cx="3686175" cy="2247900"/>
            <a:chOff x="4254500" y="3581400"/>
            <a:chExt cx="3686175" cy="2247900"/>
          </a:xfrm>
        </p:grpSpPr>
        <p:sp>
          <p:nvSpPr>
            <p:cNvPr id="34" name="Shape 32"/>
            <p:cNvSpPr/>
            <p:nvPr/>
          </p:nvSpPr>
          <p:spPr>
            <a:xfrm>
              <a:off x="42545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57912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6" name="Shape 34"/>
            <p:cNvSpPr/>
            <p:nvPr/>
          </p:nvSpPr>
          <p:spPr>
            <a:xfrm>
              <a:off x="5995988" y="39624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200025" y="91886"/>
                  </a:moveTo>
                  <a:cubicBezTo>
                    <a:pt x="193417" y="96262"/>
                    <a:pt x="185827" y="99789"/>
                    <a:pt x="177924" y="102602"/>
                  </a:cubicBezTo>
                  <a:cubicBezTo>
                    <a:pt x="156939" y="110103"/>
                    <a:pt x="129391" y="114300"/>
                    <a:pt x="100013" y="114300"/>
                  </a:cubicBezTo>
                  <a:cubicBezTo>
                    <a:pt x="70634" y="114300"/>
                    <a:pt x="43041" y="110058"/>
                    <a:pt x="22101" y="102602"/>
                  </a:cubicBezTo>
                  <a:cubicBezTo>
                    <a:pt x="14243" y="99789"/>
                    <a:pt x="6608" y="96262"/>
                    <a:pt x="0" y="91886"/>
                  </a:cubicBezTo>
                  <a:lnTo>
                    <a:pt x="0" y="128588"/>
                  </a:lnTo>
                  <a:cubicBezTo>
                    <a:pt x="0" y="148322"/>
                    <a:pt x="44782" y="164306"/>
                    <a:pt x="100013" y="164306"/>
                  </a:cubicBezTo>
                  <a:cubicBezTo>
                    <a:pt x="155243" y="164306"/>
                    <a:pt x="200025" y="148322"/>
                    <a:pt x="200025" y="128588"/>
                  </a:cubicBezTo>
                  <a:lnTo>
                    <a:pt x="200025" y="91886"/>
                  </a:lnTo>
                  <a:close/>
                  <a:moveTo>
                    <a:pt x="200025" y="57150"/>
                  </a:moveTo>
                  <a:lnTo>
                    <a:pt x="200025" y="35719"/>
                  </a:lnTo>
                  <a:cubicBezTo>
                    <a:pt x="200025" y="15984"/>
                    <a:pt x="155243" y="0"/>
                    <a:pt x="100013" y="0"/>
                  </a:cubicBezTo>
                  <a:cubicBezTo>
                    <a:pt x="44782" y="0"/>
                    <a:pt x="0" y="15984"/>
                    <a:pt x="0" y="35719"/>
                  </a:cubicBezTo>
                  <a:lnTo>
                    <a:pt x="0" y="57150"/>
                  </a:lnTo>
                  <a:cubicBezTo>
                    <a:pt x="0" y="76885"/>
                    <a:pt x="44782" y="92869"/>
                    <a:pt x="100013" y="92869"/>
                  </a:cubicBezTo>
                  <a:cubicBezTo>
                    <a:pt x="155243" y="92869"/>
                    <a:pt x="200025" y="76885"/>
                    <a:pt x="200025" y="57150"/>
                  </a:cubicBezTo>
                  <a:close/>
                  <a:moveTo>
                    <a:pt x="177924" y="174040"/>
                  </a:moveTo>
                  <a:cubicBezTo>
                    <a:pt x="156984" y="181496"/>
                    <a:pt x="129436" y="185738"/>
                    <a:pt x="100013" y="185738"/>
                  </a:cubicBezTo>
                  <a:cubicBezTo>
                    <a:pt x="70589" y="185738"/>
                    <a:pt x="43041" y="181496"/>
                    <a:pt x="22101" y="174040"/>
                  </a:cubicBezTo>
                  <a:cubicBezTo>
                    <a:pt x="14243" y="171227"/>
                    <a:pt x="6608" y="167700"/>
                    <a:pt x="0" y="163324"/>
                  </a:cubicBezTo>
                  <a:lnTo>
                    <a:pt x="0" y="192881"/>
                  </a:lnTo>
                  <a:cubicBezTo>
                    <a:pt x="0" y="212616"/>
                    <a:pt x="44782" y="228600"/>
                    <a:pt x="100013" y="228600"/>
                  </a:cubicBezTo>
                  <a:cubicBezTo>
                    <a:pt x="155243" y="228600"/>
                    <a:pt x="200025" y="212616"/>
                    <a:pt x="200025" y="192881"/>
                  </a:cubicBezTo>
                  <a:lnTo>
                    <a:pt x="200025" y="163324"/>
                  </a:lnTo>
                  <a:cubicBezTo>
                    <a:pt x="193417" y="167700"/>
                    <a:pt x="185827" y="171227"/>
                    <a:pt x="177924" y="17404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5681300" y="4429125"/>
              <a:ext cx="82685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RAG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823143" y="4760326"/>
              <a:ext cx="2544922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 по метаданным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4450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4525963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Точные ответы</a:t>
              </a:r>
              <a:endParaRPr lang="en-US" sz="16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5F560EE5-FE30-493C-A9E2-6AE213288CDC}"/>
              </a:ext>
            </a:extLst>
          </p:cNvPr>
          <p:cNvGrpSpPr/>
          <p:nvPr/>
        </p:nvGrpSpPr>
        <p:grpSpPr>
          <a:xfrm>
            <a:off x="8128000" y="3581400"/>
            <a:ext cx="3686175" cy="2247900"/>
            <a:chOff x="8128000" y="3581400"/>
            <a:chExt cx="3686175" cy="2247900"/>
          </a:xfrm>
        </p:grpSpPr>
        <p:sp>
          <p:nvSpPr>
            <p:cNvPr id="41" name="Shape 39"/>
            <p:cNvSpPr/>
            <p:nvPr/>
          </p:nvSpPr>
          <p:spPr>
            <a:xfrm>
              <a:off x="81280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96647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3" name="Shape 41"/>
            <p:cNvSpPr/>
            <p:nvPr/>
          </p:nvSpPr>
          <p:spPr>
            <a:xfrm>
              <a:off x="9855200" y="3962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67241"/>
                  </a:moveTo>
                  <a:lnTo>
                    <a:pt x="181541" y="110103"/>
                  </a:lnTo>
                  <a:cubicBezTo>
                    <a:pt x="177433" y="114211"/>
                    <a:pt x="171316" y="115416"/>
                    <a:pt x="165958" y="113184"/>
                  </a:cubicBezTo>
                  <a:cubicBezTo>
                    <a:pt x="160600" y="110951"/>
                    <a:pt x="157163" y="105772"/>
                    <a:pt x="157163" y="100013"/>
                  </a:cubicBezTo>
                  <a:lnTo>
                    <a:pt x="157163" y="71438"/>
                  </a:lnTo>
                  <a:lnTo>
                    <a:pt x="14288" y="71438"/>
                  </a:lnTo>
                  <a:cubicBezTo>
                    <a:pt x="6385" y="71438"/>
                    <a:pt x="0" y="65053"/>
                    <a:pt x="0" y="57150"/>
                  </a:cubicBezTo>
                  <a:cubicBezTo>
                    <a:pt x="0" y="49247"/>
                    <a:pt x="6385" y="42863"/>
                    <a:pt x="14288" y="42863"/>
                  </a:cubicBezTo>
                  <a:lnTo>
                    <a:pt x="157163" y="42863"/>
                  </a:lnTo>
                  <a:lnTo>
                    <a:pt x="157163" y="14288"/>
                  </a:lnTo>
                  <a:cubicBezTo>
                    <a:pt x="157163" y="8528"/>
                    <a:pt x="160645" y="3304"/>
                    <a:pt x="166003" y="1072"/>
                  </a:cubicBezTo>
                  <a:cubicBezTo>
                    <a:pt x="171361" y="-1161"/>
                    <a:pt x="177478" y="89"/>
                    <a:pt x="181585" y="4152"/>
                  </a:cubicBezTo>
                  <a:lnTo>
                    <a:pt x="224448" y="47015"/>
                  </a:lnTo>
                  <a:cubicBezTo>
                    <a:pt x="230029" y="52596"/>
                    <a:pt x="230029" y="61659"/>
                    <a:pt x="224448" y="67241"/>
                  </a:cubicBezTo>
                  <a:close/>
                  <a:moveTo>
                    <a:pt x="47015" y="224403"/>
                  </a:moveTo>
                  <a:lnTo>
                    <a:pt x="4152" y="181541"/>
                  </a:lnTo>
                  <a:cubicBezTo>
                    <a:pt x="-1429" y="175959"/>
                    <a:pt x="-1429" y="166896"/>
                    <a:pt x="4152" y="161315"/>
                  </a:cubicBezTo>
                  <a:lnTo>
                    <a:pt x="47015" y="118452"/>
                  </a:lnTo>
                  <a:cubicBezTo>
                    <a:pt x="51122" y="114345"/>
                    <a:pt x="57239" y="113139"/>
                    <a:pt x="62597" y="115372"/>
                  </a:cubicBezTo>
                  <a:cubicBezTo>
                    <a:pt x="67955" y="117604"/>
                    <a:pt x="71438" y="122828"/>
                    <a:pt x="71438" y="128588"/>
                  </a:cubicBezTo>
                  <a:lnTo>
                    <a:pt x="71438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cubicBezTo>
                    <a:pt x="228600" y="179353"/>
                    <a:pt x="222215" y="185738"/>
                    <a:pt x="214313" y="185738"/>
                  </a:cubicBezTo>
                  <a:lnTo>
                    <a:pt x="71438" y="185738"/>
                  </a:lnTo>
                  <a:lnTo>
                    <a:pt x="71438" y="214313"/>
                  </a:lnTo>
                  <a:cubicBezTo>
                    <a:pt x="71438" y="220072"/>
                    <a:pt x="67955" y="225296"/>
                    <a:pt x="62597" y="227528"/>
                  </a:cubicBezTo>
                  <a:cubicBezTo>
                    <a:pt x="57239" y="229761"/>
                    <a:pt x="51122" y="228511"/>
                    <a:pt x="47015" y="22444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9125645" y="4429125"/>
              <a:ext cx="188773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REST/JSON</a:t>
              </a:r>
              <a:endParaRPr lang="en-US" sz="1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9037319" y="4760326"/>
              <a:ext cx="2041689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Протокол обмена</a:t>
              </a:r>
              <a:endParaRPr lang="en-US" sz="16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83185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8399462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Интеграция API</a:t>
              </a:r>
              <a:endParaRPr lang="en-US" sz="1600" dirty="0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913BA758-68C5-4965-82EC-C5E601ACA5FF}"/>
              </a:ext>
            </a:extLst>
          </p:cNvPr>
          <p:cNvGrpSpPr/>
          <p:nvPr/>
        </p:nvGrpSpPr>
        <p:grpSpPr>
          <a:xfrm>
            <a:off x="381000" y="6019800"/>
            <a:ext cx="11430000" cy="685800"/>
            <a:chOff x="381000" y="6019800"/>
            <a:chExt cx="11430000" cy="685800"/>
          </a:xfrm>
        </p:grpSpPr>
        <p:sp>
          <p:nvSpPr>
            <p:cNvPr id="48" name="Shape 46"/>
            <p:cNvSpPr/>
            <p:nvPr/>
          </p:nvSpPr>
          <p:spPr>
            <a:xfrm>
              <a:off x="381000" y="6019800"/>
              <a:ext cx="11430000" cy="685800"/>
            </a:xfrm>
            <a:custGeom>
              <a:avLst/>
              <a:gdLst/>
              <a:ahLst/>
              <a:cxnLst/>
              <a:rect l="l" t="t" r="r" b="b"/>
              <a:pathLst>
                <a:path w="11430000" h="685800">
                  <a:moveTo>
                    <a:pt x="152398" y="0"/>
                  </a:moveTo>
                  <a:lnTo>
                    <a:pt x="11277602" y="0"/>
                  </a:lnTo>
                  <a:cubicBezTo>
                    <a:pt x="11361769" y="0"/>
                    <a:pt x="11430000" y="68231"/>
                    <a:pt x="11430000" y="152398"/>
                  </a:cubicBezTo>
                  <a:lnTo>
                    <a:pt x="11430000" y="533402"/>
                  </a:lnTo>
                  <a:cubicBezTo>
                    <a:pt x="11430000" y="617569"/>
                    <a:pt x="11361769" y="685800"/>
                    <a:pt x="11277602" y="685800"/>
                  </a:cubicBezTo>
                  <a:lnTo>
                    <a:pt x="152398" y="685800"/>
                  </a:lnTo>
                  <a:cubicBezTo>
                    <a:pt x="68287" y="685800"/>
                    <a:pt x="0" y="617513"/>
                    <a:pt x="0" y="533402"/>
                  </a:cubicBezTo>
                  <a:lnTo>
                    <a:pt x="0" y="152398"/>
                  </a:lnTo>
                  <a:cubicBezTo>
                    <a:pt x="0" y="68287"/>
                    <a:pt x="68287" y="0"/>
                    <a:pt x="1523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9" name="Shape 47"/>
            <p:cNvSpPr/>
            <p:nvPr/>
          </p:nvSpPr>
          <p:spPr>
            <a:xfrm>
              <a:off x="1967639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2516912" y="6184899"/>
              <a:ext cx="2590800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Современный стек</a:t>
              </a:r>
              <a:endParaRPr lang="en-US" sz="24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4702175" y="6223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9525" y="0"/>
                  </a:lnTo>
                  <a:lnTo>
                    <a:pt x="9525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4857651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5406924" y="6184899"/>
              <a:ext cx="2691553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Масштабируемость</a:t>
              </a:r>
              <a:endParaRPr lang="en-US" sz="24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7731261" y="6223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9525" y="0"/>
                  </a:lnTo>
                  <a:lnTo>
                    <a:pt x="9525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7896362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8445636" y="6184899"/>
              <a:ext cx="1727200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Надежность</a:t>
              </a:r>
              <a:endParaRPr lang="en-US" sz="2400" dirty="0"/>
            </a:p>
          </p:txBody>
        </p:sp>
      </p:grpSp>
      <p:sp>
        <p:nvSpPr>
          <p:cNvPr id="65" name="Text 7">
            <a:extLst>
              <a:ext uri="{FF2B5EF4-FFF2-40B4-BE49-F238E27FC236}">
                <a16:creationId xmlns:a16="http://schemas.microsoft.com/office/drawing/2014/main" id="{74B4705E-9E47-406F-9018-9082420C86FA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7</a:t>
            </a:r>
            <a:endParaRPr lang="en-US" sz="1600" dirty="0"/>
          </a:p>
        </p:txBody>
      </p:sp>
      <p:grpSp>
        <p:nvGrpSpPr>
          <p:cNvPr id="202" name="Группа 201">
            <a:extLst>
              <a:ext uri="{FF2B5EF4-FFF2-40B4-BE49-F238E27FC236}">
                <a16:creationId xmlns:a16="http://schemas.microsoft.com/office/drawing/2014/main" id="{50AD84CC-787B-48E0-97B5-10D986FEECE7}"/>
              </a:ext>
            </a:extLst>
          </p:cNvPr>
          <p:cNvGrpSpPr/>
          <p:nvPr/>
        </p:nvGrpSpPr>
        <p:grpSpPr>
          <a:xfrm>
            <a:off x="363700" y="-988850"/>
            <a:ext cx="5023276" cy="482510"/>
            <a:chOff x="344650" y="344650"/>
            <a:chExt cx="5023276" cy="482510"/>
          </a:xfrm>
        </p:grpSpPr>
        <p:sp>
          <p:nvSpPr>
            <p:cNvPr id="203" name="Shape 0">
              <a:extLst>
                <a:ext uri="{FF2B5EF4-FFF2-40B4-BE49-F238E27FC236}">
                  <a16:creationId xmlns:a16="http://schemas.microsoft.com/office/drawing/2014/main" id="{348E9510-98DD-49FF-9A65-F75AFEB2B679}"/>
                </a:ext>
              </a:extLst>
            </p:cNvPr>
            <p:cNvSpPr/>
            <p:nvPr/>
          </p:nvSpPr>
          <p:spPr>
            <a:xfrm>
              <a:off x="344650" y="344650"/>
              <a:ext cx="482510" cy="482510"/>
            </a:xfrm>
            <a:custGeom>
              <a:avLst/>
              <a:gdLst/>
              <a:ahLst/>
              <a:cxnLst/>
              <a:rect l="l" t="t" r="r" b="b"/>
              <a:pathLst>
                <a:path w="482510" h="482510">
                  <a:moveTo>
                    <a:pt x="103397" y="0"/>
                  </a:moveTo>
                  <a:lnTo>
                    <a:pt x="379113" y="0"/>
                  </a:lnTo>
                  <a:cubicBezTo>
                    <a:pt x="436218" y="0"/>
                    <a:pt x="482510" y="46292"/>
                    <a:pt x="482510" y="103397"/>
                  </a:cubicBezTo>
                  <a:lnTo>
                    <a:pt x="482510" y="379113"/>
                  </a:lnTo>
                  <a:cubicBezTo>
                    <a:pt x="482510" y="436218"/>
                    <a:pt x="436218" y="482510"/>
                    <a:pt x="379113" y="482510"/>
                  </a:cubicBezTo>
                  <a:lnTo>
                    <a:pt x="103397" y="482510"/>
                  </a:lnTo>
                  <a:cubicBezTo>
                    <a:pt x="46292" y="482510"/>
                    <a:pt x="0" y="436218"/>
                    <a:pt x="0" y="379113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04" name="Shape 1">
              <a:extLst>
                <a:ext uri="{FF2B5EF4-FFF2-40B4-BE49-F238E27FC236}">
                  <a16:creationId xmlns:a16="http://schemas.microsoft.com/office/drawing/2014/main" id="{23BB26C9-F941-4E65-A2A2-0F0150B28FB8}"/>
                </a:ext>
              </a:extLst>
            </p:cNvPr>
            <p:cNvSpPr/>
            <p:nvPr/>
          </p:nvSpPr>
          <p:spPr>
            <a:xfrm>
              <a:off x="456661" y="482510"/>
              <a:ext cx="258488" cy="206790"/>
            </a:xfrm>
            <a:custGeom>
              <a:avLst/>
              <a:gdLst/>
              <a:ahLst/>
              <a:cxnLst/>
              <a:rect l="l" t="t" r="r" b="b"/>
              <a:pathLst>
                <a:path w="258488" h="206790">
                  <a:moveTo>
                    <a:pt x="54929" y="51698"/>
                  </a:moveTo>
                  <a:cubicBezTo>
                    <a:pt x="54929" y="24948"/>
                    <a:pt x="76646" y="3231"/>
                    <a:pt x="103395" y="3231"/>
                  </a:cubicBezTo>
                  <a:cubicBezTo>
                    <a:pt x="130144" y="3231"/>
                    <a:pt x="151861" y="24948"/>
                    <a:pt x="151861" y="51698"/>
                  </a:cubicBezTo>
                  <a:cubicBezTo>
                    <a:pt x="151861" y="78447"/>
                    <a:pt x="130144" y="100164"/>
                    <a:pt x="103395" y="100164"/>
                  </a:cubicBezTo>
                  <a:cubicBezTo>
                    <a:pt x="76646" y="100164"/>
                    <a:pt x="54929" y="78447"/>
                    <a:pt x="54929" y="51698"/>
                  </a:cubicBezTo>
                  <a:close/>
                  <a:moveTo>
                    <a:pt x="19387" y="194795"/>
                  </a:moveTo>
                  <a:cubicBezTo>
                    <a:pt x="19387" y="155012"/>
                    <a:pt x="51617" y="122782"/>
                    <a:pt x="91400" y="122782"/>
                  </a:cubicBezTo>
                  <a:lnTo>
                    <a:pt x="115390" y="122782"/>
                  </a:lnTo>
                  <a:cubicBezTo>
                    <a:pt x="155173" y="122782"/>
                    <a:pt x="187404" y="155012"/>
                    <a:pt x="187404" y="194795"/>
                  </a:cubicBezTo>
                  <a:cubicBezTo>
                    <a:pt x="187404" y="201418"/>
                    <a:pt x="182032" y="206790"/>
                    <a:pt x="175408" y="206790"/>
                  </a:cubicBezTo>
                  <a:lnTo>
                    <a:pt x="31382" y="206790"/>
                  </a:lnTo>
                  <a:cubicBezTo>
                    <a:pt x="24758" y="206790"/>
                    <a:pt x="19387" y="201418"/>
                    <a:pt x="19387" y="194795"/>
                  </a:cubicBezTo>
                  <a:close/>
                  <a:moveTo>
                    <a:pt x="247340" y="53596"/>
                  </a:moveTo>
                  <a:lnTo>
                    <a:pt x="215029" y="105293"/>
                  </a:lnTo>
                  <a:cubicBezTo>
                    <a:pt x="213333" y="107999"/>
                    <a:pt x="210425" y="109696"/>
                    <a:pt x="207234" y="109857"/>
                  </a:cubicBezTo>
                  <a:cubicBezTo>
                    <a:pt x="204044" y="110019"/>
                    <a:pt x="200974" y="108565"/>
                    <a:pt x="199076" y="105980"/>
                  </a:cubicBezTo>
                  <a:lnTo>
                    <a:pt x="179689" y="80131"/>
                  </a:lnTo>
                  <a:cubicBezTo>
                    <a:pt x="176458" y="75850"/>
                    <a:pt x="177347" y="69792"/>
                    <a:pt x="181628" y="66561"/>
                  </a:cubicBezTo>
                  <a:cubicBezTo>
                    <a:pt x="185909" y="63329"/>
                    <a:pt x="191967" y="64218"/>
                    <a:pt x="195199" y="68499"/>
                  </a:cubicBezTo>
                  <a:lnTo>
                    <a:pt x="206103" y="83039"/>
                  </a:lnTo>
                  <a:lnTo>
                    <a:pt x="230902" y="43337"/>
                  </a:lnTo>
                  <a:cubicBezTo>
                    <a:pt x="233729" y="38814"/>
                    <a:pt x="239707" y="37400"/>
                    <a:pt x="244271" y="40268"/>
                  </a:cubicBezTo>
                  <a:cubicBezTo>
                    <a:pt x="248835" y="43135"/>
                    <a:pt x="250208" y="49072"/>
                    <a:pt x="247340" y="5363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05" name="Text 2">
              <a:extLst>
                <a:ext uri="{FF2B5EF4-FFF2-40B4-BE49-F238E27FC236}">
                  <a16:creationId xmlns:a16="http://schemas.microsoft.com/office/drawing/2014/main" id="{62CE4F13-0768-4407-A217-A271B60B4475}"/>
                </a:ext>
              </a:extLst>
            </p:cNvPr>
            <p:cNvSpPr/>
            <p:nvPr/>
          </p:nvSpPr>
          <p:spPr>
            <a:xfrm>
              <a:off x="965020" y="361883"/>
              <a:ext cx="4402906" cy="344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442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Пользовательские сценарии</a:t>
              </a:r>
              <a:endParaRPr lang="en-US" sz="1600" dirty="0"/>
            </a:p>
          </p:txBody>
        </p:sp>
        <p:sp>
          <p:nvSpPr>
            <p:cNvPr id="206" name="Shape 3">
              <a:extLst>
                <a:ext uri="{FF2B5EF4-FFF2-40B4-BE49-F238E27FC236}">
                  <a16:creationId xmlns:a16="http://schemas.microsoft.com/office/drawing/2014/main" id="{A8472E9C-7D9F-4F23-A772-AE81F36D3AB7}"/>
                </a:ext>
              </a:extLst>
            </p:cNvPr>
            <p:cNvSpPr/>
            <p:nvPr/>
          </p:nvSpPr>
          <p:spPr>
            <a:xfrm flipV="1">
              <a:off x="637602" y="779143"/>
              <a:ext cx="4730323" cy="45719"/>
            </a:xfrm>
            <a:custGeom>
              <a:avLst/>
              <a:gdLst/>
              <a:ahLst/>
              <a:cxnLst/>
              <a:rect l="l" t="t" r="r" b="b"/>
              <a:pathLst>
                <a:path w="827160" h="34465">
                  <a:moveTo>
                    <a:pt x="0" y="0"/>
                  </a:moveTo>
                  <a:lnTo>
                    <a:pt x="827160" y="0"/>
                  </a:lnTo>
                  <a:lnTo>
                    <a:pt x="827160" y="34465"/>
                  </a:lnTo>
                  <a:lnTo>
                    <a:pt x="0" y="34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207" name="Text 7">
            <a:extLst>
              <a:ext uri="{FF2B5EF4-FFF2-40B4-BE49-F238E27FC236}">
                <a16:creationId xmlns:a16="http://schemas.microsoft.com/office/drawing/2014/main" id="{44383EB3-6708-4AAB-86DD-7DC6342CE506}"/>
              </a:ext>
            </a:extLst>
          </p:cNvPr>
          <p:cNvSpPr/>
          <p:nvPr/>
        </p:nvSpPr>
        <p:spPr>
          <a:xfrm>
            <a:off x="11146313" y="-106918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8</a:t>
            </a:r>
            <a:endParaRPr lang="en-US" sz="1600" dirty="0"/>
          </a:p>
        </p:txBody>
      </p:sp>
      <p:grpSp>
        <p:nvGrpSpPr>
          <p:cNvPr id="208" name="Группа 207">
            <a:extLst>
              <a:ext uri="{FF2B5EF4-FFF2-40B4-BE49-F238E27FC236}">
                <a16:creationId xmlns:a16="http://schemas.microsoft.com/office/drawing/2014/main" id="{018B1AA7-8941-44C9-9B56-4F995648C0E1}"/>
              </a:ext>
            </a:extLst>
          </p:cNvPr>
          <p:cNvGrpSpPr/>
          <p:nvPr/>
        </p:nvGrpSpPr>
        <p:grpSpPr>
          <a:xfrm>
            <a:off x="-6322850" y="1033951"/>
            <a:ext cx="5669495" cy="5617797"/>
            <a:chOff x="344650" y="1033951"/>
            <a:chExt cx="5669495" cy="5617797"/>
          </a:xfrm>
        </p:grpSpPr>
        <p:sp>
          <p:nvSpPr>
            <p:cNvPr id="209" name="Shape 4">
              <a:extLst>
                <a:ext uri="{FF2B5EF4-FFF2-40B4-BE49-F238E27FC236}">
                  <a16:creationId xmlns:a16="http://schemas.microsoft.com/office/drawing/2014/main" id="{E2FDCBD1-543F-4FBC-90B9-3695484E94FB}"/>
                </a:ext>
              </a:extLst>
            </p:cNvPr>
            <p:cNvSpPr/>
            <p:nvPr/>
          </p:nvSpPr>
          <p:spPr>
            <a:xfrm>
              <a:off x="344650" y="1033951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10" name="Shape 5">
              <a:extLst>
                <a:ext uri="{FF2B5EF4-FFF2-40B4-BE49-F238E27FC236}">
                  <a16:creationId xmlns:a16="http://schemas.microsoft.com/office/drawing/2014/main" id="{74D5DE5D-ECA8-4F25-B86E-44E4861AA62C}"/>
                </a:ext>
              </a:extLst>
            </p:cNvPr>
            <p:cNvSpPr/>
            <p:nvPr/>
          </p:nvSpPr>
          <p:spPr>
            <a:xfrm>
              <a:off x="516975" y="1206276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1" name="Shape 6">
              <a:extLst>
                <a:ext uri="{FF2B5EF4-FFF2-40B4-BE49-F238E27FC236}">
                  <a16:creationId xmlns:a16="http://schemas.microsoft.com/office/drawing/2014/main" id="{A27B982F-4D87-4EFE-B329-3492AC606A96}"/>
                </a:ext>
              </a:extLst>
            </p:cNvPr>
            <p:cNvSpPr/>
            <p:nvPr/>
          </p:nvSpPr>
          <p:spPr>
            <a:xfrm>
              <a:off x="637603" y="1326903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21541" y="21541"/>
                  </a:moveTo>
                  <a:cubicBezTo>
                    <a:pt x="9660" y="21541"/>
                    <a:pt x="0" y="31200"/>
                    <a:pt x="0" y="43081"/>
                  </a:cubicBezTo>
                  <a:lnTo>
                    <a:pt x="0" y="129244"/>
                  </a:lnTo>
                  <a:cubicBezTo>
                    <a:pt x="0" y="141125"/>
                    <a:pt x="9660" y="150784"/>
                    <a:pt x="21541" y="150784"/>
                  </a:cubicBezTo>
                  <a:lnTo>
                    <a:pt x="150784" y="150784"/>
                  </a:lnTo>
                  <a:cubicBezTo>
                    <a:pt x="162665" y="150784"/>
                    <a:pt x="172325" y="141125"/>
                    <a:pt x="172325" y="129244"/>
                  </a:cubicBezTo>
                  <a:lnTo>
                    <a:pt x="172325" y="43081"/>
                  </a:lnTo>
                  <a:cubicBezTo>
                    <a:pt x="172325" y="31200"/>
                    <a:pt x="162665" y="21541"/>
                    <a:pt x="150784" y="21541"/>
                  </a:cubicBezTo>
                  <a:lnTo>
                    <a:pt x="21541" y="21541"/>
                  </a:lnTo>
                  <a:close/>
                  <a:moveTo>
                    <a:pt x="29618" y="43081"/>
                  </a:moveTo>
                  <a:lnTo>
                    <a:pt x="142707" y="43081"/>
                  </a:lnTo>
                  <a:cubicBezTo>
                    <a:pt x="147183" y="43081"/>
                    <a:pt x="150784" y="46683"/>
                    <a:pt x="150784" y="51159"/>
                  </a:cubicBezTo>
                  <a:cubicBezTo>
                    <a:pt x="150784" y="55635"/>
                    <a:pt x="147183" y="59237"/>
                    <a:pt x="142707" y="59237"/>
                  </a:cubicBezTo>
                  <a:lnTo>
                    <a:pt x="29618" y="59237"/>
                  </a:lnTo>
                  <a:cubicBezTo>
                    <a:pt x="25142" y="59237"/>
                    <a:pt x="21541" y="55635"/>
                    <a:pt x="21541" y="51159"/>
                  </a:cubicBezTo>
                  <a:cubicBezTo>
                    <a:pt x="21541" y="46683"/>
                    <a:pt x="25142" y="43081"/>
                    <a:pt x="29618" y="43081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12" name="Text 7">
              <a:extLst>
                <a:ext uri="{FF2B5EF4-FFF2-40B4-BE49-F238E27FC236}">
                  <a16:creationId xmlns:a16="http://schemas.microsoft.com/office/drawing/2014/main" id="{8D57B92F-6D5F-41B0-BDB6-6F5FBC4AC487}"/>
                </a:ext>
              </a:extLst>
            </p:cNvPr>
            <p:cNvSpPr/>
            <p:nvPr/>
          </p:nvSpPr>
          <p:spPr>
            <a:xfrm>
              <a:off x="1033951" y="1292438"/>
              <a:ext cx="1387217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Открыть форму</a:t>
              </a:r>
              <a:endParaRPr lang="en-US" sz="1600" dirty="0"/>
            </a:p>
          </p:txBody>
        </p:sp>
        <p:sp>
          <p:nvSpPr>
            <p:cNvPr id="213" name="Shape 8">
              <a:extLst>
                <a:ext uri="{FF2B5EF4-FFF2-40B4-BE49-F238E27FC236}">
                  <a16:creationId xmlns:a16="http://schemas.microsoft.com/office/drawing/2014/main" id="{59C91DED-9E3C-481B-B80E-7A83DC648FAD}"/>
                </a:ext>
              </a:extLst>
            </p:cNvPr>
            <p:cNvSpPr/>
            <p:nvPr/>
          </p:nvSpPr>
          <p:spPr>
            <a:xfrm>
              <a:off x="516975" y="1757716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4" name="Text 9">
              <a:extLst>
                <a:ext uri="{FF2B5EF4-FFF2-40B4-BE49-F238E27FC236}">
                  <a16:creationId xmlns:a16="http://schemas.microsoft.com/office/drawing/2014/main" id="{6E982672-C501-4C4B-894A-7A750874F36D}"/>
                </a:ext>
              </a:extLst>
            </p:cNvPr>
            <p:cNvSpPr/>
            <p:nvPr/>
          </p:nvSpPr>
          <p:spPr>
            <a:xfrm>
              <a:off x="654835" y="1895576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215" name="Shape 10">
              <a:extLst>
                <a:ext uri="{FF2B5EF4-FFF2-40B4-BE49-F238E27FC236}">
                  <a16:creationId xmlns:a16="http://schemas.microsoft.com/office/drawing/2014/main" id="{4F92121E-FEE8-4C6B-A2AB-D6402D224CA6}"/>
                </a:ext>
              </a:extLst>
            </p:cNvPr>
            <p:cNvSpPr/>
            <p:nvPr/>
          </p:nvSpPr>
          <p:spPr>
            <a:xfrm>
              <a:off x="654835" y="2136831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D700">
                <a:alpha val="20000"/>
              </a:srgbClr>
            </a:solidFill>
            <a:ln/>
          </p:spPr>
        </p:sp>
        <p:sp>
          <p:nvSpPr>
            <p:cNvPr id="216" name="Text 11">
              <a:extLst>
                <a:ext uri="{FF2B5EF4-FFF2-40B4-BE49-F238E27FC236}">
                  <a16:creationId xmlns:a16="http://schemas.microsoft.com/office/drawing/2014/main" id="{8F84AA6F-BEE2-4BB9-BA97-80CB4FF1B324}"/>
                </a:ext>
              </a:extLst>
            </p:cNvPr>
            <p:cNvSpPr/>
            <p:nvPr/>
          </p:nvSpPr>
          <p:spPr>
            <a:xfrm>
              <a:off x="654835" y="2136831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«Покажи реализации за сентябрь»</a:t>
              </a:r>
              <a:endParaRPr lang="en-US" sz="1600" dirty="0"/>
            </a:p>
          </p:txBody>
        </p:sp>
        <p:sp>
          <p:nvSpPr>
            <p:cNvPr id="217" name="Shape 12">
              <a:extLst>
                <a:ext uri="{FF2B5EF4-FFF2-40B4-BE49-F238E27FC236}">
                  <a16:creationId xmlns:a16="http://schemas.microsoft.com/office/drawing/2014/main" id="{F7266338-491F-46AB-A2C9-8B72B19EB0D1}"/>
                </a:ext>
              </a:extLst>
            </p:cNvPr>
            <p:cNvSpPr/>
            <p:nvPr/>
          </p:nvSpPr>
          <p:spPr>
            <a:xfrm>
              <a:off x="516975" y="2860596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8" name="Text 13">
              <a:extLst>
                <a:ext uri="{FF2B5EF4-FFF2-40B4-BE49-F238E27FC236}">
                  <a16:creationId xmlns:a16="http://schemas.microsoft.com/office/drawing/2014/main" id="{648E0F74-10E5-42FB-8BED-35F1252CD213}"/>
                </a:ext>
              </a:extLst>
            </p:cNvPr>
            <p:cNvSpPr/>
            <p:nvPr/>
          </p:nvSpPr>
          <p:spPr>
            <a:xfrm>
              <a:off x="654835" y="299845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219" name="Text 14">
              <a:extLst>
                <a:ext uri="{FF2B5EF4-FFF2-40B4-BE49-F238E27FC236}">
                  <a16:creationId xmlns:a16="http://schemas.microsoft.com/office/drawing/2014/main" id="{EE0961CB-D916-4501-8317-9565486A86DE}"/>
                </a:ext>
              </a:extLst>
            </p:cNvPr>
            <p:cNvSpPr/>
            <p:nvPr/>
          </p:nvSpPr>
          <p:spPr>
            <a:xfrm>
              <a:off x="654835" y="3239712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Открывает форму списка реализаций с установленным фильтром по дате</a:t>
              </a:r>
              <a:endParaRPr lang="en-US" sz="1600" dirty="0"/>
            </a:p>
          </p:txBody>
        </p:sp>
        <p:sp>
          <p:nvSpPr>
            <p:cNvPr id="220" name="Shape 26">
              <a:extLst>
                <a:ext uri="{FF2B5EF4-FFF2-40B4-BE49-F238E27FC236}">
                  <a16:creationId xmlns:a16="http://schemas.microsoft.com/office/drawing/2014/main" id="{1215AEEE-6D0A-48B5-AD4C-F4E230FDEC51}"/>
                </a:ext>
              </a:extLst>
            </p:cNvPr>
            <p:cNvSpPr/>
            <p:nvPr/>
          </p:nvSpPr>
          <p:spPr>
            <a:xfrm>
              <a:off x="344650" y="3929012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21" name="Shape 27">
              <a:extLst>
                <a:ext uri="{FF2B5EF4-FFF2-40B4-BE49-F238E27FC236}">
                  <a16:creationId xmlns:a16="http://schemas.microsoft.com/office/drawing/2014/main" id="{68F847B8-C210-40EB-BA30-8D0A0B27B66C}"/>
                </a:ext>
              </a:extLst>
            </p:cNvPr>
            <p:cNvSpPr/>
            <p:nvPr/>
          </p:nvSpPr>
          <p:spPr>
            <a:xfrm>
              <a:off x="516975" y="4101337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2" name="Shape 28">
              <a:extLst>
                <a:ext uri="{FF2B5EF4-FFF2-40B4-BE49-F238E27FC236}">
                  <a16:creationId xmlns:a16="http://schemas.microsoft.com/office/drawing/2014/main" id="{24014592-7A98-429D-91A0-94B8243FC4E9}"/>
                </a:ext>
              </a:extLst>
            </p:cNvPr>
            <p:cNvSpPr/>
            <p:nvPr/>
          </p:nvSpPr>
          <p:spPr>
            <a:xfrm>
              <a:off x="637603" y="4221965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86163" y="172325"/>
                  </a:moveTo>
                  <a:cubicBezTo>
                    <a:pt x="133717" y="172325"/>
                    <a:pt x="172325" y="133717"/>
                    <a:pt x="172325" y="86163"/>
                  </a:cubicBezTo>
                  <a:cubicBezTo>
                    <a:pt x="172325" y="38608"/>
                    <a:pt x="133717" y="0"/>
                    <a:pt x="86163" y="0"/>
                  </a:cubicBezTo>
                  <a:cubicBezTo>
                    <a:pt x="38608" y="0"/>
                    <a:pt x="0" y="38608"/>
                    <a:pt x="0" y="86163"/>
                  </a:cubicBezTo>
                  <a:cubicBezTo>
                    <a:pt x="0" y="133717"/>
                    <a:pt x="38608" y="172325"/>
                    <a:pt x="86163" y="172325"/>
                  </a:cubicBezTo>
                  <a:close/>
                  <a:moveTo>
                    <a:pt x="75392" y="53852"/>
                  </a:moveTo>
                  <a:cubicBezTo>
                    <a:pt x="75392" y="47907"/>
                    <a:pt x="80218" y="43081"/>
                    <a:pt x="86163" y="43081"/>
                  </a:cubicBezTo>
                  <a:cubicBezTo>
                    <a:pt x="92107" y="43081"/>
                    <a:pt x="96933" y="47907"/>
                    <a:pt x="96933" y="53852"/>
                  </a:cubicBezTo>
                  <a:cubicBezTo>
                    <a:pt x="96933" y="59796"/>
                    <a:pt x="92107" y="64622"/>
                    <a:pt x="86163" y="64622"/>
                  </a:cubicBezTo>
                  <a:cubicBezTo>
                    <a:pt x="80218" y="64622"/>
                    <a:pt x="75392" y="59796"/>
                    <a:pt x="75392" y="53852"/>
                  </a:cubicBezTo>
                  <a:close/>
                  <a:moveTo>
                    <a:pt x="72700" y="75392"/>
                  </a:moveTo>
                  <a:lnTo>
                    <a:pt x="88855" y="75392"/>
                  </a:lnTo>
                  <a:cubicBezTo>
                    <a:pt x="93332" y="75392"/>
                    <a:pt x="96933" y="78994"/>
                    <a:pt x="96933" y="83470"/>
                  </a:cubicBezTo>
                  <a:lnTo>
                    <a:pt x="96933" y="113088"/>
                  </a:lnTo>
                  <a:lnTo>
                    <a:pt x="99625" y="113088"/>
                  </a:lnTo>
                  <a:cubicBezTo>
                    <a:pt x="104102" y="113088"/>
                    <a:pt x="107703" y="116690"/>
                    <a:pt x="107703" y="121166"/>
                  </a:cubicBezTo>
                  <a:cubicBezTo>
                    <a:pt x="107703" y="125642"/>
                    <a:pt x="104102" y="129244"/>
                    <a:pt x="99625" y="129244"/>
                  </a:cubicBezTo>
                  <a:lnTo>
                    <a:pt x="72700" y="129244"/>
                  </a:lnTo>
                  <a:cubicBezTo>
                    <a:pt x="68223" y="129244"/>
                    <a:pt x="64622" y="125642"/>
                    <a:pt x="64622" y="121166"/>
                  </a:cubicBezTo>
                  <a:cubicBezTo>
                    <a:pt x="64622" y="116690"/>
                    <a:pt x="68223" y="113088"/>
                    <a:pt x="72700" y="113088"/>
                  </a:cubicBezTo>
                  <a:lnTo>
                    <a:pt x="80777" y="113088"/>
                  </a:lnTo>
                  <a:lnTo>
                    <a:pt x="80777" y="91548"/>
                  </a:lnTo>
                  <a:lnTo>
                    <a:pt x="72700" y="91548"/>
                  </a:lnTo>
                  <a:cubicBezTo>
                    <a:pt x="68223" y="91548"/>
                    <a:pt x="64622" y="87946"/>
                    <a:pt x="64622" y="83470"/>
                  </a:cubicBezTo>
                  <a:cubicBezTo>
                    <a:pt x="64622" y="78994"/>
                    <a:pt x="68223" y="75392"/>
                    <a:pt x="72700" y="7539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23" name="Text 29">
              <a:extLst>
                <a:ext uri="{FF2B5EF4-FFF2-40B4-BE49-F238E27FC236}">
                  <a16:creationId xmlns:a16="http://schemas.microsoft.com/office/drawing/2014/main" id="{6168FC73-0600-4A71-BC8E-CC3029018906}"/>
                </a:ext>
              </a:extLst>
            </p:cNvPr>
            <p:cNvSpPr/>
            <p:nvPr/>
          </p:nvSpPr>
          <p:spPr>
            <a:xfrm>
              <a:off x="1033951" y="4187500"/>
              <a:ext cx="1594007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Проверить статус</a:t>
              </a:r>
              <a:endParaRPr lang="en-US" sz="1600" dirty="0"/>
            </a:p>
          </p:txBody>
        </p:sp>
        <p:sp>
          <p:nvSpPr>
            <p:cNvPr id="224" name="Shape 30">
              <a:extLst>
                <a:ext uri="{FF2B5EF4-FFF2-40B4-BE49-F238E27FC236}">
                  <a16:creationId xmlns:a16="http://schemas.microsoft.com/office/drawing/2014/main" id="{03CAF9E4-513C-4C88-A871-9516F01D796F}"/>
                </a:ext>
              </a:extLst>
            </p:cNvPr>
            <p:cNvSpPr/>
            <p:nvPr/>
          </p:nvSpPr>
          <p:spPr>
            <a:xfrm>
              <a:off x="516975" y="4652777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5" name="Text 31">
              <a:extLst>
                <a:ext uri="{FF2B5EF4-FFF2-40B4-BE49-F238E27FC236}">
                  <a16:creationId xmlns:a16="http://schemas.microsoft.com/office/drawing/2014/main" id="{0F9CF541-60F3-4BC2-8F18-62EB5A043ECC}"/>
                </a:ext>
              </a:extLst>
            </p:cNvPr>
            <p:cNvSpPr/>
            <p:nvPr/>
          </p:nvSpPr>
          <p:spPr>
            <a:xfrm>
              <a:off x="654835" y="479063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226" name="Shape 32">
              <a:extLst>
                <a:ext uri="{FF2B5EF4-FFF2-40B4-BE49-F238E27FC236}">
                  <a16:creationId xmlns:a16="http://schemas.microsoft.com/office/drawing/2014/main" id="{B76B2C72-C715-4882-B193-B26F57D8F10F}"/>
                </a:ext>
              </a:extLst>
            </p:cNvPr>
            <p:cNvSpPr/>
            <p:nvPr/>
          </p:nvSpPr>
          <p:spPr>
            <a:xfrm>
              <a:off x="654835" y="5031893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6B35">
                <a:alpha val="20000"/>
              </a:srgbClr>
            </a:solidFill>
            <a:ln/>
          </p:spPr>
        </p:sp>
        <p:sp>
          <p:nvSpPr>
            <p:cNvPr id="227" name="Text 33">
              <a:extLst>
                <a:ext uri="{FF2B5EF4-FFF2-40B4-BE49-F238E27FC236}">
                  <a16:creationId xmlns:a16="http://schemas.microsoft.com/office/drawing/2014/main" id="{87869CB3-977F-459D-BC29-31F0E06B5D31}"/>
                </a:ext>
              </a:extLst>
            </p:cNvPr>
            <p:cNvSpPr/>
            <p:nvPr/>
          </p:nvSpPr>
          <p:spPr>
            <a:xfrm>
              <a:off x="654835" y="5031893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«Какие заказы в работе?»</a:t>
              </a:r>
              <a:endParaRPr lang="en-US" sz="1600" dirty="0"/>
            </a:p>
          </p:txBody>
        </p:sp>
        <p:sp>
          <p:nvSpPr>
            <p:cNvPr id="228" name="Shape 34">
              <a:extLst>
                <a:ext uri="{FF2B5EF4-FFF2-40B4-BE49-F238E27FC236}">
                  <a16:creationId xmlns:a16="http://schemas.microsoft.com/office/drawing/2014/main" id="{6D39353A-0F2E-49D1-9173-F93103AB70AD}"/>
                </a:ext>
              </a:extLst>
            </p:cNvPr>
            <p:cNvSpPr/>
            <p:nvPr/>
          </p:nvSpPr>
          <p:spPr>
            <a:xfrm>
              <a:off x="516975" y="5755658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9" name="Text 35">
              <a:extLst>
                <a:ext uri="{FF2B5EF4-FFF2-40B4-BE49-F238E27FC236}">
                  <a16:creationId xmlns:a16="http://schemas.microsoft.com/office/drawing/2014/main" id="{B8ED7712-A73C-48B9-A957-0E55E147D321}"/>
                </a:ext>
              </a:extLst>
            </p:cNvPr>
            <p:cNvSpPr/>
            <p:nvPr/>
          </p:nvSpPr>
          <p:spPr>
            <a:xfrm>
              <a:off x="654835" y="5893518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230" name="Text 36">
              <a:extLst>
                <a:ext uri="{FF2B5EF4-FFF2-40B4-BE49-F238E27FC236}">
                  <a16:creationId xmlns:a16="http://schemas.microsoft.com/office/drawing/2014/main" id="{AF7DD9B4-2DE6-4917-9D5F-28F2640398E0}"/>
                </a:ext>
              </a:extLst>
            </p:cNvPr>
            <p:cNvSpPr/>
            <p:nvPr/>
          </p:nvSpPr>
          <p:spPr>
            <a:xfrm>
              <a:off x="654835" y="6134773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Формирует отчет по заказам покупателей в статусе «В работе»</a:t>
              </a:r>
              <a:endParaRPr lang="en-US" sz="1600" dirty="0"/>
            </a:p>
          </p:txBody>
        </p:sp>
      </p:grpSp>
      <p:grpSp>
        <p:nvGrpSpPr>
          <p:cNvPr id="231" name="Группа 230">
            <a:extLst>
              <a:ext uri="{FF2B5EF4-FFF2-40B4-BE49-F238E27FC236}">
                <a16:creationId xmlns:a16="http://schemas.microsoft.com/office/drawing/2014/main" id="{B65A147B-007D-4EE3-AEAA-ABF163CE011D}"/>
              </a:ext>
            </a:extLst>
          </p:cNvPr>
          <p:cNvGrpSpPr/>
          <p:nvPr/>
        </p:nvGrpSpPr>
        <p:grpSpPr>
          <a:xfrm>
            <a:off x="12405737" y="1033951"/>
            <a:ext cx="5669495" cy="5617797"/>
            <a:chOff x="6182737" y="1033951"/>
            <a:chExt cx="5669495" cy="5617797"/>
          </a:xfrm>
        </p:grpSpPr>
        <p:sp>
          <p:nvSpPr>
            <p:cNvPr id="232" name="Shape 15">
              <a:extLst>
                <a:ext uri="{FF2B5EF4-FFF2-40B4-BE49-F238E27FC236}">
                  <a16:creationId xmlns:a16="http://schemas.microsoft.com/office/drawing/2014/main" id="{F36D550F-E6CD-4D8C-B002-78BE64E26C37}"/>
                </a:ext>
              </a:extLst>
            </p:cNvPr>
            <p:cNvSpPr/>
            <p:nvPr/>
          </p:nvSpPr>
          <p:spPr>
            <a:xfrm>
              <a:off x="6182737" y="1033951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33" name="Shape 16">
              <a:extLst>
                <a:ext uri="{FF2B5EF4-FFF2-40B4-BE49-F238E27FC236}">
                  <a16:creationId xmlns:a16="http://schemas.microsoft.com/office/drawing/2014/main" id="{C591E081-675A-4D05-92A7-486A8AA196C0}"/>
                </a:ext>
              </a:extLst>
            </p:cNvPr>
            <p:cNvSpPr/>
            <p:nvPr/>
          </p:nvSpPr>
          <p:spPr>
            <a:xfrm>
              <a:off x="6355062" y="1206276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4" name="Shape 17">
              <a:extLst>
                <a:ext uri="{FF2B5EF4-FFF2-40B4-BE49-F238E27FC236}">
                  <a16:creationId xmlns:a16="http://schemas.microsoft.com/office/drawing/2014/main" id="{739626AD-EC14-48DB-A674-E52DA510084E}"/>
                </a:ext>
              </a:extLst>
            </p:cNvPr>
            <p:cNvSpPr/>
            <p:nvPr/>
          </p:nvSpPr>
          <p:spPr>
            <a:xfrm>
              <a:off x="6475689" y="1326903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140014" y="70007"/>
                  </a:moveTo>
                  <a:cubicBezTo>
                    <a:pt x="140014" y="85456"/>
                    <a:pt x="134999" y="99726"/>
                    <a:pt x="126551" y="111305"/>
                  </a:cubicBezTo>
                  <a:lnTo>
                    <a:pt x="169161" y="153948"/>
                  </a:lnTo>
                  <a:cubicBezTo>
                    <a:pt x="173368" y="158155"/>
                    <a:pt x="173368" y="164988"/>
                    <a:pt x="169161" y="169195"/>
                  </a:cubicBezTo>
                  <a:cubicBezTo>
                    <a:pt x="164954" y="173402"/>
                    <a:pt x="158122" y="173402"/>
                    <a:pt x="153915" y="169195"/>
                  </a:cubicBezTo>
                  <a:lnTo>
                    <a:pt x="111305" y="126551"/>
                  </a:lnTo>
                  <a:cubicBezTo>
                    <a:pt x="99726" y="134999"/>
                    <a:pt x="85456" y="140014"/>
                    <a:pt x="70007" y="140014"/>
                  </a:cubicBezTo>
                  <a:cubicBezTo>
                    <a:pt x="31335" y="140014"/>
                    <a:pt x="0" y="108679"/>
                    <a:pt x="0" y="70007"/>
                  </a:cubicBezTo>
                  <a:cubicBezTo>
                    <a:pt x="0" y="31335"/>
                    <a:pt x="31335" y="0"/>
                    <a:pt x="70007" y="0"/>
                  </a:cubicBezTo>
                  <a:cubicBezTo>
                    <a:pt x="108679" y="0"/>
                    <a:pt x="140014" y="31335"/>
                    <a:pt x="140014" y="70007"/>
                  </a:cubicBezTo>
                  <a:close/>
                  <a:moveTo>
                    <a:pt x="70007" y="118473"/>
                  </a:moveTo>
                  <a:cubicBezTo>
                    <a:pt x="96756" y="118473"/>
                    <a:pt x="118473" y="96756"/>
                    <a:pt x="118473" y="70007"/>
                  </a:cubicBezTo>
                  <a:cubicBezTo>
                    <a:pt x="118473" y="43258"/>
                    <a:pt x="96756" y="21541"/>
                    <a:pt x="70007" y="21541"/>
                  </a:cubicBezTo>
                  <a:cubicBezTo>
                    <a:pt x="43258" y="21541"/>
                    <a:pt x="21541" y="43258"/>
                    <a:pt x="21541" y="70007"/>
                  </a:cubicBezTo>
                  <a:cubicBezTo>
                    <a:pt x="21541" y="96756"/>
                    <a:pt x="43258" y="118473"/>
                    <a:pt x="70007" y="11847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35" name="Text 18">
              <a:extLst>
                <a:ext uri="{FF2B5EF4-FFF2-40B4-BE49-F238E27FC236}">
                  <a16:creationId xmlns:a16="http://schemas.microsoft.com/office/drawing/2014/main" id="{EE21656C-F0B5-454C-9768-1F8B1B476367}"/>
                </a:ext>
              </a:extLst>
            </p:cNvPr>
            <p:cNvSpPr/>
            <p:nvPr/>
          </p:nvSpPr>
          <p:spPr>
            <a:xfrm>
              <a:off x="6872037" y="1292438"/>
              <a:ext cx="1447531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Найти документ</a:t>
              </a:r>
              <a:endParaRPr lang="en-US" sz="1600" dirty="0"/>
            </a:p>
          </p:txBody>
        </p:sp>
        <p:sp>
          <p:nvSpPr>
            <p:cNvPr id="236" name="Shape 19">
              <a:extLst>
                <a:ext uri="{FF2B5EF4-FFF2-40B4-BE49-F238E27FC236}">
                  <a16:creationId xmlns:a16="http://schemas.microsoft.com/office/drawing/2014/main" id="{F34C2A90-AFB2-4B57-AFDB-107832962589}"/>
                </a:ext>
              </a:extLst>
            </p:cNvPr>
            <p:cNvSpPr/>
            <p:nvPr/>
          </p:nvSpPr>
          <p:spPr>
            <a:xfrm>
              <a:off x="6355062" y="1757716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7" name="Text 20">
              <a:extLst>
                <a:ext uri="{FF2B5EF4-FFF2-40B4-BE49-F238E27FC236}">
                  <a16:creationId xmlns:a16="http://schemas.microsoft.com/office/drawing/2014/main" id="{61232C32-A77A-4C56-8776-D05B4790A47C}"/>
                </a:ext>
              </a:extLst>
            </p:cNvPr>
            <p:cNvSpPr/>
            <p:nvPr/>
          </p:nvSpPr>
          <p:spPr>
            <a:xfrm>
              <a:off x="6492922" y="1895576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238" name="Shape 21">
              <a:extLst>
                <a:ext uri="{FF2B5EF4-FFF2-40B4-BE49-F238E27FC236}">
                  <a16:creationId xmlns:a16="http://schemas.microsoft.com/office/drawing/2014/main" id="{888F86E0-9D2E-44CE-A1DE-B2845663D70B}"/>
                </a:ext>
              </a:extLst>
            </p:cNvPr>
            <p:cNvSpPr/>
            <p:nvPr/>
          </p:nvSpPr>
          <p:spPr>
            <a:xfrm>
              <a:off x="6492922" y="2136831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D700">
                <a:alpha val="20000"/>
              </a:srgbClr>
            </a:solidFill>
            <a:ln/>
          </p:spPr>
        </p:sp>
        <p:sp>
          <p:nvSpPr>
            <p:cNvPr id="239" name="Text 22">
              <a:extLst>
                <a:ext uri="{FF2B5EF4-FFF2-40B4-BE49-F238E27FC236}">
                  <a16:creationId xmlns:a16="http://schemas.microsoft.com/office/drawing/2014/main" id="{7A5B6C34-C8D3-4C67-80B7-6E9DEB6187FA}"/>
                </a:ext>
              </a:extLst>
            </p:cNvPr>
            <p:cNvSpPr/>
            <p:nvPr/>
          </p:nvSpPr>
          <p:spPr>
            <a:xfrm>
              <a:off x="6492922" y="2136831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«Найди счет от ООО Ромашка»</a:t>
              </a:r>
              <a:endParaRPr lang="en-US" sz="1600" dirty="0"/>
            </a:p>
          </p:txBody>
        </p:sp>
        <p:sp>
          <p:nvSpPr>
            <p:cNvPr id="240" name="Shape 23">
              <a:extLst>
                <a:ext uri="{FF2B5EF4-FFF2-40B4-BE49-F238E27FC236}">
                  <a16:creationId xmlns:a16="http://schemas.microsoft.com/office/drawing/2014/main" id="{0B0BE106-078D-4AA0-A8D8-62595A7B923B}"/>
                </a:ext>
              </a:extLst>
            </p:cNvPr>
            <p:cNvSpPr/>
            <p:nvPr/>
          </p:nvSpPr>
          <p:spPr>
            <a:xfrm>
              <a:off x="6355062" y="2860596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41" name="Text 24">
              <a:extLst>
                <a:ext uri="{FF2B5EF4-FFF2-40B4-BE49-F238E27FC236}">
                  <a16:creationId xmlns:a16="http://schemas.microsoft.com/office/drawing/2014/main" id="{A0F4CAB4-3B87-4757-AE48-2FB154BE281D}"/>
                </a:ext>
              </a:extLst>
            </p:cNvPr>
            <p:cNvSpPr/>
            <p:nvPr/>
          </p:nvSpPr>
          <p:spPr>
            <a:xfrm>
              <a:off x="6492922" y="299845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242" name="Text 25">
              <a:extLst>
                <a:ext uri="{FF2B5EF4-FFF2-40B4-BE49-F238E27FC236}">
                  <a16:creationId xmlns:a16="http://schemas.microsoft.com/office/drawing/2014/main" id="{C818EA7A-325E-4A1C-B982-750B6982B89F}"/>
                </a:ext>
              </a:extLst>
            </p:cNvPr>
            <p:cNvSpPr/>
            <p:nvPr/>
          </p:nvSpPr>
          <p:spPr>
            <a:xfrm>
              <a:off x="6492922" y="3239712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Ищет счета по контрагенту и показывает список найденных документов</a:t>
              </a:r>
              <a:endParaRPr lang="en-US" sz="1600" dirty="0"/>
            </a:p>
          </p:txBody>
        </p:sp>
        <p:sp>
          <p:nvSpPr>
            <p:cNvPr id="243" name="Shape 37">
              <a:extLst>
                <a:ext uri="{FF2B5EF4-FFF2-40B4-BE49-F238E27FC236}">
                  <a16:creationId xmlns:a16="http://schemas.microsoft.com/office/drawing/2014/main" id="{38F0ED6B-8DD2-4968-BC37-77C9A8984428}"/>
                </a:ext>
              </a:extLst>
            </p:cNvPr>
            <p:cNvSpPr/>
            <p:nvPr/>
          </p:nvSpPr>
          <p:spPr>
            <a:xfrm>
              <a:off x="6182737" y="3929012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44" name="Shape 38">
              <a:extLst>
                <a:ext uri="{FF2B5EF4-FFF2-40B4-BE49-F238E27FC236}">
                  <a16:creationId xmlns:a16="http://schemas.microsoft.com/office/drawing/2014/main" id="{4F2646FB-110B-4B32-AD99-E761023FAF5C}"/>
                </a:ext>
              </a:extLst>
            </p:cNvPr>
            <p:cNvSpPr/>
            <p:nvPr/>
          </p:nvSpPr>
          <p:spPr>
            <a:xfrm>
              <a:off x="6355062" y="4101337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45" name="Shape 39">
              <a:extLst>
                <a:ext uri="{FF2B5EF4-FFF2-40B4-BE49-F238E27FC236}">
                  <a16:creationId xmlns:a16="http://schemas.microsoft.com/office/drawing/2014/main" id="{A2FE356D-BF1C-4E91-B86B-70139C863C81}"/>
                </a:ext>
              </a:extLst>
            </p:cNvPr>
            <p:cNvSpPr/>
            <p:nvPr/>
          </p:nvSpPr>
          <p:spPr>
            <a:xfrm>
              <a:off x="6475689" y="4221965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75392" y="0"/>
                  </a:moveTo>
                  <a:lnTo>
                    <a:pt x="75392" y="21541"/>
                  </a:lnTo>
                  <a:cubicBezTo>
                    <a:pt x="75392" y="24502"/>
                    <a:pt x="77816" y="26926"/>
                    <a:pt x="80777" y="26926"/>
                  </a:cubicBezTo>
                  <a:lnTo>
                    <a:pt x="91548" y="26926"/>
                  </a:lnTo>
                  <a:cubicBezTo>
                    <a:pt x="94510" y="26926"/>
                    <a:pt x="96933" y="24502"/>
                    <a:pt x="96933" y="21541"/>
                  </a:cubicBezTo>
                  <a:lnTo>
                    <a:pt x="96933" y="0"/>
                  </a:lnTo>
                  <a:lnTo>
                    <a:pt x="107703" y="0"/>
                  </a:lnTo>
                  <a:cubicBezTo>
                    <a:pt x="119584" y="0"/>
                    <a:pt x="129244" y="9660"/>
                    <a:pt x="129244" y="21541"/>
                  </a:cubicBezTo>
                  <a:lnTo>
                    <a:pt x="129244" y="64622"/>
                  </a:lnTo>
                  <a:cubicBezTo>
                    <a:pt x="129244" y="66473"/>
                    <a:pt x="129008" y="68291"/>
                    <a:pt x="128571" y="70007"/>
                  </a:cubicBezTo>
                  <a:lnTo>
                    <a:pt x="43754" y="70007"/>
                  </a:lnTo>
                  <a:cubicBezTo>
                    <a:pt x="43317" y="68291"/>
                    <a:pt x="43081" y="66473"/>
                    <a:pt x="43081" y="64622"/>
                  </a:cubicBezTo>
                  <a:lnTo>
                    <a:pt x="43081" y="21541"/>
                  </a:lnTo>
                  <a:cubicBezTo>
                    <a:pt x="43081" y="9660"/>
                    <a:pt x="52741" y="0"/>
                    <a:pt x="64622" y="0"/>
                  </a:cubicBezTo>
                  <a:lnTo>
                    <a:pt x="75392" y="0"/>
                  </a:lnTo>
                  <a:close/>
                  <a:moveTo>
                    <a:pt x="107703" y="172325"/>
                  </a:moveTo>
                  <a:cubicBezTo>
                    <a:pt x="103934" y="172325"/>
                    <a:pt x="100366" y="171349"/>
                    <a:pt x="97269" y="169633"/>
                  </a:cubicBezTo>
                  <a:cubicBezTo>
                    <a:pt x="100467" y="164079"/>
                    <a:pt x="102318" y="157651"/>
                    <a:pt x="102318" y="150784"/>
                  </a:cubicBezTo>
                  <a:lnTo>
                    <a:pt x="102318" y="107703"/>
                  </a:lnTo>
                  <a:cubicBezTo>
                    <a:pt x="102318" y="100837"/>
                    <a:pt x="100467" y="94409"/>
                    <a:pt x="97269" y="88855"/>
                  </a:cubicBezTo>
                  <a:cubicBezTo>
                    <a:pt x="100366" y="87139"/>
                    <a:pt x="103900" y="86163"/>
                    <a:pt x="107703" y="86163"/>
                  </a:cubicBezTo>
                  <a:lnTo>
                    <a:pt x="118473" y="86163"/>
                  </a:lnTo>
                  <a:lnTo>
                    <a:pt x="118473" y="107703"/>
                  </a:lnTo>
                  <a:cubicBezTo>
                    <a:pt x="118473" y="110665"/>
                    <a:pt x="120897" y="113088"/>
                    <a:pt x="123859" y="113088"/>
                  </a:cubicBezTo>
                  <a:lnTo>
                    <a:pt x="134629" y="113088"/>
                  </a:lnTo>
                  <a:cubicBezTo>
                    <a:pt x="137591" y="113088"/>
                    <a:pt x="140014" y="110665"/>
                    <a:pt x="140014" y="107703"/>
                  </a:cubicBezTo>
                  <a:lnTo>
                    <a:pt x="140014" y="86163"/>
                  </a:lnTo>
                  <a:lnTo>
                    <a:pt x="150784" y="86163"/>
                  </a:lnTo>
                  <a:cubicBezTo>
                    <a:pt x="162665" y="86163"/>
                    <a:pt x="172325" y="95822"/>
                    <a:pt x="172325" y="107703"/>
                  </a:cubicBezTo>
                  <a:lnTo>
                    <a:pt x="172325" y="150784"/>
                  </a:lnTo>
                  <a:cubicBezTo>
                    <a:pt x="172325" y="162665"/>
                    <a:pt x="162665" y="172325"/>
                    <a:pt x="150784" y="172325"/>
                  </a:cubicBezTo>
                  <a:lnTo>
                    <a:pt x="107703" y="172325"/>
                  </a:lnTo>
                  <a:close/>
                  <a:moveTo>
                    <a:pt x="0" y="107703"/>
                  </a:moveTo>
                  <a:cubicBezTo>
                    <a:pt x="0" y="95822"/>
                    <a:pt x="9660" y="86163"/>
                    <a:pt x="21541" y="86163"/>
                  </a:cubicBezTo>
                  <a:lnTo>
                    <a:pt x="32311" y="86163"/>
                  </a:lnTo>
                  <a:lnTo>
                    <a:pt x="32311" y="107703"/>
                  </a:lnTo>
                  <a:cubicBezTo>
                    <a:pt x="32311" y="110665"/>
                    <a:pt x="34734" y="113088"/>
                    <a:pt x="37696" y="113088"/>
                  </a:cubicBezTo>
                  <a:lnTo>
                    <a:pt x="48466" y="113088"/>
                  </a:lnTo>
                  <a:cubicBezTo>
                    <a:pt x="51428" y="113088"/>
                    <a:pt x="53852" y="110665"/>
                    <a:pt x="53852" y="107703"/>
                  </a:cubicBezTo>
                  <a:lnTo>
                    <a:pt x="53852" y="86163"/>
                  </a:lnTo>
                  <a:lnTo>
                    <a:pt x="64622" y="86163"/>
                  </a:lnTo>
                  <a:cubicBezTo>
                    <a:pt x="76503" y="86163"/>
                    <a:pt x="86163" y="95822"/>
                    <a:pt x="86163" y="107703"/>
                  </a:cubicBezTo>
                  <a:lnTo>
                    <a:pt x="86163" y="150784"/>
                  </a:lnTo>
                  <a:cubicBezTo>
                    <a:pt x="86163" y="162665"/>
                    <a:pt x="76503" y="172325"/>
                    <a:pt x="64622" y="172325"/>
                  </a:cubicBezTo>
                  <a:lnTo>
                    <a:pt x="21541" y="172325"/>
                  </a:lnTo>
                  <a:cubicBezTo>
                    <a:pt x="9660" y="172325"/>
                    <a:pt x="0" y="162665"/>
                    <a:pt x="0" y="150784"/>
                  </a:cubicBezTo>
                  <a:lnTo>
                    <a:pt x="0" y="107703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46" name="Text 40">
              <a:extLst>
                <a:ext uri="{FF2B5EF4-FFF2-40B4-BE49-F238E27FC236}">
                  <a16:creationId xmlns:a16="http://schemas.microsoft.com/office/drawing/2014/main" id="{D41DBBCA-0FE2-4C5B-8C1D-D3D57509C0FB}"/>
                </a:ext>
              </a:extLst>
            </p:cNvPr>
            <p:cNvSpPr/>
            <p:nvPr/>
          </p:nvSpPr>
          <p:spPr>
            <a:xfrm>
              <a:off x="6872037" y="4187500"/>
              <a:ext cx="1542310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Получить данные</a:t>
              </a:r>
              <a:endParaRPr lang="en-US" sz="1600" dirty="0"/>
            </a:p>
          </p:txBody>
        </p:sp>
        <p:sp>
          <p:nvSpPr>
            <p:cNvPr id="247" name="Shape 41">
              <a:extLst>
                <a:ext uri="{FF2B5EF4-FFF2-40B4-BE49-F238E27FC236}">
                  <a16:creationId xmlns:a16="http://schemas.microsoft.com/office/drawing/2014/main" id="{B0CE106C-8F8A-44BF-87FD-0DE491315A82}"/>
                </a:ext>
              </a:extLst>
            </p:cNvPr>
            <p:cNvSpPr/>
            <p:nvPr/>
          </p:nvSpPr>
          <p:spPr>
            <a:xfrm>
              <a:off x="6355062" y="4652777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48" name="Text 42">
              <a:extLst>
                <a:ext uri="{FF2B5EF4-FFF2-40B4-BE49-F238E27FC236}">
                  <a16:creationId xmlns:a16="http://schemas.microsoft.com/office/drawing/2014/main" id="{9D1BB1FA-95C6-4453-AA4E-215DB003EC3C}"/>
                </a:ext>
              </a:extLst>
            </p:cNvPr>
            <p:cNvSpPr/>
            <p:nvPr/>
          </p:nvSpPr>
          <p:spPr>
            <a:xfrm>
              <a:off x="6492922" y="479063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249" name="Shape 43">
              <a:extLst>
                <a:ext uri="{FF2B5EF4-FFF2-40B4-BE49-F238E27FC236}">
                  <a16:creationId xmlns:a16="http://schemas.microsoft.com/office/drawing/2014/main" id="{229D6AFC-FABC-4EF5-A3AB-7C5B5AE9F557}"/>
                </a:ext>
              </a:extLst>
            </p:cNvPr>
            <p:cNvSpPr/>
            <p:nvPr/>
          </p:nvSpPr>
          <p:spPr>
            <a:xfrm>
              <a:off x="6492922" y="5031893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6B35">
                <a:alpha val="20000"/>
              </a:srgbClr>
            </a:solidFill>
            <a:ln/>
          </p:spPr>
        </p:sp>
        <p:sp>
          <p:nvSpPr>
            <p:cNvPr id="250" name="Text 44">
              <a:extLst>
                <a:ext uri="{FF2B5EF4-FFF2-40B4-BE49-F238E27FC236}">
                  <a16:creationId xmlns:a16="http://schemas.microsoft.com/office/drawing/2014/main" id="{5070E38C-9F44-40BB-AB9B-92076AFF4954}"/>
                </a:ext>
              </a:extLst>
            </p:cNvPr>
            <p:cNvSpPr/>
            <p:nvPr/>
          </p:nvSpPr>
          <p:spPr>
            <a:xfrm>
              <a:off x="6492922" y="5031893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«Сколько осталось товара Х?»</a:t>
              </a:r>
              <a:endParaRPr lang="en-US" sz="1600" dirty="0"/>
            </a:p>
          </p:txBody>
        </p:sp>
        <p:sp>
          <p:nvSpPr>
            <p:cNvPr id="251" name="Shape 45">
              <a:extLst>
                <a:ext uri="{FF2B5EF4-FFF2-40B4-BE49-F238E27FC236}">
                  <a16:creationId xmlns:a16="http://schemas.microsoft.com/office/drawing/2014/main" id="{85A04AD1-A0D0-47CB-83F4-92BA040C6B1E}"/>
                </a:ext>
              </a:extLst>
            </p:cNvPr>
            <p:cNvSpPr/>
            <p:nvPr/>
          </p:nvSpPr>
          <p:spPr>
            <a:xfrm>
              <a:off x="6355062" y="5755658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52" name="Text 46">
              <a:extLst>
                <a:ext uri="{FF2B5EF4-FFF2-40B4-BE49-F238E27FC236}">
                  <a16:creationId xmlns:a16="http://schemas.microsoft.com/office/drawing/2014/main" id="{58151FD5-3258-44EE-B8C6-00AA1E48D166}"/>
                </a:ext>
              </a:extLst>
            </p:cNvPr>
            <p:cNvSpPr/>
            <p:nvPr/>
          </p:nvSpPr>
          <p:spPr>
            <a:xfrm>
              <a:off x="6492922" y="5893518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253" name="Text 47">
              <a:extLst>
                <a:ext uri="{FF2B5EF4-FFF2-40B4-BE49-F238E27FC236}">
                  <a16:creationId xmlns:a16="http://schemas.microsoft.com/office/drawing/2014/main" id="{5673C0BD-0325-4416-956C-508AA2B756AA}"/>
                </a:ext>
              </a:extLst>
            </p:cNvPr>
            <p:cNvSpPr/>
            <p:nvPr/>
          </p:nvSpPr>
          <p:spPr>
            <a:xfrm>
              <a:off x="6492922" y="6134773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Показывает текущие остатки товара на всех складах</a:t>
              </a:r>
              <a:endParaRPr 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0CAC5B1A-8709-4A70-B62B-447C29970BC1}"/>
              </a:ext>
            </a:extLst>
          </p:cNvPr>
          <p:cNvGrpSpPr/>
          <p:nvPr/>
        </p:nvGrpSpPr>
        <p:grpSpPr>
          <a:xfrm>
            <a:off x="381000" y="7219950"/>
            <a:ext cx="3686175" cy="2247900"/>
            <a:chOff x="381000" y="1143000"/>
            <a:chExt cx="3686175" cy="2247900"/>
          </a:xfrm>
        </p:grpSpPr>
        <p:sp>
          <p:nvSpPr>
            <p:cNvPr id="53" name="Shape 4">
              <a:extLst>
                <a:ext uri="{FF2B5EF4-FFF2-40B4-BE49-F238E27FC236}">
                  <a16:creationId xmlns:a16="http://schemas.microsoft.com/office/drawing/2014/main" id="{2EDF4663-B9A1-470C-81A3-03F1E71ACBE7}"/>
                </a:ext>
              </a:extLst>
            </p:cNvPr>
            <p:cNvSpPr/>
            <p:nvPr/>
          </p:nvSpPr>
          <p:spPr>
            <a:xfrm>
              <a:off x="3810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54" name="Shape 5">
              <a:extLst>
                <a:ext uri="{FF2B5EF4-FFF2-40B4-BE49-F238E27FC236}">
                  <a16:creationId xmlns:a16="http://schemas.microsoft.com/office/drawing/2014/main" id="{6A99CFCD-834C-46A0-902C-2B841A25DABC}"/>
                </a:ext>
              </a:extLst>
            </p:cNvPr>
            <p:cNvSpPr/>
            <p:nvPr/>
          </p:nvSpPr>
          <p:spPr>
            <a:xfrm>
              <a:off x="19177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395C2FA2-0C62-4A80-914A-B1CE2890DE54}"/>
                </a:ext>
              </a:extLst>
            </p:cNvPr>
            <p:cNvSpPr/>
            <p:nvPr/>
          </p:nvSpPr>
          <p:spPr>
            <a:xfrm>
              <a:off x="2012474" y="1485900"/>
              <a:ext cx="4191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</a:t>
              </a:r>
              <a:endParaRPr lang="en-US" sz="1600" dirty="0"/>
            </a:p>
          </p:txBody>
        </p:sp>
        <p:sp>
          <p:nvSpPr>
            <p:cNvPr id="56" name="Text 7">
              <a:extLst>
                <a:ext uri="{FF2B5EF4-FFF2-40B4-BE49-F238E27FC236}">
                  <a16:creationId xmlns:a16="http://schemas.microsoft.com/office/drawing/2014/main" id="{3D5C015C-06A7-4C30-9571-CB021A1B7E3C}"/>
                </a:ext>
              </a:extLst>
            </p:cNvPr>
            <p:cNvSpPr/>
            <p:nvPr/>
          </p:nvSpPr>
          <p:spPr>
            <a:xfrm>
              <a:off x="1571149" y="1990725"/>
              <a:ext cx="141970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1С:УНФ</a:t>
              </a:r>
              <a:endParaRPr lang="en-US" sz="1600" dirty="0"/>
            </a:p>
          </p:txBody>
        </p:sp>
        <p:sp>
          <p:nvSpPr>
            <p:cNvPr id="57" name="Text 8">
              <a:extLst>
                <a:ext uri="{FF2B5EF4-FFF2-40B4-BE49-F238E27FC236}">
                  <a16:creationId xmlns:a16="http://schemas.microsoft.com/office/drawing/2014/main" id="{1FD2582F-0B5F-440B-A1C6-7E2EF963C184}"/>
                </a:ext>
              </a:extLst>
            </p:cNvPr>
            <p:cNvSpPr/>
            <p:nvPr/>
          </p:nvSpPr>
          <p:spPr>
            <a:xfrm>
              <a:off x="916780" y="2321926"/>
              <a:ext cx="2645569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Целевая конфигурация</a:t>
              </a:r>
              <a:endParaRPr lang="en-US" sz="1600" dirty="0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67F01CBD-0193-4D8B-8E38-B977D92DE4B6}"/>
                </a:ext>
              </a:extLst>
            </p:cNvPr>
            <p:cNvSpPr/>
            <p:nvPr/>
          </p:nvSpPr>
          <p:spPr>
            <a:xfrm>
              <a:off x="5715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59" name="Text 10">
              <a:extLst>
                <a:ext uri="{FF2B5EF4-FFF2-40B4-BE49-F238E27FC236}">
                  <a16:creationId xmlns:a16="http://schemas.microsoft.com/office/drawing/2014/main" id="{9E4F4244-DE72-48C2-98DB-80668075D6D8}"/>
                </a:ext>
              </a:extLst>
            </p:cNvPr>
            <p:cNvSpPr/>
            <p:nvPr/>
          </p:nvSpPr>
          <p:spPr>
            <a:xfrm>
              <a:off x="652463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Платформа 8.3.25+</a:t>
              </a:r>
              <a:endParaRPr lang="en-US" sz="1600" dirty="0"/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C186B9C-6212-4C28-8952-D1C4BD031593}"/>
              </a:ext>
            </a:extLst>
          </p:cNvPr>
          <p:cNvGrpSpPr/>
          <p:nvPr/>
        </p:nvGrpSpPr>
        <p:grpSpPr>
          <a:xfrm>
            <a:off x="4254500" y="12287250"/>
            <a:ext cx="3686175" cy="2247900"/>
            <a:chOff x="4254500" y="1143000"/>
            <a:chExt cx="3686175" cy="2247900"/>
          </a:xfrm>
        </p:grpSpPr>
        <p:sp>
          <p:nvSpPr>
            <p:cNvPr id="61" name="Shape 11">
              <a:extLst>
                <a:ext uri="{FF2B5EF4-FFF2-40B4-BE49-F238E27FC236}">
                  <a16:creationId xmlns:a16="http://schemas.microsoft.com/office/drawing/2014/main" id="{F0E333D9-9E60-4656-A3CC-C4357AD48C81}"/>
                </a:ext>
              </a:extLst>
            </p:cNvPr>
            <p:cNvSpPr/>
            <p:nvPr/>
          </p:nvSpPr>
          <p:spPr>
            <a:xfrm>
              <a:off x="42545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62" name="Shape 12">
              <a:extLst>
                <a:ext uri="{FF2B5EF4-FFF2-40B4-BE49-F238E27FC236}">
                  <a16:creationId xmlns:a16="http://schemas.microsoft.com/office/drawing/2014/main" id="{F1B6744F-C40F-48CC-B83C-A658DA7A49AD}"/>
                </a:ext>
              </a:extLst>
            </p:cNvPr>
            <p:cNvSpPr/>
            <p:nvPr/>
          </p:nvSpPr>
          <p:spPr>
            <a:xfrm>
              <a:off x="57912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BC0EDE4C-B199-435E-8B43-1009BC614B7B}"/>
                </a:ext>
              </a:extLst>
            </p:cNvPr>
            <p:cNvSpPr/>
            <p:nvPr/>
          </p:nvSpPr>
          <p:spPr>
            <a:xfrm>
              <a:off x="5981700" y="1524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0013" y="0"/>
                  </a:moveTo>
                  <a:cubicBezTo>
                    <a:pt x="115773" y="0"/>
                    <a:pt x="128588" y="9599"/>
                    <a:pt x="128588" y="21431"/>
                  </a:cubicBezTo>
                  <a:cubicBezTo>
                    <a:pt x="128588" y="26075"/>
                    <a:pt x="126623" y="30361"/>
                    <a:pt x="123230" y="33888"/>
                  </a:cubicBezTo>
                  <a:cubicBezTo>
                    <a:pt x="120283" y="36969"/>
                    <a:pt x="117872" y="40719"/>
                    <a:pt x="117872" y="45006"/>
                  </a:cubicBezTo>
                  <a:cubicBezTo>
                    <a:pt x="117872" y="51703"/>
                    <a:pt x="123319" y="57150"/>
                    <a:pt x="130016" y="57150"/>
                  </a:cubicBezTo>
                  <a:lnTo>
                    <a:pt x="150019" y="57150"/>
                  </a:lnTo>
                  <a:cubicBezTo>
                    <a:pt x="161851" y="57150"/>
                    <a:pt x="171450" y="66749"/>
                    <a:pt x="171450" y="78581"/>
                  </a:cubicBezTo>
                  <a:lnTo>
                    <a:pt x="171450" y="98584"/>
                  </a:lnTo>
                  <a:cubicBezTo>
                    <a:pt x="171450" y="105281"/>
                    <a:pt x="176897" y="110728"/>
                    <a:pt x="183594" y="110728"/>
                  </a:cubicBezTo>
                  <a:cubicBezTo>
                    <a:pt x="187836" y="110728"/>
                    <a:pt x="191631" y="108317"/>
                    <a:pt x="194712" y="105370"/>
                  </a:cubicBezTo>
                  <a:cubicBezTo>
                    <a:pt x="198239" y="102022"/>
                    <a:pt x="202525" y="100013"/>
                    <a:pt x="207169" y="100013"/>
                  </a:cubicBezTo>
                  <a:cubicBezTo>
                    <a:pt x="219001" y="100013"/>
                    <a:pt x="228600" y="112827"/>
                    <a:pt x="228600" y="128588"/>
                  </a:cubicBezTo>
                  <a:cubicBezTo>
                    <a:pt x="228600" y="144348"/>
                    <a:pt x="219001" y="157163"/>
                    <a:pt x="207169" y="157163"/>
                  </a:cubicBezTo>
                  <a:cubicBezTo>
                    <a:pt x="202525" y="157163"/>
                    <a:pt x="198194" y="155198"/>
                    <a:pt x="194712" y="151805"/>
                  </a:cubicBezTo>
                  <a:cubicBezTo>
                    <a:pt x="191631" y="148858"/>
                    <a:pt x="187881" y="146447"/>
                    <a:pt x="183594" y="146447"/>
                  </a:cubicBezTo>
                  <a:cubicBezTo>
                    <a:pt x="176897" y="146447"/>
                    <a:pt x="171450" y="151894"/>
                    <a:pt x="171450" y="158591"/>
                  </a:cubicBezTo>
                  <a:lnTo>
                    <a:pt x="171450" y="207169"/>
                  </a:lnTo>
                  <a:cubicBezTo>
                    <a:pt x="171450" y="219001"/>
                    <a:pt x="161851" y="228600"/>
                    <a:pt x="150019" y="228600"/>
                  </a:cubicBezTo>
                  <a:lnTo>
                    <a:pt x="124658" y="228600"/>
                  </a:lnTo>
                  <a:cubicBezTo>
                    <a:pt x="118943" y="228600"/>
                    <a:pt x="114300" y="223957"/>
                    <a:pt x="114300" y="218242"/>
                  </a:cubicBezTo>
                  <a:cubicBezTo>
                    <a:pt x="114300" y="214134"/>
                    <a:pt x="116890" y="210517"/>
                    <a:pt x="120194" y="208062"/>
                  </a:cubicBezTo>
                  <a:cubicBezTo>
                    <a:pt x="125373" y="204177"/>
                    <a:pt x="128588" y="198819"/>
                    <a:pt x="128588" y="192881"/>
                  </a:cubicBezTo>
                  <a:cubicBezTo>
                    <a:pt x="128588" y="181049"/>
                    <a:pt x="115773" y="171450"/>
                    <a:pt x="100013" y="171450"/>
                  </a:cubicBezTo>
                  <a:cubicBezTo>
                    <a:pt x="84252" y="171450"/>
                    <a:pt x="71438" y="181049"/>
                    <a:pt x="71438" y="192881"/>
                  </a:cubicBezTo>
                  <a:cubicBezTo>
                    <a:pt x="71438" y="198819"/>
                    <a:pt x="74652" y="204177"/>
                    <a:pt x="79831" y="208062"/>
                  </a:cubicBezTo>
                  <a:cubicBezTo>
                    <a:pt x="83135" y="210517"/>
                    <a:pt x="85725" y="214089"/>
                    <a:pt x="85725" y="218242"/>
                  </a:cubicBezTo>
                  <a:cubicBezTo>
                    <a:pt x="85725" y="223957"/>
                    <a:pt x="81082" y="228600"/>
                    <a:pt x="75367" y="228600"/>
                  </a:cubicBezTo>
                  <a:lnTo>
                    <a:pt x="21431" y="228600"/>
                  </a:lnTo>
                  <a:cubicBezTo>
                    <a:pt x="9599" y="228600"/>
                    <a:pt x="0" y="219001"/>
                    <a:pt x="0" y="207169"/>
                  </a:cubicBezTo>
                  <a:lnTo>
                    <a:pt x="0" y="153233"/>
                  </a:lnTo>
                  <a:cubicBezTo>
                    <a:pt x="0" y="147518"/>
                    <a:pt x="4643" y="142875"/>
                    <a:pt x="10358" y="142875"/>
                  </a:cubicBezTo>
                  <a:cubicBezTo>
                    <a:pt x="14466" y="142875"/>
                    <a:pt x="18083" y="145465"/>
                    <a:pt x="20538" y="148769"/>
                  </a:cubicBezTo>
                  <a:cubicBezTo>
                    <a:pt x="24423" y="153948"/>
                    <a:pt x="29781" y="157163"/>
                    <a:pt x="35719" y="157163"/>
                  </a:cubicBezTo>
                  <a:cubicBezTo>
                    <a:pt x="47551" y="157163"/>
                    <a:pt x="57150" y="144348"/>
                    <a:pt x="57150" y="128588"/>
                  </a:cubicBezTo>
                  <a:cubicBezTo>
                    <a:pt x="57150" y="112827"/>
                    <a:pt x="47551" y="100013"/>
                    <a:pt x="35719" y="100013"/>
                  </a:cubicBezTo>
                  <a:cubicBezTo>
                    <a:pt x="29781" y="100013"/>
                    <a:pt x="24423" y="103227"/>
                    <a:pt x="20538" y="108406"/>
                  </a:cubicBezTo>
                  <a:cubicBezTo>
                    <a:pt x="18083" y="111710"/>
                    <a:pt x="14511" y="114300"/>
                    <a:pt x="10358" y="114300"/>
                  </a:cubicBezTo>
                  <a:cubicBezTo>
                    <a:pt x="4643" y="114300"/>
                    <a:pt x="0" y="109657"/>
                    <a:pt x="0" y="103942"/>
                  </a:cubicBezTo>
                  <a:lnTo>
                    <a:pt x="0" y="78581"/>
                  </a:lnTo>
                  <a:cubicBezTo>
                    <a:pt x="0" y="66749"/>
                    <a:pt x="9599" y="57150"/>
                    <a:pt x="21431" y="57150"/>
                  </a:cubicBezTo>
                  <a:lnTo>
                    <a:pt x="70009" y="57150"/>
                  </a:lnTo>
                  <a:cubicBezTo>
                    <a:pt x="76706" y="57150"/>
                    <a:pt x="82153" y="51703"/>
                    <a:pt x="82153" y="45006"/>
                  </a:cubicBezTo>
                  <a:cubicBezTo>
                    <a:pt x="82153" y="40764"/>
                    <a:pt x="79742" y="36969"/>
                    <a:pt x="76795" y="33888"/>
                  </a:cubicBezTo>
                  <a:cubicBezTo>
                    <a:pt x="73447" y="30361"/>
                    <a:pt x="71438" y="26075"/>
                    <a:pt x="71438" y="21431"/>
                  </a:cubicBezTo>
                  <a:cubicBezTo>
                    <a:pt x="71438" y="9599"/>
                    <a:pt x="84252" y="0"/>
                    <a:pt x="100013" y="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64" name="Text 14">
              <a:extLst>
                <a:ext uri="{FF2B5EF4-FFF2-40B4-BE49-F238E27FC236}">
                  <a16:creationId xmlns:a16="http://schemas.microsoft.com/office/drawing/2014/main" id="{F3062638-4737-4C99-8CAE-D820EE0327AC}"/>
                </a:ext>
              </a:extLst>
            </p:cNvPr>
            <p:cNvSpPr/>
            <p:nvPr/>
          </p:nvSpPr>
          <p:spPr>
            <a:xfrm>
              <a:off x="5080658" y="2000250"/>
              <a:ext cx="202814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Расширение</a:t>
              </a:r>
              <a:endParaRPr lang="en-US" sz="1600" dirty="0"/>
            </a:p>
          </p:txBody>
        </p:sp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B1E277DC-4C5D-48DE-8E2B-FDB5CC3C279A}"/>
                </a:ext>
              </a:extLst>
            </p:cNvPr>
            <p:cNvSpPr/>
            <p:nvPr/>
          </p:nvSpPr>
          <p:spPr>
            <a:xfrm>
              <a:off x="5027930" y="2321926"/>
              <a:ext cx="2156714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Метод интеграции</a:t>
              </a:r>
              <a:endParaRPr lang="en-US" sz="1600" dirty="0"/>
            </a:p>
          </p:txBody>
        </p:sp>
        <p:sp>
          <p:nvSpPr>
            <p:cNvPr id="66" name="Shape 16">
              <a:extLst>
                <a:ext uri="{FF2B5EF4-FFF2-40B4-BE49-F238E27FC236}">
                  <a16:creationId xmlns:a16="http://schemas.microsoft.com/office/drawing/2014/main" id="{9F9270D4-C88B-496A-8E03-82ECDDF3C085}"/>
                </a:ext>
              </a:extLst>
            </p:cNvPr>
            <p:cNvSpPr/>
            <p:nvPr/>
          </p:nvSpPr>
          <p:spPr>
            <a:xfrm>
              <a:off x="44450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67" name="Text 17">
              <a:extLst>
                <a:ext uri="{FF2B5EF4-FFF2-40B4-BE49-F238E27FC236}">
                  <a16:creationId xmlns:a16="http://schemas.microsoft.com/office/drawing/2014/main" id="{EACC37A0-1DDE-40E5-9CDF-CE84E3C7E81F}"/>
                </a:ext>
              </a:extLst>
            </p:cNvPr>
            <p:cNvSpPr/>
            <p:nvPr/>
          </p:nvSpPr>
          <p:spPr>
            <a:xfrm>
              <a:off x="4525963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Без изменения типовой</a:t>
              </a:r>
              <a:endParaRPr lang="en-US" sz="1600" dirty="0"/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762997C9-0B4C-4927-A7F8-24B1A72C9BD1}"/>
              </a:ext>
            </a:extLst>
          </p:cNvPr>
          <p:cNvGrpSpPr/>
          <p:nvPr/>
        </p:nvGrpSpPr>
        <p:grpSpPr>
          <a:xfrm>
            <a:off x="8128000" y="17164050"/>
            <a:ext cx="3686175" cy="2247900"/>
            <a:chOff x="8128000" y="1143000"/>
            <a:chExt cx="3686175" cy="2247900"/>
          </a:xfrm>
        </p:grpSpPr>
        <p:sp>
          <p:nvSpPr>
            <p:cNvPr id="69" name="Shape 18">
              <a:extLst>
                <a:ext uri="{FF2B5EF4-FFF2-40B4-BE49-F238E27FC236}">
                  <a16:creationId xmlns:a16="http://schemas.microsoft.com/office/drawing/2014/main" id="{87DB8CD8-4CC4-431E-8F8D-58A3AFDCDE78}"/>
                </a:ext>
              </a:extLst>
            </p:cNvPr>
            <p:cNvSpPr/>
            <p:nvPr/>
          </p:nvSpPr>
          <p:spPr>
            <a:xfrm>
              <a:off x="8128000" y="11430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0" name="Shape 19">
              <a:extLst>
                <a:ext uri="{FF2B5EF4-FFF2-40B4-BE49-F238E27FC236}">
                  <a16:creationId xmlns:a16="http://schemas.microsoft.com/office/drawing/2014/main" id="{28ECBF8D-78FF-40F1-8D2A-F87B96551B28}"/>
                </a:ext>
              </a:extLst>
            </p:cNvPr>
            <p:cNvSpPr/>
            <p:nvPr/>
          </p:nvSpPr>
          <p:spPr>
            <a:xfrm>
              <a:off x="9664700" y="1333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1" name="Shape 20">
              <a:extLst>
                <a:ext uri="{FF2B5EF4-FFF2-40B4-BE49-F238E27FC236}">
                  <a16:creationId xmlns:a16="http://schemas.microsoft.com/office/drawing/2014/main" id="{9B6FF922-34B4-423C-B603-DA61F561ED6F}"/>
                </a:ext>
              </a:extLst>
            </p:cNvPr>
            <p:cNvSpPr/>
            <p:nvPr/>
          </p:nvSpPr>
          <p:spPr>
            <a:xfrm>
              <a:off x="9869487" y="15240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96364" y="89520"/>
                  </a:moveTo>
                  <a:cubicBezTo>
                    <a:pt x="192926" y="75724"/>
                    <a:pt x="186407" y="65321"/>
                    <a:pt x="172522" y="65321"/>
                  </a:cubicBezTo>
                  <a:lnTo>
                    <a:pt x="154618" y="65321"/>
                  </a:lnTo>
                  <a:lnTo>
                    <a:pt x="154618" y="86484"/>
                  </a:lnTo>
                  <a:cubicBezTo>
                    <a:pt x="154618" y="102915"/>
                    <a:pt x="140687" y="116756"/>
                    <a:pt x="124792" y="116756"/>
                  </a:cubicBezTo>
                  <a:lnTo>
                    <a:pt x="77108" y="116756"/>
                  </a:lnTo>
                  <a:cubicBezTo>
                    <a:pt x="64071" y="116756"/>
                    <a:pt x="53266" y="127918"/>
                    <a:pt x="53266" y="141000"/>
                  </a:cubicBezTo>
                  <a:lnTo>
                    <a:pt x="53266" y="186452"/>
                  </a:lnTo>
                  <a:cubicBezTo>
                    <a:pt x="53266" y="199400"/>
                    <a:pt x="64517" y="206990"/>
                    <a:pt x="77108" y="210696"/>
                  </a:cubicBezTo>
                  <a:cubicBezTo>
                    <a:pt x="92199" y="215116"/>
                    <a:pt x="106710" y="215920"/>
                    <a:pt x="124792" y="210696"/>
                  </a:cubicBezTo>
                  <a:cubicBezTo>
                    <a:pt x="136803" y="207213"/>
                    <a:pt x="148635" y="200204"/>
                    <a:pt x="148635" y="186452"/>
                  </a:cubicBezTo>
                  <a:lnTo>
                    <a:pt x="148635" y="168280"/>
                  </a:lnTo>
                  <a:lnTo>
                    <a:pt x="100995" y="168280"/>
                  </a:lnTo>
                  <a:lnTo>
                    <a:pt x="100995" y="162208"/>
                  </a:lnTo>
                  <a:lnTo>
                    <a:pt x="172522" y="162208"/>
                  </a:lnTo>
                  <a:cubicBezTo>
                    <a:pt x="186407" y="162208"/>
                    <a:pt x="191542" y="152519"/>
                    <a:pt x="196364" y="138008"/>
                  </a:cubicBezTo>
                  <a:cubicBezTo>
                    <a:pt x="201364" y="123051"/>
                    <a:pt x="201141" y="108674"/>
                    <a:pt x="196364" y="89520"/>
                  </a:cubicBezTo>
                  <a:close/>
                  <a:moveTo>
                    <a:pt x="127784" y="198552"/>
                  </a:moveTo>
                  <a:cubicBezTo>
                    <a:pt x="124386" y="198790"/>
                    <a:pt x="121139" y="197112"/>
                    <a:pt x="119367" y="194203"/>
                  </a:cubicBezTo>
                  <a:cubicBezTo>
                    <a:pt x="117595" y="191293"/>
                    <a:pt x="117595" y="187638"/>
                    <a:pt x="119367" y="184729"/>
                  </a:cubicBezTo>
                  <a:cubicBezTo>
                    <a:pt x="121139" y="181819"/>
                    <a:pt x="124386" y="180141"/>
                    <a:pt x="127784" y="180380"/>
                  </a:cubicBezTo>
                  <a:cubicBezTo>
                    <a:pt x="131182" y="180141"/>
                    <a:pt x="134429" y="181819"/>
                    <a:pt x="136201" y="184729"/>
                  </a:cubicBezTo>
                  <a:cubicBezTo>
                    <a:pt x="137972" y="187638"/>
                    <a:pt x="137972" y="191293"/>
                    <a:pt x="136201" y="194203"/>
                  </a:cubicBezTo>
                  <a:cubicBezTo>
                    <a:pt x="134429" y="197112"/>
                    <a:pt x="131182" y="198790"/>
                    <a:pt x="127784" y="198552"/>
                  </a:cubicBezTo>
                  <a:close/>
                  <a:moveTo>
                    <a:pt x="74920" y="110773"/>
                  </a:moveTo>
                  <a:lnTo>
                    <a:pt x="122605" y="110773"/>
                  </a:lnTo>
                  <a:cubicBezTo>
                    <a:pt x="135865" y="110773"/>
                    <a:pt x="146447" y="99834"/>
                    <a:pt x="146447" y="86529"/>
                  </a:cubicBezTo>
                  <a:lnTo>
                    <a:pt x="146447" y="41032"/>
                  </a:lnTo>
                  <a:cubicBezTo>
                    <a:pt x="146447" y="28084"/>
                    <a:pt x="135553" y="18395"/>
                    <a:pt x="122605" y="16207"/>
                  </a:cubicBezTo>
                  <a:cubicBezTo>
                    <a:pt x="106620" y="13573"/>
                    <a:pt x="89252" y="13707"/>
                    <a:pt x="74920" y="16252"/>
                  </a:cubicBezTo>
                  <a:cubicBezTo>
                    <a:pt x="54739" y="19824"/>
                    <a:pt x="51078" y="27280"/>
                    <a:pt x="51078" y="41077"/>
                  </a:cubicBezTo>
                  <a:lnTo>
                    <a:pt x="51078" y="59248"/>
                  </a:lnTo>
                  <a:lnTo>
                    <a:pt x="98807" y="59248"/>
                  </a:lnTo>
                  <a:lnTo>
                    <a:pt x="98807" y="65321"/>
                  </a:lnTo>
                  <a:lnTo>
                    <a:pt x="33174" y="65321"/>
                  </a:lnTo>
                  <a:cubicBezTo>
                    <a:pt x="19288" y="65321"/>
                    <a:pt x="7144" y="73670"/>
                    <a:pt x="3349" y="89520"/>
                  </a:cubicBezTo>
                  <a:cubicBezTo>
                    <a:pt x="-1027" y="107692"/>
                    <a:pt x="-1206" y="119033"/>
                    <a:pt x="3349" y="138008"/>
                  </a:cubicBezTo>
                  <a:cubicBezTo>
                    <a:pt x="6742" y="152117"/>
                    <a:pt x="14823" y="162208"/>
                    <a:pt x="28709" y="162208"/>
                  </a:cubicBezTo>
                  <a:lnTo>
                    <a:pt x="45095" y="162208"/>
                  </a:lnTo>
                  <a:lnTo>
                    <a:pt x="45095" y="140419"/>
                  </a:lnTo>
                  <a:cubicBezTo>
                    <a:pt x="45095" y="124658"/>
                    <a:pt x="58713" y="110773"/>
                    <a:pt x="74920" y="110773"/>
                  </a:cubicBezTo>
                  <a:close/>
                  <a:moveTo>
                    <a:pt x="71973" y="28888"/>
                  </a:moveTo>
                  <a:cubicBezTo>
                    <a:pt x="77000" y="28888"/>
                    <a:pt x="81082" y="32969"/>
                    <a:pt x="81082" y="37996"/>
                  </a:cubicBezTo>
                  <a:cubicBezTo>
                    <a:pt x="81082" y="43023"/>
                    <a:pt x="77000" y="47104"/>
                    <a:pt x="71973" y="47104"/>
                  </a:cubicBezTo>
                  <a:cubicBezTo>
                    <a:pt x="66946" y="47104"/>
                    <a:pt x="62865" y="43023"/>
                    <a:pt x="62865" y="37996"/>
                  </a:cubicBezTo>
                  <a:cubicBezTo>
                    <a:pt x="62865" y="32969"/>
                    <a:pt x="66946" y="28888"/>
                    <a:pt x="71973" y="2888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2" name="Text 21">
              <a:extLst>
                <a:ext uri="{FF2B5EF4-FFF2-40B4-BE49-F238E27FC236}">
                  <a16:creationId xmlns:a16="http://schemas.microsoft.com/office/drawing/2014/main" id="{83BDBE41-B1A3-4AE1-BA32-9996F871EF6E}"/>
                </a:ext>
              </a:extLst>
            </p:cNvPr>
            <p:cNvSpPr/>
            <p:nvPr/>
          </p:nvSpPr>
          <p:spPr>
            <a:xfrm>
              <a:off x="8635604" y="2000250"/>
              <a:ext cx="266779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Python/FastAPI</a:t>
              </a:r>
              <a:endParaRPr lang="en-US" sz="1600" dirty="0"/>
            </a:p>
          </p:txBody>
        </p:sp>
        <p:sp>
          <p:nvSpPr>
            <p:cNvPr id="73" name="Text 22">
              <a:extLst>
                <a:ext uri="{FF2B5EF4-FFF2-40B4-BE49-F238E27FC236}">
                  <a16:creationId xmlns:a16="http://schemas.microsoft.com/office/drawing/2014/main" id="{0F840DDE-19BD-4593-9619-20AE46115494}"/>
                </a:ext>
              </a:extLst>
            </p:cNvPr>
            <p:cNvSpPr/>
            <p:nvPr/>
          </p:nvSpPr>
          <p:spPr>
            <a:xfrm>
              <a:off x="9023350" y="2321926"/>
              <a:ext cx="1941042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Middleware слой</a:t>
              </a:r>
              <a:endParaRPr lang="en-US" sz="1600" dirty="0"/>
            </a:p>
          </p:txBody>
        </p:sp>
        <p:sp>
          <p:nvSpPr>
            <p:cNvPr id="74" name="Shape 23">
              <a:extLst>
                <a:ext uri="{FF2B5EF4-FFF2-40B4-BE49-F238E27FC236}">
                  <a16:creationId xmlns:a16="http://schemas.microsoft.com/office/drawing/2014/main" id="{9D74BADA-C48A-4658-ACA8-03D0E7221FEA}"/>
                </a:ext>
              </a:extLst>
            </p:cNvPr>
            <p:cNvSpPr/>
            <p:nvPr/>
          </p:nvSpPr>
          <p:spPr>
            <a:xfrm>
              <a:off x="8318500" y="27813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5" name="Text 24">
              <a:extLst>
                <a:ext uri="{FF2B5EF4-FFF2-40B4-BE49-F238E27FC236}">
                  <a16:creationId xmlns:a16="http://schemas.microsoft.com/office/drawing/2014/main" id="{867DC93F-A8ED-437C-8F6C-4A29AEBA5612}"/>
                </a:ext>
              </a:extLst>
            </p:cNvPr>
            <p:cNvSpPr/>
            <p:nvPr/>
          </p:nvSpPr>
          <p:spPr>
            <a:xfrm>
              <a:off x="8399462" y="28956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Обработка запросов</a:t>
              </a:r>
              <a:endParaRPr lang="en-US" sz="1600" dirty="0"/>
            </a:p>
          </p:txBody>
        </p:sp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D8FD8323-66BA-4B0D-8213-7A787C976AB3}"/>
              </a:ext>
            </a:extLst>
          </p:cNvPr>
          <p:cNvGrpSpPr/>
          <p:nvPr/>
        </p:nvGrpSpPr>
        <p:grpSpPr>
          <a:xfrm>
            <a:off x="381000" y="9658350"/>
            <a:ext cx="3686175" cy="2247900"/>
            <a:chOff x="381000" y="3581400"/>
            <a:chExt cx="3686175" cy="2247900"/>
          </a:xfrm>
        </p:grpSpPr>
        <p:sp>
          <p:nvSpPr>
            <p:cNvPr id="77" name="Shape 25">
              <a:extLst>
                <a:ext uri="{FF2B5EF4-FFF2-40B4-BE49-F238E27FC236}">
                  <a16:creationId xmlns:a16="http://schemas.microsoft.com/office/drawing/2014/main" id="{344806A1-07E8-4DB0-89B1-3E21AA71851F}"/>
                </a:ext>
              </a:extLst>
            </p:cNvPr>
            <p:cNvSpPr/>
            <p:nvPr/>
          </p:nvSpPr>
          <p:spPr>
            <a:xfrm>
              <a:off x="3810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8" name="Shape 26">
              <a:extLst>
                <a:ext uri="{FF2B5EF4-FFF2-40B4-BE49-F238E27FC236}">
                  <a16:creationId xmlns:a16="http://schemas.microsoft.com/office/drawing/2014/main" id="{D48B58D2-AFE5-496B-B608-BF347D4FE0AA}"/>
                </a:ext>
              </a:extLst>
            </p:cNvPr>
            <p:cNvSpPr/>
            <p:nvPr/>
          </p:nvSpPr>
          <p:spPr>
            <a:xfrm>
              <a:off x="19177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9" name="Shape 27">
              <a:extLst>
                <a:ext uri="{FF2B5EF4-FFF2-40B4-BE49-F238E27FC236}">
                  <a16:creationId xmlns:a16="http://schemas.microsoft.com/office/drawing/2014/main" id="{DF2FFB61-8F4D-434E-84C9-6DAD0AF0068C}"/>
                </a:ext>
              </a:extLst>
            </p:cNvPr>
            <p:cNvSpPr/>
            <p:nvPr/>
          </p:nvSpPr>
          <p:spPr>
            <a:xfrm>
              <a:off x="2108200" y="3962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3578" y="25003"/>
                  </a:moveTo>
                  <a:cubicBezTo>
                    <a:pt x="53578" y="11207"/>
                    <a:pt x="64785" y="0"/>
                    <a:pt x="78581" y="0"/>
                  </a:cubicBezTo>
                  <a:lnTo>
                    <a:pt x="89297" y="0"/>
                  </a:lnTo>
                  <a:cubicBezTo>
                    <a:pt x="97200" y="0"/>
                    <a:pt x="103584" y="6385"/>
                    <a:pt x="103584" y="14288"/>
                  </a:cubicBezTo>
                  <a:lnTo>
                    <a:pt x="103584" y="214313"/>
                  </a:lnTo>
                  <a:cubicBezTo>
                    <a:pt x="103584" y="222215"/>
                    <a:pt x="97200" y="228600"/>
                    <a:pt x="89297" y="228600"/>
                  </a:cubicBezTo>
                  <a:lnTo>
                    <a:pt x="75009" y="228600"/>
                  </a:lnTo>
                  <a:cubicBezTo>
                    <a:pt x="61704" y="228600"/>
                    <a:pt x="50497" y="219492"/>
                    <a:pt x="47327" y="207169"/>
                  </a:cubicBezTo>
                  <a:cubicBezTo>
                    <a:pt x="47015" y="207169"/>
                    <a:pt x="46747" y="207169"/>
                    <a:pt x="46434" y="207169"/>
                  </a:cubicBezTo>
                  <a:cubicBezTo>
                    <a:pt x="26700" y="207169"/>
                    <a:pt x="10716" y="191185"/>
                    <a:pt x="10716" y="171450"/>
                  </a:cubicBezTo>
                  <a:cubicBezTo>
                    <a:pt x="10716" y="163413"/>
                    <a:pt x="13395" y="156002"/>
                    <a:pt x="17859" y="150019"/>
                  </a:cubicBezTo>
                  <a:cubicBezTo>
                    <a:pt x="9198" y="143500"/>
                    <a:pt x="3572" y="133142"/>
                    <a:pt x="3572" y="121444"/>
                  </a:cubicBezTo>
                  <a:cubicBezTo>
                    <a:pt x="3572" y="107647"/>
                    <a:pt x="11430" y="95637"/>
                    <a:pt x="22860" y="89699"/>
                  </a:cubicBezTo>
                  <a:cubicBezTo>
                    <a:pt x="19690" y="84341"/>
                    <a:pt x="17859" y="78090"/>
                    <a:pt x="17859" y="71438"/>
                  </a:cubicBezTo>
                  <a:cubicBezTo>
                    <a:pt x="17859" y="51703"/>
                    <a:pt x="33844" y="35719"/>
                    <a:pt x="53578" y="35719"/>
                  </a:cubicBezTo>
                  <a:lnTo>
                    <a:pt x="53578" y="25003"/>
                  </a:lnTo>
                  <a:close/>
                  <a:moveTo>
                    <a:pt x="175022" y="25003"/>
                  </a:moveTo>
                  <a:lnTo>
                    <a:pt x="175022" y="35719"/>
                  </a:lnTo>
                  <a:cubicBezTo>
                    <a:pt x="194756" y="35719"/>
                    <a:pt x="210741" y="51703"/>
                    <a:pt x="210741" y="71438"/>
                  </a:cubicBezTo>
                  <a:cubicBezTo>
                    <a:pt x="210741" y="78135"/>
                    <a:pt x="208910" y="84386"/>
                    <a:pt x="205740" y="89699"/>
                  </a:cubicBezTo>
                  <a:cubicBezTo>
                    <a:pt x="217215" y="95637"/>
                    <a:pt x="225028" y="107603"/>
                    <a:pt x="225028" y="121444"/>
                  </a:cubicBezTo>
                  <a:cubicBezTo>
                    <a:pt x="225028" y="133142"/>
                    <a:pt x="219402" y="143500"/>
                    <a:pt x="210741" y="150019"/>
                  </a:cubicBezTo>
                  <a:cubicBezTo>
                    <a:pt x="215205" y="156002"/>
                    <a:pt x="217884" y="163413"/>
                    <a:pt x="217884" y="171450"/>
                  </a:cubicBezTo>
                  <a:cubicBezTo>
                    <a:pt x="217884" y="191185"/>
                    <a:pt x="201900" y="207169"/>
                    <a:pt x="182166" y="207169"/>
                  </a:cubicBezTo>
                  <a:cubicBezTo>
                    <a:pt x="181853" y="207169"/>
                    <a:pt x="181585" y="207169"/>
                    <a:pt x="181273" y="207169"/>
                  </a:cubicBezTo>
                  <a:cubicBezTo>
                    <a:pt x="178103" y="219492"/>
                    <a:pt x="166896" y="228600"/>
                    <a:pt x="153591" y="228600"/>
                  </a:cubicBezTo>
                  <a:lnTo>
                    <a:pt x="139303" y="228600"/>
                  </a:lnTo>
                  <a:cubicBezTo>
                    <a:pt x="131400" y="228600"/>
                    <a:pt x="125016" y="222215"/>
                    <a:pt x="125016" y="214313"/>
                  </a:cubicBezTo>
                  <a:lnTo>
                    <a:pt x="125016" y="14288"/>
                  </a:lnTo>
                  <a:cubicBezTo>
                    <a:pt x="125016" y="6385"/>
                    <a:pt x="131400" y="0"/>
                    <a:pt x="139303" y="0"/>
                  </a:cubicBezTo>
                  <a:lnTo>
                    <a:pt x="150019" y="0"/>
                  </a:lnTo>
                  <a:cubicBezTo>
                    <a:pt x="163815" y="0"/>
                    <a:pt x="175022" y="11207"/>
                    <a:pt x="175022" y="2500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80" name="Text 28">
              <a:extLst>
                <a:ext uri="{FF2B5EF4-FFF2-40B4-BE49-F238E27FC236}">
                  <a16:creationId xmlns:a16="http://schemas.microsoft.com/office/drawing/2014/main" id="{86690F4F-FCB7-4A6A-AF96-829B785F1340}"/>
                </a:ext>
              </a:extLst>
            </p:cNvPr>
            <p:cNvSpPr/>
            <p:nvPr/>
          </p:nvSpPr>
          <p:spPr>
            <a:xfrm>
              <a:off x="1831678" y="4429125"/>
              <a:ext cx="78005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LLM</a:t>
              </a:r>
              <a:endParaRPr lang="en-US" sz="1600" dirty="0"/>
            </a:p>
          </p:txBody>
        </p:sp>
        <p:sp>
          <p:nvSpPr>
            <p:cNvPr id="81" name="Text 29">
              <a:extLst>
                <a:ext uri="{FF2B5EF4-FFF2-40B4-BE49-F238E27FC236}">
                  <a16:creationId xmlns:a16="http://schemas.microsoft.com/office/drawing/2014/main" id="{58E6FD08-8B13-43A1-AF62-B12FCF895415}"/>
                </a:ext>
              </a:extLst>
            </p:cNvPr>
            <p:cNvSpPr/>
            <p:nvPr/>
          </p:nvSpPr>
          <p:spPr>
            <a:xfrm>
              <a:off x="995521" y="4760326"/>
              <a:ext cx="2415520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GigaChat/YandexGPT</a:t>
              </a:r>
              <a:endParaRPr lang="en-US" sz="1600" dirty="0"/>
            </a:p>
          </p:txBody>
        </p:sp>
        <p:sp>
          <p:nvSpPr>
            <p:cNvPr id="82" name="Shape 30">
              <a:extLst>
                <a:ext uri="{FF2B5EF4-FFF2-40B4-BE49-F238E27FC236}">
                  <a16:creationId xmlns:a16="http://schemas.microsoft.com/office/drawing/2014/main" id="{EE79010B-5EF8-4AA2-9B09-0466E54A1BAA}"/>
                </a:ext>
              </a:extLst>
            </p:cNvPr>
            <p:cNvSpPr/>
            <p:nvPr/>
          </p:nvSpPr>
          <p:spPr>
            <a:xfrm>
              <a:off x="5715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83" name="Text 31">
              <a:extLst>
                <a:ext uri="{FF2B5EF4-FFF2-40B4-BE49-F238E27FC236}">
                  <a16:creationId xmlns:a16="http://schemas.microsoft.com/office/drawing/2014/main" id="{6A0F3BE2-B6F9-434B-97C2-760170E512BA}"/>
                </a:ext>
              </a:extLst>
            </p:cNvPr>
            <p:cNvSpPr/>
            <p:nvPr/>
          </p:nvSpPr>
          <p:spPr>
            <a:xfrm>
              <a:off x="652463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Понимание запросов</a:t>
              </a:r>
              <a:endParaRPr lang="en-US" sz="1600" dirty="0"/>
            </a:p>
          </p:txBody>
        </p: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2649E4F5-6F88-4427-9CB4-2D3CAC3DDB04}"/>
              </a:ext>
            </a:extLst>
          </p:cNvPr>
          <p:cNvGrpSpPr/>
          <p:nvPr/>
        </p:nvGrpSpPr>
        <p:grpSpPr>
          <a:xfrm>
            <a:off x="4254500" y="14725650"/>
            <a:ext cx="3686175" cy="2247900"/>
            <a:chOff x="4254500" y="3581400"/>
            <a:chExt cx="3686175" cy="2247900"/>
          </a:xfrm>
        </p:grpSpPr>
        <p:sp>
          <p:nvSpPr>
            <p:cNvPr id="85" name="Shape 32">
              <a:extLst>
                <a:ext uri="{FF2B5EF4-FFF2-40B4-BE49-F238E27FC236}">
                  <a16:creationId xmlns:a16="http://schemas.microsoft.com/office/drawing/2014/main" id="{B14DB3C6-C2C8-4F64-B968-74A7E14B1A1D}"/>
                </a:ext>
              </a:extLst>
            </p:cNvPr>
            <p:cNvSpPr/>
            <p:nvPr/>
          </p:nvSpPr>
          <p:spPr>
            <a:xfrm>
              <a:off x="42545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86" name="Shape 33">
              <a:extLst>
                <a:ext uri="{FF2B5EF4-FFF2-40B4-BE49-F238E27FC236}">
                  <a16:creationId xmlns:a16="http://schemas.microsoft.com/office/drawing/2014/main" id="{A74831BC-8CDD-41A4-ABFC-F16E3DF6EC30}"/>
                </a:ext>
              </a:extLst>
            </p:cNvPr>
            <p:cNvSpPr/>
            <p:nvPr/>
          </p:nvSpPr>
          <p:spPr>
            <a:xfrm>
              <a:off x="57912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7" name="Shape 34">
              <a:extLst>
                <a:ext uri="{FF2B5EF4-FFF2-40B4-BE49-F238E27FC236}">
                  <a16:creationId xmlns:a16="http://schemas.microsoft.com/office/drawing/2014/main" id="{EC6D1EA1-7693-41F2-B6D6-CFF620611287}"/>
                </a:ext>
              </a:extLst>
            </p:cNvPr>
            <p:cNvSpPr/>
            <p:nvPr/>
          </p:nvSpPr>
          <p:spPr>
            <a:xfrm>
              <a:off x="5995988" y="39624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200025" y="91886"/>
                  </a:moveTo>
                  <a:cubicBezTo>
                    <a:pt x="193417" y="96262"/>
                    <a:pt x="185827" y="99789"/>
                    <a:pt x="177924" y="102602"/>
                  </a:cubicBezTo>
                  <a:cubicBezTo>
                    <a:pt x="156939" y="110103"/>
                    <a:pt x="129391" y="114300"/>
                    <a:pt x="100013" y="114300"/>
                  </a:cubicBezTo>
                  <a:cubicBezTo>
                    <a:pt x="70634" y="114300"/>
                    <a:pt x="43041" y="110058"/>
                    <a:pt x="22101" y="102602"/>
                  </a:cubicBezTo>
                  <a:cubicBezTo>
                    <a:pt x="14243" y="99789"/>
                    <a:pt x="6608" y="96262"/>
                    <a:pt x="0" y="91886"/>
                  </a:cubicBezTo>
                  <a:lnTo>
                    <a:pt x="0" y="128588"/>
                  </a:lnTo>
                  <a:cubicBezTo>
                    <a:pt x="0" y="148322"/>
                    <a:pt x="44782" y="164306"/>
                    <a:pt x="100013" y="164306"/>
                  </a:cubicBezTo>
                  <a:cubicBezTo>
                    <a:pt x="155243" y="164306"/>
                    <a:pt x="200025" y="148322"/>
                    <a:pt x="200025" y="128588"/>
                  </a:cubicBezTo>
                  <a:lnTo>
                    <a:pt x="200025" y="91886"/>
                  </a:lnTo>
                  <a:close/>
                  <a:moveTo>
                    <a:pt x="200025" y="57150"/>
                  </a:moveTo>
                  <a:lnTo>
                    <a:pt x="200025" y="35719"/>
                  </a:lnTo>
                  <a:cubicBezTo>
                    <a:pt x="200025" y="15984"/>
                    <a:pt x="155243" y="0"/>
                    <a:pt x="100013" y="0"/>
                  </a:cubicBezTo>
                  <a:cubicBezTo>
                    <a:pt x="44782" y="0"/>
                    <a:pt x="0" y="15984"/>
                    <a:pt x="0" y="35719"/>
                  </a:cubicBezTo>
                  <a:lnTo>
                    <a:pt x="0" y="57150"/>
                  </a:lnTo>
                  <a:cubicBezTo>
                    <a:pt x="0" y="76885"/>
                    <a:pt x="44782" y="92869"/>
                    <a:pt x="100013" y="92869"/>
                  </a:cubicBezTo>
                  <a:cubicBezTo>
                    <a:pt x="155243" y="92869"/>
                    <a:pt x="200025" y="76885"/>
                    <a:pt x="200025" y="57150"/>
                  </a:cubicBezTo>
                  <a:close/>
                  <a:moveTo>
                    <a:pt x="177924" y="174040"/>
                  </a:moveTo>
                  <a:cubicBezTo>
                    <a:pt x="156984" y="181496"/>
                    <a:pt x="129436" y="185738"/>
                    <a:pt x="100013" y="185738"/>
                  </a:cubicBezTo>
                  <a:cubicBezTo>
                    <a:pt x="70589" y="185738"/>
                    <a:pt x="43041" y="181496"/>
                    <a:pt x="22101" y="174040"/>
                  </a:cubicBezTo>
                  <a:cubicBezTo>
                    <a:pt x="14243" y="171227"/>
                    <a:pt x="6608" y="167700"/>
                    <a:pt x="0" y="163324"/>
                  </a:cubicBezTo>
                  <a:lnTo>
                    <a:pt x="0" y="192881"/>
                  </a:lnTo>
                  <a:cubicBezTo>
                    <a:pt x="0" y="212616"/>
                    <a:pt x="44782" y="228600"/>
                    <a:pt x="100013" y="228600"/>
                  </a:cubicBezTo>
                  <a:cubicBezTo>
                    <a:pt x="155243" y="228600"/>
                    <a:pt x="200025" y="212616"/>
                    <a:pt x="200025" y="192881"/>
                  </a:cubicBezTo>
                  <a:lnTo>
                    <a:pt x="200025" y="163324"/>
                  </a:lnTo>
                  <a:cubicBezTo>
                    <a:pt x="193417" y="167700"/>
                    <a:pt x="185827" y="171227"/>
                    <a:pt x="177924" y="17404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8" name="Text 35">
              <a:extLst>
                <a:ext uri="{FF2B5EF4-FFF2-40B4-BE49-F238E27FC236}">
                  <a16:creationId xmlns:a16="http://schemas.microsoft.com/office/drawing/2014/main" id="{3B450518-1A68-46E5-872A-BD509D17B54C}"/>
                </a:ext>
              </a:extLst>
            </p:cNvPr>
            <p:cNvSpPr/>
            <p:nvPr/>
          </p:nvSpPr>
          <p:spPr>
            <a:xfrm>
              <a:off x="5681300" y="4429125"/>
              <a:ext cx="82685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RAG</a:t>
              </a:r>
              <a:endParaRPr lang="en-US" sz="1600" dirty="0"/>
            </a:p>
          </p:txBody>
        </p:sp>
        <p:sp>
          <p:nvSpPr>
            <p:cNvPr id="89" name="Text 36">
              <a:extLst>
                <a:ext uri="{FF2B5EF4-FFF2-40B4-BE49-F238E27FC236}">
                  <a16:creationId xmlns:a16="http://schemas.microsoft.com/office/drawing/2014/main" id="{559538D2-264B-4439-9558-D1A1B90202C2}"/>
                </a:ext>
              </a:extLst>
            </p:cNvPr>
            <p:cNvSpPr/>
            <p:nvPr/>
          </p:nvSpPr>
          <p:spPr>
            <a:xfrm>
              <a:off x="4823143" y="4760326"/>
              <a:ext cx="2544922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 по метаданным</a:t>
              </a:r>
              <a:endParaRPr lang="en-US" sz="1600" dirty="0"/>
            </a:p>
          </p:txBody>
        </p:sp>
        <p:sp>
          <p:nvSpPr>
            <p:cNvPr id="90" name="Shape 37">
              <a:extLst>
                <a:ext uri="{FF2B5EF4-FFF2-40B4-BE49-F238E27FC236}">
                  <a16:creationId xmlns:a16="http://schemas.microsoft.com/office/drawing/2014/main" id="{53B2E40B-135E-460F-8368-294543BC0313}"/>
                </a:ext>
              </a:extLst>
            </p:cNvPr>
            <p:cNvSpPr/>
            <p:nvPr/>
          </p:nvSpPr>
          <p:spPr>
            <a:xfrm>
              <a:off x="44450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1" name="Text 38">
              <a:extLst>
                <a:ext uri="{FF2B5EF4-FFF2-40B4-BE49-F238E27FC236}">
                  <a16:creationId xmlns:a16="http://schemas.microsoft.com/office/drawing/2014/main" id="{2DBA11EB-7E4B-4A1B-B2D6-F542DAA531DF}"/>
                </a:ext>
              </a:extLst>
            </p:cNvPr>
            <p:cNvSpPr/>
            <p:nvPr/>
          </p:nvSpPr>
          <p:spPr>
            <a:xfrm>
              <a:off x="4525963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Точные ответы</a:t>
              </a:r>
              <a:endParaRPr lang="en-US" sz="1600" dirty="0"/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AADC79B3-9A26-44A5-AB34-05695A7D263C}"/>
              </a:ext>
            </a:extLst>
          </p:cNvPr>
          <p:cNvGrpSpPr/>
          <p:nvPr/>
        </p:nvGrpSpPr>
        <p:grpSpPr>
          <a:xfrm>
            <a:off x="8128000" y="19602450"/>
            <a:ext cx="3686175" cy="2247900"/>
            <a:chOff x="8128000" y="3581400"/>
            <a:chExt cx="3686175" cy="2247900"/>
          </a:xfrm>
        </p:grpSpPr>
        <p:sp>
          <p:nvSpPr>
            <p:cNvPr id="93" name="Shape 39">
              <a:extLst>
                <a:ext uri="{FF2B5EF4-FFF2-40B4-BE49-F238E27FC236}">
                  <a16:creationId xmlns:a16="http://schemas.microsoft.com/office/drawing/2014/main" id="{881AE696-824B-443F-977C-87B87D2254FD}"/>
                </a:ext>
              </a:extLst>
            </p:cNvPr>
            <p:cNvSpPr/>
            <p:nvPr/>
          </p:nvSpPr>
          <p:spPr>
            <a:xfrm>
              <a:off x="8128000" y="3581400"/>
              <a:ext cx="3686175" cy="2247900"/>
            </a:xfrm>
            <a:custGeom>
              <a:avLst/>
              <a:gdLst/>
              <a:ahLst/>
              <a:cxnLst/>
              <a:rect l="l" t="t" r="r" b="b"/>
              <a:pathLst>
                <a:path w="3686175" h="2247900">
                  <a:moveTo>
                    <a:pt x="152408" y="0"/>
                  </a:moveTo>
                  <a:lnTo>
                    <a:pt x="3533767" y="0"/>
                  </a:lnTo>
                  <a:cubicBezTo>
                    <a:pt x="3617940" y="0"/>
                    <a:pt x="3686175" y="68235"/>
                    <a:pt x="3686175" y="152408"/>
                  </a:cubicBezTo>
                  <a:lnTo>
                    <a:pt x="3686175" y="2095492"/>
                  </a:lnTo>
                  <a:cubicBezTo>
                    <a:pt x="3686175" y="2179665"/>
                    <a:pt x="3617940" y="2247900"/>
                    <a:pt x="3533767" y="2247900"/>
                  </a:cubicBezTo>
                  <a:lnTo>
                    <a:pt x="152408" y="2247900"/>
                  </a:lnTo>
                  <a:cubicBezTo>
                    <a:pt x="68235" y="2247900"/>
                    <a:pt x="0" y="2179665"/>
                    <a:pt x="0" y="20954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94" name="Shape 40">
              <a:extLst>
                <a:ext uri="{FF2B5EF4-FFF2-40B4-BE49-F238E27FC236}">
                  <a16:creationId xmlns:a16="http://schemas.microsoft.com/office/drawing/2014/main" id="{227277AF-9E94-4E91-9D6F-10E88B92A926}"/>
                </a:ext>
              </a:extLst>
            </p:cNvPr>
            <p:cNvSpPr/>
            <p:nvPr/>
          </p:nvSpPr>
          <p:spPr>
            <a:xfrm>
              <a:off x="9664700" y="3771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5" name="Shape 41">
              <a:extLst>
                <a:ext uri="{FF2B5EF4-FFF2-40B4-BE49-F238E27FC236}">
                  <a16:creationId xmlns:a16="http://schemas.microsoft.com/office/drawing/2014/main" id="{07198F35-0041-4F39-BA68-4045C2893D4C}"/>
                </a:ext>
              </a:extLst>
            </p:cNvPr>
            <p:cNvSpPr/>
            <p:nvPr/>
          </p:nvSpPr>
          <p:spPr>
            <a:xfrm>
              <a:off x="9855200" y="3962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67241"/>
                  </a:moveTo>
                  <a:lnTo>
                    <a:pt x="181541" y="110103"/>
                  </a:lnTo>
                  <a:cubicBezTo>
                    <a:pt x="177433" y="114211"/>
                    <a:pt x="171316" y="115416"/>
                    <a:pt x="165958" y="113184"/>
                  </a:cubicBezTo>
                  <a:cubicBezTo>
                    <a:pt x="160600" y="110951"/>
                    <a:pt x="157163" y="105772"/>
                    <a:pt x="157163" y="100013"/>
                  </a:cubicBezTo>
                  <a:lnTo>
                    <a:pt x="157163" y="71438"/>
                  </a:lnTo>
                  <a:lnTo>
                    <a:pt x="14288" y="71438"/>
                  </a:lnTo>
                  <a:cubicBezTo>
                    <a:pt x="6385" y="71438"/>
                    <a:pt x="0" y="65053"/>
                    <a:pt x="0" y="57150"/>
                  </a:cubicBezTo>
                  <a:cubicBezTo>
                    <a:pt x="0" y="49247"/>
                    <a:pt x="6385" y="42863"/>
                    <a:pt x="14288" y="42863"/>
                  </a:cubicBezTo>
                  <a:lnTo>
                    <a:pt x="157163" y="42863"/>
                  </a:lnTo>
                  <a:lnTo>
                    <a:pt x="157163" y="14288"/>
                  </a:lnTo>
                  <a:cubicBezTo>
                    <a:pt x="157163" y="8528"/>
                    <a:pt x="160645" y="3304"/>
                    <a:pt x="166003" y="1072"/>
                  </a:cubicBezTo>
                  <a:cubicBezTo>
                    <a:pt x="171361" y="-1161"/>
                    <a:pt x="177478" y="89"/>
                    <a:pt x="181585" y="4152"/>
                  </a:cubicBezTo>
                  <a:lnTo>
                    <a:pt x="224448" y="47015"/>
                  </a:lnTo>
                  <a:cubicBezTo>
                    <a:pt x="230029" y="52596"/>
                    <a:pt x="230029" y="61659"/>
                    <a:pt x="224448" y="67241"/>
                  </a:cubicBezTo>
                  <a:close/>
                  <a:moveTo>
                    <a:pt x="47015" y="224403"/>
                  </a:moveTo>
                  <a:lnTo>
                    <a:pt x="4152" y="181541"/>
                  </a:lnTo>
                  <a:cubicBezTo>
                    <a:pt x="-1429" y="175959"/>
                    <a:pt x="-1429" y="166896"/>
                    <a:pt x="4152" y="161315"/>
                  </a:cubicBezTo>
                  <a:lnTo>
                    <a:pt x="47015" y="118452"/>
                  </a:lnTo>
                  <a:cubicBezTo>
                    <a:pt x="51122" y="114345"/>
                    <a:pt x="57239" y="113139"/>
                    <a:pt x="62597" y="115372"/>
                  </a:cubicBezTo>
                  <a:cubicBezTo>
                    <a:pt x="67955" y="117604"/>
                    <a:pt x="71438" y="122828"/>
                    <a:pt x="71438" y="128588"/>
                  </a:cubicBezTo>
                  <a:lnTo>
                    <a:pt x="71438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cubicBezTo>
                    <a:pt x="228600" y="179353"/>
                    <a:pt x="222215" y="185738"/>
                    <a:pt x="214313" y="185738"/>
                  </a:cubicBezTo>
                  <a:lnTo>
                    <a:pt x="71438" y="185738"/>
                  </a:lnTo>
                  <a:lnTo>
                    <a:pt x="71438" y="214313"/>
                  </a:lnTo>
                  <a:cubicBezTo>
                    <a:pt x="71438" y="220072"/>
                    <a:pt x="67955" y="225296"/>
                    <a:pt x="62597" y="227528"/>
                  </a:cubicBezTo>
                  <a:cubicBezTo>
                    <a:pt x="57239" y="229761"/>
                    <a:pt x="51122" y="228511"/>
                    <a:pt x="47015" y="22444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6" name="Text 42">
              <a:extLst>
                <a:ext uri="{FF2B5EF4-FFF2-40B4-BE49-F238E27FC236}">
                  <a16:creationId xmlns:a16="http://schemas.microsoft.com/office/drawing/2014/main" id="{960F5E93-4693-44EE-A2B5-C42257F7D0FA}"/>
                </a:ext>
              </a:extLst>
            </p:cNvPr>
            <p:cNvSpPr/>
            <p:nvPr/>
          </p:nvSpPr>
          <p:spPr>
            <a:xfrm>
              <a:off x="9125645" y="4429125"/>
              <a:ext cx="188773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REST/JSON</a:t>
              </a:r>
              <a:endParaRPr lang="en-US" sz="1600" dirty="0"/>
            </a:p>
          </p:txBody>
        </p:sp>
        <p:sp>
          <p:nvSpPr>
            <p:cNvPr id="97" name="Text 43">
              <a:extLst>
                <a:ext uri="{FF2B5EF4-FFF2-40B4-BE49-F238E27FC236}">
                  <a16:creationId xmlns:a16="http://schemas.microsoft.com/office/drawing/2014/main" id="{4375696B-E867-4220-998A-11F0E286AF9B}"/>
                </a:ext>
              </a:extLst>
            </p:cNvPr>
            <p:cNvSpPr/>
            <p:nvPr/>
          </p:nvSpPr>
          <p:spPr>
            <a:xfrm>
              <a:off x="9037319" y="4760326"/>
              <a:ext cx="2041689" cy="3450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Протокол обмена</a:t>
              </a:r>
              <a:endParaRPr lang="en-US" sz="1600" dirty="0"/>
            </a:p>
          </p:txBody>
        </p:sp>
        <p:sp>
          <p:nvSpPr>
            <p:cNvPr id="98" name="Shape 44">
              <a:extLst>
                <a:ext uri="{FF2B5EF4-FFF2-40B4-BE49-F238E27FC236}">
                  <a16:creationId xmlns:a16="http://schemas.microsoft.com/office/drawing/2014/main" id="{86479FFD-6E15-4CE4-BB8C-F7964509217E}"/>
                </a:ext>
              </a:extLst>
            </p:cNvPr>
            <p:cNvSpPr/>
            <p:nvPr/>
          </p:nvSpPr>
          <p:spPr>
            <a:xfrm>
              <a:off x="8318500" y="5219700"/>
              <a:ext cx="3305175" cy="419100"/>
            </a:xfrm>
            <a:custGeom>
              <a:avLst/>
              <a:gdLst/>
              <a:ahLst/>
              <a:cxnLst/>
              <a:rect l="l" t="t" r="r" b="b"/>
              <a:pathLst>
                <a:path w="3305175" h="419100">
                  <a:moveTo>
                    <a:pt x="76201" y="0"/>
                  </a:moveTo>
                  <a:lnTo>
                    <a:pt x="3228974" y="0"/>
                  </a:lnTo>
                  <a:cubicBezTo>
                    <a:pt x="3271059" y="0"/>
                    <a:pt x="3305175" y="34116"/>
                    <a:pt x="3305175" y="76201"/>
                  </a:cubicBezTo>
                  <a:lnTo>
                    <a:pt x="3305175" y="342899"/>
                  </a:lnTo>
                  <a:cubicBezTo>
                    <a:pt x="3305175" y="384984"/>
                    <a:pt x="3271059" y="419100"/>
                    <a:pt x="3228974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9" name="Text 45">
              <a:extLst>
                <a:ext uri="{FF2B5EF4-FFF2-40B4-BE49-F238E27FC236}">
                  <a16:creationId xmlns:a16="http://schemas.microsoft.com/office/drawing/2014/main" id="{94CB3311-3B68-4CB9-B0B5-C4C8B86370C1}"/>
                </a:ext>
              </a:extLst>
            </p:cNvPr>
            <p:cNvSpPr/>
            <p:nvPr/>
          </p:nvSpPr>
          <p:spPr>
            <a:xfrm>
              <a:off x="8399462" y="5334000"/>
              <a:ext cx="31432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Интеграция API</a:t>
              </a:r>
              <a:endParaRPr lang="en-US" sz="1600" dirty="0"/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FA7CAF72-5340-4CF1-BAC3-E6A19A5B39B8}"/>
              </a:ext>
            </a:extLst>
          </p:cNvPr>
          <p:cNvGrpSpPr/>
          <p:nvPr/>
        </p:nvGrpSpPr>
        <p:grpSpPr>
          <a:xfrm>
            <a:off x="-12115800" y="6019800"/>
            <a:ext cx="11430000" cy="685800"/>
            <a:chOff x="381000" y="6019800"/>
            <a:chExt cx="11430000" cy="685800"/>
          </a:xfrm>
        </p:grpSpPr>
        <p:sp>
          <p:nvSpPr>
            <p:cNvPr id="101" name="Shape 46">
              <a:extLst>
                <a:ext uri="{FF2B5EF4-FFF2-40B4-BE49-F238E27FC236}">
                  <a16:creationId xmlns:a16="http://schemas.microsoft.com/office/drawing/2014/main" id="{788B5400-681B-435B-BD06-E481950275E3}"/>
                </a:ext>
              </a:extLst>
            </p:cNvPr>
            <p:cNvSpPr/>
            <p:nvPr/>
          </p:nvSpPr>
          <p:spPr>
            <a:xfrm>
              <a:off x="381000" y="6019800"/>
              <a:ext cx="11430000" cy="685800"/>
            </a:xfrm>
            <a:custGeom>
              <a:avLst/>
              <a:gdLst/>
              <a:ahLst/>
              <a:cxnLst/>
              <a:rect l="l" t="t" r="r" b="b"/>
              <a:pathLst>
                <a:path w="11430000" h="685800">
                  <a:moveTo>
                    <a:pt x="152398" y="0"/>
                  </a:moveTo>
                  <a:lnTo>
                    <a:pt x="11277602" y="0"/>
                  </a:lnTo>
                  <a:cubicBezTo>
                    <a:pt x="11361769" y="0"/>
                    <a:pt x="11430000" y="68231"/>
                    <a:pt x="11430000" y="152398"/>
                  </a:cubicBezTo>
                  <a:lnTo>
                    <a:pt x="11430000" y="533402"/>
                  </a:lnTo>
                  <a:cubicBezTo>
                    <a:pt x="11430000" y="617569"/>
                    <a:pt x="11361769" y="685800"/>
                    <a:pt x="11277602" y="685800"/>
                  </a:cubicBezTo>
                  <a:lnTo>
                    <a:pt x="152398" y="685800"/>
                  </a:lnTo>
                  <a:cubicBezTo>
                    <a:pt x="68287" y="685800"/>
                    <a:pt x="0" y="617513"/>
                    <a:pt x="0" y="533402"/>
                  </a:cubicBezTo>
                  <a:lnTo>
                    <a:pt x="0" y="152398"/>
                  </a:lnTo>
                  <a:cubicBezTo>
                    <a:pt x="0" y="68287"/>
                    <a:pt x="68287" y="0"/>
                    <a:pt x="1523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2" name="Shape 47">
              <a:extLst>
                <a:ext uri="{FF2B5EF4-FFF2-40B4-BE49-F238E27FC236}">
                  <a16:creationId xmlns:a16="http://schemas.microsoft.com/office/drawing/2014/main" id="{1BFE73F6-F24C-4981-B9D4-8A3979870B66}"/>
                </a:ext>
              </a:extLst>
            </p:cNvPr>
            <p:cNvSpPr/>
            <p:nvPr/>
          </p:nvSpPr>
          <p:spPr>
            <a:xfrm>
              <a:off x="1967639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3" name="Text 48">
              <a:extLst>
                <a:ext uri="{FF2B5EF4-FFF2-40B4-BE49-F238E27FC236}">
                  <a16:creationId xmlns:a16="http://schemas.microsoft.com/office/drawing/2014/main" id="{E6BDB0F7-A04C-410F-9B58-C61E21380F52}"/>
                </a:ext>
              </a:extLst>
            </p:cNvPr>
            <p:cNvSpPr/>
            <p:nvPr/>
          </p:nvSpPr>
          <p:spPr>
            <a:xfrm>
              <a:off x="2516912" y="6184899"/>
              <a:ext cx="2590800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Современный стек</a:t>
              </a:r>
              <a:endParaRPr lang="en-US" sz="2400" dirty="0"/>
            </a:p>
          </p:txBody>
        </p:sp>
        <p:sp>
          <p:nvSpPr>
            <p:cNvPr id="104" name="Shape 49">
              <a:extLst>
                <a:ext uri="{FF2B5EF4-FFF2-40B4-BE49-F238E27FC236}">
                  <a16:creationId xmlns:a16="http://schemas.microsoft.com/office/drawing/2014/main" id="{035AB4AC-7F6A-4453-A0A8-C890D386A60A}"/>
                </a:ext>
              </a:extLst>
            </p:cNvPr>
            <p:cNvSpPr/>
            <p:nvPr/>
          </p:nvSpPr>
          <p:spPr>
            <a:xfrm>
              <a:off x="4702175" y="6223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9525" y="0"/>
                  </a:lnTo>
                  <a:lnTo>
                    <a:pt x="9525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5" name="Shape 50">
              <a:extLst>
                <a:ext uri="{FF2B5EF4-FFF2-40B4-BE49-F238E27FC236}">
                  <a16:creationId xmlns:a16="http://schemas.microsoft.com/office/drawing/2014/main" id="{39BB54C6-4654-48C2-8E0E-F521B19BFA3F}"/>
                </a:ext>
              </a:extLst>
            </p:cNvPr>
            <p:cNvSpPr/>
            <p:nvPr/>
          </p:nvSpPr>
          <p:spPr>
            <a:xfrm>
              <a:off x="4857651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6" name="Text 51">
              <a:extLst>
                <a:ext uri="{FF2B5EF4-FFF2-40B4-BE49-F238E27FC236}">
                  <a16:creationId xmlns:a16="http://schemas.microsoft.com/office/drawing/2014/main" id="{BB3FBDA3-4FD3-4D2C-B14B-0EA46CDE44A6}"/>
                </a:ext>
              </a:extLst>
            </p:cNvPr>
            <p:cNvSpPr/>
            <p:nvPr/>
          </p:nvSpPr>
          <p:spPr>
            <a:xfrm>
              <a:off x="5406924" y="6184899"/>
              <a:ext cx="2691553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Масштабируемость</a:t>
              </a:r>
              <a:endParaRPr lang="en-US" sz="2400" dirty="0"/>
            </a:p>
          </p:txBody>
        </p:sp>
        <p:sp>
          <p:nvSpPr>
            <p:cNvPr id="107" name="Shape 52">
              <a:extLst>
                <a:ext uri="{FF2B5EF4-FFF2-40B4-BE49-F238E27FC236}">
                  <a16:creationId xmlns:a16="http://schemas.microsoft.com/office/drawing/2014/main" id="{BADE72E4-81FA-4AD4-8ED9-249E37F28FCA}"/>
                </a:ext>
              </a:extLst>
            </p:cNvPr>
            <p:cNvSpPr/>
            <p:nvPr/>
          </p:nvSpPr>
          <p:spPr>
            <a:xfrm>
              <a:off x="7731261" y="6223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9525" y="0"/>
                  </a:lnTo>
                  <a:lnTo>
                    <a:pt x="9525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8" name="Shape 53">
              <a:extLst>
                <a:ext uri="{FF2B5EF4-FFF2-40B4-BE49-F238E27FC236}">
                  <a16:creationId xmlns:a16="http://schemas.microsoft.com/office/drawing/2014/main" id="{691B8033-80E2-4E11-BDE2-8F4230A2CA1A}"/>
                </a:ext>
              </a:extLst>
            </p:cNvPr>
            <p:cNvSpPr/>
            <p:nvPr/>
          </p:nvSpPr>
          <p:spPr>
            <a:xfrm>
              <a:off x="7896362" y="6184900"/>
              <a:ext cx="361949" cy="361949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51983" y="94967"/>
                  </a:moveTo>
                  <a:lnTo>
                    <a:pt x="116265" y="152117"/>
                  </a:lnTo>
                  <a:cubicBezTo>
                    <a:pt x="114389" y="155109"/>
                    <a:pt x="111175" y="156984"/>
                    <a:pt x="107647" y="157163"/>
                  </a:cubicBezTo>
                  <a:cubicBezTo>
                    <a:pt x="104120" y="157341"/>
                    <a:pt x="100727" y="155734"/>
                    <a:pt x="98628" y="152876"/>
                  </a:cubicBezTo>
                  <a:lnTo>
                    <a:pt x="77197" y="124301"/>
                  </a:lnTo>
                  <a:cubicBezTo>
                    <a:pt x="73625" y="119569"/>
                    <a:pt x="74608" y="112871"/>
                    <a:pt x="79340" y="109299"/>
                  </a:cubicBezTo>
                  <a:cubicBezTo>
                    <a:pt x="84073" y="105727"/>
                    <a:pt x="90770" y="106710"/>
                    <a:pt x="94342" y="111443"/>
                  </a:cubicBezTo>
                  <a:lnTo>
                    <a:pt x="106397" y="127516"/>
                  </a:lnTo>
                  <a:lnTo>
                    <a:pt x="133811" y="83627"/>
                  </a:lnTo>
                  <a:cubicBezTo>
                    <a:pt x="136937" y="78626"/>
                    <a:pt x="143545" y="77063"/>
                    <a:pt x="148590" y="80233"/>
                  </a:cubicBezTo>
                  <a:cubicBezTo>
                    <a:pt x="153635" y="83403"/>
                    <a:pt x="155153" y="89967"/>
                    <a:pt x="151983" y="95012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9" name="Text 54">
              <a:extLst>
                <a:ext uri="{FF2B5EF4-FFF2-40B4-BE49-F238E27FC236}">
                  <a16:creationId xmlns:a16="http://schemas.microsoft.com/office/drawing/2014/main" id="{E7980E3E-7A8D-481C-88C3-D88FB6F08A9E}"/>
                </a:ext>
              </a:extLst>
            </p:cNvPr>
            <p:cNvSpPr/>
            <p:nvPr/>
          </p:nvSpPr>
          <p:spPr>
            <a:xfrm>
              <a:off x="8445636" y="6184899"/>
              <a:ext cx="1727200" cy="36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Надежность</a:t>
              </a:r>
              <a:endParaRPr lang="en-US" sz="2400" dirty="0"/>
            </a:p>
          </p:txBody>
        </p:sp>
      </p:grpSp>
      <p:grpSp>
        <p:nvGrpSpPr>
          <p:cNvPr id="110" name="Группа 109">
            <a:extLst>
              <a:ext uri="{FF2B5EF4-FFF2-40B4-BE49-F238E27FC236}">
                <a16:creationId xmlns:a16="http://schemas.microsoft.com/office/drawing/2014/main" id="{0FA01E78-4FE4-40D7-92AA-724C2EF21ED8}"/>
              </a:ext>
            </a:extLst>
          </p:cNvPr>
          <p:cNvGrpSpPr/>
          <p:nvPr/>
        </p:nvGrpSpPr>
        <p:grpSpPr>
          <a:xfrm>
            <a:off x="-5429250" y="419100"/>
            <a:ext cx="3914775" cy="535168"/>
            <a:chOff x="381000" y="381000"/>
            <a:chExt cx="3914775" cy="535168"/>
          </a:xfrm>
        </p:grpSpPr>
        <p:sp>
          <p:nvSpPr>
            <p:cNvPr id="111" name="Shape 0">
              <a:extLst>
                <a:ext uri="{FF2B5EF4-FFF2-40B4-BE49-F238E27FC236}">
                  <a16:creationId xmlns:a16="http://schemas.microsoft.com/office/drawing/2014/main" id="{C2792A49-CA49-47BA-BE0F-BF35D642EE56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2" name="Shape 1">
              <a:extLst>
                <a:ext uri="{FF2B5EF4-FFF2-40B4-BE49-F238E27FC236}">
                  <a16:creationId xmlns:a16="http://schemas.microsoft.com/office/drawing/2014/main" id="{1400367C-2718-4975-8111-D28C4034C63E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808" y="2322"/>
                  </a:moveTo>
                  <a:cubicBezTo>
                    <a:pt x="110460" y="-759"/>
                    <a:pt x="118140" y="-759"/>
                    <a:pt x="124792" y="2322"/>
                  </a:cubicBezTo>
                  <a:lnTo>
                    <a:pt x="222394" y="47417"/>
                  </a:lnTo>
                  <a:cubicBezTo>
                    <a:pt x="226189" y="49158"/>
                    <a:pt x="228600" y="52953"/>
                    <a:pt x="228600" y="57150"/>
                  </a:cubicBezTo>
                  <a:cubicBezTo>
                    <a:pt x="228600" y="61347"/>
                    <a:pt x="226189" y="65142"/>
                    <a:pt x="222394" y="66883"/>
                  </a:cubicBezTo>
                  <a:lnTo>
                    <a:pt x="124792" y="111978"/>
                  </a:lnTo>
                  <a:cubicBezTo>
                    <a:pt x="118140" y="115059"/>
                    <a:pt x="110460" y="115059"/>
                    <a:pt x="103808" y="111978"/>
                  </a:cubicBezTo>
                  <a:lnTo>
                    <a:pt x="6206" y="66883"/>
                  </a:lnTo>
                  <a:cubicBezTo>
                    <a:pt x="2411" y="65097"/>
                    <a:pt x="0" y="61302"/>
                    <a:pt x="0" y="57150"/>
                  </a:cubicBezTo>
                  <a:cubicBezTo>
                    <a:pt x="0" y="52998"/>
                    <a:pt x="2411" y="49158"/>
                    <a:pt x="6206" y="47417"/>
                  </a:cubicBezTo>
                  <a:lnTo>
                    <a:pt x="103808" y="2322"/>
                  </a:lnTo>
                  <a:close/>
                  <a:moveTo>
                    <a:pt x="21476" y="97512"/>
                  </a:moveTo>
                  <a:lnTo>
                    <a:pt x="94833" y="131400"/>
                  </a:lnTo>
                  <a:cubicBezTo>
                    <a:pt x="107201" y="137115"/>
                    <a:pt x="121444" y="137115"/>
                    <a:pt x="133811" y="131400"/>
                  </a:cubicBezTo>
                  <a:lnTo>
                    <a:pt x="207169" y="97512"/>
                  </a:lnTo>
                  <a:lnTo>
                    <a:pt x="222394" y="104567"/>
                  </a:lnTo>
                  <a:cubicBezTo>
                    <a:pt x="226189" y="106308"/>
                    <a:pt x="228600" y="110103"/>
                    <a:pt x="228600" y="114300"/>
                  </a:cubicBezTo>
                  <a:cubicBezTo>
                    <a:pt x="228600" y="118497"/>
                    <a:pt x="226189" y="122292"/>
                    <a:pt x="222394" y="124033"/>
                  </a:cubicBezTo>
                  <a:lnTo>
                    <a:pt x="124792" y="169128"/>
                  </a:lnTo>
                  <a:cubicBezTo>
                    <a:pt x="118140" y="172209"/>
                    <a:pt x="110460" y="172209"/>
                    <a:pt x="103808" y="169128"/>
                  </a:cubicBezTo>
                  <a:lnTo>
                    <a:pt x="6206" y="124033"/>
                  </a:lnTo>
                  <a:cubicBezTo>
                    <a:pt x="2411" y="122247"/>
                    <a:pt x="0" y="118452"/>
                    <a:pt x="0" y="114300"/>
                  </a:cubicBezTo>
                  <a:cubicBezTo>
                    <a:pt x="0" y="110148"/>
                    <a:pt x="2411" y="106308"/>
                    <a:pt x="6206" y="104567"/>
                  </a:cubicBezTo>
                  <a:lnTo>
                    <a:pt x="21431" y="97512"/>
                  </a:lnTo>
                  <a:close/>
                  <a:moveTo>
                    <a:pt x="6206" y="161717"/>
                  </a:moveTo>
                  <a:lnTo>
                    <a:pt x="21431" y="154662"/>
                  </a:lnTo>
                  <a:lnTo>
                    <a:pt x="94789" y="188550"/>
                  </a:lnTo>
                  <a:cubicBezTo>
                    <a:pt x="107156" y="194265"/>
                    <a:pt x="121399" y="194265"/>
                    <a:pt x="133767" y="188550"/>
                  </a:cubicBezTo>
                  <a:lnTo>
                    <a:pt x="207124" y="154662"/>
                  </a:lnTo>
                  <a:lnTo>
                    <a:pt x="222349" y="161717"/>
                  </a:lnTo>
                  <a:cubicBezTo>
                    <a:pt x="226144" y="163458"/>
                    <a:pt x="228555" y="167253"/>
                    <a:pt x="228555" y="171450"/>
                  </a:cubicBezTo>
                  <a:cubicBezTo>
                    <a:pt x="228555" y="175647"/>
                    <a:pt x="226144" y="179442"/>
                    <a:pt x="222349" y="181183"/>
                  </a:cubicBezTo>
                  <a:lnTo>
                    <a:pt x="124748" y="226278"/>
                  </a:lnTo>
                  <a:cubicBezTo>
                    <a:pt x="118095" y="229359"/>
                    <a:pt x="110416" y="229359"/>
                    <a:pt x="103763" y="226278"/>
                  </a:cubicBezTo>
                  <a:lnTo>
                    <a:pt x="6206" y="181183"/>
                  </a:lnTo>
                  <a:cubicBezTo>
                    <a:pt x="2411" y="179397"/>
                    <a:pt x="0" y="175602"/>
                    <a:pt x="0" y="171450"/>
                  </a:cubicBezTo>
                  <a:cubicBezTo>
                    <a:pt x="0" y="167298"/>
                    <a:pt x="2411" y="163458"/>
                    <a:pt x="6206" y="16171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3" name="Text 2">
              <a:extLst>
                <a:ext uri="{FF2B5EF4-FFF2-40B4-BE49-F238E27FC236}">
                  <a16:creationId xmlns:a16="http://schemas.microsoft.com/office/drawing/2014/main" id="{BE33413D-2783-4598-9717-4706B4EBEC29}"/>
                </a:ext>
              </a:extLst>
            </p:cNvPr>
            <p:cNvSpPr/>
            <p:nvPr/>
          </p:nvSpPr>
          <p:spPr>
            <a:xfrm>
              <a:off x="1066800" y="400050"/>
              <a:ext cx="32289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Выбор технологий</a:t>
              </a:r>
              <a:endParaRPr lang="en-US" sz="1600" dirty="0"/>
            </a:p>
          </p:txBody>
        </p:sp>
        <p:sp>
          <p:nvSpPr>
            <p:cNvPr id="114" name="Shape 3">
              <a:extLst>
                <a:ext uri="{FF2B5EF4-FFF2-40B4-BE49-F238E27FC236}">
                  <a16:creationId xmlns:a16="http://schemas.microsoft.com/office/drawing/2014/main" id="{B5F8FB88-503D-44CD-9C2D-A86D53BA628B}"/>
                </a:ext>
              </a:extLst>
            </p:cNvPr>
            <p:cNvSpPr/>
            <p:nvPr/>
          </p:nvSpPr>
          <p:spPr>
            <a:xfrm>
              <a:off x="790099" y="870449"/>
              <a:ext cx="339137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15" name="Text 7">
            <a:extLst>
              <a:ext uri="{FF2B5EF4-FFF2-40B4-BE49-F238E27FC236}">
                <a16:creationId xmlns:a16="http://schemas.microsoft.com/office/drawing/2014/main" id="{48A101BC-06A4-43FD-8478-72680D87D663}"/>
              </a:ext>
            </a:extLst>
          </p:cNvPr>
          <p:cNvSpPr/>
          <p:nvPr/>
        </p:nvSpPr>
        <p:spPr>
          <a:xfrm>
            <a:off x="12632213" y="3024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7</a:t>
            </a:r>
            <a:endParaRPr lang="en-US" sz="1600" dirty="0"/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3779A5A0-69CA-43FA-9D3C-2505C3B7E7C3}"/>
              </a:ext>
            </a:extLst>
          </p:cNvPr>
          <p:cNvGrpSpPr/>
          <p:nvPr/>
        </p:nvGrpSpPr>
        <p:grpSpPr>
          <a:xfrm>
            <a:off x="344650" y="344650"/>
            <a:ext cx="5023276" cy="482510"/>
            <a:chOff x="344650" y="344650"/>
            <a:chExt cx="5023276" cy="482510"/>
          </a:xfrm>
        </p:grpSpPr>
        <p:sp>
          <p:nvSpPr>
            <p:cNvPr id="2" name="Shape 0"/>
            <p:cNvSpPr/>
            <p:nvPr/>
          </p:nvSpPr>
          <p:spPr>
            <a:xfrm>
              <a:off x="344650" y="344650"/>
              <a:ext cx="482510" cy="482510"/>
            </a:xfrm>
            <a:custGeom>
              <a:avLst/>
              <a:gdLst/>
              <a:ahLst/>
              <a:cxnLst/>
              <a:rect l="l" t="t" r="r" b="b"/>
              <a:pathLst>
                <a:path w="482510" h="482510">
                  <a:moveTo>
                    <a:pt x="103397" y="0"/>
                  </a:moveTo>
                  <a:lnTo>
                    <a:pt x="379113" y="0"/>
                  </a:lnTo>
                  <a:cubicBezTo>
                    <a:pt x="436218" y="0"/>
                    <a:pt x="482510" y="46292"/>
                    <a:pt x="482510" y="103397"/>
                  </a:cubicBezTo>
                  <a:lnTo>
                    <a:pt x="482510" y="379113"/>
                  </a:lnTo>
                  <a:cubicBezTo>
                    <a:pt x="482510" y="436218"/>
                    <a:pt x="436218" y="482510"/>
                    <a:pt x="379113" y="482510"/>
                  </a:cubicBezTo>
                  <a:lnTo>
                    <a:pt x="103397" y="482510"/>
                  </a:lnTo>
                  <a:cubicBezTo>
                    <a:pt x="46292" y="482510"/>
                    <a:pt x="0" y="436218"/>
                    <a:pt x="0" y="379113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456661" y="482510"/>
              <a:ext cx="258488" cy="206790"/>
            </a:xfrm>
            <a:custGeom>
              <a:avLst/>
              <a:gdLst/>
              <a:ahLst/>
              <a:cxnLst/>
              <a:rect l="l" t="t" r="r" b="b"/>
              <a:pathLst>
                <a:path w="258488" h="206790">
                  <a:moveTo>
                    <a:pt x="54929" y="51698"/>
                  </a:moveTo>
                  <a:cubicBezTo>
                    <a:pt x="54929" y="24948"/>
                    <a:pt x="76646" y="3231"/>
                    <a:pt x="103395" y="3231"/>
                  </a:cubicBezTo>
                  <a:cubicBezTo>
                    <a:pt x="130144" y="3231"/>
                    <a:pt x="151861" y="24948"/>
                    <a:pt x="151861" y="51698"/>
                  </a:cubicBezTo>
                  <a:cubicBezTo>
                    <a:pt x="151861" y="78447"/>
                    <a:pt x="130144" y="100164"/>
                    <a:pt x="103395" y="100164"/>
                  </a:cubicBezTo>
                  <a:cubicBezTo>
                    <a:pt x="76646" y="100164"/>
                    <a:pt x="54929" y="78447"/>
                    <a:pt x="54929" y="51698"/>
                  </a:cubicBezTo>
                  <a:close/>
                  <a:moveTo>
                    <a:pt x="19387" y="194795"/>
                  </a:moveTo>
                  <a:cubicBezTo>
                    <a:pt x="19387" y="155012"/>
                    <a:pt x="51617" y="122782"/>
                    <a:pt x="91400" y="122782"/>
                  </a:cubicBezTo>
                  <a:lnTo>
                    <a:pt x="115390" y="122782"/>
                  </a:lnTo>
                  <a:cubicBezTo>
                    <a:pt x="155173" y="122782"/>
                    <a:pt x="187404" y="155012"/>
                    <a:pt x="187404" y="194795"/>
                  </a:cubicBezTo>
                  <a:cubicBezTo>
                    <a:pt x="187404" y="201418"/>
                    <a:pt x="182032" y="206790"/>
                    <a:pt x="175408" y="206790"/>
                  </a:cubicBezTo>
                  <a:lnTo>
                    <a:pt x="31382" y="206790"/>
                  </a:lnTo>
                  <a:cubicBezTo>
                    <a:pt x="24758" y="206790"/>
                    <a:pt x="19387" y="201418"/>
                    <a:pt x="19387" y="194795"/>
                  </a:cubicBezTo>
                  <a:close/>
                  <a:moveTo>
                    <a:pt x="247340" y="53596"/>
                  </a:moveTo>
                  <a:lnTo>
                    <a:pt x="215029" y="105293"/>
                  </a:lnTo>
                  <a:cubicBezTo>
                    <a:pt x="213333" y="107999"/>
                    <a:pt x="210425" y="109696"/>
                    <a:pt x="207234" y="109857"/>
                  </a:cubicBezTo>
                  <a:cubicBezTo>
                    <a:pt x="204044" y="110019"/>
                    <a:pt x="200974" y="108565"/>
                    <a:pt x="199076" y="105980"/>
                  </a:cubicBezTo>
                  <a:lnTo>
                    <a:pt x="179689" y="80131"/>
                  </a:lnTo>
                  <a:cubicBezTo>
                    <a:pt x="176458" y="75850"/>
                    <a:pt x="177347" y="69792"/>
                    <a:pt x="181628" y="66561"/>
                  </a:cubicBezTo>
                  <a:cubicBezTo>
                    <a:pt x="185909" y="63329"/>
                    <a:pt x="191967" y="64218"/>
                    <a:pt x="195199" y="68499"/>
                  </a:cubicBezTo>
                  <a:lnTo>
                    <a:pt x="206103" y="83039"/>
                  </a:lnTo>
                  <a:lnTo>
                    <a:pt x="230902" y="43337"/>
                  </a:lnTo>
                  <a:cubicBezTo>
                    <a:pt x="233729" y="38814"/>
                    <a:pt x="239707" y="37400"/>
                    <a:pt x="244271" y="40268"/>
                  </a:cubicBezTo>
                  <a:cubicBezTo>
                    <a:pt x="248835" y="43135"/>
                    <a:pt x="250208" y="49072"/>
                    <a:pt x="247340" y="5363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965020" y="361883"/>
              <a:ext cx="4402906" cy="344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442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Пользовательские сценарии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 flipV="1">
              <a:off x="637602" y="779143"/>
              <a:ext cx="4730323" cy="45719"/>
            </a:xfrm>
            <a:custGeom>
              <a:avLst/>
              <a:gdLst/>
              <a:ahLst/>
              <a:cxnLst/>
              <a:rect l="l" t="t" r="r" b="b"/>
              <a:pathLst>
                <a:path w="827160" h="34465">
                  <a:moveTo>
                    <a:pt x="0" y="0"/>
                  </a:moveTo>
                  <a:lnTo>
                    <a:pt x="827160" y="0"/>
                  </a:lnTo>
                  <a:lnTo>
                    <a:pt x="827160" y="34465"/>
                  </a:lnTo>
                  <a:lnTo>
                    <a:pt x="0" y="34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117" name="Группа 116">
            <a:extLst>
              <a:ext uri="{FF2B5EF4-FFF2-40B4-BE49-F238E27FC236}">
                <a16:creationId xmlns:a16="http://schemas.microsoft.com/office/drawing/2014/main" id="{C0CD930A-4BFF-4D91-B869-2F875C62BD26}"/>
              </a:ext>
            </a:extLst>
          </p:cNvPr>
          <p:cNvGrpSpPr/>
          <p:nvPr/>
        </p:nvGrpSpPr>
        <p:grpSpPr>
          <a:xfrm>
            <a:off x="344650" y="1033951"/>
            <a:ext cx="5669495" cy="5617797"/>
            <a:chOff x="344650" y="1033951"/>
            <a:chExt cx="5669495" cy="5617797"/>
          </a:xfrm>
        </p:grpSpPr>
        <p:sp>
          <p:nvSpPr>
            <p:cNvPr id="6" name="Shape 4"/>
            <p:cNvSpPr/>
            <p:nvPr/>
          </p:nvSpPr>
          <p:spPr>
            <a:xfrm>
              <a:off x="344650" y="1033951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516975" y="1206276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637603" y="1326903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21541" y="21541"/>
                  </a:moveTo>
                  <a:cubicBezTo>
                    <a:pt x="9660" y="21541"/>
                    <a:pt x="0" y="31200"/>
                    <a:pt x="0" y="43081"/>
                  </a:cubicBezTo>
                  <a:lnTo>
                    <a:pt x="0" y="129244"/>
                  </a:lnTo>
                  <a:cubicBezTo>
                    <a:pt x="0" y="141125"/>
                    <a:pt x="9660" y="150784"/>
                    <a:pt x="21541" y="150784"/>
                  </a:cubicBezTo>
                  <a:lnTo>
                    <a:pt x="150784" y="150784"/>
                  </a:lnTo>
                  <a:cubicBezTo>
                    <a:pt x="162665" y="150784"/>
                    <a:pt x="172325" y="141125"/>
                    <a:pt x="172325" y="129244"/>
                  </a:cubicBezTo>
                  <a:lnTo>
                    <a:pt x="172325" y="43081"/>
                  </a:lnTo>
                  <a:cubicBezTo>
                    <a:pt x="172325" y="31200"/>
                    <a:pt x="162665" y="21541"/>
                    <a:pt x="150784" y="21541"/>
                  </a:cubicBezTo>
                  <a:lnTo>
                    <a:pt x="21541" y="21541"/>
                  </a:lnTo>
                  <a:close/>
                  <a:moveTo>
                    <a:pt x="29618" y="43081"/>
                  </a:moveTo>
                  <a:lnTo>
                    <a:pt x="142707" y="43081"/>
                  </a:lnTo>
                  <a:cubicBezTo>
                    <a:pt x="147183" y="43081"/>
                    <a:pt x="150784" y="46683"/>
                    <a:pt x="150784" y="51159"/>
                  </a:cubicBezTo>
                  <a:cubicBezTo>
                    <a:pt x="150784" y="55635"/>
                    <a:pt x="147183" y="59237"/>
                    <a:pt x="142707" y="59237"/>
                  </a:cubicBezTo>
                  <a:lnTo>
                    <a:pt x="29618" y="59237"/>
                  </a:lnTo>
                  <a:cubicBezTo>
                    <a:pt x="25142" y="59237"/>
                    <a:pt x="21541" y="55635"/>
                    <a:pt x="21541" y="51159"/>
                  </a:cubicBezTo>
                  <a:cubicBezTo>
                    <a:pt x="21541" y="46683"/>
                    <a:pt x="25142" y="43081"/>
                    <a:pt x="29618" y="43081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033951" y="1292438"/>
              <a:ext cx="1387217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Открыть форму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16975" y="1757716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654835" y="1895576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54835" y="2136831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D700">
                <a:alpha val="20000"/>
              </a:srgbClr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54835" y="2136831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«Покажи реализации за сентябрь»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16975" y="2860596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654835" y="299845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4835" y="3239712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Открывает форму списка реализаций с установленным фильтром по дате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44650" y="3929012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16975" y="4101337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637603" y="4221965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86163" y="172325"/>
                  </a:moveTo>
                  <a:cubicBezTo>
                    <a:pt x="133717" y="172325"/>
                    <a:pt x="172325" y="133717"/>
                    <a:pt x="172325" y="86163"/>
                  </a:cubicBezTo>
                  <a:cubicBezTo>
                    <a:pt x="172325" y="38608"/>
                    <a:pt x="133717" y="0"/>
                    <a:pt x="86163" y="0"/>
                  </a:cubicBezTo>
                  <a:cubicBezTo>
                    <a:pt x="38608" y="0"/>
                    <a:pt x="0" y="38608"/>
                    <a:pt x="0" y="86163"/>
                  </a:cubicBezTo>
                  <a:cubicBezTo>
                    <a:pt x="0" y="133717"/>
                    <a:pt x="38608" y="172325"/>
                    <a:pt x="86163" y="172325"/>
                  </a:cubicBezTo>
                  <a:close/>
                  <a:moveTo>
                    <a:pt x="75392" y="53852"/>
                  </a:moveTo>
                  <a:cubicBezTo>
                    <a:pt x="75392" y="47907"/>
                    <a:pt x="80218" y="43081"/>
                    <a:pt x="86163" y="43081"/>
                  </a:cubicBezTo>
                  <a:cubicBezTo>
                    <a:pt x="92107" y="43081"/>
                    <a:pt x="96933" y="47907"/>
                    <a:pt x="96933" y="53852"/>
                  </a:cubicBezTo>
                  <a:cubicBezTo>
                    <a:pt x="96933" y="59796"/>
                    <a:pt x="92107" y="64622"/>
                    <a:pt x="86163" y="64622"/>
                  </a:cubicBezTo>
                  <a:cubicBezTo>
                    <a:pt x="80218" y="64622"/>
                    <a:pt x="75392" y="59796"/>
                    <a:pt x="75392" y="53852"/>
                  </a:cubicBezTo>
                  <a:close/>
                  <a:moveTo>
                    <a:pt x="72700" y="75392"/>
                  </a:moveTo>
                  <a:lnTo>
                    <a:pt x="88855" y="75392"/>
                  </a:lnTo>
                  <a:cubicBezTo>
                    <a:pt x="93332" y="75392"/>
                    <a:pt x="96933" y="78994"/>
                    <a:pt x="96933" y="83470"/>
                  </a:cubicBezTo>
                  <a:lnTo>
                    <a:pt x="96933" y="113088"/>
                  </a:lnTo>
                  <a:lnTo>
                    <a:pt x="99625" y="113088"/>
                  </a:lnTo>
                  <a:cubicBezTo>
                    <a:pt x="104102" y="113088"/>
                    <a:pt x="107703" y="116690"/>
                    <a:pt x="107703" y="121166"/>
                  </a:cubicBezTo>
                  <a:cubicBezTo>
                    <a:pt x="107703" y="125642"/>
                    <a:pt x="104102" y="129244"/>
                    <a:pt x="99625" y="129244"/>
                  </a:cubicBezTo>
                  <a:lnTo>
                    <a:pt x="72700" y="129244"/>
                  </a:lnTo>
                  <a:cubicBezTo>
                    <a:pt x="68223" y="129244"/>
                    <a:pt x="64622" y="125642"/>
                    <a:pt x="64622" y="121166"/>
                  </a:cubicBezTo>
                  <a:cubicBezTo>
                    <a:pt x="64622" y="116690"/>
                    <a:pt x="68223" y="113088"/>
                    <a:pt x="72700" y="113088"/>
                  </a:cubicBezTo>
                  <a:lnTo>
                    <a:pt x="80777" y="113088"/>
                  </a:lnTo>
                  <a:lnTo>
                    <a:pt x="80777" y="91548"/>
                  </a:lnTo>
                  <a:lnTo>
                    <a:pt x="72700" y="91548"/>
                  </a:lnTo>
                  <a:cubicBezTo>
                    <a:pt x="68223" y="91548"/>
                    <a:pt x="64622" y="87946"/>
                    <a:pt x="64622" y="83470"/>
                  </a:cubicBezTo>
                  <a:cubicBezTo>
                    <a:pt x="64622" y="78994"/>
                    <a:pt x="68223" y="75392"/>
                    <a:pt x="72700" y="7539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1033951" y="4187500"/>
              <a:ext cx="1594007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Проверить статус</a:t>
              </a:r>
              <a:endParaRPr lang="en-US" sz="16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16975" y="4652777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3" name="Text 31"/>
            <p:cNvSpPr/>
            <p:nvPr/>
          </p:nvSpPr>
          <p:spPr>
            <a:xfrm>
              <a:off x="654835" y="479063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54835" y="5031893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6B35">
                <a:alpha val="20000"/>
              </a:srgbClr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654835" y="5031893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«Какие заказы в работе?»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516975" y="5755658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7" name="Text 35"/>
            <p:cNvSpPr/>
            <p:nvPr/>
          </p:nvSpPr>
          <p:spPr>
            <a:xfrm>
              <a:off x="654835" y="5893518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54835" y="6134773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Формирует отчет по заказам покупателей в статусе «В работе»</a:t>
              </a:r>
              <a:endParaRPr lang="en-US" sz="1600" dirty="0"/>
            </a:p>
          </p:txBody>
        </p:sp>
      </p:grp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763300F7-0BA5-423D-93C0-0615BCCD7099}"/>
              </a:ext>
            </a:extLst>
          </p:cNvPr>
          <p:cNvGrpSpPr/>
          <p:nvPr/>
        </p:nvGrpSpPr>
        <p:grpSpPr>
          <a:xfrm>
            <a:off x="6182737" y="1033951"/>
            <a:ext cx="5669495" cy="5617797"/>
            <a:chOff x="6182737" y="1033951"/>
            <a:chExt cx="5669495" cy="5617797"/>
          </a:xfrm>
        </p:grpSpPr>
        <p:sp>
          <p:nvSpPr>
            <p:cNvPr id="17" name="Shape 15"/>
            <p:cNvSpPr/>
            <p:nvPr/>
          </p:nvSpPr>
          <p:spPr>
            <a:xfrm>
              <a:off x="6182737" y="1033951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6355062" y="1206276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6475689" y="1326903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140014" y="70007"/>
                  </a:moveTo>
                  <a:cubicBezTo>
                    <a:pt x="140014" y="85456"/>
                    <a:pt x="134999" y="99726"/>
                    <a:pt x="126551" y="111305"/>
                  </a:cubicBezTo>
                  <a:lnTo>
                    <a:pt x="169161" y="153948"/>
                  </a:lnTo>
                  <a:cubicBezTo>
                    <a:pt x="173368" y="158155"/>
                    <a:pt x="173368" y="164988"/>
                    <a:pt x="169161" y="169195"/>
                  </a:cubicBezTo>
                  <a:cubicBezTo>
                    <a:pt x="164954" y="173402"/>
                    <a:pt x="158122" y="173402"/>
                    <a:pt x="153915" y="169195"/>
                  </a:cubicBezTo>
                  <a:lnTo>
                    <a:pt x="111305" y="126551"/>
                  </a:lnTo>
                  <a:cubicBezTo>
                    <a:pt x="99726" y="134999"/>
                    <a:pt x="85456" y="140014"/>
                    <a:pt x="70007" y="140014"/>
                  </a:cubicBezTo>
                  <a:cubicBezTo>
                    <a:pt x="31335" y="140014"/>
                    <a:pt x="0" y="108679"/>
                    <a:pt x="0" y="70007"/>
                  </a:cubicBezTo>
                  <a:cubicBezTo>
                    <a:pt x="0" y="31335"/>
                    <a:pt x="31335" y="0"/>
                    <a:pt x="70007" y="0"/>
                  </a:cubicBezTo>
                  <a:cubicBezTo>
                    <a:pt x="108679" y="0"/>
                    <a:pt x="140014" y="31335"/>
                    <a:pt x="140014" y="70007"/>
                  </a:cubicBezTo>
                  <a:close/>
                  <a:moveTo>
                    <a:pt x="70007" y="118473"/>
                  </a:moveTo>
                  <a:cubicBezTo>
                    <a:pt x="96756" y="118473"/>
                    <a:pt x="118473" y="96756"/>
                    <a:pt x="118473" y="70007"/>
                  </a:cubicBezTo>
                  <a:cubicBezTo>
                    <a:pt x="118473" y="43258"/>
                    <a:pt x="96756" y="21541"/>
                    <a:pt x="70007" y="21541"/>
                  </a:cubicBezTo>
                  <a:cubicBezTo>
                    <a:pt x="43258" y="21541"/>
                    <a:pt x="21541" y="43258"/>
                    <a:pt x="21541" y="70007"/>
                  </a:cubicBezTo>
                  <a:cubicBezTo>
                    <a:pt x="21541" y="96756"/>
                    <a:pt x="43258" y="118473"/>
                    <a:pt x="70007" y="11847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6872037" y="1292438"/>
              <a:ext cx="1447531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Найти документ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355062" y="1757716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6492922" y="1895576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492922" y="2136831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D700">
                <a:alpha val="20000"/>
              </a:srgbClr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6492922" y="2136831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«Найди счет от ООО Ромашка»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355062" y="2860596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6" name="Text 24"/>
            <p:cNvSpPr/>
            <p:nvPr/>
          </p:nvSpPr>
          <p:spPr>
            <a:xfrm>
              <a:off x="6492922" y="299845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492922" y="3239712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Ищет счета по контрагенту и показывает список найденных документов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182737" y="3929012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6355062" y="4101337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1" name="Shape 39"/>
            <p:cNvSpPr/>
            <p:nvPr/>
          </p:nvSpPr>
          <p:spPr>
            <a:xfrm>
              <a:off x="6475689" y="4221965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75392" y="0"/>
                  </a:moveTo>
                  <a:lnTo>
                    <a:pt x="75392" y="21541"/>
                  </a:lnTo>
                  <a:cubicBezTo>
                    <a:pt x="75392" y="24502"/>
                    <a:pt x="77816" y="26926"/>
                    <a:pt x="80777" y="26926"/>
                  </a:cubicBezTo>
                  <a:lnTo>
                    <a:pt x="91548" y="26926"/>
                  </a:lnTo>
                  <a:cubicBezTo>
                    <a:pt x="94510" y="26926"/>
                    <a:pt x="96933" y="24502"/>
                    <a:pt x="96933" y="21541"/>
                  </a:cubicBezTo>
                  <a:lnTo>
                    <a:pt x="96933" y="0"/>
                  </a:lnTo>
                  <a:lnTo>
                    <a:pt x="107703" y="0"/>
                  </a:lnTo>
                  <a:cubicBezTo>
                    <a:pt x="119584" y="0"/>
                    <a:pt x="129244" y="9660"/>
                    <a:pt x="129244" y="21541"/>
                  </a:cubicBezTo>
                  <a:lnTo>
                    <a:pt x="129244" y="64622"/>
                  </a:lnTo>
                  <a:cubicBezTo>
                    <a:pt x="129244" y="66473"/>
                    <a:pt x="129008" y="68291"/>
                    <a:pt x="128571" y="70007"/>
                  </a:cubicBezTo>
                  <a:lnTo>
                    <a:pt x="43754" y="70007"/>
                  </a:lnTo>
                  <a:cubicBezTo>
                    <a:pt x="43317" y="68291"/>
                    <a:pt x="43081" y="66473"/>
                    <a:pt x="43081" y="64622"/>
                  </a:cubicBezTo>
                  <a:lnTo>
                    <a:pt x="43081" y="21541"/>
                  </a:lnTo>
                  <a:cubicBezTo>
                    <a:pt x="43081" y="9660"/>
                    <a:pt x="52741" y="0"/>
                    <a:pt x="64622" y="0"/>
                  </a:cubicBezTo>
                  <a:lnTo>
                    <a:pt x="75392" y="0"/>
                  </a:lnTo>
                  <a:close/>
                  <a:moveTo>
                    <a:pt x="107703" y="172325"/>
                  </a:moveTo>
                  <a:cubicBezTo>
                    <a:pt x="103934" y="172325"/>
                    <a:pt x="100366" y="171349"/>
                    <a:pt x="97269" y="169633"/>
                  </a:cubicBezTo>
                  <a:cubicBezTo>
                    <a:pt x="100467" y="164079"/>
                    <a:pt x="102318" y="157651"/>
                    <a:pt x="102318" y="150784"/>
                  </a:cubicBezTo>
                  <a:lnTo>
                    <a:pt x="102318" y="107703"/>
                  </a:lnTo>
                  <a:cubicBezTo>
                    <a:pt x="102318" y="100837"/>
                    <a:pt x="100467" y="94409"/>
                    <a:pt x="97269" y="88855"/>
                  </a:cubicBezTo>
                  <a:cubicBezTo>
                    <a:pt x="100366" y="87139"/>
                    <a:pt x="103900" y="86163"/>
                    <a:pt x="107703" y="86163"/>
                  </a:cubicBezTo>
                  <a:lnTo>
                    <a:pt x="118473" y="86163"/>
                  </a:lnTo>
                  <a:lnTo>
                    <a:pt x="118473" y="107703"/>
                  </a:lnTo>
                  <a:cubicBezTo>
                    <a:pt x="118473" y="110665"/>
                    <a:pt x="120897" y="113088"/>
                    <a:pt x="123859" y="113088"/>
                  </a:cubicBezTo>
                  <a:lnTo>
                    <a:pt x="134629" y="113088"/>
                  </a:lnTo>
                  <a:cubicBezTo>
                    <a:pt x="137591" y="113088"/>
                    <a:pt x="140014" y="110665"/>
                    <a:pt x="140014" y="107703"/>
                  </a:cubicBezTo>
                  <a:lnTo>
                    <a:pt x="140014" y="86163"/>
                  </a:lnTo>
                  <a:lnTo>
                    <a:pt x="150784" y="86163"/>
                  </a:lnTo>
                  <a:cubicBezTo>
                    <a:pt x="162665" y="86163"/>
                    <a:pt x="172325" y="95822"/>
                    <a:pt x="172325" y="107703"/>
                  </a:cubicBezTo>
                  <a:lnTo>
                    <a:pt x="172325" y="150784"/>
                  </a:lnTo>
                  <a:cubicBezTo>
                    <a:pt x="172325" y="162665"/>
                    <a:pt x="162665" y="172325"/>
                    <a:pt x="150784" y="172325"/>
                  </a:cubicBezTo>
                  <a:lnTo>
                    <a:pt x="107703" y="172325"/>
                  </a:lnTo>
                  <a:close/>
                  <a:moveTo>
                    <a:pt x="0" y="107703"/>
                  </a:moveTo>
                  <a:cubicBezTo>
                    <a:pt x="0" y="95822"/>
                    <a:pt x="9660" y="86163"/>
                    <a:pt x="21541" y="86163"/>
                  </a:cubicBezTo>
                  <a:lnTo>
                    <a:pt x="32311" y="86163"/>
                  </a:lnTo>
                  <a:lnTo>
                    <a:pt x="32311" y="107703"/>
                  </a:lnTo>
                  <a:cubicBezTo>
                    <a:pt x="32311" y="110665"/>
                    <a:pt x="34734" y="113088"/>
                    <a:pt x="37696" y="113088"/>
                  </a:cubicBezTo>
                  <a:lnTo>
                    <a:pt x="48466" y="113088"/>
                  </a:lnTo>
                  <a:cubicBezTo>
                    <a:pt x="51428" y="113088"/>
                    <a:pt x="53852" y="110665"/>
                    <a:pt x="53852" y="107703"/>
                  </a:cubicBezTo>
                  <a:lnTo>
                    <a:pt x="53852" y="86163"/>
                  </a:lnTo>
                  <a:lnTo>
                    <a:pt x="64622" y="86163"/>
                  </a:lnTo>
                  <a:cubicBezTo>
                    <a:pt x="76503" y="86163"/>
                    <a:pt x="86163" y="95822"/>
                    <a:pt x="86163" y="107703"/>
                  </a:cubicBezTo>
                  <a:lnTo>
                    <a:pt x="86163" y="150784"/>
                  </a:lnTo>
                  <a:cubicBezTo>
                    <a:pt x="86163" y="162665"/>
                    <a:pt x="76503" y="172325"/>
                    <a:pt x="64622" y="172325"/>
                  </a:cubicBezTo>
                  <a:lnTo>
                    <a:pt x="21541" y="172325"/>
                  </a:lnTo>
                  <a:cubicBezTo>
                    <a:pt x="9660" y="172325"/>
                    <a:pt x="0" y="162665"/>
                    <a:pt x="0" y="150784"/>
                  </a:cubicBezTo>
                  <a:lnTo>
                    <a:pt x="0" y="107703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6872037" y="4187500"/>
              <a:ext cx="1542310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Получить данные</a:t>
              </a:r>
              <a:endParaRPr lang="en-US" sz="16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355062" y="4652777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4" name="Text 42"/>
            <p:cNvSpPr/>
            <p:nvPr/>
          </p:nvSpPr>
          <p:spPr>
            <a:xfrm>
              <a:off x="6492922" y="479063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492922" y="5031893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6B35">
                <a:alpha val="20000"/>
              </a:srgbClr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6492922" y="5031893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«Сколько осталось товара Х?»</a:t>
              </a:r>
              <a:endParaRPr lang="en-US" sz="16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355062" y="5755658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8" name="Text 46"/>
            <p:cNvSpPr/>
            <p:nvPr/>
          </p:nvSpPr>
          <p:spPr>
            <a:xfrm>
              <a:off x="6492922" y="5893518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6492922" y="6134773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Показывает текущие остатки товара на всех складах</a:t>
              </a:r>
              <a:endParaRPr lang="en-US" sz="1600" dirty="0"/>
            </a:p>
          </p:txBody>
        </p:sp>
      </p:grpSp>
      <p:sp>
        <p:nvSpPr>
          <p:cNvPr id="51" name="Text 7">
            <a:extLst>
              <a:ext uri="{FF2B5EF4-FFF2-40B4-BE49-F238E27FC236}">
                <a16:creationId xmlns:a16="http://schemas.microsoft.com/office/drawing/2014/main" id="{7083AF9A-763D-43E7-ACFB-0306CCA39022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8</a:t>
            </a:r>
            <a:endParaRPr lang="en-US" sz="1600" dirty="0"/>
          </a:p>
        </p:txBody>
      </p: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0A7865C0-34AE-4DBB-97B5-40B69B84BAF7}"/>
              </a:ext>
            </a:extLst>
          </p:cNvPr>
          <p:cNvGrpSpPr/>
          <p:nvPr/>
        </p:nvGrpSpPr>
        <p:grpSpPr>
          <a:xfrm>
            <a:off x="381000" y="-1249137"/>
            <a:ext cx="616426" cy="876300"/>
            <a:chOff x="381000" y="1885950"/>
            <a:chExt cx="616426" cy="876300"/>
          </a:xfrm>
        </p:grpSpPr>
        <p:sp>
          <p:nvSpPr>
            <p:cNvPr id="119" name="Shape 4">
              <a:extLst>
                <a:ext uri="{FF2B5EF4-FFF2-40B4-BE49-F238E27FC236}">
                  <a16:creationId xmlns:a16="http://schemas.microsoft.com/office/drawing/2014/main" id="{96AE0A37-3821-43BB-9059-16D7891E436B}"/>
                </a:ext>
              </a:extLst>
            </p:cNvPr>
            <p:cNvSpPr/>
            <p:nvPr/>
          </p:nvSpPr>
          <p:spPr>
            <a:xfrm>
              <a:off x="38100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0" name="Text 5">
              <a:extLst>
                <a:ext uri="{FF2B5EF4-FFF2-40B4-BE49-F238E27FC236}">
                  <a16:creationId xmlns:a16="http://schemas.microsoft.com/office/drawing/2014/main" id="{50CE7F12-034B-4DD3-A63F-2C9FDB1E8CD5}"/>
                </a:ext>
              </a:extLst>
            </p:cNvPr>
            <p:cNvSpPr/>
            <p:nvPr/>
          </p:nvSpPr>
          <p:spPr>
            <a:xfrm>
              <a:off x="61531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121" name="Text 6">
              <a:extLst>
                <a:ext uri="{FF2B5EF4-FFF2-40B4-BE49-F238E27FC236}">
                  <a16:creationId xmlns:a16="http://schemas.microsoft.com/office/drawing/2014/main" id="{623421B9-9832-4818-8C27-1E1340B9098D}"/>
                </a:ext>
              </a:extLst>
            </p:cNvPr>
            <p:cNvSpPr/>
            <p:nvPr/>
          </p:nvSpPr>
          <p:spPr>
            <a:xfrm>
              <a:off x="444976" y="2571750"/>
              <a:ext cx="5524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2000" dirty="0"/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6FC80BF-6399-4136-A851-D7139975DD39}"/>
              </a:ext>
            </a:extLst>
          </p:cNvPr>
          <p:cNvGrpSpPr/>
          <p:nvPr/>
        </p:nvGrpSpPr>
        <p:grpSpPr>
          <a:xfrm>
            <a:off x="2999899" y="-2782971"/>
            <a:ext cx="742950" cy="876300"/>
            <a:chOff x="2999899" y="1885950"/>
            <a:chExt cx="742950" cy="876300"/>
          </a:xfrm>
        </p:grpSpPr>
        <p:sp>
          <p:nvSpPr>
            <p:cNvPr id="123" name="Shape 8">
              <a:extLst>
                <a:ext uri="{FF2B5EF4-FFF2-40B4-BE49-F238E27FC236}">
                  <a16:creationId xmlns:a16="http://schemas.microsoft.com/office/drawing/2014/main" id="{A64250D4-6BD1-4255-995B-A13DA922EE80}"/>
                </a:ext>
              </a:extLst>
            </p:cNvPr>
            <p:cNvSpPr/>
            <p:nvPr/>
          </p:nvSpPr>
          <p:spPr>
            <a:xfrm>
              <a:off x="3032919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4" name="Text 9">
              <a:extLst>
                <a:ext uri="{FF2B5EF4-FFF2-40B4-BE49-F238E27FC236}">
                  <a16:creationId xmlns:a16="http://schemas.microsoft.com/office/drawing/2014/main" id="{3220AE71-CF93-487A-A5FC-774759D6EA41}"/>
                </a:ext>
              </a:extLst>
            </p:cNvPr>
            <p:cNvSpPr/>
            <p:nvPr/>
          </p:nvSpPr>
          <p:spPr>
            <a:xfrm>
              <a:off x="3267234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125" name="Text 10">
              <a:extLst>
                <a:ext uri="{FF2B5EF4-FFF2-40B4-BE49-F238E27FC236}">
                  <a16:creationId xmlns:a16="http://schemas.microsoft.com/office/drawing/2014/main" id="{8E3478F3-1395-4F50-AA9F-FBD7961E04C6}"/>
                </a:ext>
              </a:extLst>
            </p:cNvPr>
            <p:cNvSpPr/>
            <p:nvPr/>
          </p:nvSpPr>
          <p:spPr>
            <a:xfrm>
              <a:off x="2999899" y="2571750"/>
              <a:ext cx="7429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Сущности</a:t>
              </a:r>
              <a:endParaRPr lang="en-US" sz="2000" dirty="0"/>
            </a:p>
          </p:txBody>
        </p:sp>
      </p:grpSp>
      <p:grpSp>
        <p:nvGrpSpPr>
          <p:cNvPr id="126" name="Группа 125">
            <a:extLst>
              <a:ext uri="{FF2B5EF4-FFF2-40B4-BE49-F238E27FC236}">
                <a16:creationId xmlns:a16="http://schemas.microsoft.com/office/drawing/2014/main" id="{4FDC18AC-19A7-448B-ABF7-79F5E1B62D4C}"/>
              </a:ext>
            </a:extLst>
          </p:cNvPr>
          <p:cNvGrpSpPr/>
          <p:nvPr/>
        </p:nvGrpSpPr>
        <p:grpSpPr>
          <a:xfrm>
            <a:off x="5684996" y="-3992340"/>
            <a:ext cx="714375" cy="876300"/>
            <a:chOff x="5684996" y="1885950"/>
            <a:chExt cx="714375" cy="876300"/>
          </a:xfrm>
        </p:grpSpPr>
        <p:sp>
          <p:nvSpPr>
            <p:cNvPr id="127" name="Shape 12">
              <a:extLst>
                <a:ext uri="{FF2B5EF4-FFF2-40B4-BE49-F238E27FC236}">
                  <a16:creationId xmlns:a16="http://schemas.microsoft.com/office/drawing/2014/main" id="{436FF7CD-76C1-4B2D-9A53-349F604EE420}"/>
                </a:ext>
              </a:extLst>
            </p:cNvPr>
            <p:cNvSpPr/>
            <p:nvPr/>
          </p:nvSpPr>
          <p:spPr>
            <a:xfrm>
              <a:off x="5703887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8" name="Text 13">
              <a:extLst>
                <a:ext uri="{FF2B5EF4-FFF2-40B4-BE49-F238E27FC236}">
                  <a16:creationId xmlns:a16="http://schemas.microsoft.com/office/drawing/2014/main" id="{E182041E-194F-4E02-9061-83B988FD13C6}"/>
                </a:ext>
              </a:extLst>
            </p:cNvPr>
            <p:cNvSpPr/>
            <p:nvPr/>
          </p:nvSpPr>
          <p:spPr>
            <a:xfrm>
              <a:off x="5938203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129" name="Text 14">
              <a:extLst>
                <a:ext uri="{FF2B5EF4-FFF2-40B4-BE49-F238E27FC236}">
                  <a16:creationId xmlns:a16="http://schemas.microsoft.com/office/drawing/2014/main" id="{F3E09CEE-6A7D-4C82-80BE-D17F239D0350}"/>
                </a:ext>
              </a:extLst>
            </p:cNvPr>
            <p:cNvSpPr/>
            <p:nvPr/>
          </p:nvSpPr>
          <p:spPr>
            <a:xfrm>
              <a:off x="5684996" y="2571750"/>
              <a:ext cx="714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Проверка</a:t>
              </a:r>
              <a:endParaRPr lang="en-US" sz="2000" dirty="0"/>
            </a:p>
          </p:txBody>
        </p:sp>
      </p:grpSp>
      <p:grpSp>
        <p:nvGrpSpPr>
          <p:cNvPr id="130" name="Группа 129">
            <a:extLst>
              <a:ext uri="{FF2B5EF4-FFF2-40B4-BE49-F238E27FC236}">
                <a16:creationId xmlns:a16="http://schemas.microsoft.com/office/drawing/2014/main" id="{66FAAB65-5C85-459C-8E6E-45A40A896FD8}"/>
              </a:ext>
            </a:extLst>
          </p:cNvPr>
          <p:cNvGrpSpPr/>
          <p:nvPr/>
        </p:nvGrpSpPr>
        <p:grpSpPr>
          <a:xfrm>
            <a:off x="8341836" y="-5703155"/>
            <a:ext cx="714375" cy="876300"/>
            <a:chOff x="8341836" y="1885950"/>
            <a:chExt cx="714375" cy="876300"/>
          </a:xfrm>
        </p:grpSpPr>
        <p:sp>
          <p:nvSpPr>
            <p:cNvPr id="131" name="Shape 16">
              <a:extLst>
                <a:ext uri="{FF2B5EF4-FFF2-40B4-BE49-F238E27FC236}">
                  <a16:creationId xmlns:a16="http://schemas.microsoft.com/office/drawing/2014/main" id="{208023CD-5FC0-482C-97AE-742B9D26338B}"/>
                </a:ext>
              </a:extLst>
            </p:cNvPr>
            <p:cNvSpPr/>
            <p:nvPr/>
          </p:nvSpPr>
          <p:spPr>
            <a:xfrm>
              <a:off x="836168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2" name="Text 17">
              <a:extLst>
                <a:ext uri="{FF2B5EF4-FFF2-40B4-BE49-F238E27FC236}">
                  <a16:creationId xmlns:a16="http://schemas.microsoft.com/office/drawing/2014/main" id="{2E6F1F38-B5ED-43A9-878C-E2AAD55DE80E}"/>
                </a:ext>
              </a:extLst>
            </p:cNvPr>
            <p:cNvSpPr/>
            <p:nvPr/>
          </p:nvSpPr>
          <p:spPr>
            <a:xfrm>
              <a:off x="859599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4</a:t>
              </a:r>
              <a:endParaRPr lang="en-US" sz="2000" dirty="0"/>
            </a:p>
          </p:txBody>
        </p:sp>
        <p:sp>
          <p:nvSpPr>
            <p:cNvPr id="133" name="Text 18">
              <a:extLst>
                <a:ext uri="{FF2B5EF4-FFF2-40B4-BE49-F238E27FC236}">
                  <a16:creationId xmlns:a16="http://schemas.microsoft.com/office/drawing/2014/main" id="{BC36016F-E3FC-42D3-9A6B-F2A016B07553}"/>
                </a:ext>
              </a:extLst>
            </p:cNvPr>
            <p:cNvSpPr/>
            <p:nvPr/>
          </p:nvSpPr>
          <p:spPr>
            <a:xfrm>
              <a:off x="8341836" y="2571750"/>
              <a:ext cx="714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Черновик</a:t>
              </a:r>
              <a:endParaRPr lang="en-US" sz="2000" dirty="0"/>
            </a:p>
          </p:txBody>
        </p:sp>
      </p:grpSp>
      <p:grpSp>
        <p:nvGrpSpPr>
          <p:cNvPr id="134" name="Группа 133">
            <a:extLst>
              <a:ext uri="{FF2B5EF4-FFF2-40B4-BE49-F238E27FC236}">
                <a16:creationId xmlns:a16="http://schemas.microsoft.com/office/drawing/2014/main" id="{F6F083BF-345B-492D-9726-FEF3022C481C}"/>
              </a:ext>
            </a:extLst>
          </p:cNvPr>
          <p:cNvGrpSpPr/>
          <p:nvPr/>
        </p:nvGrpSpPr>
        <p:grpSpPr>
          <a:xfrm>
            <a:off x="-10283379" y="2305050"/>
            <a:ext cx="9858058" cy="38100"/>
            <a:chOff x="1066800" y="2305050"/>
            <a:chExt cx="9858058" cy="38100"/>
          </a:xfrm>
        </p:grpSpPr>
        <p:sp>
          <p:nvSpPr>
            <p:cNvPr id="135" name="Shape 7">
              <a:extLst>
                <a:ext uri="{FF2B5EF4-FFF2-40B4-BE49-F238E27FC236}">
                  <a16:creationId xmlns:a16="http://schemas.microsoft.com/office/drawing/2014/main" id="{7C0F349A-AB06-4496-A335-4164CCBBAFFD}"/>
                </a:ext>
              </a:extLst>
            </p:cNvPr>
            <p:cNvSpPr/>
            <p:nvPr/>
          </p:nvSpPr>
          <p:spPr>
            <a:xfrm>
              <a:off x="1066800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6" name="Shape 11">
              <a:extLst>
                <a:ext uri="{FF2B5EF4-FFF2-40B4-BE49-F238E27FC236}">
                  <a16:creationId xmlns:a16="http://schemas.microsoft.com/office/drawing/2014/main" id="{64F06B13-5BCD-4B8F-9B2D-44D331BA6708}"/>
                </a:ext>
              </a:extLst>
            </p:cNvPr>
            <p:cNvSpPr/>
            <p:nvPr/>
          </p:nvSpPr>
          <p:spPr>
            <a:xfrm>
              <a:off x="3751739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7" name="Shape 15">
              <a:extLst>
                <a:ext uri="{FF2B5EF4-FFF2-40B4-BE49-F238E27FC236}">
                  <a16:creationId xmlns:a16="http://schemas.microsoft.com/office/drawing/2014/main" id="{9B50C52C-555A-4961-981C-CBDCB7F08941}"/>
                </a:ext>
              </a:extLst>
            </p:cNvPr>
            <p:cNvSpPr/>
            <p:nvPr/>
          </p:nvSpPr>
          <p:spPr>
            <a:xfrm>
              <a:off x="6408579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38" name="Shape 19">
              <a:extLst>
                <a:ext uri="{FF2B5EF4-FFF2-40B4-BE49-F238E27FC236}">
                  <a16:creationId xmlns:a16="http://schemas.microsoft.com/office/drawing/2014/main" id="{277B4088-48FD-4494-9883-228B930B5571}"/>
                </a:ext>
              </a:extLst>
            </p:cNvPr>
            <p:cNvSpPr/>
            <p:nvPr/>
          </p:nvSpPr>
          <p:spPr>
            <a:xfrm>
              <a:off x="9067483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</p:grp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84B6879B-BF37-4D6D-B778-AF0389F95C3D}"/>
              </a:ext>
            </a:extLst>
          </p:cNvPr>
          <p:cNvGrpSpPr/>
          <p:nvPr/>
        </p:nvGrpSpPr>
        <p:grpSpPr>
          <a:xfrm>
            <a:off x="10927715" y="-7236989"/>
            <a:ext cx="956310" cy="864705"/>
            <a:chOff x="10927715" y="1885950"/>
            <a:chExt cx="956310" cy="864705"/>
          </a:xfrm>
        </p:grpSpPr>
        <p:sp>
          <p:nvSpPr>
            <p:cNvPr id="140" name="Shape 20">
              <a:extLst>
                <a:ext uri="{FF2B5EF4-FFF2-40B4-BE49-F238E27FC236}">
                  <a16:creationId xmlns:a16="http://schemas.microsoft.com/office/drawing/2014/main" id="{4728DE42-B4ED-4CD5-81D0-D837B691209C}"/>
                </a:ext>
              </a:extLst>
            </p:cNvPr>
            <p:cNvSpPr/>
            <p:nvPr/>
          </p:nvSpPr>
          <p:spPr>
            <a:xfrm>
              <a:off x="1110107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1" name="Text 21">
              <a:extLst>
                <a:ext uri="{FF2B5EF4-FFF2-40B4-BE49-F238E27FC236}">
                  <a16:creationId xmlns:a16="http://schemas.microsoft.com/office/drawing/2014/main" id="{B3F4EC3E-82A7-4A59-AE1B-45CA00377937}"/>
                </a:ext>
              </a:extLst>
            </p:cNvPr>
            <p:cNvSpPr/>
            <p:nvPr/>
          </p:nvSpPr>
          <p:spPr>
            <a:xfrm>
              <a:off x="1133538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5</a:t>
              </a:r>
              <a:endParaRPr lang="en-US" sz="2000" dirty="0"/>
            </a:p>
          </p:txBody>
        </p:sp>
        <p:sp>
          <p:nvSpPr>
            <p:cNvPr id="142" name="Text 22">
              <a:extLst>
                <a:ext uri="{FF2B5EF4-FFF2-40B4-BE49-F238E27FC236}">
                  <a16:creationId xmlns:a16="http://schemas.microsoft.com/office/drawing/2014/main" id="{37AB6E97-A919-4844-8C2E-5CD07791C06E}"/>
                </a:ext>
              </a:extLst>
            </p:cNvPr>
            <p:cNvSpPr/>
            <p:nvPr/>
          </p:nvSpPr>
          <p:spPr>
            <a:xfrm>
              <a:off x="10927715" y="2560155"/>
              <a:ext cx="95631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Сохранение</a:t>
              </a:r>
              <a:endParaRPr lang="en-US" sz="2000" dirty="0"/>
            </a:p>
          </p:txBody>
        </p:sp>
      </p:grp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225EF481-3C95-4DFB-AA01-0DF8F2816F62}"/>
              </a:ext>
            </a:extLst>
          </p:cNvPr>
          <p:cNvGrpSpPr/>
          <p:nvPr/>
        </p:nvGrpSpPr>
        <p:grpSpPr>
          <a:xfrm>
            <a:off x="322006" y="-946358"/>
            <a:ext cx="5962650" cy="533400"/>
            <a:chOff x="381000" y="381000"/>
            <a:chExt cx="5962650" cy="533400"/>
          </a:xfrm>
        </p:grpSpPr>
        <p:sp>
          <p:nvSpPr>
            <p:cNvPr id="144" name="Shape 0">
              <a:extLst>
                <a:ext uri="{FF2B5EF4-FFF2-40B4-BE49-F238E27FC236}">
                  <a16:creationId xmlns:a16="http://schemas.microsoft.com/office/drawing/2014/main" id="{B091935E-35B5-4D2A-AC47-27F0FD0F32EA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5" name="Shape 1">
              <a:extLst>
                <a:ext uri="{FF2B5EF4-FFF2-40B4-BE49-F238E27FC236}">
                  <a16:creationId xmlns:a16="http://schemas.microsoft.com/office/drawing/2014/main" id="{3EFC9BC3-3C2D-4A73-BF0C-1575667CFA3C}"/>
                </a:ext>
              </a:extLst>
            </p:cNvPr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28620" y="28575"/>
                  </a:moveTo>
                  <a:cubicBezTo>
                    <a:pt x="28620" y="12814"/>
                    <a:pt x="41434" y="0"/>
                    <a:pt x="57195" y="0"/>
                  </a:cubicBezTo>
                  <a:lnTo>
                    <a:pt x="123944" y="0"/>
                  </a:lnTo>
                  <a:cubicBezTo>
                    <a:pt x="131534" y="0"/>
                    <a:pt x="138812" y="2991"/>
                    <a:pt x="144170" y="8349"/>
                  </a:cubicBezTo>
                  <a:lnTo>
                    <a:pt x="191676" y="55944"/>
                  </a:lnTo>
                  <a:cubicBezTo>
                    <a:pt x="197034" y="61302"/>
                    <a:pt x="200025" y="68580"/>
                    <a:pt x="200025" y="76170"/>
                  </a:cubicBezTo>
                  <a:lnTo>
                    <a:pt x="200025" y="119702"/>
                  </a:lnTo>
                  <a:lnTo>
                    <a:pt x="141089" y="178638"/>
                  </a:lnTo>
                  <a:lnTo>
                    <a:pt x="122292" y="178638"/>
                  </a:lnTo>
                  <a:lnTo>
                    <a:pt x="115104" y="154707"/>
                  </a:lnTo>
                  <a:cubicBezTo>
                    <a:pt x="113005" y="147697"/>
                    <a:pt x="106576" y="142920"/>
                    <a:pt x="99253" y="142920"/>
                  </a:cubicBezTo>
                  <a:cubicBezTo>
                    <a:pt x="94208" y="142920"/>
                    <a:pt x="89475" y="145197"/>
                    <a:pt x="86350" y="149126"/>
                  </a:cubicBezTo>
                  <a:lnTo>
                    <a:pt x="59516" y="182612"/>
                  </a:lnTo>
                  <a:cubicBezTo>
                    <a:pt x="55811" y="187211"/>
                    <a:pt x="56570" y="193997"/>
                    <a:pt x="61168" y="197659"/>
                  </a:cubicBezTo>
                  <a:cubicBezTo>
                    <a:pt x="65767" y="201320"/>
                    <a:pt x="72554" y="200605"/>
                    <a:pt x="76215" y="195962"/>
                  </a:cubicBezTo>
                  <a:lnTo>
                    <a:pt x="97244" y="169709"/>
                  </a:lnTo>
                  <a:lnTo>
                    <a:pt x="104031" y="192345"/>
                  </a:lnTo>
                  <a:cubicBezTo>
                    <a:pt x="105370" y="196900"/>
                    <a:pt x="109567" y="199980"/>
                    <a:pt x="114300" y="199980"/>
                  </a:cubicBezTo>
                  <a:lnTo>
                    <a:pt x="128364" y="199980"/>
                  </a:lnTo>
                  <a:cubicBezTo>
                    <a:pt x="127962" y="201364"/>
                    <a:pt x="127605" y="202793"/>
                    <a:pt x="127337" y="204222"/>
                  </a:cubicBezTo>
                  <a:lnTo>
                    <a:pt x="122471" y="228555"/>
                  </a:lnTo>
                  <a:lnTo>
                    <a:pt x="57195" y="228555"/>
                  </a:lnTo>
                  <a:cubicBezTo>
                    <a:pt x="41434" y="228555"/>
                    <a:pt x="28620" y="215741"/>
                    <a:pt x="28620" y="199980"/>
                  </a:cubicBezTo>
                  <a:lnTo>
                    <a:pt x="28620" y="28530"/>
                  </a:lnTo>
                  <a:close/>
                  <a:moveTo>
                    <a:pt x="121488" y="26119"/>
                  </a:moveTo>
                  <a:lnTo>
                    <a:pt x="121488" y="67866"/>
                  </a:lnTo>
                  <a:cubicBezTo>
                    <a:pt x="121488" y="73804"/>
                    <a:pt x="126266" y="78581"/>
                    <a:pt x="132204" y="78581"/>
                  </a:cubicBezTo>
                  <a:lnTo>
                    <a:pt x="173950" y="78581"/>
                  </a:lnTo>
                  <a:lnTo>
                    <a:pt x="121488" y="26119"/>
                  </a:lnTo>
                  <a:close/>
                  <a:moveTo>
                    <a:pt x="148367" y="208464"/>
                  </a:moveTo>
                  <a:cubicBezTo>
                    <a:pt x="149483" y="202927"/>
                    <a:pt x="152207" y="197837"/>
                    <a:pt x="156180" y="193864"/>
                  </a:cubicBezTo>
                  <a:lnTo>
                    <a:pt x="209267" y="140777"/>
                  </a:lnTo>
                  <a:lnTo>
                    <a:pt x="244986" y="176495"/>
                  </a:lnTo>
                  <a:lnTo>
                    <a:pt x="191899" y="229582"/>
                  </a:lnTo>
                  <a:cubicBezTo>
                    <a:pt x="187925" y="233556"/>
                    <a:pt x="182835" y="236280"/>
                    <a:pt x="177299" y="237396"/>
                  </a:cubicBezTo>
                  <a:lnTo>
                    <a:pt x="150688" y="242709"/>
                  </a:lnTo>
                  <a:cubicBezTo>
                    <a:pt x="150287" y="242798"/>
                    <a:pt x="149840" y="242843"/>
                    <a:pt x="149394" y="242843"/>
                  </a:cubicBezTo>
                  <a:cubicBezTo>
                    <a:pt x="145822" y="242843"/>
                    <a:pt x="142875" y="239941"/>
                    <a:pt x="142875" y="236324"/>
                  </a:cubicBezTo>
                  <a:cubicBezTo>
                    <a:pt x="142875" y="235878"/>
                    <a:pt x="142920" y="235476"/>
                    <a:pt x="143009" y="235029"/>
                  </a:cubicBezTo>
                  <a:lnTo>
                    <a:pt x="148322" y="208419"/>
                  </a:lnTo>
                  <a:close/>
                  <a:moveTo>
                    <a:pt x="267935" y="153546"/>
                  </a:moveTo>
                  <a:lnTo>
                    <a:pt x="255077" y="166405"/>
                  </a:lnTo>
                  <a:lnTo>
                    <a:pt x="219358" y="130686"/>
                  </a:lnTo>
                  <a:lnTo>
                    <a:pt x="232217" y="117827"/>
                  </a:lnTo>
                  <a:cubicBezTo>
                    <a:pt x="242084" y="107960"/>
                    <a:pt x="258068" y="107960"/>
                    <a:pt x="267935" y="117827"/>
                  </a:cubicBezTo>
                  <a:cubicBezTo>
                    <a:pt x="277803" y="127695"/>
                    <a:pt x="277803" y="143679"/>
                    <a:pt x="267935" y="15354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6" name="Text 2">
              <a:extLst>
                <a:ext uri="{FF2B5EF4-FFF2-40B4-BE49-F238E27FC236}">
                  <a16:creationId xmlns:a16="http://schemas.microsoft.com/office/drawing/2014/main" id="{6C2B1124-A980-407E-AA3E-964CDEF73BC0}"/>
                </a:ext>
              </a:extLst>
            </p:cNvPr>
            <p:cNvSpPr/>
            <p:nvPr/>
          </p:nvSpPr>
          <p:spPr>
            <a:xfrm>
              <a:off x="1066800" y="400050"/>
              <a:ext cx="52768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Сценарий создания документа</a:t>
              </a:r>
              <a:endParaRPr lang="en-US" sz="1600" dirty="0"/>
            </a:p>
          </p:txBody>
        </p:sp>
        <p:sp>
          <p:nvSpPr>
            <p:cNvPr id="147" name="Shape 3">
              <a:extLst>
                <a:ext uri="{FF2B5EF4-FFF2-40B4-BE49-F238E27FC236}">
                  <a16:creationId xmlns:a16="http://schemas.microsoft.com/office/drawing/2014/main" id="{E190FBF4-C764-45B2-A604-AD9AAD353860}"/>
                </a:ext>
              </a:extLst>
            </p:cNvPr>
            <p:cNvSpPr/>
            <p:nvPr/>
          </p:nvSpPr>
          <p:spPr>
            <a:xfrm>
              <a:off x="743902" y="866774"/>
              <a:ext cx="545147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48" name="Text 7">
            <a:extLst>
              <a:ext uri="{FF2B5EF4-FFF2-40B4-BE49-F238E27FC236}">
                <a16:creationId xmlns:a16="http://schemas.microsoft.com/office/drawing/2014/main" id="{4ED06F55-AFAE-4FE7-BB9D-47ACE94A61DD}"/>
              </a:ext>
            </a:extLst>
          </p:cNvPr>
          <p:cNvSpPr/>
          <p:nvPr/>
        </p:nvSpPr>
        <p:spPr>
          <a:xfrm>
            <a:off x="11161675" y="-1766046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9</a:t>
            </a:r>
            <a:endParaRPr lang="en-US" sz="1600" dirty="0"/>
          </a:p>
        </p:txBody>
      </p:sp>
      <p:grpSp>
        <p:nvGrpSpPr>
          <p:cNvPr id="149" name="Группа 148">
            <a:extLst>
              <a:ext uri="{FF2B5EF4-FFF2-40B4-BE49-F238E27FC236}">
                <a16:creationId xmlns:a16="http://schemas.microsoft.com/office/drawing/2014/main" id="{3C5EB4EE-33C5-4D6C-8D99-4E11B0F1F6D3}"/>
              </a:ext>
            </a:extLst>
          </p:cNvPr>
          <p:cNvGrpSpPr/>
          <p:nvPr/>
        </p:nvGrpSpPr>
        <p:grpSpPr>
          <a:xfrm>
            <a:off x="381000" y="7474360"/>
            <a:ext cx="2162175" cy="2647950"/>
            <a:chOff x="381000" y="2990850"/>
            <a:chExt cx="2162175" cy="2647950"/>
          </a:xfrm>
        </p:grpSpPr>
        <p:sp>
          <p:nvSpPr>
            <p:cNvPr id="150" name="Shape 23">
              <a:extLst>
                <a:ext uri="{FF2B5EF4-FFF2-40B4-BE49-F238E27FC236}">
                  <a16:creationId xmlns:a16="http://schemas.microsoft.com/office/drawing/2014/main" id="{39F61354-7980-4B90-B1E3-4C00F0891A2F}"/>
                </a:ext>
              </a:extLst>
            </p:cNvPr>
            <p:cNvSpPr/>
            <p:nvPr/>
          </p:nvSpPr>
          <p:spPr>
            <a:xfrm>
              <a:off x="38100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51" name="Shape 24">
              <a:extLst>
                <a:ext uri="{FF2B5EF4-FFF2-40B4-BE49-F238E27FC236}">
                  <a16:creationId xmlns:a16="http://schemas.microsoft.com/office/drawing/2014/main" id="{DCC2C65A-F502-4F3D-BFED-D1988B2B07E8}"/>
                </a:ext>
              </a:extLst>
            </p:cNvPr>
            <p:cNvSpPr/>
            <p:nvPr/>
          </p:nvSpPr>
          <p:spPr>
            <a:xfrm>
              <a:off x="552450" y="32861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60734"/>
                  </a:moveTo>
                  <a:cubicBezTo>
                    <a:pt x="133075" y="160734"/>
                    <a:pt x="171450" y="124737"/>
                    <a:pt x="171450" y="80367"/>
                  </a:cubicBezTo>
                  <a:cubicBezTo>
                    <a:pt x="171450" y="35998"/>
                    <a:pt x="133075" y="0"/>
                    <a:pt x="85725" y="0"/>
                  </a:cubicBezTo>
                  <a:cubicBezTo>
                    <a:pt x="38375" y="0"/>
                    <a:pt x="0" y="35998"/>
                    <a:pt x="0" y="80367"/>
                  </a:cubicBezTo>
                  <a:cubicBezTo>
                    <a:pt x="0" y="98550"/>
                    <a:pt x="6429" y="115293"/>
                    <a:pt x="17279" y="128755"/>
                  </a:cubicBezTo>
                  <a:lnTo>
                    <a:pt x="938" y="159663"/>
                  </a:lnTo>
                  <a:cubicBezTo>
                    <a:pt x="-670" y="162677"/>
                    <a:pt x="-167" y="166360"/>
                    <a:pt x="2143" y="168872"/>
                  </a:cubicBezTo>
                  <a:cubicBezTo>
                    <a:pt x="4454" y="171383"/>
                    <a:pt x="8104" y="172153"/>
                    <a:pt x="11218" y="170814"/>
                  </a:cubicBezTo>
                  <a:lnTo>
                    <a:pt x="50866" y="153836"/>
                  </a:lnTo>
                  <a:cubicBezTo>
                    <a:pt x="61514" y="158256"/>
                    <a:pt x="73302" y="160734"/>
                    <a:pt x="85725" y="160734"/>
                  </a:cubicBezTo>
                  <a:close/>
                  <a:moveTo>
                    <a:pt x="42863" y="69652"/>
                  </a:moveTo>
                  <a:cubicBezTo>
                    <a:pt x="48777" y="69652"/>
                    <a:pt x="53578" y="74453"/>
                    <a:pt x="53578" y="80367"/>
                  </a:cubicBezTo>
                  <a:cubicBezTo>
                    <a:pt x="53578" y="86281"/>
                    <a:pt x="48777" y="91083"/>
                    <a:pt x="42863" y="91083"/>
                  </a:cubicBezTo>
                  <a:cubicBezTo>
                    <a:pt x="36948" y="91083"/>
                    <a:pt x="32147" y="86281"/>
                    <a:pt x="32147" y="80367"/>
                  </a:cubicBezTo>
                  <a:cubicBezTo>
                    <a:pt x="32147" y="74453"/>
                    <a:pt x="36948" y="69652"/>
                    <a:pt x="42863" y="69652"/>
                  </a:cubicBezTo>
                  <a:close/>
                  <a:moveTo>
                    <a:pt x="85725" y="69652"/>
                  </a:moveTo>
                  <a:cubicBezTo>
                    <a:pt x="91639" y="69652"/>
                    <a:pt x="96441" y="74453"/>
                    <a:pt x="96441" y="80367"/>
                  </a:cubicBezTo>
                  <a:cubicBezTo>
                    <a:pt x="96441" y="86281"/>
                    <a:pt x="91639" y="91083"/>
                    <a:pt x="85725" y="91083"/>
                  </a:cubicBezTo>
                  <a:cubicBezTo>
                    <a:pt x="79811" y="91083"/>
                    <a:pt x="75009" y="86281"/>
                    <a:pt x="75009" y="80367"/>
                  </a:cubicBezTo>
                  <a:cubicBezTo>
                    <a:pt x="75009" y="74453"/>
                    <a:pt x="79811" y="69652"/>
                    <a:pt x="85725" y="69652"/>
                  </a:cubicBezTo>
                  <a:close/>
                  <a:moveTo>
                    <a:pt x="117872" y="80367"/>
                  </a:moveTo>
                  <a:cubicBezTo>
                    <a:pt x="117872" y="74453"/>
                    <a:pt x="122673" y="69652"/>
                    <a:pt x="128588" y="69652"/>
                  </a:cubicBezTo>
                  <a:cubicBezTo>
                    <a:pt x="134502" y="69652"/>
                    <a:pt x="139303" y="74453"/>
                    <a:pt x="139303" y="80367"/>
                  </a:cubicBezTo>
                  <a:cubicBezTo>
                    <a:pt x="139303" y="86281"/>
                    <a:pt x="134502" y="91083"/>
                    <a:pt x="128588" y="91083"/>
                  </a:cubicBezTo>
                  <a:cubicBezTo>
                    <a:pt x="122673" y="91083"/>
                    <a:pt x="117872" y="86281"/>
                    <a:pt x="117872" y="8036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2" name="Text 25">
              <a:extLst>
                <a:ext uri="{FF2B5EF4-FFF2-40B4-BE49-F238E27FC236}">
                  <a16:creationId xmlns:a16="http://schemas.microsoft.com/office/drawing/2014/main" id="{87E47B05-DE78-4ECC-8603-513D64A95729}"/>
                </a:ext>
              </a:extLst>
            </p:cNvPr>
            <p:cNvSpPr/>
            <p:nvPr/>
          </p:nvSpPr>
          <p:spPr>
            <a:xfrm>
              <a:off x="819150" y="3143250"/>
              <a:ext cx="164782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Естественный запрос</a:t>
              </a:r>
              <a:endParaRPr lang="en-US" sz="1600" dirty="0"/>
            </a:p>
          </p:txBody>
        </p:sp>
        <p:sp>
          <p:nvSpPr>
            <p:cNvPr id="153" name="Text 26">
              <a:extLst>
                <a:ext uri="{FF2B5EF4-FFF2-40B4-BE49-F238E27FC236}">
                  <a16:creationId xmlns:a16="http://schemas.microsoft.com/office/drawing/2014/main" id="{043E207B-B748-4ACE-833F-137FAED36856}"/>
                </a:ext>
              </a:extLst>
            </p:cNvPr>
            <p:cNvSpPr/>
            <p:nvPr/>
          </p:nvSpPr>
          <p:spPr>
            <a:xfrm>
              <a:off x="53340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 пишет:</a:t>
              </a:r>
              <a:endParaRPr lang="en-US" sz="1600" dirty="0"/>
            </a:p>
          </p:txBody>
        </p:sp>
        <p:grpSp>
          <p:nvGrpSpPr>
            <p:cNvPr id="154" name="Группа 153">
              <a:extLst>
                <a:ext uri="{FF2B5EF4-FFF2-40B4-BE49-F238E27FC236}">
                  <a16:creationId xmlns:a16="http://schemas.microsoft.com/office/drawing/2014/main" id="{8782AAC7-3165-4C91-BC9F-FCECCD2E94B2}"/>
                </a:ext>
              </a:extLst>
            </p:cNvPr>
            <p:cNvGrpSpPr/>
            <p:nvPr/>
          </p:nvGrpSpPr>
          <p:grpSpPr>
            <a:xfrm>
              <a:off x="533400" y="3990975"/>
              <a:ext cx="1924050" cy="1524000"/>
              <a:chOff x="533400" y="3981450"/>
              <a:chExt cx="1924050" cy="723900"/>
            </a:xfrm>
          </p:grpSpPr>
          <p:sp>
            <p:nvSpPr>
              <p:cNvPr id="155" name="Shape 27">
                <a:extLst>
                  <a:ext uri="{FF2B5EF4-FFF2-40B4-BE49-F238E27FC236}">
                    <a16:creationId xmlns:a16="http://schemas.microsoft.com/office/drawing/2014/main" id="{DDD5CAA2-78F2-4334-BC4D-A908118C2FD0}"/>
                  </a:ext>
                </a:extLst>
              </p:cNvPr>
              <p:cNvSpPr/>
              <p:nvPr/>
            </p:nvSpPr>
            <p:spPr>
              <a:xfrm>
                <a:off x="533400" y="3981450"/>
                <a:ext cx="185737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723900">
                    <a:moveTo>
                      <a:pt x="76198" y="0"/>
                    </a:moveTo>
                    <a:lnTo>
                      <a:pt x="1781177" y="0"/>
                    </a:lnTo>
                    <a:cubicBezTo>
                      <a:pt x="1823232" y="0"/>
                      <a:pt x="1857375" y="34143"/>
                      <a:pt x="1857375" y="76198"/>
                    </a:cubicBezTo>
                    <a:lnTo>
                      <a:pt x="1857375" y="647702"/>
                    </a:lnTo>
                    <a:cubicBezTo>
                      <a:pt x="1857375" y="689757"/>
                      <a:pt x="1823232" y="723900"/>
                      <a:pt x="1781177" y="723900"/>
                    </a:cubicBezTo>
                    <a:lnTo>
                      <a:pt x="76198" y="723900"/>
                    </a:lnTo>
                    <a:cubicBezTo>
                      <a:pt x="34143" y="723900"/>
                      <a:pt x="0" y="689757"/>
                      <a:pt x="0" y="647702"/>
                    </a:cubicBezTo>
                    <a:lnTo>
                      <a:pt x="0" y="76198"/>
                    </a:lnTo>
                    <a:cubicBezTo>
                      <a:pt x="0" y="34143"/>
                      <a:pt x="34143" y="0"/>
                      <a:pt x="76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56" name="Text 28">
                <a:extLst>
                  <a:ext uri="{FF2B5EF4-FFF2-40B4-BE49-F238E27FC236}">
                    <a16:creationId xmlns:a16="http://schemas.microsoft.com/office/drawing/2014/main" id="{209D493C-DDF2-468D-8385-AF55BEABF768}"/>
                  </a:ext>
                </a:extLst>
              </p:cNvPr>
              <p:cNvSpPr/>
              <p:nvPr/>
            </p:nvSpPr>
            <p:spPr>
              <a:xfrm>
                <a:off x="533400" y="3981450"/>
                <a:ext cx="1924050" cy="723900"/>
              </a:xfrm>
              <a:prstGeom prst="rect">
                <a:avLst/>
              </a:prstGeom>
              <a:noFill/>
              <a:ln/>
            </p:spPr>
            <p:txBody>
              <a:bodyPr wrap="square" lIns="76200" tIns="76200" rIns="76200" bIns="7620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«Создай реализацию ООО Ромашка, 10 шт. товара А»</a:t>
                </a:r>
                <a:endParaRPr lang="en-US" sz="2000" dirty="0"/>
              </a:p>
            </p:txBody>
          </p:sp>
        </p:grp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13563825-B652-49B0-9420-7AEF5177D558}"/>
              </a:ext>
            </a:extLst>
          </p:cNvPr>
          <p:cNvGrpSpPr/>
          <p:nvPr/>
        </p:nvGrpSpPr>
        <p:grpSpPr>
          <a:xfrm>
            <a:off x="2697480" y="12636297"/>
            <a:ext cx="2162175" cy="2647950"/>
            <a:chOff x="2697480" y="2990850"/>
            <a:chExt cx="2162175" cy="2647950"/>
          </a:xfrm>
        </p:grpSpPr>
        <p:sp>
          <p:nvSpPr>
            <p:cNvPr id="158" name="Shape 29">
              <a:extLst>
                <a:ext uri="{FF2B5EF4-FFF2-40B4-BE49-F238E27FC236}">
                  <a16:creationId xmlns:a16="http://schemas.microsoft.com/office/drawing/2014/main" id="{CE3D91E3-898C-4120-ABC2-F213A3C48824}"/>
                </a:ext>
              </a:extLst>
            </p:cNvPr>
            <p:cNvSpPr/>
            <p:nvPr/>
          </p:nvSpPr>
          <p:spPr>
            <a:xfrm>
              <a:off x="269748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59" name="Shape 30">
              <a:extLst>
                <a:ext uri="{FF2B5EF4-FFF2-40B4-BE49-F238E27FC236}">
                  <a16:creationId xmlns:a16="http://schemas.microsoft.com/office/drawing/2014/main" id="{8835B8AF-5487-4EAB-BD7F-9DC0AEB6EC60}"/>
                </a:ext>
              </a:extLst>
            </p:cNvPr>
            <p:cNvSpPr/>
            <p:nvPr/>
          </p:nvSpPr>
          <p:spPr>
            <a:xfrm>
              <a:off x="2864168" y="32861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40184" y="18752"/>
                  </a:moveTo>
                  <a:cubicBezTo>
                    <a:pt x="40184" y="8405"/>
                    <a:pt x="48589" y="0"/>
                    <a:pt x="58936" y="0"/>
                  </a:cubicBezTo>
                  <a:lnTo>
                    <a:pt x="66973" y="0"/>
                  </a:lnTo>
                  <a:cubicBezTo>
                    <a:pt x="72900" y="0"/>
                    <a:pt x="77688" y="4789"/>
                    <a:pt x="77688" y="10716"/>
                  </a:cubicBezTo>
                  <a:lnTo>
                    <a:pt x="77688" y="160734"/>
                  </a:lnTo>
                  <a:cubicBezTo>
                    <a:pt x="77688" y="166661"/>
                    <a:pt x="72900" y="171450"/>
                    <a:pt x="66973" y="171450"/>
                  </a:cubicBezTo>
                  <a:lnTo>
                    <a:pt x="56257" y="171450"/>
                  </a:lnTo>
                  <a:cubicBezTo>
                    <a:pt x="46278" y="171450"/>
                    <a:pt x="37873" y="164619"/>
                    <a:pt x="35496" y="155377"/>
                  </a:cubicBezTo>
                  <a:cubicBezTo>
                    <a:pt x="35261" y="155377"/>
                    <a:pt x="35060" y="155377"/>
                    <a:pt x="34826" y="155377"/>
                  </a:cubicBezTo>
                  <a:cubicBezTo>
                    <a:pt x="20025" y="155377"/>
                    <a:pt x="8037" y="143388"/>
                    <a:pt x="8037" y="128588"/>
                  </a:cubicBezTo>
                  <a:cubicBezTo>
                    <a:pt x="8037" y="122560"/>
                    <a:pt x="10046" y="117001"/>
                    <a:pt x="13395" y="112514"/>
                  </a:cubicBezTo>
                  <a:cubicBezTo>
                    <a:pt x="6898" y="107625"/>
                    <a:pt x="2679" y="99856"/>
                    <a:pt x="2679" y="91083"/>
                  </a:cubicBezTo>
                  <a:cubicBezTo>
                    <a:pt x="2679" y="80736"/>
                    <a:pt x="8573" y="71728"/>
                    <a:pt x="17145" y="67274"/>
                  </a:cubicBezTo>
                  <a:cubicBezTo>
                    <a:pt x="14767" y="63256"/>
                    <a:pt x="13395" y="58568"/>
                    <a:pt x="13395" y="53578"/>
                  </a:cubicBezTo>
                  <a:cubicBezTo>
                    <a:pt x="13395" y="38777"/>
                    <a:pt x="25383" y="26789"/>
                    <a:pt x="40184" y="26789"/>
                  </a:cubicBezTo>
                  <a:lnTo>
                    <a:pt x="40184" y="18752"/>
                  </a:lnTo>
                  <a:close/>
                  <a:moveTo>
                    <a:pt x="131266" y="18752"/>
                  </a:moveTo>
                  <a:lnTo>
                    <a:pt x="131266" y="26789"/>
                  </a:lnTo>
                  <a:cubicBezTo>
                    <a:pt x="146067" y="26789"/>
                    <a:pt x="158055" y="38777"/>
                    <a:pt x="158055" y="53578"/>
                  </a:cubicBezTo>
                  <a:cubicBezTo>
                    <a:pt x="158055" y="58601"/>
                    <a:pt x="156683" y="63289"/>
                    <a:pt x="154305" y="67274"/>
                  </a:cubicBezTo>
                  <a:cubicBezTo>
                    <a:pt x="162911" y="71728"/>
                    <a:pt x="168771" y="80702"/>
                    <a:pt x="168771" y="91083"/>
                  </a:cubicBezTo>
                  <a:cubicBezTo>
                    <a:pt x="168771" y="99856"/>
                    <a:pt x="164552" y="107625"/>
                    <a:pt x="158055" y="112514"/>
                  </a:cubicBezTo>
                  <a:cubicBezTo>
                    <a:pt x="161404" y="117001"/>
                    <a:pt x="163413" y="122560"/>
                    <a:pt x="163413" y="128588"/>
                  </a:cubicBezTo>
                  <a:cubicBezTo>
                    <a:pt x="163413" y="143388"/>
                    <a:pt x="151425" y="155377"/>
                    <a:pt x="136624" y="155377"/>
                  </a:cubicBezTo>
                  <a:cubicBezTo>
                    <a:pt x="136390" y="155377"/>
                    <a:pt x="136189" y="155377"/>
                    <a:pt x="135954" y="155377"/>
                  </a:cubicBezTo>
                  <a:cubicBezTo>
                    <a:pt x="133577" y="164619"/>
                    <a:pt x="125172" y="171450"/>
                    <a:pt x="115193" y="171450"/>
                  </a:cubicBezTo>
                  <a:lnTo>
                    <a:pt x="104477" y="171450"/>
                  </a:lnTo>
                  <a:cubicBezTo>
                    <a:pt x="98550" y="171450"/>
                    <a:pt x="93762" y="166661"/>
                    <a:pt x="93762" y="160734"/>
                  </a:cubicBezTo>
                  <a:lnTo>
                    <a:pt x="93762" y="10716"/>
                  </a:lnTo>
                  <a:cubicBezTo>
                    <a:pt x="93762" y="4789"/>
                    <a:pt x="98550" y="0"/>
                    <a:pt x="104477" y="0"/>
                  </a:cubicBezTo>
                  <a:lnTo>
                    <a:pt x="112514" y="0"/>
                  </a:lnTo>
                  <a:cubicBezTo>
                    <a:pt x="122861" y="0"/>
                    <a:pt x="131266" y="8405"/>
                    <a:pt x="131266" y="18752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60" name="Text 31">
              <a:extLst>
                <a:ext uri="{FF2B5EF4-FFF2-40B4-BE49-F238E27FC236}">
                  <a16:creationId xmlns:a16="http://schemas.microsoft.com/office/drawing/2014/main" id="{49643D2C-9965-45F0-86D6-E699382B6C1A}"/>
                </a:ext>
              </a:extLst>
            </p:cNvPr>
            <p:cNvSpPr/>
            <p:nvPr/>
          </p:nvSpPr>
          <p:spPr>
            <a:xfrm>
              <a:off x="3121819" y="3143250"/>
              <a:ext cx="16668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Извлечение сущностей</a:t>
              </a:r>
              <a:endParaRPr lang="en-US" sz="1600" dirty="0"/>
            </a:p>
          </p:txBody>
        </p:sp>
        <p:sp>
          <p:nvSpPr>
            <p:cNvPr id="161" name="Text 32">
              <a:extLst>
                <a:ext uri="{FF2B5EF4-FFF2-40B4-BE49-F238E27FC236}">
                  <a16:creationId xmlns:a16="http://schemas.microsoft.com/office/drawing/2014/main" id="{478A6590-5B89-4D78-9045-D73B4FCE819F}"/>
                </a:ext>
              </a:extLst>
            </p:cNvPr>
            <p:cNvSpPr/>
            <p:nvPr/>
          </p:nvSpPr>
          <p:spPr>
            <a:xfrm>
              <a:off x="284988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LLM выделяет:</a:t>
              </a:r>
              <a:endParaRPr lang="en-US" sz="1600" dirty="0"/>
            </a:p>
          </p:txBody>
        </p:sp>
        <p:grpSp>
          <p:nvGrpSpPr>
            <p:cNvPr id="162" name="Группа 161">
              <a:extLst>
                <a:ext uri="{FF2B5EF4-FFF2-40B4-BE49-F238E27FC236}">
                  <a16:creationId xmlns:a16="http://schemas.microsoft.com/office/drawing/2014/main" id="{8765AA48-D0D0-4BE2-A6F9-7F520111CACD}"/>
                </a:ext>
              </a:extLst>
            </p:cNvPr>
            <p:cNvGrpSpPr/>
            <p:nvPr/>
          </p:nvGrpSpPr>
          <p:grpSpPr>
            <a:xfrm>
              <a:off x="2849880" y="3990975"/>
              <a:ext cx="1924050" cy="1524000"/>
              <a:chOff x="2849880" y="3981450"/>
              <a:chExt cx="1924050" cy="876300"/>
            </a:xfrm>
          </p:grpSpPr>
          <p:sp>
            <p:nvSpPr>
              <p:cNvPr id="163" name="Shape 33">
                <a:extLst>
                  <a:ext uri="{FF2B5EF4-FFF2-40B4-BE49-F238E27FC236}">
                    <a16:creationId xmlns:a16="http://schemas.microsoft.com/office/drawing/2014/main" id="{33AA3793-A767-4BC5-8F23-147C5B196BC7}"/>
                  </a:ext>
                </a:extLst>
              </p:cNvPr>
              <p:cNvSpPr/>
              <p:nvPr/>
            </p:nvSpPr>
            <p:spPr>
              <a:xfrm>
                <a:off x="2849880" y="3981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64" name="Text 34">
                <a:extLst>
                  <a:ext uri="{FF2B5EF4-FFF2-40B4-BE49-F238E27FC236}">
                    <a16:creationId xmlns:a16="http://schemas.microsoft.com/office/drawing/2014/main" id="{5E3F7FB8-AB98-4E91-8D48-2F73B3197BEE}"/>
                  </a:ext>
                </a:extLst>
              </p:cNvPr>
              <p:cNvSpPr/>
              <p:nvPr/>
            </p:nvSpPr>
            <p:spPr>
              <a:xfrm>
                <a:off x="2849880" y="3981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Контрагент</a:t>
                </a:r>
                <a:endParaRPr lang="en-US" sz="2400" dirty="0"/>
              </a:p>
            </p:txBody>
          </p:sp>
          <p:sp>
            <p:nvSpPr>
              <p:cNvPr id="165" name="Shape 35">
                <a:extLst>
                  <a:ext uri="{FF2B5EF4-FFF2-40B4-BE49-F238E27FC236}">
                    <a16:creationId xmlns:a16="http://schemas.microsoft.com/office/drawing/2014/main" id="{AD2B8D9A-A099-44C3-8ED8-B6DA528F6110}"/>
                  </a:ext>
                </a:extLst>
              </p:cNvPr>
              <p:cNvSpPr/>
              <p:nvPr/>
            </p:nvSpPr>
            <p:spPr>
              <a:xfrm>
                <a:off x="2849880" y="42862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66" name="Text 36">
                <a:extLst>
                  <a:ext uri="{FF2B5EF4-FFF2-40B4-BE49-F238E27FC236}">
                    <a16:creationId xmlns:a16="http://schemas.microsoft.com/office/drawing/2014/main" id="{FDBC62E2-7CC9-46B7-B591-DB52AE108DCB}"/>
                  </a:ext>
                </a:extLst>
              </p:cNvPr>
              <p:cNvSpPr/>
              <p:nvPr/>
            </p:nvSpPr>
            <p:spPr>
              <a:xfrm>
                <a:off x="2849880" y="42862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Номенклатура</a:t>
                </a:r>
                <a:endParaRPr lang="en-US" sz="2400" dirty="0"/>
              </a:p>
            </p:txBody>
          </p:sp>
          <p:sp>
            <p:nvSpPr>
              <p:cNvPr id="167" name="Shape 37">
                <a:extLst>
                  <a:ext uri="{FF2B5EF4-FFF2-40B4-BE49-F238E27FC236}">
                    <a16:creationId xmlns:a16="http://schemas.microsoft.com/office/drawing/2014/main" id="{A1735E36-B60D-49B1-9735-6A0E995493AB}"/>
                  </a:ext>
                </a:extLst>
              </p:cNvPr>
              <p:cNvSpPr/>
              <p:nvPr/>
            </p:nvSpPr>
            <p:spPr>
              <a:xfrm>
                <a:off x="2849880" y="45910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68" name="Text 38">
                <a:extLst>
                  <a:ext uri="{FF2B5EF4-FFF2-40B4-BE49-F238E27FC236}">
                    <a16:creationId xmlns:a16="http://schemas.microsoft.com/office/drawing/2014/main" id="{7FDB0CC8-EC9D-4435-9ACE-94553F6DADC2}"/>
                  </a:ext>
                </a:extLst>
              </p:cNvPr>
              <p:cNvSpPr/>
              <p:nvPr/>
            </p:nvSpPr>
            <p:spPr>
              <a:xfrm>
                <a:off x="2849880" y="45910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Количество</a:t>
                </a:r>
                <a:endParaRPr lang="en-US" sz="2400" dirty="0"/>
              </a:p>
            </p:txBody>
          </p:sp>
        </p:grpSp>
      </p:grpSp>
      <p:grpSp>
        <p:nvGrpSpPr>
          <p:cNvPr id="169" name="Группа 168">
            <a:extLst>
              <a:ext uri="{FF2B5EF4-FFF2-40B4-BE49-F238E27FC236}">
                <a16:creationId xmlns:a16="http://schemas.microsoft.com/office/drawing/2014/main" id="{06E70FF0-1C91-4798-B42F-706C14951612}"/>
              </a:ext>
            </a:extLst>
          </p:cNvPr>
          <p:cNvGrpSpPr/>
          <p:nvPr/>
        </p:nvGrpSpPr>
        <p:grpSpPr>
          <a:xfrm>
            <a:off x="5013960" y="17532763"/>
            <a:ext cx="2162175" cy="2647950"/>
            <a:chOff x="5013960" y="2990850"/>
            <a:chExt cx="2162175" cy="2647950"/>
          </a:xfrm>
        </p:grpSpPr>
        <p:sp>
          <p:nvSpPr>
            <p:cNvPr id="170" name="Shape 39">
              <a:extLst>
                <a:ext uri="{FF2B5EF4-FFF2-40B4-BE49-F238E27FC236}">
                  <a16:creationId xmlns:a16="http://schemas.microsoft.com/office/drawing/2014/main" id="{B5D8115D-B7A5-43E6-B2FE-871892635762}"/>
                </a:ext>
              </a:extLst>
            </p:cNvPr>
            <p:cNvSpPr/>
            <p:nvPr/>
          </p:nvSpPr>
          <p:spPr>
            <a:xfrm>
              <a:off x="501396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71" name="Shape 40">
              <a:extLst>
                <a:ext uri="{FF2B5EF4-FFF2-40B4-BE49-F238E27FC236}">
                  <a16:creationId xmlns:a16="http://schemas.microsoft.com/office/drawing/2014/main" id="{6411F3AA-8666-4F33-9938-8BF079F0D8EC}"/>
                </a:ext>
              </a:extLst>
            </p:cNvPr>
            <p:cNvSpPr/>
            <p:nvPr/>
          </p:nvSpPr>
          <p:spPr>
            <a:xfrm>
              <a:off x="5197316" y="3286125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83682" y="22369"/>
                  </a:moveTo>
                  <a:cubicBezTo>
                    <a:pt x="87165" y="17580"/>
                    <a:pt x="86093" y="10883"/>
                    <a:pt x="81305" y="7400"/>
                  </a:cubicBezTo>
                  <a:cubicBezTo>
                    <a:pt x="76516" y="3918"/>
                    <a:pt x="69819" y="4989"/>
                    <a:pt x="66336" y="9778"/>
                  </a:cubicBezTo>
                  <a:lnTo>
                    <a:pt x="30841" y="58568"/>
                  </a:lnTo>
                  <a:lnTo>
                    <a:pt x="18284" y="46010"/>
                  </a:lnTo>
                  <a:cubicBezTo>
                    <a:pt x="14098" y="41824"/>
                    <a:pt x="7300" y="41824"/>
                    <a:pt x="3114" y="46010"/>
                  </a:cubicBezTo>
                  <a:cubicBezTo>
                    <a:pt x="-1072" y="50196"/>
                    <a:pt x="-1072" y="56994"/>
                    <a:pt x="3114" y="61180"/>
                  </a:cubicBezTo>
                  <a:lnTo>
                    <a:pt x="24545" y="82611"/>
                  </a:lnTo>
                  <a:cubicBezTo>
                    <a:pt x="26756" y="84821"/>
                    <a:pt x="29836" y="85959"/>
                    <a:pt x="32951" y="85725"/>
                  </a:cubicBezTo>
                  <a:cubicBezTo>
                    <a:pt x="36065" y="85491"/>
                    <a:pt x="38945" y="83883"/>
                    <a:pt x="40786" y="81338"/>
                  </a:cubicBezTo>
                  <a:lnTo>
                    <a:pt x="83649" y="22402"/>
                  </a:lnTo>
                  <a:close/>
                  <a:moveTo>
                    <a:pt x="126545" y="67910"/>
                  </a:moveTo>
                  <a:cubicBezTo>
                    <a:pt x="130027" y="63122"/>
                    <a:pt x="128956" y="56424"/>
                    <a:pt x="124167" y="52942"/>
                  </a:cubicBezTo>
                  <a:cubicBezTo>
                    <a:pt x="119379" y="49459"/>
                    <a:pt x="112681" y="50531"/>
                    <a:pt x="109199" y="55319"/>
                  </a:cubicBezTo>
                  <a:lnTo>
                    <a:pt x="52272" y="133577"/>
                  </a:lnTo>
                  <a:lnTo>
                    <a:pt x="28999" y="110304"/>
                  </a:lnTo>
                  <a:cubicBezTo>
                    <a:pt x="24813" y="106118"/>
                    <a:pt x="18016" y="106118"/>
                    <a:pt x="13830" y="110304"/>
                  </a:cubicBezTo>
                  <a:cubicBezTo>
                    <a:pt x="9644" y="114490"/>
                    <a:pt x="9644" y="121287"/>
                    <a:pt x="13830" y="125473"/>
                  </a:cubicBezTo>
                  <a:lnTo>
                    <a:pt x="45977" y="157620"/>
                  </a:lnTo>
                  <a:cubicBezTo>
                    <a:pt x="48187" y="159830"/>
                    <a:pt x="51268" y="160969"/>
                    <a:pt x="54382" y="160734"/>
                  </a:cubicBezTo>
                  <a:cubicBezTo>
                    <a:pt x="57496" y="160500"/>
                    <a:pt x="60376" y="158893"/>
                    <a:pt x="62218" y="156348"/>
                  </a:cubicBezTo>
                  <a:lnTo>
                    <a:pt x="126511" y="67944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72" name="Text 41">
              <a:extLst>
                <a:ext uri="{FF2B5EF4-FFF2-40B4-BE49-F238E27FC236}">
                  <a16:creationId xmlns:a16="http://schemas.microsoft.com/office/drawing/2014/main" id="{BD47B4BE-1DD7-4A2D-8986-A312B9571D85}"/>
                </a:ext>
              </a:extLst>
            </p:cNvPr>
            <p:cNvSpPr/>
            <p:nvPr/>
          </p:nvSpPr>
          <p:spPr>
            <a:xfrm>
              <a:off x="5433219" y="3143250"/>
              <a:ext cx="16668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Проверка справочников</a:t>
              </a:r>
              <a:endParaRPr lang="en-US" sz="1600" dirty="0"/>
            </a:p>
          </p:txBody>
        </p:sp>
        <p:sp>
          <p:nvSpPr>
            <p:cNvPr id="173" name="Text 42">
              <a:extLst>
                <a:ext uri="{FF2B5EF4-FFF2-40B4-BE49-F238E27FC236}">
                  <a16:creationId xmlns:a16="http://schemas.microsoft.com/office/drawing/2014/main" id="{C180A439-109B-463F-B424-F14645ED0EA9}"/>
                </a:ext>
              </a:extLst>
            </p:cNvPr>
            <p:cNvSpPr/>
            <p:nvPr/>
          </p:nvSpPr>
          <p:spPr>
            <a:xfrm>
              <a:off x="516636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RAG ищет:</a:t>
              </a:r>
              <a:endParaRPr lang="en-US" sz="1600" dirty="0"/>
            </a:p>
          </p:txBody>
        </p:sp>
        <p:grpSp>
          <p:nvGrpSpPr>
            <p:cNvPr id="174" name="Группа 173">
              <a:extLst>
                <a:ext uri="{FF2B5EF4-FFF2-40B4-BE49-F238E27FC236}">
                  <a16:creationId xmlns:a16="http://schemas.microsoft.com/office/drawing/2014/main" id="{EC3A4617-AEA5-41A8-9EC2-2F0325251182}"/>
                </a:ext>
              </a:extLst>
            </p:cNvPr>
            <p:cNvGrpSpPr/>
            <p:nvPr/>
          </p:nvGrpSpPr>
          <p:grpSpPr>
            <a:xfrm>
              <a:off x="5166360" y="3990975"/>
              <a:ext cx="1924050" cy="1524000"/>
              <a:chOff x="5166360" y="3981450"/>
              <a:chExt cx="1924050" cy="876300"/>
            </a:xfrm>
          </p:grpSpPr>
          <p:sp>
            <p:nvSpPr>
              <p:cNvPr id="175" name="Shape 43">
                <a:extLst>
                  <a:ext uri="{FF2B5EF4-FFF2-40B4-BE49-F238E27FC236}">
                    <a16:creationId xmlns:a16="http://schemas.microsoft.com/office/drawing/2014/main" id="{3A63A6B1-A5C0-4B3C-89B3-5ACA1F976677}"/>
                  </a:ext>
                </a:extLst>
              </p:cNvPr>
              <p:cNvSpPr/>
              <p:nvPr/>
            </p:nvSpPr>
            <p:spPr>
              <a:xfrm>
                <a:off x="5166360" y="3981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76" name="Text 44">
                <a:extLst>
                  <a:ext uri="{FF2B5EF4-FFF2-40B4-BE49-F238E27FC236}">
                    <a16:creationId xmlns:a16="http://schemas.microsoft.com/office/drawing/2014/main" id="{15A8D00C-C9A4-4CF6-94ED-B40B84C4F4BE}"/>
                  </a:ext>
                </a:extLst>
              </p:cNvPr>
              <p:cNvSpPr/>
              <p:nvPr/>
            </p:nvSpPr>
            <p:spPr>
              <a:xfrm>
                <a:off x="5166360" y="3981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Контрагент в базе</a:t>
                </a:r>
                <a:endParaRPr lang="en-US" sz="2400" dirty="0"/>
              </a:p>
            </p:txBody>
          </p:sp>
          <p:sp>
            <p:nvSpPr>
              <p:cNvPr id="177" name="Shape 45">
                <a:extLst>
                  <a:ext uri="{FF2B5EF4-FFF2-40B4-BE49-F238E27FC236}">
                    <a16:creationId xmlns:a16="http://schemas.microsoft.com/office/drawing/2014/main" id="{E4BCD2BF-186F-47A6-8018-64AB9E3DBB8A}"/>
                  </a:ext>
                </a:extLst>
              </p:cNvPr>
              <p:cNvSpPr/>
              <p:nvPr/>
            </p:nvSpPr>
            <p:spPr>
              <a:xfrm>
                <a:off x="5166360" y="42862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78" name="Text 46">
                <a:extLst>
                  <a:ext uri="{FF2B5EF4-FFF2-40B4-BE49-F238E27FC236}">
                    <a16:creationId xmlns:a16="http://schemas.microsoft.com/office/drawing/2014/main" id="{86B44A74-5CB8-4F0F-A97C-550A182F3EC4}"/>
                  </a:ext>
                </a:extLst>
              </p:cNvPr>
              <p:cNvSpPr/>
              <p:nvPr/>
            </p:nvSpPr>
            <p:spPr>
              <a:xfrm>
                <a:off x="5166360" y="42862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Номенклатура</a:t>
                </a:r>
                <a:endParaRPr lang="en-US" sz="2400" dirty="0"/>
              </a:p>
            </p:txBody>
          </p:sp>
          <p:sp>
            <p:nvSpPr>
              <p:cNvPr id="179" name="Shape 47">
                <a:extLst>
                  <a:ext uri="{FF2B5EF4-FFF2-40B4-BE49-F238E27FC236}">
                    <a16:creationId xmlns:a16="http://schemas.microsoft.com/office/drawing/2014/main" id="{B889C3E4-4AC6-4413-970C-97C13AF698A5}"/>
                  </a:ext>
                </a:extLst>
              </p:cNvPr>
              <p:cNvSpPr/>
              <p:nvPr/>
            </p:nvSpPr>
            <p:spPr>
              <a:xfrm>
                <a:off x="5166360" y="45910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80" name="Text 48">
                <a:extLst>
                  <a:ext uri="{FF2B5EF4-FFF2-40B4-BE49-F238E27FC236}">
                    <a16:creationId xmlns:a16="http://schemas.microsoft.com/office/drawing/2014/main" id="{52894C41-777C-4FC2-95B3-1A9CA16D8572}"/>
                  </a:ext>
                </a:extLst>
              </p:cNvPr>
              <p:cNvSpPr/>
              <p:nvPr/>
            </p:nvSpPr>
            <p:spPr>
              <a:xfrm>
                <a:off x="5166360" y="45910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Цена, договор</a:t>
                </a:r>
                <a:endParaRPr lang="en-US" sz="2400" dirty="0"/>
              </a:p>
            </p:txBody>
          </p:sp>
        </p:grpSp>
      </p:grpSp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F99335F6-5A1E-497B-A251-7E2DB36A242A}"/>
              </a:ext>
            </a:extLst>
          </p:cNvPr>
          <p:cNvGrpSpPr/>
          <p:nvPr/>
        </p:nvGrpSpPr>
        <p:grpSpPr>
          <a:xfrm>
            <a:off x="7330440" y="21544325"/>
            <a:ext cx="4478655" cy="2647950"/>
            <a:chOff x="7330440" y="2990850"/>
            <a:chExt cx="4478655" cy="2647950"/>
          </a:xfrm>
        </p:grpSpPr>
        <p:sp>
          <p:nvSpPr>
            <p:cNvPr id="182" name="Shape 49">
              <a:extLst>
                <a:ext uri="{FF2B5EF4-FFF2-40B4-BE49-F238E27FC236}">
                  <a16:creationId xmlns:a16="http://schemas.microsoft.com/office/drawing/2014/main" id="{73AFF574-F7F4-42E4-AF4B-7F7DDF472D39}"/>
                </a:ext>
              </a:extLst>
            </p:cNvPr>
            <p:cNvSpPr/>
            <p:nvPr/>
          </p:nvSpPr>
          <p:spPr>
            <a:xfrm>
              <a:off x="733044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83" name="Shape 50">
              <a:extLst>
                <a:ext uri="{FF2B5EF4-FFF2-40B4-BE49-F238E27FC236}">
                  <a16:creationId xmlns:a16="http://schemas.microsoft.com/office/drawing/2014/main" id="{61F98B4C-C74C-4FA7-BAC6-6C263F5D3F3F}"/>
                </a:ext>
              </a:extLst>
            </p:cNvPr>
            <p:cNvSpPr/>
            <p:nvPr/>
          </p:nvSpPr>
          <p:spPr>
            <a:xfrm>
              <a:off x="7528084" y="3171825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0" y="21431"/>
                  </a:moveTo>
                  <a:cubicBezTo>
                    <a:pt x="0" y="9611"/>
                    <a:pt x="9611" y="0"/>
                    <a:pt x="21431" y="0"/>
                  </a:cubicBezTo>
                  <a:lnTo>
                    <a:pt x="71493" y="0"/>
                  </a:lnTo>
                  <a:cubicBezTo>
                    <a:pt x="77186" y="0"/>
                    <a:pt x="82644" y="2244"/>
                    <a:pt x="86663" y="6262"/>
                  </a:cubicBezTo>
                  <a:lnTo>
                    <a:pt x="122326" y="41958"/>
                  </a:lnTo>
                  <a:cubicBezTo>
                    <a:pt x="126344" y="45977"/>
                    <a:pt x="128588" y="51435"/>
                    <a:pt x="128588" y="57128"/>
                  </a:cubicBezTo>
                  <a:lnTo>
                    <a:pt x="128588" y="150019"/>
                  </a:lnTo>
                  <a:cubicBezTo>
                    <a:pt x="128588" y="161839"/>
                    <a:pt x="118977" y="171450"/>
                    <a:pt x="107156" y="171450"/>
                  </a:cubicBezTo>
                  <a:lnTo>
                    <a:pt x="21431" y="171450"/>
                  </a:lnTo>
                  <a:cubicBezTo>
                    <a:pt x="9611" y="171450"/>
                    <a:pt x="0" y="161839"/>
                    <a:pt x="0" y="150019"/>
                  </a:cubicBezTo>
                  <a:lnTo>
                    <a:pt x="0" y="21431"/>
                  </a:lnTo>
                  <a:close/>
                  <a:moveTo>
                    <a:pt x="69652" y="19590"/>
                  </a:moveTo>
                  <a:lnTo>
                    <a:pt x="69652" y="50899"/>
                  </a:lnTo>
                  <a:cubicBezTo>
                    <a:pt x="69652" y="55353"/>
                    <a:pt x="73235" y="58936"/>
                    <a:pt x="77688" y="58936"/>
                  </a:cubicBezTo>
                  <a:lnTo>
                    <a:pt x="108998" y="58936"/>
                  </a:lnTo>
                  <a:lnTo>
                    <a:pt x="69652" y="19590"/>
                  </a:lnTo>
                  <a:close/>
                  <a:moveTo>
                    <a:pt x="40184" y="85725"/>
                  </a:moveTo>
                  <a:cubicBezTo>
                    <a:pt x="35730" y="85725"/>
                    <a:pt x="32147" y="89308"/>
                    <a:pt x="32147" y="93762"/>
                  </a:cubicBezTo>
                  <a:cubicBezTo>
                    <a:pt x="32147" y="98215"/>
                    <a:pt x="35730" y="101798"/>
                    <a:pt x="40184" y="101798"/>
                  </a:cubicBezTo>
                  <a:lnTo>
                    <a:pt x="88404" y="101798"/>
                  </a:lnTo>
                  <a:cubicBezTo>
                    <a:pt x="92858" y="101798"/>
                    <a:pt x="96441" y="98215"/>
                    <a:pt x="96441" y="93762"/>
                  </a:cubicBezTo>
                  <a:cubicBezTo>
                    <a:pt x="96441" y="89308"/>
                    <a:pt x="92858" y="85725"/>
                    <a:pt x="88404" y="85725"/>
                  </a:cubicBezTo>
                  <a:lnTo>
                    <a:pt x="40184" y="85725"/>
                  </a:lnTo>
                  <a:close/>
                  <a:moveTo>
                    <a:pt x="40184" y="117872"/>
                  </a:moveTo>
                  <a:cubicBezTo>
                    <a:pt x="35730" y="117872"/>
                    <a:pt x="32147" y="121455"/>
                    <a:pt x="32147" y="125909"/>
                  </a:cubicBezTo>
                  <a:cubicBezTo>
                    <a:pt x="32147" y="130362"/>
                    <a:pt x="35730" y="133945"/>
                    <a:pt x="40184" y="133945"/>
                  </a:cubicBezTo>
                  <a:lnTo>
                    <a:pt x="88404" y="133945"/>
                  </a:lnTo>
                  <a:cubicBezTo>
                    <a:pt x="92858" y="133945"/>
                    <a:pt x="96441" y="130362"/>
                    <a:pt x="96441" y="125909"/>
                  </a:cubicBezTo>
                  <a:cubicBezTo>
                    <a:pt x="96441" y="121455"/>
                    <a:pt x="92858" y="117872"/>
                    <a:pt x="88404" y="117872"/>
                  </a:cubicBezTo>
                  <a:lnTo>
                    <a:pt x="40184" y="117872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84" name="Text 51">
              <a:extLst>
                <a:ext uri="{FF2B5EF4-FFF2-40B4-BE49-F238E27FC236}">
                  <a16:creationId xmlns:a16="http://schemas.microsoft.com/office/drawing/2014/main" id="{3760C5B4-D8BA-473D-B963-0E109E6126EC}"/>
                </a:ext>
              </a:extLst>
            </p:cNvPr>
            <p:cNvSpPr/>
            <p:nvPr/>
          </p:nvSpPr>
          <p:spPr>
            <a:xfrm>
              <a:off x="7773352" y="3143250"/>
              <a:ext cx="16097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Создание черновика</a:t>
              </a:r>
              <a:endParaRPr lang="en-US" sz="1600" dirty="0"/>
            </a:p>
          </p:txBody>
        </p:sp>
        <p:sp>
          <p:nvSpPr>
            <p:cNvPr id="185" name="Text 52">
              <a:extLst>
                <a:ext uri="{FF2B5EF4-FFF2-40B4-BE49-F238E27FC236}">
                  <a16:creationId xmlns:a16="http://schemas.microsoft.com/office/drawing/2014/main" id="{D271E08A-E0F8-433A-85EB-1EEBF4978B18}"/>
                </a:ext>
              </a:extLst>
            </p:cNvPr>
            <p:cNvSpPr/>
            <p:nvPr/>
          </p:nvSpPr>
          <p:spPr>
            <a:xfrm>
              <a:off x="748284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Система формирует:</a:t>
              </a:r>
              <a:endParaRPr lang="en-US" sz="1600" dirty="0"/>
            </a:p>
          </p:txBody>
        </p:sp>
        <p:grpSp>
          <p:nvGrpSpPr>
            <p:cNvPr id="186" name="Группа 185">
              <a:extLst>
                <a:ext uri="{FF2B5EF4-FFF2-40B4-BE49-F238E27FC236}">
                  <a16:creationId xmlns:a16="http://schemas.microsoft.com/office/drawing/2014/main" id="{DADE1FE3-AD11-4672-9913-C5CFDBFFD138}"/>
                </a:ext>
              </a:extLst>
            </p:cNvPr>
            <p:cNvGrpSpPr/>
            <p:nvPr/>
          </p:nvGrpSpPr>
          <p:grpSpPr>
            <a:xfrm>
              <a:off x="7482840" y="3990975"/>
              <a:ext cx="1924050" cy="1485900"/>
              <a:chOff x="7482840" y="3752850"/>
              <a:chExt cx="1924050" cy="1066800"/>
            </a:xfrm>
          </p:grpSpPr>
          <p:sp>
            <p:nvSpPr>
              <p:cNvPr id="198" name="Shape 53">
                <a:extLst>
                  <a:ext uri="{FF2B5EF4-FFF2-40B4-BE49-F238E27FC236}">
                    <a16:creationId xmlns:a16="http://schemas.microsoft.com/office/drawing/2014/main" id="{DA72EF13-60CE-4B2C-86BD-9A16CFC56249}"/>
                  </a:ext>
                </a:extLst>
              </p:cNvPr>
              <p:cNvSpPr/>
              <p:nvPr/>
            </p:nvSpPr>
            <p:spPr>
              <a:xfrm>
                <a:off x="7482840" y="3752850"/>
                <a:ext cx="18573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457200">
                    <a:moveTo>
                      <a:pt x="38098" y="0"/>
                    </a:moveTo>
                    <a:lnTo>
                      <a:pt x="1819277" y="0"/>
                    </a:lnTo>
                    <a:cubicBezTo>
                      <a:pt x="1840318" y="0"/>
                      <a:pt x="1857375" y="17057"/>
                      <a:pt x="1857375" y="38098"/>
                    </a:cubicBezTo>
                    <a:lnTo>
                      <a:pt x="1857375" y="419102"/>
                    </a:lnTo>
                    <a:cubicBezTo>
                      <a:pt x="1857375" y="440143"/>
                      <a:pt x="1840318" y="457200"/>
                      <a:pt x="1819277" y="457200"/>
                    </a:cubicBezTo>
                    <a:lnTo>
                      <a:pt x="38098" y="457200"/>
                    </a:lnTo>
                    <a:cubicBezTo>
                      <a:pt x="17057" y="457200"/>
                      <a:pt x="0" y="440143"/>
                      <a:pt x="0" y="419102"/>
                    </a:cubicBezTo>
                    <a:lnTo>
                      <a:pt x="0" y="38098"/>
                    </a:lnTo>
                    <a:cubicBezTo>
                      <a:pt x="0" y="17071"/>
                      <a:pt x="17071" y="0"/>
                      <a:pt x="380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99" name="Text 54">
                <a:extLst>
                  <a:ext uri="{FF2B5EF4-FFF2-40B4-BE49-F238E27FC236}">
                    <a16:creationId xmlns:a16="http://schemas.microsoft.com/office/drawing/2014/main" id="{D16682C8-2C71-43CE-9483-BF001219FB7B}"/>
                  </a:ext>
                </a:extLst>
              </p:cNvPr>
              <p:cNvSpPr/>
              <p:nvPr/>
            </p:nvSpPr>
            <p:spPr>
              <a:xfrm>
                <a:off x="7482840" y="3752850"/>
                <a:ext cx="1924050" cy="4572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Предзаполненный документ</a:t>
                </a:r>
                <a:endParaRPr lang="en-US" sz="2400" dirty="0"/>
              </a:p>
            </p:txBody>
          </p:sp>
          <p:sp>
            <p:nvSpPr>
              <p:cNvPr id="200" name="Shape 55">
                <a:extLst>
                  <a:ext uri="{FF2B5EF4-FFF2-40B4-BE49-F238E27FC236}">
                    <a16:creationId xmlns:a16="http://schemas.microsoft.com/office/drawing/2014/main" id="{D09220F1-956A-47F1-A5A0-ECC9D958A663}"/>
                  </a:ext>
                </a:extLst>
              </p:cNvPr>
              <p:cNvSpPr/>
              <p:nvPr/>
            </p:nvSpPr>
            <p:spPr>
              <a:xfrm>
                <a:off x="7482840" y="42481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201" name="Text 56">
                <a:extLst>
                  <a:ext uri="{FF2B5EF4-FFF2-40B4-BE49-F238E27FC236}">
                    <a16:creationId xmlns:a16="http://schemas.microsoft.com/office/drawing/2014/main" id="{602A2166-B088-4D09-A087-1BD5DA91B149}"/>
                  </a:ext>
                </a:extLst>
              </p:cNvPr>
              <p:cNvSpPr/>
              <p:nvPr/>
            </p:nvSpPr>
            <p:spPr>
              <a:xfrm>
                <a:off x="7482840" y="42481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Все реквизиты</a:t>
                </a:r>
                <a:endParaRPr lang="en-US" sz="2400" dirty="0"/>
              </a:p>
            </p:txBody>
          </p:sp>
          <p:sp>
            <p:nvSpPr>
              <p:cNvPr id="202" name="Shape 57">
                <a:extLst>
                  <a:ext uri="{FF2B5EF4-FFF2-40B4-BE49-F238E27FC236}">
                    <a16:creationId xmlns:a16="http://schemas.microsoft.com/office/drawing/2014/main" id="{9C56D689-FCDA-4FC8-82C2-0D140DBE44D8}"/>
                  </a:ext>
                </a:extLst>
              </p:cNvPr>
              <p:cNvSpPr/>
              <p:nvPr/>
            </p:nvSpPr>
            <p:spPr>
              <a:xfrm>
                <a:off x="7482840" y="45529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203" name="Text 58">
                <a:extLst>
                  <a:ext uri="{FF2B5EF4-FFF2-40B4-BE49-F238E27FC236}">
                    <a16:creationId xmlns:a16="http://schemas.microsoft.com/office/drawing/2014/main" id="{6435A419-2F3A-4890-8271-F7DE0C498C3D}"/>
                  </a:ext>
                </a:extLst>
              </p:cNvPr>
              <p:cNvSpPr/>
              <p:nvPr/>
            </p:nvSpPr>
            <p:spPr>
              <a:xfrm>
                <a:off x="7482840" y="45529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Табличная часть</a:t>
                </a:r>
                <a:endParaRPr lang="en-US" sz="2400" dirty="0"/>
              </a:p>
            </p:txBody>
          </p:sp>
        </p:grpSp>
        <p:sp>
          <p:nvSpPr>
            <p:cNvPr id="187" name="Shape 59">
              <a:extLst>
                <a:ext uri="{FF2B5EF4-FFF2-40B4-BE49-F238E27FC236}">
                  <a16:creationId xmlns:a16="http://schemas.microsoft.com/office/drawing/2014/main" id="{1720CD46-DB01-4D62-8EFB-123DCFB9A3AB}"/>
                </a:ext>
              </a:extLst>
            </p:cNvPr>
            <p:cNvSpPr/>
            <p:nvPr/>
          </p:nvSpPr>
          <p:spPr>
            <a:xfrm>
              <a:off x="964692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88" name="Shape 60">
              <a:extLst>
                <a:ext uri="{FF2B5EF4-FFF2-40B4-BE49-F238E27FC236}">
                  <a16:creationId xmlns:a16="http://schemas.microsoft.com/office/drawing/2014/main" id="{77EF55B0-EC49-498E-8EEC-47C1801256CA}"/>
                </a:ext>
              </a:extLst>
            </p:cNvPr>
            <p:cNvSpPr/>
            <p:nvPr/>
          </p:nvSpPr>
          <p:spPr>
            <a:xfrm>
              <a:off x="9801702" y="3171825"/>
              <a:ext cx="214313" cy="171450"/>
            </a:xfrm>
            <a:custGeom>
              <a:avLst/>
              <a:gdLst/>
              <a:ahLst/>
              <a:cxnLst/>
              <a:rect l="l" t="t" r="r" b="b"/>
              <a:pathLst>
                <a:path w="214313" h="171450">
                  <a:moveTo>
                    <a:pt x="45541" y="42863"/>
                  </a:moveTo>
                  <a:cubicBezTo>
                    <a:pt x="45541" y="20685"/>
                    <a:pt x="63547" y="2679"/>
                    <a:pt x="85725" y="2679"/>
                  </a:cubicBezTo>
                  <a:cubicBezTo>
                    <a:pt x="107903" y="2679"/>
                    <a:pt x="125909" y="20685"/>
                    <a:pt x="125909" y="42862"/>
                  </a:cubicBezTo>
                  <a:cubicBezTo>
                    <a:pt x="125909" y="65040"/>
                    <a:pt x="107903" y="83046"/>
                    <a:pt x="85725" y="83046"/>
                  </a:cubicBezTo>
                  <a:cubicBezTo>
                    <a:pt x="63547" y="83046"/>
                    <a:pt x="45541" y="65040"/>
                    <a:pt x="45541" y="42863"/>
                  </a:cubicBezTo>
                  <a:close/>
                  <a:moveTo>
                    <a:pt x="16073" y="161505"/>
                  </a:moveTo>
                  <a:cubicBezTo>
                    <a:pt x="16073" y="128521"/>
                    <a:pt x="42796" y="101798"/>
                    <a:pt x="75780" y="101798"/>
                  </a:cubicBezTo>
                  <a:lnTo>
                    <a:pt x="95670" y="101798"/>
                  </a:lnTo>
                  <a:cubicBezTo>
                    <a:pt x="128654" y="101798"/>
                    <a:pt x="155377" y="128521"/>
                    <a:pt x="155377" y="161505"/>
                  </a:cubicBezTo>
                  <a:cubicBezTo>
                    <a:pt x="155377" y="166996"/>
                    <a:pt x="150923" y="171450"/>
                    <a:pt x="145431" y="171450"/>
                  </a:cubicBezTo>
                  <a:lnTo>
                    <a:pt x="26019" y="171450"/>
                  </a:lnTo>
                  <a:cubicBezTo>
                    <a:pt x="20527" y="171450"/>
                    <a:pt x="16073" y="166996"/>
                    <a:pt x="16073" y="161505"/>
                  </a:cubicBezTo>
                  <a:close/>
                  <a:moveTo>
                    <a:pt x="205070" y="44436"/>
                  </a:moveTo>
                  <a:lnTo>
                    <a:pt x="178281" y="87299"/>
                  </a:lnTo>
                  <a:cubicBezTo>
                    <a:pt x="176875" y="89542"/>
                    <a:pt x="174464" y="90949"/>
                    <a:pt x="171818" y="91083"/>
                  </a:cubicBezTo>
                  <a:cubicBezTo>
                    <a:pt x="169173" y="91217"/>
                    <a:pt x="166628" y="90011"/>
                    <a:pt x="165054" y="87868"/>
                  </a:cubicBezTo>
                  <a:lnTo>
                    <a:pt x="148981" y="66437"/>
                  </a:lnTo>
                  <a:cubicBezTo>
                    <a:pt x="146302" y="62887"/>
                    <a:pt x="147038" y="57864"/>
                    <a:pt x="150588" y="55185"/>
                  </a:cubicBezTo>
                  <a:cubicBezTo>
                    <a:pt x="154138" y="52507"/>
                    <a:pt x="159161" y="53243"/>
                    <a:pt x="161839" y="56793"/>
                  </a:cubicBezTo>
                  <a:lnTo>
                    <a:pt x="170881" y="68848"/>
                  </a:lnTo>
                  <a:lnTo>
                    <a:pt x="191441" y="35931"/>
                  </a:lnTo>
                  <a:cubicBezTo>
                    <a:pt x="193785" y="32180"/>
                    <a:pt x="198741" y="31008"/>
                    <a:pt x="202525" y="33386"/>
                  </a:cubicBezTo>
                  <a:cubicBezTo>
                    <a:pt x="206309" y="35763"/>
                    <a:pt x="207448" y="40686"/>
                    <a:pt x="205070" y="4447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89" name="Text 61">
              <a:extLst>
                <a:ext uri="{FF2B5EF4-FFF2-40B4-BE49-F238E27FC236}">
                  <a16:creationId xmlns:a16="http://schemas.microsoft.com/office/drawing/2014/main" id="{CB4A87A8-FCA2-4C84-B075-A2C676AAD24C}"/>
                </a:ext>
              </a:extLst>
            </p:cNvPr>
            <p:cNvSpPr/>
            <p:nvPr/>
          </p:nvSpPr>
          <p:spPr>
            <a:xfrm>
              <a:off x="10089833" y="3143250"/>
              <a:ext cx="12763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Подтверждение</a:t>
              </a:r>
              <a:endParaRPr lang="en-US" sz="1600" dirty="0"/>
            </a:p>
          </p:txBody>
        </p:sp>
        <p:sp>
          <p:nvSpPr>
            <p:cNvPr id="190" name="Text 62">
              <a:extLst>
                <a:ext uri="{FF2B5EF4-FFF2-40B4-BE49-F238E27FC236}">
                  <a16:creationId xmlns:a16="http://schemas.microsoft.com/office/drawing/2014/main" id="{701E2B23-182B-4E6D-B80B-5E2016CA41EA}"/>
                </a:ext>
              </a:extLst>
            </p:cNvPr>
            <p:cNvSpPr/>
            <p:nvPr/>
          </p:nvSpPr>
          <p:spPr>
            <a:xfrm>
              <a:off x="978662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Пользователь:</a:t>
              </a:r>
              <a:endParaRPr lang="en-US" sz="1600" dirty="0"/>
            </a:p>
          </p:txBody>
        </p:sp>
        <p:grpSp>
          <p:nvGrpSpPr>
            <p:cNvPr id="191" name="Группа 190">
              <a:extLst>
                <a:ext uri="{FF2B5EF4-FFF2-40B4-BE49-F238E27FC236}">
                  <a16:creationId xmlns:a16="http://schemas.microsoft.com/office/drawing/2014/main" id="{B2A35E8B-2CFA-42FC-8326-D5D430A96DEA}"/>
                </a:ext>
              </a:extLst>
            </p:cNvPr>
            <p:cNvGrpSpPr/>
            <p:nvPr/>
          </p:nvGrpSpPr>
          <p:grpSpPr>
            <a:xfrm>
              <a:off x="9799320" y="3990975"/>
              <a:ext cx="1924050" cy="1485900"/>
              <a:chOff x="9799320" y="3752850"/>
              <a:chExt cx="1924050" cy="876300"/>
            </a:xfrm>
          </p:grpSpPr>
          <p:sp>
            <p:nvSpPr>
              <p:cNvPr id="192" name="Shape 63">
                <a:extLst>
                  <a:ext uri="{FF2B5EF4-FFF2-40B4-BE49-F238E27FC236}">
                    <a16:creationId xmlns:a16="http://schemas.microsoft.com/office/drawing/2014/main" id="{35C6EE35-D22D-4847-9097-A848ECA653C5}"/>
                  </a:ext>
                </a:extLst>
              </p:cNvPr>
              <p:cNvSpPr/>
              <p:nvPr/>
            </p:nvSpPr>
            <p:spPr>
              <a:xfrm>
                <a:off x="9799320" y="37528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93" name="Text 64">
                <a:extLst>
                  <a:ext uri="{FF2B5EF4-FFF2-40B4-BE49-F238E27FC236}">
                    <a16:creationId xmlns:a16="http://schemas.microsoft.com/office/drawing/2014/main" id="{F111F732-C2B2-40AE-9720-6DBA75F17459}"/>
                  </a:ext>
                </a:extLst>
              </p:cNvPr>
              <p:cNvSpPr/>
              <p:nvPr/>
            </p:nvSpPr>
            <p:spPr>
              <a:xfrm>
                <a:off x="9799320" y="37528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Проверяет данные</a:t>
                </a:r>
                <a:endParaRPr lang="en-US" sz="2400" dirty="0"/>
              </a:p>
            </p:txBody>
          </p:sp>
          <p:sp>
            <p:nvSpPr>
              <p:cNvPr id="194" name="Shape 65">
                <a:extLst>
                  <a:ext uri="{FF2B5EF4-FFF2-40B4-BE49-F238E27FC236}">
                    <a16:creationId xmlns:a16="http://schemas.microsoft.com/office/drawing/2014/main" id="{149D0D3F-8ED0-4D75-966F-62772F87699F}"/>
                  </a:ext>
                </a:extLst>
              </p:cNvPr>
              <p:cNvSpPr/>
              <p:nvPr/>
            </p:nvSpPr>
            <p:spPr>
              <a:xfrm>
                <a:off x="9799320" y="40576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95" name="Text 66">
                <a:extLst>
                  <a:ext uri="{FF2B5EF4-FFF2-40B4-BE49-F238E27FC236}">
                    <a16:creationId xmlns:a16="http://schemas.microsoft.com/office/drawing/2014/main" id="{0D322BDA-1BEF-4F9A-9041-E31D411A9A47}"/>
                  </a:ext>
                </a:extLst>
              </p:cNvPr>
              <p:cNvSpPr/>
              <p:nvPr/>
            </p:nvSpPr>
            <p:spPr>
              <a:xfrm>
                <a:off x="9799320" y="40576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Вносит правки</a:t>
                </a:r>
                <a:endParaRPr lang="en-US" sz="2400" dirty="0"/>
              </a:p>
            </p:txBody>
          </p:sp>
          <p:sp>
            <p:nvSpPr>
              <p:cNvPr id="196" name="Shape 67">
                <a:extLst>
                  <a:ext uri="{FF2B5EF4-FFF2-40B4-BE49-F238E27FC236}">
                    <a16:creationId xmlns:a16="http://schemas.microsoft.com/office/drawing/2014/main" id="{6D854A89-B5B8-4C12-AF30-57E93010620A}"/>
                  </a:ext>
                </a:extLst>
              </p:cNvPr>
              <p:cNvSpPr/>
              <p:nvPr/>
            </p:nvSpPr>
            <p:spPr>
              <a:xfrm>
                <a:off x="9799320" y="4362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97" name="Text 68">
                <a:extLst>
                  <a:ext uri="{FF2B5EF4-FFF2-40B4-BE49-F238E27FC236}">
                    <a16:creationId xmlns:a16="http://schemas.microsoft.com/office/drawing/2014/main" id="{E434E8C1-735C-47C3-80E2-4C68D384DB07}"/>
                  </a:ext>
                </a:extLst>
              </p:cNvPr>
              <p:cNvSpPr/>
              <p:nvPr/>
            </p:nvSpPr>
            <p:spPr>
              <a:xfrm>
                <a:off x="9799320" y="4362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Сохраняет документ</a:t>
                </a:r>
                <a:endParaRPr lang="en-US" sz="2400" dirty="0"/>
              </a:p>
            </p:txBody>
          </p:sp>
        </p:grpSp>
      </p:grpSp>
      <p:grpSp>
        <p:nvGrpSpPr>
          <p:cNvPr id="204" name="Группа 203">
            <a:extLst>
              <a:ext uri="{FF2B5EF4-FFF2-40B4-BE49-F238E27FC236}">
                <a16:creationId xmlns:a16="http://schemas.microsoft.com/office/drawing/2014/main" id="{76A11044-24F5-4932-AEF2-068207808733}"/>
              </a:ext>
            </a:extLst>
          </p:cNvPr>
          <p:cNvGrpSpPr/>
          <p:nvPr/>
        </p:nvGrpSpPr>
        <p:grpSpPr>
          <a:xfrm>
            <a:off x="381000" y="10389010"/>
            <a:ext cx="11430000" cy="571500"/>
            <a:chOff x="381000" y="5905500"/>
            <a:chExt cx="11430000" cy="571500"/>
          </a:xfrm>
        </p:grpSpPr>
        <p:sp>
          <p:nvSpPr>
            <p:cNvPr id="205" name="Shape 69">
              <a:extLst>
                <a:ext uri="{FF2B5EF4-FFF2-40B4-BE49-F238E27FC236}">
                  <a16:creationId xmlns:a16="http://schemas.microsoft.com/office/drawing/2014/main" id="{B31B9784-2E68-4D7D-84ED-C8404EAAF507}"/>
                </a:ext>
              </a:extLst>
            </p:cNvPr>
            <p:cNvSpPr/>
            <p:nvPr/>
          </p:nvSpPr>
          <p:spPr>
            <a:xfrm>
              <a:off x="381000" y="5905500"/>
              <a:ext cx="11430000" cy="571500"/>
            </a:xfrm>
            <a:custGeom>
              <a:avLst/>
              <a:gdLst/>
              <a:ahLst/>
              <a:cxnLst/>
              <a:rect l="l" t="t" r="r" b="b"/>
              <a:pathLst>
                <a:path w="11430000" h="571500">
                  <a:moveTo>
                    <a:pt x="114300" y="0"/>
                  </a:moveTo>
                  <a:lnTo>
                    <a:pt x="11315700" y="0"/>
                  </a:lnTo>
                  <a:cubicBezTo>
                    <a:pt x="11378784" y="0"/>
                    <a:pt x="11430000" y="51216"/>
                    <a:pt x="11430000" y="114300"/>
                  </a:cubicBezTo>
                  <a:lnTo>
                    <a:pt x="11430000" y="457200"/>
                  </a:lnTo>
                  <a:cubicBezTo>
                    <a:pt x="11430000" y="520284"/>
                    <a:pt x="11378784" y="571500"/>
                    <a:pt x="11315700" y="571500"/>
                  </a:cubicBezTo>
                  <a:lnTo>
                    <a:pt x="114300" y="571500"/>
                  </a:lnTo>
                  <a:cubicBezTo>
                    <a:pt x="51216" y="571500"/>
                    <a:pt x="0" y="520284"/>
                    <a:pt x="0" y="457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06" name="Shape 70">
              <a:extLst>
                <a:ext uri="{FF2B5EF4-FFF2-40B4-BE49-F238E27FC236}">
                  <a16:creationId xmlns:a16="http://schemas.microsoft.com/office/drawing/2014/main" id="{F3A24BF2-B00C-456E-BBE7-2D7B9A979089}"/>
                </a:ext>
              </a:extLst>
            </p:cNvPr>
            <p:cNvSpPr/>
            <p:nvPr/>
          </p:nvSpPr>
          <p:spPr>
            <a:xfrm>
              <a:off x="2291715" y="607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07" name="Text 71">
              <a:extLst>
                <a:ext uri="{FF2B5EF4-FFF2-40B4-BE49-F238E27FC236}">
                  <a16:creationId xmlns:a16="http://schemas.microsoft.com/office/drawing/2014/main" id="{D2E6B3B3-24C2-45D0-A9D4-4742E1A3B629}"/>
                </a:ext>
              </a:extLst>
            </p:cNvPr>
            <p:cNvSpPr/>
            <p:nvPr/>
          </p:nvSpPr>
          <p:spPr>
            <a:xfrm>
              <a:off x="2777490" y="6057900"/>
              <a:ext cx="6724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Важно: финальное сохранение только после подтверждения пользователем</a:t>
              </a:r>
              <a:endParaRPr lang="en-US" sz="1600" dirty="0"/>
            </a:p>
          </p:txBody>
        </p:sp>
        <p:sp>
          <p:nvSpPr>
            <p:cNvPr id="208" name="Shape 72">
              <a:extLst>
                <a:ext uri="{FF2B5EF4-FFF2-40B4-BE49-F238E27FC236}">
                  <a16:creationId xmlns:a16="http://schemas.microsoft.com/office/drawing/2014/main" id="{AAA3EA70-2188-44CD-B92B-2898574CB43B}"/>
                </a:ext>
              </a:extLst>
            </p:cNvPr>
            <p:cNvSpPr/>
            <p:nvPr/>
          </p:nvSpPr>
          <p:spPr>
            <a:xfrm>
              <a:off x="9492615" y="609168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BFA7DCE7-7301-4A4F-A837-5E61D8B251CA}"/>
              </a:ext>
            </a:extLst>
          </p:cNvPr>
          <p:cNvGrpSpPr/>
          <p:nvPr/>
        </p:nvGrpSpPr>
        <p:grpSpPr>
          <a:xfrm>
            <a:off x="-6616592" y="1033951"/>
            <a:ext cx="5669495" cy="5617797"/>
            <a:chOff x="344650" y="1033951"/>
            <a:chExt cx="5669495" cy="5617797"/>
          </a:xfrm>
        </p:grpSpPr>
        <p:sp>
          <p:nvSpPr>
            <p:cNvPr id="94" name="Shape 4">
              <a:extLst>
                <a:ext uri="{FF2B5EF4-FFF2-40B4-BE49-F238E27FC236}">
                  <a16:creationId xmlns:a16="http://schemas.microsoft.com/office/drawing/2014/main" id="{9632E5CE-C8F2-49EE-8DEF-F510D8504F92}"/>
                </a:ext>
              </a:extLst>
            </p:cNvPr>
            <p:cNvSpPr/>
            <p:nvPr/>
          </p:nvSpPr>
          <p:spPr>
            <a:xfrm>
              <a:off x="344650" y="1033951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95" name="Shape 5">
              <a:extLst>
                <a:ext uri="{FF2B5EF4-FFF2-40B4-BE49-F238E27FC236}">
                  <a16:creationId xmlns:a16="http://schemas.microsoft.com/office/drawing/2014/main" id="{C4CA59CC-4D30-43AB-836C-D33F8C4A15F3}"/>
                </a:ext>
              </a:extLst>
            </p:cNvPr>
            <p:cNvSpPr/>
            <p:nvPr/>
          </p:nvSpPr>
          <p:spPr>
            <a:xfrm>
              <a:off x="516975" y="1206276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6" name="Shape 6">
              <a:extLst>
                <a:ext uri="{FF2B5EF4-FFF2-40B4-BE49-F238E27FC236}">
                  <a16:creationId xmlns:a16="http://schemas.microsoft.com/office/drawing/2014/main" id="{D90FA907-FD7D-42A9-B0BF-4088D92BCB99}"/>
                </a:ext>
              </a:extLst>
            </p:cNvPr>
            <p:cNvSpPr/>
            <p:nvPr/>
          </p:nvSpPr>
          <p:spPr>
            <a:xfrm>
              <a:off x="637603" y="1326903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21541" y="21541"/>
                  </a:moveTo>
                  <a:cubicBezTo>
                    <a:pt x="9660" y="21541"/>
                    <a:pt x="0" y="31200"/>
                    <a:pt x="0" y="43081"/>
                  </a:cubicBezTo>
                  <a:lnTo>
                    <a:pt x="0" y="129244"/>
                  </a:lnTo>
                  <a:cubicBezTo>
                    <a:pt x="0" y="141125"/>
                    <a:pt x="9660" y="150784"/>
                    <a:pt x="21541" y="150784"/>
                  </a:cubicBezTo>
                  <a:lnTo>
                    <a:pt x="150784" y="150784"/>
                  </a:lnTo>
                  <a:cubicBezTo>
                    <a:pt x="162665" y="150784"/>
                    <a:pt x="172325" y="141125"/>
                    <a:pt x="172325" y="129244"/>
                  </a:cubicBezTo>
                  <a:lnTo>
                    <a:pt x="172325" y="43081"/>
                  </a:lnTo>
                  <a:cubicBezTo>
                    <a:pt x="172325" y="31200"/>
                    <a:pt x="162665" y="21541"/>
                    <a:pt x="150784" y="21541"/>
                  </a:cubicBezTo>
                  <a:lnTo>
                    <a:pt x="21541" y="21541"/>
                  </a:lnTo>
                  <a:close/>
                  <a:moveTo>
                    <a:pt x="29618" y="43081"/>
                  </a:moveTo>
                  <a:lnTo>
                    <a:pt x="142707" y="43081"/>
                  </a:lnTo>
                  <a:cubicBezTo>
                    <a:pt x="147183" y="43081"/>
                    <a:pt x="150784" y="46683"/>
                    <a:pt x="150784" y="51159"/>
                  </a:cubicBezTo>
                  <a:cubicBezTo>
                    <a:pt x="150784" y="55635"/>
                    <a:pt x="147183" y="59237"/>
                    <a:pt x="142707" y="59237"/>
                  </a:cubicBezTo>
                  <a:lnTo>
                    <a:pt x="29618" y="59237"/>
                  </a:lnTo>
                  <a:cubicBezTo>
                    <a:pt x="25142" y="59237"/>
                    <a:pt x="21541" y="55635"/>
                    <a:pt x="21541" y="51159"/>
                  </a:cubicBezTo>
                  <a:cubicBezTo>
                    <a:pt x="21541" y="46683"/>
                    <a:pt x="25142" y="43081"/>
                    <a:pt x="29618" y="43081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7" name="Text 7">
              <a:extLst>
                <a:ext uri="{FF2B5EF4-FFF2-40B4-BE49-F238E27FC236}">
                  <a16:creationId xmlns:a16="http://schemas.microsoft.com/office/drawing/2014/main" id="{95DE527C-34FC-4F5E-ADE5-BB479E600AAA}"/>
                </a:ext>
              </a:extLst>
            </p:cNvPr>
            <p:cNvSpPr/>
            <p:nvPr/>
          </p:nvSpPr>
          <p:spPr>
            <a:xfrm>
              <a:off x="1033951" y="1292438"/>
              <a:ext cx="1387217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Открыть форму</a:t>
              </a:r>
              <a:endParaRPr lang="en-US" sz="1600" dirty="0"/>
            </a:p>
          </p:txBody>
        </p:sp>
        <p:sp>
          <p:nvSpPr>
            <p:cNvPr id="98" name="Shape 8">
              <a:extLst>
                <a:ext uri="{FF2B5EF4-FFF2-40B4-BE49-F238E27FC236}">
                  <a16:creationId xmlns:a16="http://schemas.microsoft.com/office/drawing/2014/main" id="{C8E71B8C-DCE5-4ADE-A2B6-C5DEBE0E030C}"/>
                </a:ext>
              </a:extLst>
            </p:cNvPr>
            <p:cNvSpPr/>
            <p:nvPr/>
          </p:nvSpPr>
          <p:spPr>
            <a:xfrm>
              <a:off x="516975" y="1757716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9" name="Text 9">
              <a:extLst>
                <a:ext uri="{FF2B5EF4-FFF2-40B4-BE49-F238E27FC236}">
                  <a16:creationId xmlns:a16="http://schemas.microsoft.com/office/drawing/2014/main" id="{1FA86693-AC56-4851-B3F6-8D1D8B41B246}"/>
                </a:ext>
              </a:extLst>
            </p:cNvPr>
            <p:cNvSpPr/>
            <p:nvPr/>
          </p:nvSpPr>
          <p:spPr>
            <a:xfrm>
              <a:off x="654835" y="1895576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100" name="Shape 10">
              <a:extLst>
                <a:ext uri="{FF2B5EF4-FFF2-40B4-BE49-F238E27FC236}">
                  <a16:creationId xmlns:a16="http://schemas.microsoft.com/office/drawing/2014/main" id="{F1190D36-42BA-47D6-B157-D9A2827FCF5F}"/>
                </a:ext>
              </a:extLst>
            </p:cNvPr>
            <p:cNvSpPr/>
            <p:nvPr/>
          </p:nvSpPr>
          <p:spPr>
            <a:xfrm>
              <a:off x="654835" y="2136831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D700">
                <a:alpha val="20000"/>
              </a:srgbClr>
            </a:solidFill>
            <a:ln/>
          </p:spPr>
        </p:sp>
        <p:sp>
          <p:nvSpPr>
            <p:cNvPr id="101" name="Text 11">
              <a:extLst>
                <a:ext uri="{FF2B5EF4-FFF2-40B4-BE49-F238E27FC236}">
                  <a16:creationId xmlns:a16="http://schemas.microsoft.com/office/drawing/2014/main" id="{1F0E4A88-55D2-485C-99A9-8E06E7D917B9}"/>
                </a:ext>
              </a:extLst>
            </p:cNvPr>
            <p:cNvSpPr/>
            <p:nvPr/>
          </p:nvSpPr>
          <p:spPr>
            <a:xfrm>
              <a:off x="654835" y="2136831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«Покажи реализации за сентябрь»</a:t>
              </a:r>
              <a:endParaRPr lang="en-US" sz="1600" dirty="0"/>
            </a:p>
          </p:txBody>
        </p:sp>
        <p:sp>
          <p:nvSpPr>
            <p:cNvPr id="102" name="Shape 12">
              <a:extLst>
                <a:ext uri="{FF2B5EF4-FFF2-40B4-BE49-F238E27FC236}">
                  <a16:creationId xmlns:a16="http://schemas.microsoft.com/office/drawing/2014/main" id="{527B2B36-D2B1-4382-90F5-87C058F0A92F}"/>
                </a:ext>
              </a:extLst>
            </p:cNvPr>
            <p:cNvSpPr/>
            <p:nvPr/>
          </p:nvSpPr>
          <p:spPr>
            <a:xfrm>
              <a:off x="516975" y="2860596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3" name="Text 13">
              <a:extLst>
                <a:ext uri="{FF2B5EF4-FFF2-40B4-BE49-F238E27FC236}">
                  <a16:creationId xmlns:a16="http://schemas.microsoft.com/office/drawing/2014/main" id="{12F19EFE-8F7D-4659-BC0E-16549E057B0D}"/>
                </a:ext>
              </a:extLst>
            </p:cNvPr>
            <p:cNvSpPr/>
            <p:nvPr/>
          </p:nvSpPr>
          <p:spPr>
            <a:xfrm>
              <a:off x="654835" y="299845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104" name="Text 14">
              <a:extLst>
                <a:ext uri="{FF2B5EF4-FFF2-40B4-BE49-F238E27FC236}">
                  <a16:creationId xmlns:a16="http://schemas.microsoft.com/office/drawing/2014/main" id="{C4D9F357-BC38-41A6-B734-8FF840BE6DBF}"/>
                </a:ext>
              </a:extLst>
            </p:cNvPr>
            <p:cNvSpPr/>
            <p:nvPr/>
          </p:nvSpPr>
          <p:spPr>
            <a:xfrm>
              <a:off x="654835" y="3239712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Открывает форму списка реализаций с установленным фильтром по дате</a:t>
              </a:r>
              <a:endParaRPr lang="en-US" sz="1600" dirty="0"/>
            </a:p>
          </p:txBody>
        </p:sp>
        <p:sp>
          <p:nvSpPr>
            <p:cNvPr id="105" name="Shape 26">
              <a:extLst>
                <a:ext uri="{FF2B5EF4-FFF2-40B4-BE49-F238E27FC236}">
                  <a16:creationId xmlns:a16="http://schemas.microsoft.com/office/drawing/2014/main" id="{46C148B8-376F-42C2-9FFD-4B0A745D5683}"/>
                </a:ext>
              </a:extLst>
            </p:cNvPr>
            <p:cNvSpPr/>
            <p:nvPr/>
          </p:nvSpPr>
          <p:spPr>
            <a:xfrm>
              <a:off x="344650" y="3929012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06" name="Shape 27">
              <a:extLst>
                <a:ext uri="{FF2B5EF4-FFF2-40B4-BE49-F238E27FC236}">
                  <a16:creationId xmlns:a16="http://schemas.microsoft.com/office/drawing/2014/main" id="{A072E7EE-E79E-4F94-9E1A-2723438E7753}"/>
                </a:ext>
              </a:extLst>
            </p:cNvPr>
            <p:cNvSpPr/>
            <p:nvPr/>
          </p:nvSpPr>
          <p:spPr>
            <a:xfrm>
              <a:off x="516975" y="4101337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7" name="Shape 28">
              <a:extLst>
                <a:ext uri="{FF2B5EF4-FFF2-40B4-BE49-F238E27FC236}">
                  <a16:creationId xmlns:a16="http://schemas.microsoft.com/office/drawing/2014/main" id="{15EF9617-4089-4CB9-BCDC-3C9CC6C1DD24}"/>
                </a:ext>
              </a:extLst>
            </p:cNvPr>
            <p:cNvSpPr/>
            <p:nvPr/>
          </p:nvSpPr>
          <p:spPr>
            <a:xfrm>
              <a:off x="637603" y="4221965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86163" y="172325"/>
                  </a:moveTo>
                  <a:cubicBezTo>
                    <a:pt x="133717" y="172325"/>
                    <a:pt x="172325" y="133717"/>
                    <a:pt x="172325" y="86163"/>
                  </a:cubicBezTo>
                  <a:cubicBezTo>
                    <a:pt x="172325" y="38608"/>
                    <a:pt x="133717" y="0"/>
                    <a:pt x="86163" y="0"/>
                  </a:cubicBezTo>
                  <a:cubicBezTo>
                    <a:pt x="38608" y="0"/>
                    <a:pt x="0" y="38608"/>
                    <a:pt x="0" y="86163"/>
                  </a:cubicBezTo>
                  <a:cubicBezTo>
                    <a:pt x="0" y="133717"/>
                    <a:pt x="38608" y="172325"/>
                    <a:pt x="86163" y="172325"/>
                  </a:cubicBezTo>
                  <a:close/>
                  <a:moveTo>
                    <a:pt x="75392" y="53852"/>
                  </a:moveTo>
                  <a:cubicBezTo>
                    <a:pt x="75392" y="47907"/>
                    <a:pt x="80218" y="43081"/>
                    <a:pt x="86163" y="43081"/>
                  </a:cubicBezTo>
                  <a:cubicBezTo>
                    <a:pt x="92107" y="43081"/>
                    <a:pt x="96933" y="47907"/>
                    <a:pt x="96933" y="53852"/>
                  </a:cubicBezTo>
                  <a:cubicBezTo>
                    <a:pt x="96933" y="59796"/>
                    <a:pt x="92107" y="64622"/>
                    <a:pt x="86163" y="64622"/>
                  </a:cubicBezTo>
                  <a:cubicBezTo>
                    <a:pt x="80218" y="64622"/>
                    <a:pt x="75392" y="59796"/>
                    <a:pt x="75392" y="53852"/>
                  </a:cubicBezTo>
                  <a:close/>
                  <a:moveTo>
                    <a:pt x="72700" y="75392"/>
                  </a:moveTo>
                  <a:lnTo>
                    <a:pt x="88855" y="75392"/>
                  </a:lnTo>
                  <a:cubicBezTo>
                    <a:pt x="93332" y="75392"/>
                    <a:pt x="96933" y="78994"/>
                    <a:pt x="96933" y="83470"/>
                  </a:cubicBezTo>
                  <a:lnTo>
                    <a:pt x="96933" y="113088"/>
                  </a:lnTo>
                  <a:lnTo>
                    <a:pt x="99625" y="113088"/>
                  </a:lnTo>
                  <a:cubicBezTo>
                    <a:pt x="104102" y="113088"/>
                    <a:pt x="107703" y="116690"/>
                    <a:pt x="107703" y="121166"/>
                  </a:cubicBezTo>
                  <a:cubicBezTo>
                    <a:pt x="107703" y="125642"/>
                    <a:pt x="104102" y="129244"/>
                    <a:pt x="99625" y="129244"/>
                  </a:cubicBezTo>
                  <a:lnTo>
                    <a:pt x="72700" y="129244"/>
                  </a:lnTo>
                  <a:cubicBezTo>
                    <a:pt x="68223" y="129244"/>
                    <a:pt x="64622" y="125642"/>
                    <a:pt x="64622" y="121166"/>
                  </a:cubicBezTo>
                  <a:cubicBezTo>
                    <a:pt x="64622" y="116690"/>
                    <a:pt x="68223" y="113088"/>
                    <a:pt x="72700" y="113088"/>
                  </a:cubicBezTo>
                  <a:lnTo>
                    <a:pt x="80777" y="113088"/>
                  </a:lnTo>
                  <a:lnTo>
                    <a:pt x="80777" y="91548"/>
                  </a:lnTo>
                  <a:lnTo>
                    <a:pt x="72700" y="91548"/>
                  </a:lnTo>
                  <a:cubicBezTo>
                    <a:pt x="68223" y="91548"/>
                    <a:pt x="64622" y="87946"/>
                    <a:pt x="64622" y="83470"/>
                  </a:cubicBezTo>
                  <a:cubicBezTo>
                    <a:pt x="64622" y="78994"/>
                    <a:pt x="68223" y="75392"/>
                    <a:pt x="72700" y="7539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8" name="Text 29">
              <a:extLst>
                <a:ext uri="{FF2B5EF4-FFF2-40B4-BE49-F238E27FC236}">
                  <a16:creationId xmlns:a16="http://schemas.microsoft.com/office/drawing/2014/main" id="{9866EFF0-E117-44D1-A3A2-AD7E50B51593}"/>
                </a:ext>
              </a:extLst>
            </p:cNvPr>
            <p:cNvSpPr/>
            <p:nvPr/>
          </p:nvSpPr>
          <p:spPr>
            <a:xfrm>
              <a:off x="1033951" y="4187500"/>
              <a:ext cx="1594007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Проверить статус</a:t>
              </a:r>
              <a:endParaRPr lang="en-US" sz="1600" dirty="0"/>
            </a:p>
          </p:txBody>
        </p:sp>
        <p:sp>
          <p:nvSpPr>
            <p:cNvPr id="109" name="Shape 30">
              <a:extLst>
                <a:ext uri="{FF2B5EF4-FFF2-40B4-BE49-F238E27FC236}">
                  <a16:creationId xmlns:a16="http://schemas.microsoft.com/office/drawing/2014/main" id="{27773DC7-9A5A-4DDD-B4AC-91B02838D9DE}"/>
                </a:ext>
              </a:extLst>
            </p:cNvPr>
            <p:cNvSpPr/>
            <p:nvPr/>
          </p:nvSpPr>
          <p:spPr>
            <a:xfrm>
              <a:off x="516975" y="4652777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0" name="Text 31">
              <a:extLst>
                <a:ext uri="{FF2B5EF4-FFF2-40B4-BE49-F238E27FC236}">
                  <a16:creationId xmlns:a16="http://schemas.microsoft.com/office/drawing/2014/main" id="{6A70F177-9214-4E12-9CDD-84AF0BEE35E3}"/>
                </a:ext>
              </a:extLst>
            </p:cNvPr>
            <p:cNvSpPr/>
            <p:nvPr/>
          </p:nvSpPr>
          <p:spPr>
            <a:xfrm>
              <a:off x="654835" y="479063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111" name="Shape 32">
              <a:extLst>
                <a:ext uri="{FF2B5EF4-FFF2-40B4-BE49-F238E27FC236}">
                  <a16:creationId xmlns:a16="http://schemas.microsoft.com/office/drawing/2014/main" id="{8D1B0781-6875-4B55-B921-99DA90CD48C0}"/>
                </a:ext>
              </a:extLst>
            </p:cNvPr>
            <p:cNvSpPr/>
            <p:nvPr/>
          </p:nvSpPr>
          <p:spPr>
            <a:xfrm>
              <a:off x="654835" y="5031893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6B35">
                <a:alpha val="20000"/>
              </a:srgbClr>
            </a:solidFill>
            <a:ln/>
          </p:spPr>
        </p:sp>
        <p:sp>
          <p:nvSpPr>
            <p:cNvPr id="112" name="Text 33">
              <a:extLst>
                <a:ext uri="{FF2B5EF4-FFF2-40B4-BE49-F238E27FC236}">
                  <a16:creationId xmlns:a16="http://schemas.microsoft.com/office/drawing/2014/main" id="{239D5894-9D3A-4F4C-8265-6D850C7AB491}"/>
                </a:ext>
              </a:extLst>
            </p:cNvPr>
            <p:cNvSpPr/>
            <p:nvPr/>
          </p:nvSpPr>
          <p:spPr>
            <a:xfrm>
              <a:off x="654835" y="5031893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«Какие заказы в работе?»</a:t>
              </a:r>
              <a:endParaRPr lang="en-US" sz="1600" dirty="0"/>
            </a:p>
          </p:txBody>
        </p:sp>
        <p:sp>
          <p:nvSpPr>
            <p:cNvPr id="113" name="Shape 34">
              <a:extLst>
                <a:ext uri="{FF2B5EF4-FFF2-40B4-BE49-F238E27FC236}">
                  <a16:creationId xmlns:a16="http://schemas.microsoft.com/office/drawing/2014/main" id="{FCEFF630-C1BD-4229-A16B-38684F45FF4F}"/>
                </a:ext>
              </a:extLst>
            </p:cNvPr>
            <p:cNvSpPr/>
            <p:nvPr/>
          </p:nvSpPr>
          <p:spPr>
            <a:xfrm>
              <a:off x="516975" y="5755658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4" name="Text 35">
              <a:extLst>
                <a:ext uri="{FF2B5EF4-FFF2-40B4-BE49-F238E27FC236}">
                  <a16:creationId xmlns:a16="http://schemas.microsoft.com/office/drawing/2014/main" id="{7C378D7B-4580-43E7-89B5-8CB70CD7F662}"/>
                </a:ext>
              </a:extLst>
            </p:cNvPr>
            <p:cNvSpPr/>
            <p:nvPr/>
          </p:nvSpPr>
          <p:spPr>
            <a:xfrm>
              <a:off x="654835" y="5893518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115" name="Text 36">
              <a:extLst>
                <a:ext uri="{FF2B5EF4-FFF2-40B4-BE49-F238E27FC236}">
                  <a16:creationId xmlns:a16="http://schemas.microsoft.com/office/drawing/2014/main" id="{749A3643-961A-44E1-A716-E36E42CF256E}"/>
                </a:ext>
              </a:extLst>
            </p:cNvPr>
            <p:cNvSpPr/>
            <p:nvPr/>
          </p:nvSpPr>
          <p:spPr>
            <a:xfrm>
              <a:off x="654835" y="6134773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Формирует отчет по заказам покупателей в статусе «В работе»</a:t>
              </a:r>
              <a:endParaRPr lang="en-US" sz="1600" dirty="0"/>
            </a:p>
          </p:txBody>
        </p:sp>
      </p:grp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34E050F9-3FA9-4108-A3F6-9AD80FE64809}"/>
              </a:ext>
            </a:extLst>
          </p:cNvPr>
          <p:cNvGrpSpPr/>
          <p:nvPr/>
        </p:nvGrpSpPr>
        <p:grpSpPr>
          <a:xfrm>
            <a:off x="19810253" y="1033951"/>
            <a:ext cx="5669495" cy="5617797"/>
            <a:chOff x="6182737" y="1033951"/>
            <a:chExt cx="5669495" cy="5617797"/>
          </a:xfrm>
        </p:grpSpPr>
        <p:sp>
          <p:nvSpPr>
            <p:cNvPr id="117" name="Shape 15">
              <a:extLst>
                <a:ext uri="{FF2B5EF4-FFF2-40B4-BE49-F238E27FC236}">
                  <a16:creationId xmlns:a16="http://schemas.microsoft.com/office/drawing/2014/main" id="{EC6C71A1-B7B9-434B-8AF2-B39FBFD053FE}"/>
                </a:ext>
              </a:extLst>
            </p:cNvPr>
            <p:cNvSpPr/>
            <p:nvPr/>
          </p:nvSpPr>
          <p:spPr>
            <a:xfrm>
              <a:off x="6182737" y="1033951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18" name="Shape 16">
              <a:extLst>
                <a:ext uri="{FF2B5EF4-FFF2-40B4-BE49-F238E27FC236}">
                  <a16:creationId xmlns:a16="http://schemas.microsoft.com/office/drawing/2014/main" id="{F81B6ED6-F70E-4A16-96E3-897AD88FD4A2}"/>
                </a:ext>
              </a:extLst>
            </p:cNvPr>
            <p:cNvSpPr/>
            <p:nvPr/>
          </p:nvSpPr>
          <p:spPr>
            <a:xfrm>
              <a:off x="6355062" y="1206276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9" name="Shape 17">
              <a:extLst>
                <a:ext uri="{FF2B5EF4-FFF2-40B4-BE49-F238E27FC236}">
                  <a16:creationId xmlns:a16="http://schemas.microsoft.com/office/drawing/2014/main" id="{C61A5C30-B901-48FF-BB9D-3F795A7D2FDE}"/>
                </a:ext>
              </a:extLst>
            </p:cNvPr>
            <p:cNvSpPr/>
            <p:nvPr/>
          </p:nvSpPr>
          <p:spPr>
            <a:xfrm>
              <a:off x="6475689" y="1326903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140014" y="70007"/>
                  </a:moveTo>
                  <a:cubicBezTo>
                    <a:pt x="140014" y="85456"/>
                    <a:pt x="134999" y="99726"/>
                    <a:pt x="126551" y="111305"/>
                  </a:cubicBezTo>
                  <a:lnTo>
                    <a:pt x="169161" y="153948"/>
                  </a:lnTo>
                  <a:cubicBezTo>
                    <a:pt x="173368" y="158155"/>
                    <a:pt x="173368" y="164988"/>
                    <a:pt x="169161" y="169195"/>
                  </a:cubicBezTo>
                  <a:cubicBezTo>
                    <a:pt x="164954" y="173402"/>
                    <a:pt x="158122" y="173402"/>
                    <a:pt x="153915" y="169195"/>
                  </a:cubicBezTo>
                  <a:lnTo>
                    <a:pt x="111305" y="126551"/>
                  </a:lnTo>
                  <a:cubicBezTo>
                    <a:pt x="99726" y="134999"/>
                    <a:pt x="85456" y="140014"/>
                    <a:pt x="70007" y="140014"/>
                  </a:cubicBezTo>
                  <a:cubicBezTo>
                    <a:pt x="31335" y="140014"/>
                    <a:pt x="0" y="108679"/>
                    <a:pt x="0" y="70007"/>
                  </a:cubicBezTo>
                  <a:cubicBezTo>
                    <a:pt x="0" y="31335"/>
                    <a:pt x="31335" y="0"/>
                    <a:pt x="70007" y="0"/>
                  </a:cubicBezTo>
                  <a:cubicBezTo>
                    <a:pt x="108679" y="0"/>
                    <a:pt x="140014" y="31335"/>
                    <a:pt x="140014" y="70007"/>
                  </a:cubicBezTo>
                  <a:close/>
                  <a:moveTo>
                    <a:pt x="70007" y="118473"/>
                  </a:moveTo>
                  <a:cubicBezTo>
                    <a:pt x="96756" y="118473"/>
                    <a:pt x="118473" y="96756"/>
                    <a:pt x="118473" y="70007"/>
                  </a:cubicBezTo>
                  <a:cubicBezTo>
                    <a:pt x="118473" y="43258"/>
                    <a:pt x="96756" y="21541"/>
                    <a:pt x="70007" y="21541"/>
                  </a:cubicBezTo>
                  <a:cubicBezTo>
                    <a:pt x="43258" y="21541"/>
                    <a:pt x="21541" y="43258"/>
                    <a:pt x="21541" y="70007"/>
                  </a:cubicBezTo>
                  <a:cubicBezTo>
                    <a:pt x="21541" y="96756"/>
                    <a:pt x="43258" y="118473"/>
                    <a:pt x="70007" y="11847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0" name="Text 18">
              <a:extLst>
                <a:ext uri="{FF2B5EF4-FFF2-40B4-BE49-F238E27FC236}">
                  <a16:creationId xmlns:a16="http://schemas.microsoft.com/office/drawing/2014/main" id="{EAAEA4E4-EA7B-4BCB-8855-B3F11C162B71}"/>
                </a:ext>
              </a:extLst>
            </p:cNvPr>
            <p:cNvSpPr/>
            <p:nvPr/>
          </p:nvSpPr>
          <p:spPr>
            <a:xfrm>
              <a:off x="6872037" y="1292438"/>
              <a:ext cx="1447531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Найти документ</a:t>
              </a:r>
              <a:endParaRPr lang="en-US" sz="1600" dirty="0"/>
            </a:p>
          </p:txBody>
        </p:sp>
        <p:sp>
          <p:nvSpPr>
            <p:cNvPr id="121" name="Shape 19">
              <a:extLst>
                <a:ext uri="{FF2B5EF4-FFF2-40B4-BE49-F238E27FC236}">
                  <a16:creationId xmlns:a16="http://schemas.microsoft.com/office/drawing/2014/main" id="{32814B5F-FE6F-4F83-9C39-5F38CC5766A5}"/>
                </a:ext>
              </a:extLst>
            </p:cNvPr>
            <p:cNvSpPr/>
            <p:nvPr/>
          </p:nvSpPr>
          <p:spPr>
            <a:xfrm>
              <a:off x="6355062" y="1757716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2" name="Text 20">
              <a:extLst>
                <a:ext uri="{FF2B5EF4-FFF2-40B4-BE49-F238E27FC236}">
                  <a16:creationId xmlns:a16="http://schemas.microsoft.com/office/drawing/2014/main" id="{15D51A64-F37C-424C-B6F6-CA8B9AF51908}"/>
                </a:ext>
              </a:extLst>
            </p:cNvPr>
            <p:cNvSpPr/>
            <p:nvPr/>
          </p:nvSpPr>
          <p:spPr>
            <a:xfrm>
              <a:off x="6492922" y="1895576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123" name="Shape 21">
              <a:extLst>
                <a:ext uri="{FF2B5EF4-FFF2-40B4-BE49-F238E27FC236}">
                  <a16:creationId xmlns:a16="http://schemas.microsoft.com/office/drawing/2014/main" id="{A58926D7-A613-44AD-ACEB-E57852AAAFD1}"/>
                </a:ext>
              </a:extLst>
            </p:cNvPr>
            <p:cNvSpPr/>
            <p:nvPr/>
          </p:nvSpPr>
          <p:spPr>
            <a:xfrm>
              <a:off x="6492922" y="2136831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D700">
                <a:alpha val="20000"/>
              </a:srgbClr>
            </a:solidFill>
            <a:ln/>
          </p:spPr>
        </p:sp>
        <p:sp>
          <p:nvSpPr>
            <p:cNvPr id="124" name="Text 22">
              <a:extLst>
                <a:ext uri="{FF2B5EF4-FFF2-40B4-BE49-F238E27FC236}">
                  <a16:creationId xmlns:a16="http://schemas.microsoft.com/office/drawing/2014/main" id="{BAD6DC4E-5654-4A22-A64E-4CABADF22270}"/>
                </a:ext>
              </a:extLst>
            </p:cNvPr>
            <p:cNvSpPr/>
            <p:nvPr/>
          </p:nvSpPr>
          <p:spPr>
            <a:xfrm>
              <a:off x="6492922" y="2136831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«Найди счет от ООО Ромашка»</a:t>
              </a:r>
              <a:endParaRPr lang="en-US" sz="1600" dirty="0"/>
            </a:p>
          </p:txBody>
        </p:sp>
        <p:sp>
          <p:nvSpPr>
            <p:cNvPr id="125" name="Shape 23">
              <a:extLst>
                <a:ext uri="{FF2B5EF4-FFF2-40B4-BE49-F238E27FC236}">
                  <a16:creationId xmlns:a16="http://schemas.microsoft.com/office/drawing/2014/main" id="{CE8018C2-DD1D-4165-91B3-3EA6B4A78CF4}"/>
                </a:ext>
              </a:extLst>
            </p:cNvPr>
            <p:cNvSpPr/>
            <p:nvPr/>
          </p:nvSpPr>
          <p:spPr>
            <a:xfrm>
              <a:off x="6355062" y="2860596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6" name="Text 24">
              <a:extLst>
                <a:ext uri="{FF2B5EF4-FFF2-40B4-BE49-F238E27FC236}">
                  <a16:creationId xmlns:a16="http://schemas.microsoft.com/office/drawing/2014/main" id="{0281C15C-5138-4D7E-9866-B23A15F77259}"/>
                </a:ext>
              </a:extLst>
            </p:cNvPr>
            <p:cNvSpPr/>
            <p:nvPr/>
          </p:nvSpPr>
          <p:spPr>
            <a:xfrm>
              <a:off x="6492922" y="299845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127" name="Text 25">
              <a:extLst>
                <a:ext uri="{FF2B5EF4-FFF2-40B4-BE49-F238E27FC236}">
                  <a16:creationId xmlns:a16="http://schemas.microsoft.com/office/drawing/2014/main" id="{AB88B14C-7EF9-4108-97C5-6A7582E0D487}"/>
                </a:ext>
              </a:extLst>
            </p:cNvPr>
            <p:cNvSpPr/>
            <p:nvPr/>
          </p:nvSpPr>
          <p:spPr>
            <a:xfrm>
              <a:off x="6492922" y="3239712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Ищет счета по контрагенту и показывает список найденных документов</a:t>
              </a:r>
              <a:endParaRPr lang="en-US" sz="1600" dirty="0"/>
            </a:p>
          </p:txBody>
        </p:sp>
        <p:sp>
          <p:nvSpPr>
            <p:cNvPr id="128" name="Shape 37">
              <a:extLst>
                <a:ext uri="{FF2B5EF4-FFF2-40B4-BE49-F238E27FC236}">
                  <a16:creationId xmlns:a16="http://schemas.microsoft.com/office/drawing/2014/main" id="{B21D4A38-069F-486B-99B5-E4DF450F57DF}"/>
                </a:ext>
              </a:extLst>
            </p:cNvPr>
            <p:cNvSpPr/>
            <p:nvPr/>
          </p:nvSpPr>
          <p:spPr>
            <a:xfrm>
              <a:off x="6182737" y="3929012"/>
              <a:ext cx="5669495" cy="2722736"/>
            </a:xfrm>
            <a:custGeom>
              <a:avLst/>
              <a:gdLst/>
              <a:ahLst/>
              <a:cxnLst/>
              <a:rect l="l" t="t" r="r" b="b"/>
              <a:pathLst>
                <a:path w="5669495" h="2722736">
                  <a:moveTo>
                    <a:pt x="137852" y="0"/>
                  </a:moveTo>
                  <a:lnTo>
                    <a:pt x="5531643" y="0"/>
                  </a:lnTo>
                  <a:cubicBezTo>
                    <a:pt x="5607777" y="0"/>
                    <a:pt x="5669495" y="61719"/>
                    <a:pt x="5669495" y="137852"/>
                  </a:cubicBezTo>
                  <a:lnTo>
                    <a:pt x="5669495" y="2584884"/>
                  </a:lnTo>
                  <a:cubicBezTo>
                    <a:pt x="5669495" y="2661018"/>
                    <a:pt x="5607777" y="2722736"/>
                    <a:pt x="5531643" y="2722736"/>
                  </a:cubicBezTo>
                  <a:lnTo>
                    <a:pt x="137852" y="2722736"/>
                  </a:lnTo>
                  <a:cubicBezTo>
                    <a:pt x="61719" y="2722736"/>
                    <a:pt x="0" y="2661018"/>
                    <a:pt x="0" y="2584884"/>
                  </a:cubicBezTo>
                  <a:lnTo>
                    <a:pt x="0" y="137852"/>
                  </a:lnTo>
                  <a:cubicBezTo>
                    <a:pt x="0" y="61719"/>
                    <a:pt x="61719" y="0"/>
                    <a:pt x="13785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29" name="Shape 38">
              <a:extLst>
                <a:ext uri="{FF2B5EF4-FFF2-40B4-BE49-F238E27FC236}">
                  <a16:creationId xmlns:a16="http://schemas.microsoft.com/office/drawing/2014/main" id="{EDC49C5A-CDC3-4F81-9B17-A13173132E2C}"/>
                </a:ext>
              </a:extLst>
            </p:cNvPr>
            <p:cNvSpPr/>
            <p:nvPr/>
          </p:nvSpPr>
          <p:spPr>
            <a:xfrm>
              <a:off x="6355062" y="4101337"/>
              <a:ext cx="413580" cy="413580"/>
            </a:xfrm>
            <a:custGeom>
              <a:avLst/>
              <a:gdLst/>
              <a:ahLst/>
              <a:cxnLst/>
              <a:rect l="l" t="t" r="r" b="b"/>
              <a:pathLst>
                <a:path w="413580" h="413580">
                  <a:moveTo>
                    <a:pt x="103395" y="0"/>
                  </a:moveTo>
                  <a:lnTo>
                    <a:pt x="310185" y="0"/>
                  </a:lnTo>
                  <a:cubicBezTo>
                    <a:pt x="367289" y="0"/>
                    <a:pt x="413580" y="46292"/>
                    <a:pt x="413580" y="103395"/>
                  </a:cubicBezTo>
                  <a:lnTo>
                    <a:pt x="413580" y="310185"/>
                  </a:lnTo>
                  <a:cubicBezTo>
                    <a:pt x="413580" y="367289"/>
                    <a:pt x="367289" y="413580"/>
                    <a:pt x="310185" y="413580"/>
                  </a:cubicBezTo>
                  <a:lnTo>
                    <a:pt x="103395" y="413580"/>
                  </a:lnTo>
                  <a:cubicBezTo>
                    <a:pt x="46292" y="413580"/>
                    <a:pt x="0" y="367289"/>
                    <a:pt x="0" y="310185"/>
                  </a:cubicBezTo>
                  <a:lnTo>
                    <a:pt x="0" y="103395"/>
                  </a:lnTo>
                  <a:cubicBezTo>
                    <a:pt x="0" y="46330"/>
                    <a:pt x="46330" y="0"/>
                    <a:pt x="103395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0" name="Shape 39">
              <a:extLst>
                <a:ext uri="{FF2B5EF4-FFF2-40B4-BE49-F238E27FC236}">
                  <a16:creationId xmlns:a16="http://schemas.microsoft.com/office/drawing/2014/main" id="{D68D80F3-0F6B-4343-98A0-F4FF016D4D7C}"/>
                </a:ext>
              </a:extLst>
            </p:cNvPr>
            <p:cNvSpPr/>
            <p:nvPr/>
          </p:nvSpPr>
          <p:spPr>
            <a:xfrm>
              <a:off x="6475689" y="4221965"/>
              <a:ext cx="172325" cy="172325"/>
            </a:xfrm>
            <a:custGeom>
              <a:avLst/>
              <a:gdLst/>
              <a:ahLst/>
              <a:cxnLst/>
              <a:rect l="l" t="t" r="r" b="b"/>
              <a:pathLst>
                <a:path w="172325" h="172325">
                  <a:moveTo>
                    <a:pt x="75392" y="0"/>
                  </a:moveTo>
                  <a:lnTo>
                    <a:pt x="75392" y="21541"/>
                  </a:lnTo>
                  <a:cubicBezTo>
                    <a:pt x="75392" y="24502"/>
                    <a:pt x="77816" y="26926"/>
                    <a:pt x="80777" y="26926"/>
                  </a:cubicBezTo>
                  <a:lnTo>
                    <a:pt x="91548" y="26926"/>
                  </a:lnTo>
                  <a:cubicBezTo>
                    <a:pt x="94510" y="26926"/>
                    <a:pt x="96933" y="24502"/>
                    <a:pt x="96933" y="21541"/>
                  </a:cubicBezTo>
                  <a:lnTo>
                    <a:pt x="96933" y="0"/>
                  </a:lnTo>
                  <a:lnTo>
                    <a:pt x="107703" y="0"/>
                  </a:lnTo>
                  <a:cubicBezTo>
                    <a:pt x="119584" y="0"/>
                    <a:pt x="129244" y="9660"/>
                    <a:pt x="129244" y="21541"/>
                  </a:cubicBezTo>
                  <a:lnTo>
                    <a:pt x="129244" y="64622"/>
                  </a:lnTo>
                  <a:cubicBezTo>
                    <a:pt x="129244" y="66473"/>
                    <a:pt x="129008" y="68291"/>
                    <a:pt x="128571" y="70007"/>
                  </a:cubicBezTo>
                  <a:lnTo>
                    <a:pt x="43754" y="70007"/>
                  </a:lnTo>
                  <a:cubicBezTo>
                    <a:pt x="43317" y="68291"/>
                    <a:pt x="43081" y="66473"/>
                    <a:pt x="43081" y="64622"/>
                  </a:cubicBezTo>
                  <a:lnTo>
                    <a:pt x="43081" y="21541"/>
                  </a:lnTo>
                  <a:cubicBezTo>
                    <a:pt x="43081" y="9660"/>
                    <a:pt x="52741" y="0"/>
                    <a:pt x="64622" y="0"/>
                  </a:cubicBezTo>
                  <a:lnTo>
                    <a:pt x="75392" y="0"/>
                  </a:lnTo>
                  <a:close/>
                  <a:moveTo>
                    <a:pt x="107703" y="172325"/>
                  </a:moveTo>
                  <a:cubicBezTo>
                    <a:pt x="103934" y="172325"/>
                    <a:pt x="100366" y="171349"/>
                    <a:pt x="97269" y="169633"/>
                  </a:cubicBezTo>
                  <a:cubicBezTo>
                    <a:pt x="100467" y="164079"/>
                    <a:pt x="102318" y="157651"/>
                    <a:pt x="102318" y="150784"/>
                  </a:cubicBezTo>
                  <a:lnTo>
                    <a:pt x="102318" y="107703"/>
                  </a:lnTo>
                  <a:cubicBezTo>
                    <a:pt x="102318" y="100837"/>
                    <a:pt x="100467" y="94409"/>
                    <a:pt x="97269" y="88855"/>
                  </a:cubicBezTo>
                  <a:cubicBezTo>
                    <a:pt x="100366" y="87139"/>
                    <a:pt x="103900" y="86163"/>
                    <a:pt x="107703" y="86163"/>
                  </a:cubicBezTo>
                  <a:lnTo>
                    <a:pt x="118473" y="86163"/>
                  </a:lnTo>
                  <a:lnTo>
                    <a:pt x="118473" y="107703"/>
                  </a:lnTo>
                  <a:cubicBezTo>
                    <a:pt x="118473" y="110665"/>
                    <a:pt x="120897" y="113088"/>
                    <a:pt x="123859" y="113088"/>
                  </a:cubicBezTo>
                  <a:lnTo>
                    <a:pt x="134629" y="113088"/>
                  </a:lnTo>
                  <a:cubicBezTo>
                    <a:pt x="137591" y="113088"/>
                    <a:pt x="140014" y="110665"/>
                    <a:pt x="140014" y="107703"/>
                  </a:cubicBezTo>
                  <a:lnTo>
                    <a:pt x="140014" y="86163"/>
                  </a:lnTo>
                  <a:lnTo>
                    <a:pt x="150784" y="86163"/>
                  </a:lnTo>
                  <a:cubicBezTo>
                    <a:pt x="162665" y="86163"/>
                    <a:pt x="172325" y="95822"/>
                    <a:pt x="172325" y="107703"/>
                  </a:cubicBezTo>
                  <a:lnTo>
                    <a:pt x="172325" y="150784"/>
                  </a:lnTo>
                  <a:cubicBezTo>
                    <a:pt x="172325" y="162665"/>
                    <a:pt x="162665" y="172325"/>
                    <a:pt x="150784" y="172325"/>
                  </a:cubicBezTo>
                  <a:lnTo>
                    <a:pt x="107703" y="172325"/>
                  </a:lnTo>
                  <a:close/>
                  <a:moveTo>
                    <a:pt x="0" y="107703"/>
                  </a:moveTo>
                  <a:cubicBezTo>
                    <a:pt x="0" y="95822"/>
                    <a:pt x="9660" y="86163"/>
                    <a:pt x="21541" y="86163"/>
                  </a:cubicBezTo>
                  <a:lnTo>
                    <a:pt x="32311" y="86163"/>
                  </a:lnTo>
                  <a:lnTo>
                    <a:pt x="32311" y="107703"/>
                  </a:lnTo>
                  <a:cubicBezTo>
                    <a:pt x="32311" y="110665"/>
                    <a:pt x="34734" y="113088"/>
                    <a:pt x="37696" y="113088"/>
                  </a:cubicBezTo>
                  <a:lnTo>
                    <a:pt x="48466" y="113088"/>
                  </a:lnTo>
                  <a:cubicBezTo>
                    <a:pt x="51428" y="113088"/>
                    <a:pt x="53852" y="110665"/>
                    <a:pt x="53852" y="107703"/>
                  </a:cubicBezTo>
                  <a:lnTo>
                    <a:pt x="53852" y="86163"/>
                  </a:lnTo>
                  <a:lnTo>
                    <a:pt x="64622" y="86163"/>
                  </a:lnTo>
                  <a:cubicBezTo>
                    <a:pt x="76503" y="86163"/>
                    <a:pt x="86163" y="95822"/>
                    <a:pt x="86163" y="107703"/>
                  </a:cubicBezTo>
                  <a:lnTo>
                    <a:pt x="86163" y="150784"/>
                  </a:lnTo>
                  <a:cubicBezTo>
                    <a:pt x="86163" y="162665"/>
                    <a:pt x="76503" y="172325"/>
                    <a:pt x="64622" y="172325"/>
                  </a:cubicBezTo>
                  <a:lnTo>
                    <a:pt x="21541" y="172325"/>
                  </a:lnTo>
                  <a:cubicBezTo>
                    <a:pt x="9660" y="172325"/>
                    <a:pt x="0" y="162665"/>
                    <a:pt x="0" y="150784"/>
                  </a:cubicBezTo>
                  <a:lnTo>
                    <a:pt x="0" y="107703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31" name="Text 40">
              <a:extLst>
                <a:ext uri="{FF2B5EF4-FFF2-40B4-BE49-F238E27FC236}">
                  <a16:creationId xmlns:a16="http://schemas.microsoft.com/office/drawing/2014/main" id="{532C38E8-888F-4079-A996-402601EAEE7D}"/>
                </a:ext>
              </a:extLst>
            </p:cNvPr>
            <p:cNvSpPr/>
            <p:nvPr/>
          </p:nvSpPr>
          <p:spPr>
            <a:xfrm>
              <a:off x="6872037" y="4187500"/>
              <a:ext cx="1542310" cy="2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Получить данные</a:t>
              </a:r>
              <a:endParaRPr lang="en-US" sz="1600" dirty="0"/>
            </a:p>
          </p:txBody>
        </p:sp>
        <p:sp>
          <p:nvSpPr>
            <p:cNvPr id="132" name="Shape 41">
              <a:extLst>
                <a:ext uri="{FF2B5EF4-FFF2-40B4-BE49-F238E27FC236}">
                  <a16:creationId xmlns:a16="http://schemas.microsoft.com/office/drawing/2014/main" id="{7C9177F8-5C29-4143-98B0-524FCE2A20BD}"/>
                </a:ext>
              </a:extLst>
            </p:cNvPr>
            <p:cNvSpPr/>
            <p:nvPr/>
          </p:nvSpPr>
          <p:spPr>
            <a:xfrm>
              <a:off x="6355062" y="4652777"/>
              <a:ext cx="5324845" cy="965020"/>
            </a:xfrm>
            <a:custGeom>
              <a:avLst/>
              <a:gdLst/>
              <a:ahLst/>
              <a:cxnLst/>
              <a:rect l="l" t="t" r="r" b="b"/>
              <a:pathLst>
                <a:path w="5324845" h="965020">
                  <a:moveTo>
                    <a:pt x="103392" y="0"/>
                  </a:moveTo>
                  <a:lnTo>
                    <a:pt x="5221453" y="0"/>
                  </a:lnTo>
                  <a:cubicBezTo>
                    <a:pt x="5278555" y="0"/>
                    <a:pt x="5324845" y="46290"/>
                    <a:pt x="5324845" y="103392"/>
                  </a:cubicBezTo>
                  <a:lnTo>
                    <a:pt x="5324845" y="861628"/>
                  </a:lnTo>
                  <a:cubicBezTo>
                    <a:pt x="5324845" y="918730"/>
                    <a:pt x="5278555" y="965020"/>
                    <a:pt x="5221453" y="965020"/>
                  </a:cubicBezTo>
                  <a:lnTo>
                    <a:pt x="103392" y="965020"/>
                  </a:lnTo>
                  <a:cubicBezTo>
                    <a:pt x="46329" y="965020"/>
                    <a:pt x="0" y="918692"/>
                    <a:pt x="0" y="861628"/>
                  </a:cubicBezTo>
                  <a:lnTo>
                    <a:pt x="0" y="103392"/>
                  </a:lnTo>
                  <a:cubicBezTo>
                    <a:pt x="0" y="46329"/>
                    <a:pt x="46329" y="0"/>
                    <a:pt x="10339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3" name="Text 42">
              <a:extLst>
                <a:ext uri="{FF2B5EF4-FFF2-40B4-BE49-F238E27FC236}">
                  <a16:creationId xmlns:a16="http://schemas.microsoft.com/office/drawing/2014/main" id="{44C692C3-D718-405E-BE7F-D9FE99B33EC7}"/>
                </a:ext>
              </a:extLst>
            </p:cNvPr>
            <p:cNvSpPr/>
            <p:nvPr/>
          </p:nvSpPr>
          <p:spPr>
            <a:xfrm>
              <a:off x="6492922" y="4790637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 пользователя:</a:t>
              </a:r>
              <a:endParaRPr lang="en-US" sz="1600" dirty="0"/>
            </a:p>
          </p:txBody>
        </p:sp>
        <p:sp>
          <p:nvSpPr>
            <p:cNvPr id="134" name="Shape 43">
              <a:extLst>
                <a:ext uri="{FF2B5EF4-FFF2-40B4-BE49-F238E27FC236}">
                  <a16:creationId xmlns:a16="http://schemas.microsoft.com/office/drawing/2014/main" id="{5494BAD2-BB5A-4B32-80FF-B1DBD0917219}"/>
                </a:ext>
              </a:extLst>
            </p:cNvPr>
            <p:cNvSpPr/>
            <p:nvPr/>
          </p:nvSpPr>
          <p:spPr>
            <a:xfrm>
              <a:off x="6492922" y="5031893"/>
              <a:ext cx="5049125" cy="448045"/>
            </a:xfrm>
            <a:custGeom>
              <a:avLst/>
              <a:gdLst/>
              <a:ahLst/>
              <a:cxnLst/>
              <a:rect l="l" t="t" r="r" b="b"/>
              <a:pathLst>
                <a:path w="5049125" h="448045">
                  <a:moveTo>
                    <a:pt x="68932" y="0"/>
                  </a:moveTo>
                  <a:lnTo>
                    <a:pt x="4980193" y="0"/>
                  </a:lnTo>
                  <a:cubicBezTo>
                    <a:pt x="5018263" y="0"/>
                    <a:pt x="5049125" y="30862"/>
                    <a:pt x="5049125" y="68932"/>
                  </a:cubicBezTo>
                  <a:lnTo>
                    <a:pt x="5049125" y="379113"/>
                  </a:lnTo>
                  <a:cubicBezTo>
                    <a:pt x="5049125" y="417183"/>
                    <a:pt x="5018263" y="448045"/>
                    <a:pt x="4980193" y="448045"/>
                  </a:cubicBezTo>
                  <a:lnTo>
                    <a:pt x="68932" y="448045"/>
                  </a:lnTo>
                  <a:cubicBezTo>
                    <a:pt x="30887" y="448045"/>
                    <a:pt x="0" y="417158"/>
                    <a:pt x="0" y="379113"/>
                  </a:cubicBezTo>
                  <a:lnTo>
                    <a:pt x="0" y="68932"/>
                  </a:lnTo>
                  <a:cubicBezTo>
                    <a:pt x="0" y="30862"/>
                    <a:pt x="30862" y="0"/>
                    <a:pt x="68932" y="0"/>
                  </a:cubicBezTo>
                  <a:close/>
                </a:path>
              </a:pathLst>
            </a:custGeom>
            <a:solidFill>
              <a:srgbClr val="FF6B35">
                <a:alpha val="20000"/>
              </a:srgbClr>
            </a:solidFill>
            <a:ln/>
          </p:spPr>
        </p:sp>
        <p:sp>
          <p:nvSpPr>
            <p:cNvPr id="135" name="Text 44">
              <a:extLst>
                <a:ext uri="{FF2B5EF4-FFF2-40B4-BE49-F238E27FC236}">
                  <a16:creationId xmlns:a16="http://schemas.microsoft.com/office/drawing/2014/main" id="{BAE473E1-917D-41C0-B427-8C4053A2A507}"/>
                </a:ext>
              </a:extLst>
            </p:cNvPr>
            <p:cNvSpPr/>
            <p:nvPr/>
          </p:nvSpPr>
          <p:spPr>
            <a:xfrm>
              <a:off x="6492922" y="5031893"/>
              <a:ext cx="5126671" cy="448045"/>
            </a:xfrm>
            <a:prstGeom prst="rect">
              <a:avLst/>
            </a:prstGeom>
            <a:noFill/>
            <a:ln/>
          </p:spPr>
          <p:txBody>
            <a:bodyPr wrap="square" lIns="103395" tIns="103395" rIns="103395" bIns="103395" rtlCol="0" anchor="ctr"/>
            <a:lstStyle/>
            <a:p>
              <a:pPr>
                <a:lnSpc>
                  <a:spcPct val="130000"/>
                </a:lnSpc>
              </a:pPr>
              <a:r>
                <a:rPr lang="en-US" sz="1221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«Сколько осталось товара Х?»</a:t>
              </a:r>
              <a:endParaRPr lang="en-US" sz="1600" dirty="0"/>
            </a:p>
          </p:txBody>
        </p:sp>
        <p:sp>
          <p:nvSpPr>
            <p:cNvPr id="136" name="Shape 45">
              <a:extLst>
                <a:ext uri="{FF2B5EF4-FFF2-40B4-BE49-F238E27FC236}">
                  <a16:creationId xmlns:a16="http://schemas.microsoft.com/office/drawing/2014/main" id="{03EDDB91-5206-4E8D-8AE7-F4BBFB14DC18}"/>
                </a:ext>
              </a:extLst>
            </p:cNvPr>
            <p:cNvSpPr/>
            <p:nvPr/>
          </p:nvSpPr>
          <p:spPr>
            <a:xfrm>
              <a:off x="6355062" y="5755658"/>
              <a:ext cx="5324845" cy="723765"/>
            </a:xfrm>
            <a:custGeom>
              <a:avLst/>
              <a:gdLst/>
              <a:ahLst/>
              <a:cxnLst/>
              <a:rect l="l" t="t" r="r" b="b"/>
              <a:pathLst>
                <a:path w="5324845" h="723765">
                  <a:moveTo>
                    <a:pt x="103397" y="0"/>
                  </a:moveTo>
                  <a:lnTo>
                    <a:pt x="5221448" y="0"/>
                  </a:lnTo>
                  <a:cubicBezTo>
                    <a:pt x="5278553" y="0"/>
                    <a:pt x="5324845" y="46292"/>
                    <a:pt x="5324845" y="103397"/>
                  </a:cubicBezTo>
                  <a:lnTo>
                    <a:pt x="5324845" y="620368"/>
                  </a:lnTo>
                  <a:cubicBezTo>
                    <a:pt x="5324845" y="677473"/>
                    <a:pt x="5278553" y="723765"/>
                    <a:pt x="5221448" y="723765"/>
                  </a:cubicBezTo>
                  <a:lnTo>
                    <a:pt x="103397" y="723765"/>
                  </a:lnTo>
                  <a:cubicBezTo>
                    <a:pt x="46292" y="723765"/>
                    <a:pt x="0" y="677473"/>
                    <a:pt x="0" y="620368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1698" dist="3446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7" name="Text 46">
              <a:extLst>
                <a:ext uri="{FF2B5EF4-FFF2-40B4-BE49-F238E27FC236}">
                  <a16:creationId xmlns:a16="http://schemas.microsoft.com/office/drawing/2014/main" id="{29660A61-32DB-40EA-A08D-39C688F550F2}"/>
                </a:ext>
              </a:extLst>
            </p:cNvPr>
            <p:cNvSpPr/>
            <p:nvPr/>
          </p:nvSpPr>
          <p:spPr>
            <a:xfrm>
              <a:off x="6492922" y="5893518"/>
              <a:ext cx="5109439" cy="172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Действие ассистента:</a:t>
              </a:r>
              <a:endParaRPr lang="en-US" sz="1600" dirty="0"/>
            </a:p>
          </p:txBody>
        </p:sp>
        <p:sp>
          <p:nvSpPr>
            <p:cNvPr id="138" name="Text 47">
              <a:extLst>
                <a:ext uri="{FF2B5EF4-FFF2-40B4-BE49-F238E27FC236}">
                  <a16:creationId xmlns:a16="http://schemas.microsoft.com/office/drawing/2014/main" id="{668D5CBF-FE5D-42F7-845A-BBEDB5B1D1A9}"/>
                </a:ext>
              </a:extLst>
            </p:cNvPr>
            <p:cNvSpPr/>
            <p:nvPr/>
          </p:nvSpPr>
          <p:spPr>
            <a:xfrm>
              <a:off x="6492922" y="6134773"/>
              <a:ext cx="5118055" cy="20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86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Показывает текущие остатки товара на всех складах</a:t>
              </a:r>
              <a:endParaRPr lang="en-US" sz="1600" dirty="0"/>
            </a:p>
          </p:txBody>
        </p:sp>
      </p:grp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8A9A3D52-C550-4CB8-A768-0E9D4F9721B2}"/>
              </a:ext>
            </a:extLst>
          </p:cNvPr>
          <p:cNvGrpSpPr/>
          <p:nvPr/>
        </p:nvGrpSpPr>
        <p:grpSpPr>
          <a:xfrm>
            <a:off x="-12363550" y="349565"/>
            <a:ext cx="5023276" cy="482510"/>
            <a:chOff x="344650" y="344650"/>
            <a:chExt cx="5023276" cy="482510"/>
          </a:xfrm>
        </p:grpSpPr>
        <p:sp>
          <p:nvSpPr>
            <p:cNvPr id="140" name="Shape 0">
              <a:extLst>
                <a:ext uri="{FF2B5EF4-FFF2-40B4-BE49-F238E27FC236}">
                  <a16:creationId xmlns:a16="http://schemas.microsoft.com/office/drawing/2014/main" id="{318CDE37-80A4-4F1F-AAEC-65C388773D26}"/>
                </a:ext>
              </a:extLst>
            </p:cNvPr>
            <p:cNvSpPr/>
            <p:nvPr/>
          </p:nvSpPr>
          <p:spPr>
            <a:xfrm>
              <a:off x="344650" y="344650"/>
              <a:ext cx="482510" cy="482510"/>
            </a:xfrm>
            <a:custGeom>
              <a:avLst/>
              <a:gdLst/>
              <a:ahLst/>
              <a:cxnLst/>
              <a:rect l="l" t="t" r="r" b="b"/>
              <a:pathLst>
                <a:path w="482510" h="482510">
                  <a:moveTo>
                    <a:pt x="103397" y="0"/>
                  </a:moveTo>
                  <a:lnTo>
                    <a:pt x="379113" y="0"/>
                  </a:lnTo>
                  <a:cubicBezTo>
                    <a:pt x="436218" y="0"/>
                    <a:pt x="482510" y="46292"/>
                    <a:pt x="482510" y="103397"/>
                  </a:cubicBezTo>
                  <a:lnTo>
                    <a:pt x="482510" y="379113"/>
                  </a:lnTo>
                  <a:cubicBezTo>
                    <a:pt x="482510" y="436218"/>
                    <a:pt x="436218" y="482510"/>
                    <a:pt x="379113" y="482510"/>
                  </a:cubicBezTo>
                  <a:lnTo>
                    <a:pt x="103397" y="482510"/>
                  </a:lnTo>
                  <a:cubicBezTo>
                    <a:pt x="46292" y="482510"/>
                    <a:pt x="0" y="436218"/>
                    <a:pt x="0" y="379113"/>
                  </a:cubicBezTo>
                  <a:lnTo>
                    <a:pt x="0" y="103397"/>
                  </a:lnTo>
                  <a:cubicBezTo>
                    <a:pt x="0" y="46292"/>
                    <a:pt x="46292" y="0"/>
                    <a:pt x="103397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29244" dist="8616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1" name="Shape 1">
              <a:extLst>
                <a:ext uri="{FF2B5EF4-FFF2-40B4-BE49-F238E27FC236}">
                  <a16:creationId xmlns:a16="http://schemas.microsoft.com/office/drawing/2014/main" id="{CF9D1AF8-6E81-47B8-B645-7429AEF666C0}"/>
                </a:ext>
              </a:extLst>
            </p:cNvPr>
            <p:cNvSpPr/>
            <p:nvPr/>
          </p:nvSpPr>
          <p:spPr>
            <a:xfrm>
              <a:off x="456661" y="482510"/>
              <a:ext cx="258488" cy="206790"/>
            </a:xfrm>
            <a:custGeom>
              <a:avLst/>
              <a:gdLst/>
              <a:ahLst/>
              <a:cxnLst/>
              <a:rect l="l" t="t" r="r" b="b"/>
              <a:pathLst>
                <a:path w="258488" h="206790">
                  <a:moveTo>
                    <a:pt x="54929" y="51698"/>
                  </a:moveTo>
                  <a:cubicBezTo>
                    <a:pt x="54929" y="24948"/>
                    <a:pt x="76646" y="3231"/>
                    <a:pt x="103395" y="3231"/>
                  </a:cubicBezTo>
                  <a:cubicBezTo>
                    <a:pt x="130144" y="3231"/>
                    <a:pt x="151861" y="24948"/>
                    <a:pt x="151861" y="51698"/>
                  </a:cubicBezTo>
                  <a:cubicBezTo>
                    <a:pt x="151861" y="78447"/>
                    <a:pt x="130144" y="100164"/>
                    <a:pt x="103395" y="100164"/>
                  </a:cubicBezTo>
                  <a:cubicBezTo>
                    <a:pt x="76646" y="100164"/>
                    <a:pt x="54929" y="78447"/>
                    <a:pt x="54929" y="51698"/>
                  </a:cubicBezTo>
                  <a:close/>
                  <a:moveTo>
                    <a:pt x="19387" y="194795"/>
                  </a:moveTo>
                  <a:cubicBezTo>
                    <a:pt x="19387" y="155012"/>
                    <a:pt x="51617" y="122782"/>
                    <a:pt x="91400" y="122782"/>
                  </a:cubicBezTo>
                  <a:lnTo>
                    <a:pt x="115390" y="122782"/>
                  </a:lnTo>
                  <a:cubicBezTo>
                    <a:pt x="155173" y="122782"/>
                    <a:pt x="187404" y="155012"/>
                    <a:pt x="187404" y="194795"/>
                  </a:cubicBezTo>
                  <a:cubicBezTo>
                    <a:pt x="187404" y="201418"/>
                    <a:pt x="182032" y="206790"/>
                    <a:pt x="175408" y="206790"/>
                  </a:cubicBezTo>
                  <a:lnTo>
                    <a:pt x="31382" y="206790"/>
                  </a:lnTo>
                  <a:cubicBezTo>
                    <a:pt x="24758" y="206790"/>
                    <a:pt x="19387" y="201418"/>
                    <a:pt x="19387" y="194795"/>
                  </a:cubicBezTo>
                  <a:close/>
                  <a:moveTo>
                    <a:pt x="247340" y="53596"/>
                  </a:moveTo>
                  <a:lnTo>
                    <a:pt x="215029" y="105293"/>
                  </a:lnTo>
                  <a:cubicBezTo>
                    <a:pt x="213333" y="107999"/>
                    <a:pt x="210425" y="109696"/>
                    <a:pt x="207234" y="109857"/>
                  </a:cubicBezTo>
                  <a:cubicBezTo>
                    <a:pt x="204044" y="110019"/>
                    <a:pt x="200974" y="108565"/>
                    <a:pt x="199076" y="105980"/>
                  </a:cubicBezTo>
                  <a:lnTo>
                    <a:pt x="179689" y="80131"/>
                  </a:lnTo>
                  <a:cubicBezTo>
                    <a:pt x="176458" y="75850"/>
                    <a:pt x="177347" y="69792"/>
                    <a:pt x="181628" y="66561"/>
                  </a:cubicBezTo>
                  <a:cubicBezTo>
                    <a:pt x="185909" y="63329"/>
                    <a:pt x="191967" y="64218"/>
                    <a:pt x="195199" y="68499"/>
                  </a:cubicBezTo>
                  <a:lnTo>
                    <a:pt x="206103" y="83039"/>
                  </a:lnTo>
                  <a:lnTo>
                    <a:pt x="230902" y="43337"/>
                  </a:lnTo>
                  <a:cubicBezTo>
                    <a:pt x="233729" y="38814"/>
                    <a:pt x="239707" y="37400"/>
                    <a:pt x="244271" y="40268"/>
                  </a:cubicBezTo>
                  <a:cubicBezTo>
                    <a:pt x="248835" y="43135"/>
                    <a:pt x="250208" y="49072"/>
                    <a:pt x="247340" y="5363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2" name="Text 2">
              <a:extLst>
                <a:ext uri="{FF2B5EF4-FFF2-40B4-BE49-F238E27FC236}">
                  <a16:creationId xmlns:a16="http://schemas.microsoft.com/office/drawing/2014/main" id="{E9B6F8C9-403E-4DB9-9C67-6E1597E935C2}"/>
                </a:ext>
              </a:extLst>
            </p:cNvPr>
            <p:cNvSpPr/>
            <p:nvPr/>
          </p:nvSpPr>
          <p:spPr>
            <a:xfrm>
              <a:off x="965020" y="361883"/>
              <a:ext cx="4402906" cy="344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442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Пользовательские сценарии</a:t>
              </a:r>
              <a:endParaRPr lang="en-US" sz="1600" dirty="0"/>
            </a:p>
          </p:txBody>
        </p:sp>
        <p:sp>
          <p:nvSpPr>
            <p:cNvPr id="143" name="Shape 3">
              <a:extLst>
                <a:ext uri="{FF2B5EF4-FFF2-40B4-BE49-F238E27FC236}">
                  <a16:creationId xmlns:a16="http://schemas.microsoft.com/office/drawing/2014/main" id="{D5D19A8C-67A2-4586-8EE1-94BB9CDB7CCC}"/>
                </a:ext>
              </a:extLst>
            </p:cNvPr>
            <p:cNvSpPr/>
            <p:nvPr/>
          </p:nvSpPr>
          <p:spPr>
            <a:xfrm flipV="1">
              <a:off x="637602" y="779143"/>
              <a:ext cx="4730323" cy="45719"/>
            </a:xfrm>
            <a:custGeom>
              <a:avLst/>
              <a:gdLst/>
              <a:ahLst/>
              <a:cxnLst/>
              <a:rect l="l" t="t" r="r" b="b"/>
              <a:pathLst>
                <a:path w="827160" h="34465">
                  <a:moveTo>
                    <a:pt x="0" y="0"/>
                  </a:moveTo>
                  <a:lnTo>
                    <a:pt x="827160" y="0"/>
                  </a:lnTo>
                  <a:lnTo>
                    <a:pt x="827160" y="34465"/>
                  </a:lnTo>
                  <a:lnTo>
                    <a:pt x="0" y="34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44" name="Text 7">
            <a:extLst>
              <a:ext uri="{FF2B5EF4-FFF2-40B4-BE49-F238E27FC236}">
                <a16:creationId xmlns:a16="http://schemas.microsoft.com/office/drawing/2014/main" id="{4B717E8A-F646-4CD1-BB4D-864F8F9040FA}"/>
              </a:ext>
            </a:extLst>
          </p:cNvPr>
          <p:cNvSpPr/>
          <p:nvPr/>
        </p:nvSpPr>
        <p:spPr>
          <a:xfrm>
            <a:off x="13049471" y="269233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8</a:t>
            </a:r>
            <a:endParaRPr lang="en-US" sz="1600" dirty="0"/>
          </a:p>
        </p:txBody>
      </p: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544AA587-31BE-420F-A976-3F030D90A0E9}"/>
              </a:ext>
            </a:extLst>
          </p:cNvPr>
          <p:cNvGrpSpPr/>
          <p:nvPr/>
        </p:nvGrpSpPr>
        <p:grpSpPr>
          <a:xfrm>
            <a:off x="381000" y="381000"/>
            <a:ext cx="5962650" cy="533400"/>
            <a:chOff x="381000" y="381000"/>
            <a:chExt cx="5962650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28620" y="28575"/>
                  </a:moveTo>
                  <a:cubicBezTo>
                    <a:pt x="28620" y="12814"/>
                    <a:pt x="41434" y="0"/>
                    <a:pt x="57195" y="0"/>
                  </a:cubicBezTo>
                  <a:lnTo>
                    <a:pt x="123944" y="0"/>
                  </a:lnTo>
                  <a:cubicBezTo>
                    <a:pt x="131534" y="0"/>
                    <a:pt x="138812" y="2991"/>
                    <a:pt x="144170" y="8349"/>
                  </a:cubicBezTo>
                  <a:lnTo>
                    <a:pt x="191676" y="55944"/>
                  </a:lnTo>
                  <a:cubicBezTo>
                    <a:pt x="197034" y="61302"/>
                    <a:pt x="200025" y="68580"/>
                    <a:pt x="200025" y="76170"/>
                  </a:cubicBezTo>
                  <a:lnTo>
                    <a:pt x="200025" y="119702"/>
                  </a:lnTo>
                  <a:lnTo>
                    <a:pt x="141089" y="178638"/>
                  </a:lnTo>
                  <a:lnTo>
                    <a:pt x="122292" y="178638"/>
                  </a:lnTo>
                  <a:lnTo>
                    <a:pt x="115104" y="154707"/>
                  </a:lnTo>
                  <a:cubicBezTo>
                    <a:pt x="113005" y="147697"/>
                    <a:pt x="106576" y="142920"/>
                    <a:pt x="99253" y="142920"/>
                  </a:cubicBezTo>
                  <a:cubicBezTo>
                    <a:pt x="94208" y="142920"/>
                    <a:pt x="89475" y="145197"/>
                    <a:pt x="86350" y="149126"/>
                  </a:cubicBezTo>
                  <a:lnTo>
                    <a:pt x="59516" y="182612"/>
                  </a:lnTo>
                  <a:cubicBezTo>
                    <a:pt x="55811" y="187211"/>
                    <a:pt x="56570" y="193997"/>
                    <a:pt x="61168" y="197659"/>
                  </a:cubicBezTo>
                  <a:cubicBezTo>
                    <a:pt x="65767" y="201320"/>
                    <a:pt x="72554" y="200605"/>
                    <a:pt x="76215" y="195962"/>
                  </a:cubicBezTo>
                  <a:lnTo>
                    <a:pt x="97244" y="169709"/>
                  </a:lnTo>
                  <a:lnTo>
                    <a:pt x="104031" y="192345"/>
                  </a:lnTo>
                  <a:cubicBezTo>
                    <a:pt x="105370" y="196900"/>
                    <a:pt x="109567" y="199980"/>
                    <a:pt x="114300" y="199980"/>
                  </a:cubicBezTo>
                  <a:lnTo>
                    <a:pt x="128364" y="199980"/>
                  </a:lnTo>
                  <a:cubicBezTo>
                    <a:pt x="127962" y="201364"/>
                    <a:pt x="127605" y="202793"/>
                    <a:pt x="127337" y="204222"/>
                  </a:cubicBezTo>
                  <a:lnTo>
                    <a:pt x="122471" y="228555"/>
                  </a:lnTo>
                  <a:lnTo>
                    <a:pt x="57195" y="228555"/>
                  </a:lnTo>
                  <a:cubicBezTo>
                    <a:pt x="41434" y="228555"/>
                    <a:pt x="28620" y="215741"/>
                    <a:pt x="28620" y="199980"/>
                  </a:cubicBezTo>
                  <a:lnTo>
                    <a:pt x="28620" y="28530"/>
                  </a:lnTo>
                  <a:close/>
                  <a:moveTo>
                    <a:pt x="121488" y="26119"/>
                  </a:moveTo>
                  <a:lnTo>
                    <a:pt x="121488" y="67866"/>
                  </a:lnTo>
                  <a:cubicBezTo>
                    <a:pt x="121488" y="73804"/>
                    <a:pt x="126266" y="78581"/>
                    <a:pt x="132204" y="78581"/>
                  </a:cubicBezTo>
                  <a:lnTo>
                    <a:pt x="173950" y="78581"/>
                  </a:lnTo>
                  <a:lnTo>
                    <a:pt x="121488" y="26119"/>
                  </a:lnTo>
                  <a:close/>
                  <a:moveTo>
                    <a:pt x="148367" y="208464"/>
                  </a:moveTo>
                  <a:cubicBezTo>
                    <a:pt x="149483" y="202927"/>
                    <a:pt x="152207" y="197837"/>
                    <a:pt x="156180" y="193864"/>
                  </a:cubicBezTo>
                  <a:lnTo>
                    <a:pt x="209267" y="140777"/>
                  </a:lnTo>
                  <a:lnTo>
                    <a:pt x="244986" y="176495"/>
                  </a:lnTo>
                  <a:lnTo>
                    <a:pt x="191899" y="229582"/>
                  </a:lnTo>
                  <a:cubicBezTo>
                    <a:pt x="187925" y="233556"/>
                    <a:pt x="182835" y="236280"/>
                    <a:pt x="177299" y="237396"/>
                  </a:cubicBezTo>
                  <a:lnTo>
                    <a:pt x="150688" y="242709"/>
                  </a:lnTo>
                  <a:cubicBezTo>
                    <a:pt x="150287" y="242798"/>
                    <a:pt x="149840" y="242843"/>
                    <a:pt x="149394" y="242843"/>
                  </a:cubicBezTo>
                  <a:cubicBezTo>
                    <a:pt x="145822" y="242843"/>
                    <a:pt x="142875" y="239941"/>
                    <a:pt x="142875" y="236324"/>
                  </a:cubicBezTo>
                  <a:cubicBezTo>
                    <a:pt x="142875" y="235878"/>
                    <a:pt x="142920" y="235476"/>
                    <a:pt x="143009" y="235029"/>
                  </a:cubicBezTo>
                  <a:lnTo>
                    <a:pt x="148322" y="208419"/>
                  </a:lnTo>
                  <a:close/>
                  <a:moveTo>
                    <a:pt x="267935" y="153546"/>
                  </a:moveTo>
                  <a:lnTo>
                    <a:pt x="255077" y="166405"/>
                  </a:lnTo>
                  <a:lnTo>
                    <a:pt x="219358" y="130686"/>
                  </a:lnTo>
                  <a:lnTo>
                    <a:pt x="232217" y="117827"/>
                  </a:lnTo>
                  <a:cubicBezTo>
                    <a:pt x="242084" y="107960"/>
                    <a:pt x="258068" y="107960"/>
                    <a:pt x="267935" y="117827"/>
                  </a:cubicBezTo>
                  <a:cubicBezTo>
                    <a:pt x="277803" y="127695"/>
                    <a:pt x="277803" y="143679"/>
                    <a:pt x="267935" y="15354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52768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Сценарий создания документа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43902" y="866774"/>
              <a:ext cx="545147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E52FCC18-A151-4B01-B0D4-095ED556336B}"/>
              </a:ext>
            </a:extLst>
          </p:cNvPr>
          <p:cNvGrpSpPr/>
          <p:nvPr/>
        </p:nvGrpSpPr>
        <p:grpSpPr>
          <a:xfrm>
            <a:off x="381000" y="1885950"/>
            <a:ext cx="616426" cy="876300"/>
            <a:chOff x="381000" y="1885950"/>
            <a:chExt cx="616426" cy="876300"/>
          </a:xfrm>
        </p:grpSpPr>
        <p:sp>
          <p:nvSpPr>
            <p:cNvPr id="6" name="Shape 4"/>
            <p:cNvSpPr/>
            <p:nvPr/>
          </p:nvSpPr>
          <p:spPr>
            <a:xfrm>
              <a:off x="38100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61531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44976" y="2571750"/>
              <a:ext cx="5524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2000" dirty="0"/>
            </a:p>
          </p:txBody>
        </p: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988E2F83-3DCF-411B-892C-E9BDC20C5FFE}"/>
              </a:ext>
            </a:extLst>
          </p:cNvPr>
          <p:cNvGrpSpPr/>
          <p:nvPr/>
        </p:nvGrpSpPr>
        <p:grpSpPr>
          <a:xfrm>
            <a:off x="2999899" y="1885950"/>
            <a:ext cx="742950" cy="876300"/>
            <a:chOff x="2999899" y="1885950"/>
            <a:chExt cx="742950" cy="876300"/>
          </a:xfrm>
        </p:grpSpPr>
        <p:sp>
          <p:nvSpPr>
            <p:cNvPr id="10" name="Shape 8"/>
            <p:cNvSpPr/>
            <p:nvPr/>
          </p:nvSpPr>
          <p:spPr>
            <a:xfrm>
              <a:off x="3032919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3267234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999899" y="2571750"/>
              <a:ext cx="7429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Сущности</a:t>
              </a:r>
              <a:endParaRPr lang="en-US" sz="2000" dirty="0"/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61A2C157-325A-4423-BA3B-94D845923D02}"/>
              </a:ext>
            </a:extLst>
          </p:cNvPr>
          <p:cNvGrpSpPr/>
          <p:nvPr/>
        </p:nvGrpSpPr>
        <p:grpSpPr>
          <a:xfrm>
            <a:off x="5684996" y="1885950"/>
            <a:ext cx="714375" cy="876300"/>
            <a:chOff x="5684996" y="1885950"/>
            <a:chExt cx="714375" cy="876300"/>
          </a:xfrm>
        </p:grpSpPr>
        <p:sp>
          <p:nvSpPr>
            <p:cNvPr id="14" name="Shape 12"/>
            <p:cNvSpPr/>
            <p:nvPr/>
          </p:nvSpPr>
          <p:spPr>
            <a:xfrm>
              <a:off x="5703887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5938203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684996" y="2571750"/>
              <a:ext cx="714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Проверка</a:t>
              </a:r>
              <a:endParaRPr lang="en-US" sz="2000" dirty="0"/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24BB6265-4895-4C15-B279-6DB79CFB4364}"/>
              </a:ext>
            </a:extLst>
          </p:cNvPr>
          <p:cNvGrpSpPr/>
          <p:nvPr/>
        </p:nvGrpSpPr>
        <p:grpSpPr>
          <a:xfrm>
            <a:off x="8341836" y="1885950"/>
            <a:ext cx="714375" cy="876300"/>
            <a:chOff x="8341836" y="1885950"/>
            <a:chExt cx="714375" cy="876300"/>
          </a:xfrm>
        </p:grpSpPr>
        <p:sp>
          <p:nvSpPr>
            <p:cNvPr id="18" name="Shape 16"/>
            <p:cNvSpPr/>
            <p:nvPr/>
          </p:nvSpPr>
          <p:spPr>
            <a:xfrm>
              <a:off x="836168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" name="Text 17"/>
            <p:cNvSpPr/>
            <p:nvPr/>
          </p:nvSpPr>
          <p:spPr>
            <a:xfrm>
              <a:off x="859599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4</a:t>
              </a:r>
              <a:endParaRPr lang="en-US" sz="2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341836" y="2571750"/>
              <a:ext cx="714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Черновик</a:t>
              </a:r>
              <a:endParaRPr lang="en-US" sz="2000" dirty="0"/>
            </a:p>
          </p:txBody>
        </p:sp>
      </p:grp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FD468A80-0E41-409C-A263-CBCFDFB2692D}"/>
              </a:ext>
            </a:extLst>
          </p:cNvPr>
          <p:cNvGrpSpPr/>
          <p:nvPr/>
        </p:nvGrpSpPr>
        <p:grpSpPr>
          <a:xfrm>
            <a:off x="1066800" y="2305050"/>
            <a:ext cx="9858058" cy="38100"/>
            <a:chOff x="1066800" y="2305050"/>
            <a:chExt cx="9858058" cy="38100"/>
          </a:xfrm>
        </p:grpSpPr>
        <p:sp>
          <p:nvSpPr>
            <p:cNvPr id="9" name="Shape 7"/>
            <p:cNvSpPr/>
            <p:nvPr/>
          </p:nvSpPr>
          <p:spPr>
            <a:xfrm>
              <a:off x="1066800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751739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408579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9067483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975CADB7-F6A3-4A36-BA13-BF6724FA2E44}"/>
              </a:ext>
            </a:extLst>
          </p:cNvPr>
          <p:cNvGrpSpPr/>
          <p:nvPr/>
        </p:nvGrpSpPr>
        <p:grpSpPr>
          <a:xfrm>
            <a:off x="10927715" y="1885950"/>
            <a:ext cx="956310" cy="864705"/>
            <a:chOff x="10927715" y="1885950"/>
            <a:chExt cx="956310" cy="864705"/>
          </a:xfrm>
        </p:grpSpPr>
        <p:sp>
          <p:nvSpPr>
            <p:cNvPr id="22" name="Shape 20"/>
            <p:cNvSpPr/>
            <p:nvPr/>
          </p:nvSpPr>
          <p:spPr>
            <a:xfrm>
              <a:off x="1110107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1133538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5</a:t>
              </a:r>
              <a:endParaRPr lang="en-US" sz="2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0927715" y="2560155"/>
              <a:ext cx="95631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Сохранение</a:t>
              </a:r>
              <a:endParaRPr lang="en-US" sz="2000" dirty="0"/>
            </a:p>
          </p:txBody>
        </p:sp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1F6C4FEE-24B3-4BB0-BB6C-AF2677E7234A}"/>
              </a:ext>
            </a:extLst>
          </p:cNvPr>
          <p:cNvGrpSpPr/>
          <p:nvPr/>
        </p:nvGrpSpPr>
        <p:grpSpPr>
          <a:xfrm>
            <a:off x="381000" y="2990850"/>
            <a:ext cx="2162175" cy="2647950"/>
            <a:chOff x="381000" y="2990850"/>
            <a:chExt cx="2162175" cy="2647950"/>
          </a:xfrm>
        </p:grpSpPr>
        <p:sp>
          <p:nvSpPr>
            <p:cNvPr id="25" name="Shape 23"/>
            <p:cNvSpPr/>
            <p:nvPr/>
          </p:nvSpPr>
          <p:spPr>
            <a:xfrm>
              <a:off x="38100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552450" y="32861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60734"/>
                  </a:moveTo>
                  <a:cubicBezTo>
                    <a:pt x="133075" y="160734"/>
                    <a:pt x="171450" y="124737"/>
                    <a:pt x="171450" y="80367"/>
                  </a:cubicBezTo>
                  <a:cubicBezTo>
                    <a:pt x="171450" y="35998"/>
                    <a:pt x="133075" y="0"/>
                    <a:pt x="85725" y="0"/>
                  </a:cubicBezTo>
                  <a:cubicBezTo>
                    <a:pt x="38375" y="0"/>
                    <a:pt x="0" y="35998"/>
                    <a:pt x="0" y="80367"/>
                  </a:cubicBezTo>
                  <a:cubicBezTo>
                    <a:pt x="0" y="98550"/>
                    <a:pt x="6429" y="115293"/>
                    <a:pt x="17279" y="128755"/>
                  </a:cubicBezTo>
                  <a:lnTo>
                    <a:pt x="938" y="159663"/>
                  </a:lnTo>
                  <a:cubicBezTo>
                    <a:pt x="-670" y="162677"/>
                    <a:pt x="-167" y="166360"/>
                    <a:pt x="2143" y="168872"/>
                  </a:cubicBezTo>
                  <a:cubicBezTo>
                    <a:pt x="4454" y="171383"/>
                    <a:pt x="8104" y="172153"/>
                    <a:pt x="11218" y="170814"/>
                  </a:cubicBezTo>
                  <a:lnTo>
                    <a:pt x="50866" y="153836"/>
                  </a:lnTo>
                  <a:cubicBezTo>
                    <a:pt x="61514" y="158256"/>
                    <a:pt x="73302" y="160734"/>
                    <a:pt x="85725" y="160734"/>
                  </a:cubicBezTo>
                  <a:close/>
                  <a:moveTo>
                    <a:pt x="42863" y="69652"/>
                  </a:moveTo>
                  <a:cubicBezTo>
                    <a:pt x="48777" y="69652"/>
                    <a:pt x="53578" y="74453"/>
                    <a:pt x="53578" y="80367"/>
                  </a:cubicBezTo>
                  <a:cubicBezTo>
                    <a:pt x="53578" y="86281"/>
                    <a:pt x="48777" y="91083"/>
                    <a:pt x="42863" y="91083"/>
                  </a:cubicBezTo>
                  <a:cubicBezTo>
                    <a:pt x="36948" y="91083"/>
                    <a:pt x="32147" y="86281"/>
                    <a:pt x="32147" y="80367"/>
                  </a:cubicBezTo>
                  <a:cubicBezTo>
                    <a:pt x="32147" y="74453"/>
                    <a:pt x="36948" y="69652"/>
                    <a:pt x="42863" y="69652"/>
                  </a:cubicBezTo>
                  <a:close/>
                  <a:moveTo>
                    <a:pt x="85725" y="69652"/>
                  </a:moveTo>
                  <a:cubicBezTo>
                    <a:pt x="91639" y="69652"/>
                    <a:pt x="96441" y="74453"/>
                    <a:pt x="96441" y="80367"/>
                  </a:cubicBezTo>
                  <a:cubicBezTo>
                    <a:pt x="96441" y="86281"/>
                    <a:pt x="91639" y="91083"/>
                    <a:pt x="85725" y="91083"/>
                  </a:cubicBezTo>
                  <a:cubicBezTo>
                    <a:pt x="79811" y="91083"/>
                    <a:pt x="75009" y="86281"/>
                    <a:pt x="75009" y="80367"/>
                  </a:cubicBezTo>
                  <a:cubicBezTo>
                    <a:pt x="75009" y="74453"/>
                    <a:pt x="79811" y="69652"/>
                    <a:pt x="85725" y="69652"/>
                  </a:cubicBezTo>
                  <a:close/>
                  <a:moveTo>
                    <a:pt x="117872" y="80367"/>
                  </a:moveTo>
                  <a:cubicBezTo>
                    <a:pt x="117872" y="74453"/>
                    <a:pt x="122673" y="69652"/>
                    <a:pt x="128588" y="69652"/>
                  </a:cubicBezTo>
                  <a:cubicBezTo>
                    <a:pt x="134502" y="69652"/>
                    <a:pt x="139303" y="74453"/>
                    <a:pt x="139303" y="80367"/>
                  </a:cubicBezTo>
                  <a:cubicBezTo>
                    <a:pt x="139303" y="86281"/>
                    <a:pt x="134502" y="91083"/>
                    <a:pt x="128588" y="91083"/>
                  </a:cubicBezTo>
                  <a:cubicBezTo>
                    <a:pt x="122673" y="91083"/>
                    <a:pt x="117872" y="86281"/>
                    <a:pt x="117872" y="8036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819150" y="3143250"/>
              <a:ext cx="164782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Естественный запрос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3340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 пишет:</a:t>
              </a:r>
              <a:endParaRPr lang="en-US" sz="1600" dirty="0"/>
            </a:p>
          </p:txBody>
        </p:sp>
        <p:grpSp>
          <p:nvGrpSpPr>
            <p:cNvPr id="80" name="Группа 79">
              <a:extLst>
                <a:ext uri="{FF2B5EF4-FFF2-40B4-BE49-F238E27FC236}">
                  <a16:creationId xmlns:a16="http://schemas.microsoft.com/office/drawing/2014/main" id="{3D24F8E6-1EBB-444F-AD17-4E53FEFACFDF}"/>
                </a:ext>
              </a:extLst>
            </p:cNvPr>
            <p:cNvGrpSpPr/>
            <p:nvPr/>
          </p:nvGrpSpPr>
          <p:grpSpPr>
            <a:xfrm>
              <a:off x="533400" y="3990975"/>
              <a:ext cx="1924050" cy="1524000"/>
              <a:chOff x="533400" y="3981450"/>
              <a:chExt cx="1924050" cy="723900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533400" y="3981450"/>
                <a:ext cx="185737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723900">
                    <a:moveTo>
                      <a:pt x="76198" y="0"/>
                    </a:moveTo>
                    <a:lnTo>
                      <a:pt x="1781177" y="0"/>
                    </a:lnTo>
                    <a:cubicBezTo>
                      <a:pt x="1823232" y="0"/>
                      <a:pt x="1857375" y="34143"/>
                      <a:pt x="1857375" y="76198"/>
                    </a:cubicBezTo>
                    <a:lnTo>
                      <a:pt x="1857375" y="647702"/>
                    </a:lnTo>
                    <a:cubicBezTo>
                      <a:pt x="1857375" y="689757"/>
                      <a:pt x="1823232" y="723900"/>
                      <a:pt x="1781177" y="723900"/>
                    </a:cubicBezTo>
                    <a:lnTo>
                      <a:pt x="76198" y="723900"/>
                    </a:lnTo>
                    <a:cubicBezTo>
                      <a:pt x="34143" y="723900"/>
                      <a:pt x="0" y="689757"/>
                      <a:pt x="0" y="647702"/>
                    </a:cubicBezTo>
                    <a:lnTo>
                      <a:pt x="0" y="76198"/>
                    </a:lnTo>
                    <a:cubicBezTo>
                      <a:pt x="0" y="34143"/>
                      <a:pt x="34143" y="0"/>
                      <a:pt x="76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30" name="Text 28"/>
              <p:cNvSpPr/>
              <p:nvPr/>
            </p:nvSpPr>
            <p:spPr>
              <a:xfrm>
                <a:off x="533400" y="3981450"/>
                <a:ext cx="1924050" cy="723900"/>
              </a:xfrm>
              <a:prstGeom prst="rect">
                <a:avLst/>
              </a:prstGeom>
              <a:noFill/>
              <a:ln/>
            </p:spPr>
            <p:txBody>
              <a:bodyPr wrap="square" lIns="76200" tIns="76200" rIns="76200" bIns="7620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«Создай реализацию ООО Ромашка, 10 шт. товара А»</a:t>
                </a:r>
                <a:endParaRPr lang="en-US" sz="2000" dirty="0"/>
              </a:p>
            </p:txBody>
          </p:sp>
        </p:grp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4B41F131-7666-4094-8EDD-1A26B3F0C952}"/>
              </a:ext>
            </a:extLst>
          </p:cNvPr>
          <p:cNvGrpSpPr/>
          <p:nvPr/>
        </p:nvGrpSpPr>
        <p:grpSpPr>
          <a:xfrm>
            <a:off x="2697480" y="2990850"/>
            <a:ext cx="2162175" cy="2647950"/>
            <a:chOff x="2697480" y="2990850"/>
            <a:chExt cx="2162175" cy="2647950"/>
          </a:xfrm>
        </p:grpSpPr>
        <p:sp>
          <p:nvSpPr>
            <p:cNvPr id="31" name="Shape 29"/>
            <p:cNvSpPr/>
            <p:nvPr/>
          </p:nvSpPr>
          <p:spPr>
            <a:xfrm>
              <a:off x="269748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2864168" y="32861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40184" y="18752"/>
                  </a:moveTo>
                  <a:cubicBezTo>
                    <a:pt x="40184" y="8405"/>
                    <a:pt x="48589" y="0"/>
                    <a:pt x="58936" y="0"/>
                  </a:cubicBezTo>
                  <a:lnTo>
                    <a:pt x="66973" y="0"/>
                  </a:lnTo>
                  <a:cubicBezTo>
                    <a:pt x="72900" y="0"/>
                    <a:pt x="77688" y="4789"/>
                    <a:pt x="77688" y="10716"/>
                  </a:cubicBezTo>
                  <a:lnTo>
                    <a:pt x="77688" y="160734"/>
                  </a:lnTo>
                  <a:cubicBezTo>
                    <a:pt x="77688" y="166661"/>
                    <a:pt x="72900" y="171450"/>
                    <a:pt x="66973" y="171450"/>
                  </a:cubicBezTo>
                  <a:lnTo>
                    <a:pt x="56257" y="171450"/>
                  </a:lnTo>
                  <a:cubicBezTo>
                    <a:pt x="46278" y="171450"/>
                    <a:pt x="37873" y="164619"/>
                    <a:pt x="35496" y="155377"/>
                  </a:cubicBezTo>
                  <a:cubicBezTo>
                    <a:pt x="35261" y="155377"/>
                    <a:pt x="35060" y="155377"/>
                    <a:pt x="34826" y="155377"/>
                  </a:cubicBezTo>
                  <a:cubicBezTo>
                    <a:pt x="20025" y="155377"/>
                    <a:pt x="8037" y="143388"/>
                    <a:pt x="8037" y="128588"/>
                  </a:cubicBezTo>
                  <a:cubicBezTo>
                    <a:pt x="8037" y="122560"/>
                    <a:pt x="10046" y="117001"/>
                    <a:pt x="13395" y="112514"/>
                  </a:cubicBezTo>
                  <a:cubicBezTo>
                    <a:pt x="6898" y="107625"/>
                    <a:pt x="2679" y="99856"/>
                    <a:pt x="2679" y="91083"/>
                  </a:cubicBezTo>
                  <a:cubicBezTo>
                    <a:pt x="2679" y="80736"/>
                    <a:pt x="8573" y="71728"/>
                    <a:pt x="17145" y="67274"/>
                  </a:cubicBezTo>
                  <a:cubicBezTo>
                    <a:pt x="14767" y="63256"/>
                    <a:pt x="13395" y="58568"/>
                    <a:pt x="13395" y="53578"/>
                  </a:cubicBezTo>
                  <a:cubicBezTo>
                    <a:pt x="13395" y="38777"/>
                    <a:pt x="25383" y="26789"/>
                    <a:pt x="40184" y="26789"/>
                  </a:cubicBezTo>
                  <a:lnTo>
                    <a:pt x="40184" y="18752"/>
                  </a:lnTo>
                  <a:close/>
                  <a:moveTo>
                    <a:pt x="131266" y="18752"/>
                  </a:moveTo>
                  <a:lnTo>
                    <a:pt x="131266" y="26789"/>
                  </a:lnTo>
                  <a:cubicBezTo>
                    <a:pt x="146067" y="26789"/>
                    <a:pt x="158055" y="38777"/>
                    <a:pt x="158055" y="53578"/>
                  </a:cubicBezTo>
                  <a:cubicBezTo>
                    <a:pt x="158055" y="58601"/>
                    <a:pt x="156683" y="63289"/>
                    <a:pt x="154305" y="67274"/>
                  </a:cubicBezTo>
                  <a:cubicBezTo>
                    <a:pt x="162911" y="71728"/>
                    <a:pt x="168771" y="80702"/>
                    <a:pt x="168771" y="91083"/>
                  </a:cubicBezTo>
                  <a:cubicBezTo>
                    <a:pt x="168771" y="99856"/>
                    <a:pt x="164552" y="107625"/>
                    <a:pt x="158055" y="112514"/>
                  </a:cubicBezTo>
                  <a:cubicBezTo>
                    <a:pt x="161404" y="117001"/>
                    <a:pt x="163413" y="122560"/>
                    <a:pt x="163413" y="128588"/>
                  </a:cubicBezTo>
                  <a:cubicBezTo>
                    <a:pt x="163413" y="143388"/>
                    <a:pt x="151425" y="155377"/>
                    <a:pt x="136624" y="155377"/>
                  </a:cubicBezTo>
                  <a:cubicBezTo>
                    <a:pt x="136390" y="155377"/>
                    <a:pt x="136189" y="155377"/>
                    <a:pt x="135954" y="155377"/>
                  </a:cubicBezTo>
                  <a:cubicBezTo>
                    <a:pt x="133577" y="164619"/>
                    <a:pt x="125172" y="171450"/>
                    <a:pt x="115193" y="171450"/>
                  </a:cubicBezTo>
                  <a:lnTo>
                    <a:pt x="104477" y="171450"/>
                  </a:lnTo>
                  <a:cubicBezTo>
                    <a:pt x="98550" y="171450"/>
                    <a:pt x="93762" y="166661"/>
                    <a:pt x="93762" y="160734"/>
                  </a:cubicBezTo>
                  <a:lnTo>
                    <a:pt x="93762" y="10716"/>
                  </a:lnTo>
                  <a:cubicBezTo>
                    <a:pt x="93762" y="4789"/>
                    <a:pt x="98550" y="0"/>
                    <a:pt x="104477" y="0"/>
                  </a:cubicBezTo>
                  <a:lnTo>
                    <a:pt x="112514" y="0"/>
                  </a:lnTo>
                  <a:cubicBezTo>
                    <a:pt x="122861" y="0"/>
                    <a:pt x="131266" y="8405"/>
                    <a:pt x="131266" y="18752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3121819" y="3143250"/>
              <a:ext cx="16668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Извлечение сущностей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284988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LLM выделяет:</a:t>
              </a:r>
              <a:endParaRPr lang="en-US" sz="1600" dirty="0"/>
            </a:p>
          </p:txBody>
        </p:sp>
        <p:grpSp>
          <p:nvGrpSpPr>
            <p:cNvPr id="79" name="Группа 78">
              <a:extLst>
                <a:ext uri="{FF2B5EF4-FFF2-40B4-BE49-F238E27FC236}">
                  <a16:creationId xmlns:a16="http://schemas.microsoft.com/office/drawing/2014/main" id="{6D7C4FE8-BFE1-4A32-80D3-4D7410C78557}"/>
                </a:ext>
              </a:extLst>
            </p:cNvPr>
            <p:cNvGrpSpPr/>
            <p:nvPr/>
          </p:nvGrpSpPr>
          <p:grpSpPr>
            <a:xfrm>
              <a:off x="2849880" y="3990975"/>
              <a:ext cx="1924050" cy="1524000"/>
              <a:chOff x="2849880" y="3981450"/>
              <a:chExt cx="1924050" cy="876300"/>
            </a:xfrm>
          </p:grpSpPr>
          <p:sp>
            <p:nvSpPr>
              <p:cNvPr id="35" name="Shape 33"/>
              <p:cNvSpPr/>
              <p:nvPr/>
            </p:nvSpPr>
            <p:spPr>
              <a:xfrm>
                <a:off x="2849880" y="3981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36" name="Text 34"/>
              <p:cNvSpPr/>
              <p:nvPr/>
            </p:nvSpPr>
            <p:spPr>
              <a:xfrm>
                <a:off x="2849880" y="3981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Контрагент</a:t>
                </a:r>
                <a:endParaRPr lang="en-US" sz="2400" dirty="0"/>
              </a:p>
            </p:txBody>
          </p:sp>
          <p:sp>
            <p:nvSpPr>
              <p:cNvPr id="37" name="Shape 35"/>
              <p:cNvSpPr/>
              <p:nvPr/>
            </p:nvSpPr>
            <p:spPr>
              <a:xfrm>
                <a:off x="2849880" y="42862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38" name="Text 36"/>
              <p:cNvSpPr/>
              <p:nvPr/>
            </p:nvSpPr>
            <p:spPr>
              <a:xfrm>
                <a:off x="2849880" y="42862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Номенклатура</a:t>
                </a:r>
                <a:endParaRPr lang="en-US" sz="2400" dirty="0"/>
              </a:p>
            </p:txBody>
          </p:sp>
          <p:sp>
            <p:nvSpPr>
              <p:cNvPr id="39" name="Shape 37"/>
              <p:cNvSpPr/>
              <p:nvPr/>
            </p:nvSpPr>
            <p:spPr>
              <a:xfrm>
                <a:off x="2849880" y="45910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40" name="Text 38"/>
              <p:cNvSpPr/>
              <p:nvPr/>
            </p:nvSpPr>
            <p:spPr>
              <a:xfrm>
                <a:off x="2849880" y="45910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Количество</a:t>
                </a:r>
                <a:endParaRPr lang="en-US" sz="2400" dirty="0"/>
              </a:p>
            </p:txBody>
          </p:sp>
        </p:grp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FC5E9097-174C-4EAB-A832-D280DDB3A9AC}"/>
              </a:ext>
            </a:extLst>
          </p:cNvPr>
          <p:cNvGrpSpPr/>
          <p:nvPr/>
        </p:nvGrpSpPr>
        <p:grpSpPr>
          <a:xfrm>
            <a:off x="5013960" y="2990850"/>
            <a:ext cx="2162175" cy="2647950"/>
            <a:chOff x="5013960" y="2990850"/>
            <a:chExt cx="2162175" cy="2647950"/>
          </a:xfrm>
        </p:grpSpPr>
        <p:sp>
          <p:nvSpPr>
            <p:cNvPr id="41" name="Shape 39"/>
            <p:cNvSpPr/>
            <p:nvPr/>
          </p:nvSpPr>
          <p:spPr>
            <a:xfrm>
              <a:off x="501396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5197316" y="3286125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83682" y="22369"/>
                  </a:moveTo>
                  <a:cubicBezTo>
                    <a:pt x="87165" y="17580"/>
                    <a:pt x="86093" y="10883"/>
                    <a:pt x="81305" y="7400"/>
                  </a:cubicBezTo>
                  <a:cubicBezTo>
                    <a:pt x="76516" y="3918"/>
                    <a:pt x="69819" y="4989"/>
                    <a:pt x="66336" y="9778"/>
                  </a:cubicBezTo>
                  <a:lnTo>
                    <a:pt x="30841" y="58568"/>
                  </a:lnTo>
                  <a:lnTo>
                    <a:pt x="18284" y="46010"/>
                  </a:lnTo>
                  <a:cubicBezTo>
                    <a:pt x="14098" y="41824"/>
                    <a:pt x="7300" y="41824"/>
                    <a:pt x="3114" y="46010"/>
                  </a:cubicBezTo>
                  <a:cubicBezTo>
                    <a:pt x="-1072" y="50196"/>
                    <a:pt x="-1072" y="56994"/>
                    <a:pt x="3114" y="61180"/>
                  </a:cubicBezTo>
                  <a:lnTo>
                    <a:pt x="24545" y="82611"/>
                  </a:lnTo>
                  <a:cubicBezTo>
                    <a:pt x="26756" y="84821"/>
                    <a:pt x="29836" y="85959"/>
                    <a:pt x="32951" y="85725"/>
                  </a:cubicBezTo>
                  <a:cubicBezTo>
                    <a:pt x="36065" y="85491"/>
                    <a:pt x="38945" y="83883"/>
                    <a:pt x="40786" y="81338"/>
                  </a:cubicBezTo>
                  <a:lnTo>
                    <a:pt x="83649" y="22402"/>
                  </a:lnTo>
                  <a:close/>
                  <a:moveTo>
                    <a:pt x="126545" y="67910"/>
                  </a:moveTo>
                  <a:cubicBezTo>
                    <a:pt x="130027" y="63122"/>
                    <a:pt x="128956" y="56424"/>
                    <a:pt x="124167" y="52942"/>
                  </a:cubicBezTo>
                  <a:cubicBezTo>
                    <a:pt x="119379" y="49459"/>
                    <a:pt x="112681" y="50531"/>
                    <a:pt x="109199" y="55319"/>
                  </a:cubicBezTo>
                  <a:lnTo>
                    <a:pt x="52272" y="133577"/>
                  </a:lnTo>
                  <a:lnTo>
                    <a:pt x="28999" y="110304"/>
                  </a:lnTo>
                  <a:cubicBezTo>
                    <a:pt x="24813" y="106118"/>
                    <a:pt x="18016" y="106118"/>
                    <a:pt x="13830" y="110304"/>
                  </a:cubicBezTo>
                  <a:cubicBezTo>
                    <a:pt x="9644" y="114490"/>
                    <a:pt x="9644" y="121287"/>
                    <a:pt x="13830" y="125473"/>
                  </a:cubicBezTo>
                  <a:lnTo>
                    <a:pt x="45977" y="157620"/>
                  </a:lnTo>
                  <a:cubicBezTo>
                    <a:pt x="48187" y="159830"/>
                    <a:pt x="51268" y="160969"/>
                    <a:pt x="54382" y="160734"/>
                  </a:cubicBezTo>
                  <a:cubicBezTo>
                    <a:pt x="57496" y="160500"/>
                    <a:pt x="60376" y="158893"/>
                    <a:pt x="62218" y="156348"/>
                  </a:cubicBezTo>
                  <a:lnTo>
                    <a:pt x="126511" y="67944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5433219" y="3143250"/>
              <a:ext cx="16668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Проверка справочников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16636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RAG ищет:</a:t>
              </a:r>
              <a:endParaRPr lang="en-US" sz="1600" dirty="0"/>
            </a:p>
          </p:txBody>
        </p:sp>
        <p:grpSp>
          <p:nvGrpSpPr>
            <p:cNvPr id="78" name="Группа 77">
              <a:extLst>
                <a:ext uri="{FF2B5EF4-FFF2-40B4-BE49-F238E27FC236}">
                  <a16:creationId xmlns:a16="http://schemas.microsoft.com/office/drawing/2014/main" id="{AC902449-2686-420E-914D-C9CE4035B3F4}"/>
                </a:ext>
              </a:extLst>
            </p:cNvPr>
            <p:cNvGrpSpPr/>
            <p:nvPr/>
          </p:nvGrpSpPr>
          <p:grpSpPr>
            <a:xfrm>
              <a:off x="5166360" y="3990975"/>
              <a:ext cx="1924050" cy="1524000"/>
              <a:chOff x="5166360" y="3981450"/>
              <a:chExt cx="1924050" cy="876300"/>
            </a:xfrm>
          </p:grpSpPr>
          <p:sp>
            <p:nvSpPr>
              <p:cNvPr id="45" name="Shape 43"/>
              <p:cNvSpPr/>
              <p:nvPr/>
            </p:nvSpPr>
            <p:spPr>
              <a:xfrm>
                <a:off x="5166360" y="3981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46" name="Text 44"/>
              <p:cNvSpPr/>
              <p:nvPr/>
            </p:nvSpPr>
            <p:spPr>
              <a:xfrm>
                <a:off x="5166360" y="3981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Контрагент в базе</a:t>
                </a:r>
                <a:endParaRPr lang="en-US" sz="2400" dirty="0"/>
              </a:p>
            </p:txBody>
          </p:sp>
          <p:sp>
            <p:nvSpPr>
              <p:cNvPr id="47" name="Shape 45"/>
              <p:cNvSpPr/>
              <p:nvPr/>
            </p:nvSpPr>
            <p:spPr>
              <a:xfrm>
                <a:off x="5166360" y="42862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48" name="Text 46"/>
              <p:cNvSpPr/>
              <p:nvPr/>
            </p:nvSpPr>
            <p:spPr>
              <a:xfrm>
                <a:off x="5166360" y="42862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Номенклатура</a:t>
                </a:r>
                <a:endParaRPr lang="en-US" sz="2400" dirty="0"/>
              </a:p>
            </p:txBody>
          </p:sp>
          <p:sp>
            <p:nvSpPr>
              <p:cNvPr id="49" name="Shape 47"/>
              <p:cNvSpPr/>
              <p:nvPr/>
            </p:nvSpPr>
            <p:spPr>
              <a:xfrm>
                <a:off x="5166360" y="45910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50" name="Text 48"/>
              <p:cNvSpPr/>
              <p:nvPr/>
            </p:nvSpPr>
            <p:spPr>
              <a:xfrm>
                <a:off x="5166360" y="45910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Цена, договор</a:t>
                </a:r>
                <a:endParaRPr lang="en-US" sz="2400" dirty="0"/>
              </a:p>
            </p:txBody>
          </p:sp>
        </p:grp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827CBEA8-A2BE-429E-A9CE-6899D3DCDACE}"/>
              </a:ext>
            </a:extLst>
          </p:cNvPr>
          <p:cNvGrpSpPr/>
          <p:nvPr/>
        </p:nvGrpSpPr>
        <p:grpSpPr>
          <a:xfrm>
            <a:off x="7330440" y="2990850"/>
            <a:ext cx="4478655" cy="2647950"/>
            <a:chOff x="7330440" y="2990850"/>
            <a:chExt cx="4478655" cy="2647950"/>
          </a:xfrm>
        </p:grpSpPr>
        <p:sp>
          <p:nvSpPr>
            <p:cNvPr id="51" name="Shape 49"/>
            <p:cNvSpPr/>
            <p:nvPr/>
          </p:nvSpPr>
          <p:spPr>
            <a:xfrm>
              <a:off x="733044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7528084" y="3171825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0" y="21431"/>
                  </a:moveTo>
                  <a:cubicBezTo>
                    <a:pt x="0" y="9611"/>
                    <a:pt x="9611" y="0"/>
                    <a:pt x="21431" y="0"/>
                  </a:cubicBezTo>
                  <a:lnTo>
                    <a:pt x="71493" y="0"/>
                  </a:lnTo>
                  <a:cubicBezTo>
                    <a:pt x="77186" y="0"/>
                    <a:pt x="82644" y="2244"/>
                    <a:pt x="86663" y="6262"/>
                  </a:cubicBezTo>
                  <a:lnTo>
                    <a:pt x="122326" y="41958"/>
                  </a:lnTo>
                  <a:cubicBezTo>
                    <a:pt x="126344" y="45977"/>
                    <a:pt x="128588" y="51435"/>
                    <a:pt x="128588" y="57128"/>
                  </a:cubicBezTo>
                  <a:lnTo>
                    <a:pt x="128588" y="150019"/>
                  </a:lnTo>
                  <a:cubicBezTo>
                    <a:pt x="128588" y="161839"/>
                    <a:pt x="118977" y="171450"/>
                    <a:pt x="107156" y="171450"/>
                  </a:cubicBezTo>
                  <a:lnTo>
                    <a:pt x="21431" y="171450"/>
                  </a:lnTo>
                  <a:cubicBezTo>
                    <a:pt x="9611" y="171450"/>
                    <a:pt x="0" y="161839"/>
                    <a:pt x="0" y="150019"/>
                  </a:cubicBezTo>
                  <a:lnTo>
                    <a:pt x="0" y="21431"/>
                  </a:lnTo>
                  <a:close/>
                  <a:moveTo>
                    <a:pt x="69652" y="19590"/>
                  </a:moveTo>
                  <a:lnTo>
                    <a:pt x="69652" y="50899"/>
                  </a:lnTo>
                  <a:cubicBezTo>
                    <a:pt x="69652" y="55353"/>
                    <a:pt x="73235" y="58936"/>
                    <a:pt x="77688" y="58936"/>
                  </a:cubicBezTo>
                  <a:lnTo>
                    <a:pt x="108998" y="58936"/>
                  </a:lnTo>
                  <a:lnTo>
                    <a:pt x="69652" y="19590"/>
                  </a:lnTo>
                  <a:close/>
                  <a:moveTo>
                    <a:pt x="40184" y="85725"/>
                  </a:moveTo>
                  <a:cubicBezTo>
                    <a:pt x="35730" y="85725"/>
                    <a:pt x="32147" y="89308"/>
                    <a:pt x="32147" y="93762"/>
                  </a:cubicBezTo>
                  <a:cubicBezTo>
                    <a:pt x="32147" y="98215"/>
                    <a:pt x="35730" y="101798"/>
                    <a:pt x="40184" y="101798"/>
                  </a:cubicBezTo>
                  <a:lnTo>
                    <a:pt x="88404" y="101798"/>
                  </a:lnTo>
                  <a:cubicBezTo>
                    <a:pt x="92858" y="101798"/>
                    <a:pt x="96441" y="98215"/>
                    <a:pt x="96441" y="93762"/>
                  </a:cubicBezTo>
                  <a:cubicBezTo>
                    <a:pt x="96441" y="89308"/>
                    <a:pt x="92858" y="85725"/>
                    <a:pt x="88404" y="85725"/>
                  </a:cubicBezTo>
                  <a:lnTo>
                    <a:pt x="40184" y="85725"/>
                  </a:lnTo>
                  <a:close/>
                  <a:moveTo>
                    <a:pt x="40184" y="117872"/>
                  </a:moveTo>
                  <a:cubicBezTo>
                    <a:pt x="35730" y="117872"/>
                    <a:pt x="32147" y="121455"/>
                    <a:pt x="32147" y="125909"/>
                  </a:cubicBezTo>
                  <a:cubicBezTo>
                    <a:pt x="32147" y="130362"/>
                    <a:pt x="35730" y="133945"/>
                    <a:pt x="40184" y="133945"/>
                  </a:cubicBezTo>
                  <a:lnTo>
                    <a:pt x="88404" y="133945"/>
                  </a:lnTo>
                  <a:cubicBezTo>
                    <a:pt x="92858" y="133945"/>
                    <a:pt x="96441" y="130362"/>
                    <a:pt x="96441" y="125909"/>
                  </a:cubicBezTo>
                  <a:cubicBezTo>
                    <a:pt x="96441" y="121455"/>
                    <a:pt x="92858" y="117872"/>
                    <a:pt x="88404" y="117872"/>
                  </a:cubicBezTo>
                  <a:lnTo>
                    <a:pt x="40184" y="117872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7773352" y="3143250"/>
              <a:ext cx="16097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Создание черновика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48284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Система формирует:</a:t>
              </a:r>
              <a:endParaRPr lang="en-US" sz="1600" dirty="0"/>
            </a:p>
          </p:txBody>
        </p:sp>
        <p:grpSp>
          <p:nvGrpSpPr>
            <p:cNvPr id="77" name="Группа 76">
              <a:extLst>
                <a:ext uri="{FF2B5EF4-FFF2-40B4-BE49-F238E27FC236}">
                  <a16:creationId xmlns:a16="http://schemas.microsoft.com/office/drawing/2014/main" id="{4DA535D8-E245-4FDF-9FD9-758939881956}"/>
                </a:ext>
              </a:extLst>
            </p:cNvPr>
            <p:cNvGrpSpPr/>
            <p:nvPr/>
          </p:nvGrpSpPr>
          <p:grpSpPr>
            <a:xfrm>
              <a:off x="7482840" y="3990975"/>
              <a:ext cx="1924050" cy="1485900"/>
              <a:chOff x="7482840" y="3752850"/>
              <a:chExt cx="1924050" cy="1066800"/>
            </a:xfrm>
          </p:grpSpPr>
          <p:sp>
            <p:nvSpPr>
              <p:cNvPr id="55" name="Shape 53"/>
              <p:cNvSpPr/>
              <p:nvPr/>
            </p:nvSpPr>
            <p:spPr>
              <a:xfrm>
                <a:off x="7482840" y="3752850"/>
                <a:ext cx="18573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457200">
                    <a:moveTo>
                      <a:pt x="38098" y="0"/>
                    </a:moveTo>
                    <a:lnTo>
                      <a:pt x="1819277" y="0"/>
                    </a:lnTo>
                    <a:cubicBezTo>
                      <a:pt x="1840318" y="0"/>
                      <a:pt x="1857375" y="17057"/>
                      <a:pt x="1857375" y="38098"/>
                    </a:cubicBezTo>
                    <a:lnTo>
                      <a:pt x="1857375" y="419102"/>
                    </a:lnTo>
                    <a:cubicBezTo>
                      <a:pt x="1857375" y="440143"/>
                      <a:pt x="1840318" y="457200"/>
                      <a:pt x="1819277" y="457200"/>
                    </a:cubicBezTo>
                    <a:lnTo>
                      <a:pt x="38098" y="457200"/>
                    </a:lnTo>
                    <a:cubicBezTo>
                      <a:pt x="17057" y="457200"/>
                      <a:pt x="0" y="440143"/>
                      <a:pt x="0" y="419102"/>
                    </a:cubicBezTo>
                    <a:lnTo>
                      <a:pt x="0" y="38098"/>
                    </a:lnTo>
                    <a:cubicBezTo>
                      <a:pt x="0" y="17071"/>
                      <a:pt x="17071" y="0"/>
                      <a:pt x="380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56" name="Text 54"/>
              <p:cNvSpPr/>
              <p:nvPr/>
            </p:nvSpPr>
            <p:spPr>
              <a:xfrm>
                <a:off x="7482840" y="3752850"/>
                <a:ext cx="1924050" cy="4572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Предзаполненный документ</a:t>
                </a:r>
                <a:endParaRPr lang="en-US" sz="2400" dirty="0"/>
              </a:p>
            </p:txBody>
          </p:sp>
          <p:sp>
            <p:nvSpPr>
              <p:cNvPr id="57" name="Shape 55"/>
              <p:cNvSpPr/>
              <p:nvPr/>
            </p:nvSpPr>
            <p:spPr>
              <a:xfrm>
                <a:off x="7482840" y="42481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58" name="Text 56"/>
              <p:cNvSpPr/>
              <p:nvPr/>
            </p:nvSpPr>
            <p:spPr>
              <a:xfrm>
                <a:off x="7482840" y="42481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Все реквизиты</a:t>
                </a:r>
                <a:endParaRPr lang="en-US" sz="2400" dirty="0"/>
              </a:p>
            </p:txBody>
          </p:sp>
          <p:sp>
            <p:nvSpPr>
              <p:cNvPr id="59" name="Shape 57"/>
              <p:cNvSpPr/>
              <p:nvPr/>
            </p:nvSpPr>
            <p:spPr>
              <a:xfrm>
                <a:off x="7482840" y="45529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60" name="Text 58"/>
              <p:cNvSpPr/>
              <p:nvPr/>
            </p:nvSpPr>
            <p:spPr>
              <a:xfrm>
                <a:off x="7482840" y="45529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Табличная часть</a:t>
                </a:r>
                <a:endParaRPr lang="en-US" sz="2400" dirty="0"/>
              </a:p>
            </p:txBody>
          </p:sp>
        </p:grpSp>
        <p:sp>
          <p:nvSpPr>
            <p:cNvPr id="61" name="Shape 59"/>
            <p:cNvSpPr/>
            <p:nvPr/>
          </p:nvSpPr>
          <p:spPr>
            <a:xfrm>
              <a:off x="964692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9801702" y="3171825"/>
              <a:ext cx="214313" cy="171450"/>
            </a:xfrm>
            <a:custGeom>
              <a:avLst/>
              <a:gdLst/>
              <a:ahLst/>
              <a:cxnLst/>
              <a:rect l="l" t="t" r="r" b="b"/>
              <a:pathLst>
                <a:path w="214313" h="171450">
                  <a:moveTo>
                    <a:pt x="45541" y="42863"/>
                  </a:moveTo>
                  <a:cubicBezTo>
                    <a:pt x="45541" y="20685"/>
                    <a:pt x="63547" y="2679"/>
                    <a:pt x="85725" y="2679"/>
                  </a:cubicBezTo>
                  <a:cubicBezTo>
                    <a:pt x="107903" y="2679"/>
                    <a:pt x="125909" y="20685"/>
                    <a:pt x="125909" y="42862"/>
                  </a:cubicBezTo>
                  <a:cubicBezTo>
                    <a:pt x="125909" y="65040"/>
                    <a:pt x="107903" y="83046"/>
                    <a:pt x="85725" y="83046"/>
                  </a:cubicBezTo>
                  <a:cubicBezTo>
                    <a:pt x="63547" y="83046"/>
                    <a:pt x="45541" y="65040"/>
                    <a:pt x="45541" y="42863"/>
                  </a:cubicBezTo>
                  <a:close/>
                  <a:moveTo>
                    <a:pt x="16073" y="161505"/>
                  </a:moveTo>
                  <a:cubicBezTo>
                    <a:pt x="16073" y="128521"/>
                    <a:pt x="42796" y="101798"/>
                    <a:pt x="75780" y="101798"/>
                  </a:cubicBezTo>
                  <a:lnTo>
                    <a:pt x="95670" y="101798"/>
                  </a:lnTo>
                  <a:cubicBezTo>
                    <a:pt x="128654" y="101798"/>
                    <a:pt x="155377" y="128521"/>
                    <a:pt x="155377" y="161505"/>
                  </a:cubicBezTo>
                  <a:cubicBezTo>
                    <a:pt x="155377" y="166996"/>
                    <a:pt x="150923" y="171450"/>
                    <a:pt x="145431" y="171450"/>
                  </a:cubicBezTo>
                  <a:lnTo>
                    <a:pt x="26019" y="171450"/>
                  </a:lnTo>
                  <a:cubicBezTo>
                    <a:pt x="20527" y="171450"/>
                    <a:pt x="16073" y="166996"/>
                    <a:pt x="16073" y="161505"/>
                  </a:cubicBezTo>
                  <a:close/>
                  <a:moveTo>
                    <a:pt x="205070" y="44436"/>
                  </a:moveTo>
                  <a:lnTo>
                    <a:pt x="178281" y="87299"/>
                  </a:lnTo>
                  <a:cubicBezTo>
                    <a:pt x="176875" y="89542"/>
                    <a:pt x="174464" y="90949"/>
                    <a:pt x="171818" y="91083"/>
                  </a:cubicBezTo>
                  <a:cubicBezTo>
                    <a:pt x="169173" y="91217"/>
                    <a:pt x="166628" y="90011"/>
                    <a:pt x="165054" y="87868"/>
                  </a:cubicBezTo>
                  <a:lnTo>
                    <a:pt x="148981" y="66437"/>
                  </a:lnTo>
                  <a:cubicBezTo>
                    <a:pt x="146302" y="62887"/>
                    <a:pt x="147038" y="57864"/>
                    <a:pt x="150588" y="55185"/>
                  </a:cubicBezTo>
                  <a:cubicBezTo>
                    <a:pt x="154138" y="52507"/>
                    <a:pt x="159161" y="53243"/>
                    <a:pt x="161839" y="56793"/>
                  </a:cubicBezTo>
                  <a:lnTo>
                    <a:pt x="170881" y="68848"/>
                  </a:lnTo>
                  <a:lnTo>
                    <a:pt x="191441" y="35931"/>
                  </a:lnTo>
                  <a:cubicBezTo>
                    <a:pt x="193785" y="32180"/>
                    <a:pt x="198741" y="31008"/>
                    <a:pt x="202525" y="33386"/>
                  </a:cubicBezTo>
                  <a:cubicBezTo>
                    <a:pt x="206309" y="35763"/>
                    <a:pt x="207448" y="40686"/>
                    <a:pt x="205070" y="4447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63" name="Text 61"/>
            <p:cNvSpPr/>
            <p:nvPr/>
          </p:nvSpPr>
          <p:spPr>
            <a:xfrm>
              <a:off x="10089833" y="3143250"/>
              <a:ext cx="12763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Подтверждение</a:t>
              </a:r>
              <a:endParaRPr lang="en-US" sz="16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978662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Пользователь:</a:t>
              </a:r>
              <a:endParaRPr lang="en-US" sz="1600" dirty="0"/>
            </a:p>
          </p:txBody>
        </p:sp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FBCAD4E0-6D01-4DA2-8025-EE05735B37BA}"/>
                </a:ext>
              </a:extLst>
            </p:cNvPr>
            <p:cNvGrpSpPr/>
            <p:nvPr/>
          </p:nvGrpSpPr>
          <p:grpSpPr>
            <a:xfrm>
              <a:off x="9799320" y="3990975"/>
              <a:ext cx="1924050" cy="1485900"/>
              <a:chOff x="9799320" y="3752850"/>
              <a:chExt cx="1924050" cy="876300"/>
            </a:xfrm>
          </p:grpSpPr>
          <p:sp>
            <p:nvSpPr>
              <p:cNvPr id="65" name="Shape 63"/>
              <p:cNvSpPr/>
              <p:nvPr/>
            </p:nvSpPr>
            <p:spPr>
              <a:xfrm>
                <a:off x="9799320" y="37528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66" name="Text 64"/>
              <p:cNvSpPr/>
              <p:nvPr/>
            </p:nvSpPr>
            <p:spPr>
              <a:xfrm>
                <a:off x="9799320" y="37528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Проверяет данные</a:t>
                </a:r>
                <a:endParaRPr lang="en-US" sz="2400" dirty="0"/>
              </a:p>
            </p:txBody>
          </p:sp>
          <p:sp>
            <p:nvSpPr>
              <p:cNvPr id="67" name="Shape 65"/>
              <p:cNvSpPr/>
              <p:nvPr/>
            </p:nvSpPr>
            <p:spPr>
              <a:xfrm>
                <a:off x="9799320" y="40576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68" name="Text 66"/>
              <p:cNvSpPr/>
              <p:nvPr/>
            </p:nvSpPr>
            <p:spPr>
              <a:xfrm>
                <a:off x="9799320" y="40576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Вносит правки</a:t>
                </a:r>
                <a:endParaRPr lang="en-US" sz="2400" dirty="0"/>
              </a:p>
            </p:txBody>
          </p:sp>
          <p:sp>
            <p:nvSpPr>
              <p:cNvPr id="69" name="Shape 67"/>
              <p:cNvSpPr/>
              <p:nvPr/>
            </p:nvSpPr>
            <p:spPr>
              <a:xfrm>
                <a:off x="9799320" y="4362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70" name="Text 68"/>
              <p:cNvSpPr/>
              <p:nvPr/>
            </p:nvSpPr>
            <p:spPr>
              <a:xfrm>
                <a:off x="9799320" y="4362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Сохраняет документ</a:t>
                </a:r>
                <a:endParaRPr lang="en-US" sz="2400" dirty="0"/>
              </a:p>
            </p:txBody>
          </p:sp>
        </p:grp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2D0AAAED-8182-4DEE-84C3-3E01F5A87D04}"/>
              </a:ext>
            </a:extLst>
          </p:cNvPr>
          <p:cNvGrpSpPr/>
          <p:nvPr/>
        </p:nvGrpSpPr>
        <p:grpSpPr>
          <a:xfrm>
            <a:off x="381000" y="5905500"/>
            <a:ext cx="11430000" cy="571500"/>
            <a:chOff x="381000" y="5905500"/>
            <a:chExt cx="11430000" cy="571500"/>
          </a:xfrm>
        </p:grpSpPr>
        <p:sp>
          <p:nvSpPr>
            <p:cNvPr id="71" name="Shape 69"/>
            <p:cNvSpPr/>
            <p:nvPr/>
          </p:nvSpPr>
          <p:spPr>
            <a:xfrm>
              <a:off x="381000" y="5905500"/>
              <a:ext cx="11430000" cy="571500"/>
            </a:xfrm>
            <a:custGeom>
              <a:avLst/>
              <a:gdLst/>
              <a:ahLst/>
              <a:cxnLst/>
              <a:rect l="l" t="t" r="r" b="b"/>
              <a:pathLst>
                <a:path w="11430000" h="571500">
                  <a:moveTo>
                    <a:pt x="114300" y="0"/>
                  </a:moveTo>
                  <a:lnTo>
                    <a:pt x="11315700" y="0"/>
                  </a:lnTo>
                  <a:cubicBezTo>
                    <a:pt x="11378784" y="0"/>
                    <a:pt x="11430000" y="51216"/>
                    <a:pt x="11430000" y="114300"/>
                  </a:cubicBezTo>
                  <a:lnTo>
                    <a:pt x="11430000" y="457200"/>
                  </a:lnTo>
                  <a:cubicBezTo>
                    <a:pt x="11430000" y="520284"/>
                    <a:pt x="11378784" y="571500"/>
                    <a:pt x="11315700" y="571500"/>
                  </a:cubicBezTo>
                  <a:lnTo>
                    <a:pt x="114300" y="571500"/>
                  </a:lnTo>
                  <a:cubicBezTo>
                    <a:pt x="51216" y="571500"/>
                    <a:pt x="0" y="520284"/>
                    <a:pt x="0" y="457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2" name="Shape 70"/>
            <p:cNvSpPr/>
            <p:nvPr/>
          </p:nvSpPr>
          <p:spPr>
            <a:xfrm>
              <a:off x="2291715" y="607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73" name="Text 71"/>
            <p:cNvSpPr/>
            <p:nvPr/>
          </p:nvSpPr>
          <p:spPr>
            <a:xfrm>
              <a:off x="2777490" y="6057900"/>
              <a:ext cx="6724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Важно: финальное сохранение только после подтверждения пользователем</a:t>
              </a:r>
              <a:endParaRPr lang="en-US" sz="16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9492615" y="609168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</p:grpSp>
      <p:sp>
        <p:nvSpPr>
          <p:cNvPr id="86" name="Text 7">
            <a:extLst>
              <a:ext uri="{FF2B5EF4-FFF2-40B4-BE49-F238E27FC236}">
                <a16:creationId xmlns:a16="http://schemas.microsoft.com/office/drawing/2014/main" id="{2B5B46E1-E6BD-485D-B1EE-D9DFFFEEA104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9</a:t>
            </a:r>
            <a:endParaRPr lang="en-US" sz="1600" dirty="0"/>
          </a:p>
        </p:txBody>
      </p:sp>
      <p:grpSp>
        <p:nvGrpSpPr>
          <p:cNvPr id="145" name="Группа 144">
            <a:extLst>
              <a:ext uri="{FF2B5EF4-FFF2-40B4-BE49-F238E27FC236}">
                <a16:creationId xmlns:a16="http://schemas.microsoft.com/office/drawing/2014/main" id="{3854EA80-2365-4BB7-A952-435890DE6459}"/>
              </a:ext>
            </a:extLst>
          </p:cNvPr>
          <p:cNvGrpSpPr/>
          <p:nvPr/>
        </p:nvGrpSpPr>
        <p:grpSpPr>
          <a:xfrm>
            <a:off x="444909" y="-1973827"/>
            <a:ext cx="4486275" cy="533400"/>
            <a:chOff x="381000" y="381000"/>
            <a:chExt cx="4486275" cy="533400"/>
          </a:xfrm>
        </p:grpSpPr>
        <p:sp>
          <p:nvSpPr>
            <p:cNvPr id="146" name="Shape 0">
              <a:extLst>
                <a:ext uri="{FF2B5EF4-FFF2-40B4-BE49-F238E27FC236}">
                  <a16:creationId xmlns:a16="http://schemas.microsoft.com/office/drawing/2014/main" id="{D8023F0D-1F6F-4105-899B-2E809A7207C6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7" name="Shape 1">
              <a:extLst>
                <a:ext uri="{FF2B5EF4-FFF2-40B4-BE49-F238E27FC236}">
                  <a16:creationId xmlns:a16="http://schemas.microsoft.com/office/drawing/2014/main" id="{B7ACE907-092A-407C-91CA-869517DEC781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85725" y="28575"/>
                  </a:moveTo>
                  <a:cubicBezTo>
                    <a:pt x="85725" y="20672"/>
                    <a:pt x="92110" y="14288"/>
                    <a:pt x="100013" y="14288"/>
                  </a:cubicBezTo>
                  <a:lnTo>
                    <a:pt x="128588" y="14288"/>
                  </a:lnTo>
                  <a:cubicBezTo>
                    <a:pt x="136490" y="14288"/>
                    <a:pt x="142875" y="20672"/>
                    <a:pt x="142875" y="28575"/>
                  </a:cubicBezTo>
                  <a:lnTo>
                    <a:pt x="142875" y="57150"/>
                  </a:lnTo>
                  <a:cubicBezTo>
                    <a:pt x="142875" y="65053"/>
                    <a:pt x="136490" y="71438"/>
                    <a:pt x="128588" y="71438"/>
                  </a:cubicBezTo>
                  <a:lnTo>
                    <a:pt x="125016" y="71438"/>
                  </a:lnTo>
                  <a:lnTo>
                    <a:pt x="125016" y="100013"/>
                  </a:lnTo>
                  <a:lnTo>
                    <a:pt x="178594" y="100013"/>
                  </a:lnTo>
                  <a:cubicBezTo>
                    <a:pt x="196364" y="100013"/>
                    <a:pt x="210741" y="114389"/>
                    <a:pt x="210741" y="132159"/>
                  </a:cubicBezTo>
                  <a:lnTo>
                    <a:pt x="210741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lnTo>
                    <a:pt x="228600" y="200025"/>
                  </a:lnTo>
                  <a:cubicBezTo>
                    <a:pt x="228600" y="207928"/>
                    <a:pt x="222215" y="214313"/>
                    <a:pt x="214313" y="214313"/>
                  </a:cubicBezTo>
                  <a:lnTo>
                    <a:pt x="185738" y="214313"/>
                  </a:lnTo>
                  <a:cubicBezTo>
                    <a:pt x="177835" y="214313"/>
                    <a:pt x="171450" y="207928"/>
                    <a:pt x="171450" y="200025"/>
                  </a:cubicBezTo>
                  <a:lnTo>
                    <a:pt x="171450" y="171450"/>
                  </a:lnTo>
                  <a:cubicBezTo>
                    <a:pt x="171450" y="163547"/>
                    <a:pt x="177835" y="157163"/>
                    <a:pt x="185738" y="157163"/>
                  </a:cubicBezTo>
                  <a:lnTo>
                    <a:pt x="189309" y="157163"/>
                  </a:lnTo>
                  <a:lnTo>
                    <a:pt x="189309" y="132159"/>
                  </a:lnTo>
                  <a:cubicBezTo>
                    <a:pt x="189309" y="126221"/>
                    <a:pt x="184532" y="121444"/>
                    <a:pt x="178594" y="121444"/>
                  </a:cubicBezTo>
                  <a:lnTo>
                    <a:pt x="125016" y="121444"/>
                  </a:lnTo>
                  <a:lnTo>
                    <a:pt x="125016" y="157163"/>
                  </a:lnTo>
                  <a:lnTo>
                    <a:pt x="128588" y="157163"/>
                  </a:lnTo>
                  <a:cubicBezTo>
                    <a:pt x="136490" y="157163"/>
                    <a:pt x="142875" y="163547"/>
                    <a:pt x="142875" y="171450"/>
                  </a:cubicBezTo>
                  <a:lnTo>
                    <a:pt x="142875" y="200025"/>
                  </a:lnTo>
                  <a:cubicBezTo>
                    <a:pt x="142875" y="207928"/>
                    <a:pt x="136490" y="214313"/>
                    <a:pt x="128588" y="214313"/>
                  </a:cubicBezTo>
                  <a:lnTo>
                    <a:pt x="100013" y="214313"/>
                  </a:lnTo>
                  <a:cubicBezTo>
                    <a:pt x="92110" y="214313"/>
                    <a:pt x="85725" y="207928"/>
                    <a:pt x="85725" y="200025"/>
                  </a:cubicBezTo>
                  <a:lnTo>
                    <a:pt x="85725" y="171450"/>
                  </a:lnTo>
                  <a:cubicBezTo>
                    <a:pt x="85725" y="163547"/>
                    <a:pt x="92110" y="157163"/>
                    <a:pt x="100013" y="157163"/>
                  </a:cubicBezTo>
                  <a:lnTo>
                    <a:pt x="103584" y="157163"/>
                  </a:lnTo>
                  <a:lnTo>
                    <a:pt x="103584" y="121444"/>
                  </a:lnTo>
                  <a:lnTo>
                    <a:pt x="50006" y="121444"/>
                  </a:lnTo>
                  <a:cubicBezTo>
                    <a:pt x="44068" y="121444"/>
                    <a:pt x="39291" y="126221"/>
                    <a:pt x="39291" y="132159"/>
                  </a:cubicBezTo>
                  <a:lnTo>
                    <a:pt x="39291" y="157163"/>
                  </a:lnTo>
                  <a:lnTo>
                    <a:pt x="42863" y="157163"/>
                  </a:lnTo>
                  <a:cubicBezTo>
                    <a:pt x="50765" y="157163"/>
                    <a:pt x="57150" y="163547"/>
                    <a:pt x="57150" y="171450"/>
                  </a:cubicBezTo>
                  <a:lnTo>
                    <a:pt x="57150" y="200025"/>
                  </a:lnTo>
                  <a:cubicBezTo>
                    <a:pt x="57150" y="207928"/>
                    <a:pt x="50765" y="214313"/>
                    <a:pt x="42863" y="214313"/>
                  </a:cubicBezTo>
                  <a:lnTo>
                    <a:pt x="14288" y="214313"/>
                  </a:lnTo>
                  <a:cubicBezTo>
                    <a:pt x="6385" y="214313"/>
                    <a:pt x="0" y="207928"/>
                    <a:pt x="0" y="200025"/>
                  </a:cubicBezTo>
                  <a:lnTo>
                    <a:pt x="0" y="171450"/>
                  </a:lnTo>
                  <a:cubicBezTo>
                    <a:pt x="0" y="163547"/>
                    <a:pt x="6385" y="157163"/>
                    <a:pt x="14288" y="157163"/>
                  </a:cubicBezTo>
                  <a:lnTo>
                    <a:pt x="17859" y="157163"/>
                  </a:lnTo>
                  <a:lnTo>
                    <a:pt x="17859" y="132159"/>
                  </a:lnTo>
                  <a:cubicBezTo>
                    <a:pt x="17859" y="114389"/>
                    <a:pt x="32236" y="100013"/>
                    <a:pt x="50006" y="100013"/>
                  </a:cubicBezTo>
                  <a:lnTo>
                    <a:pt x="103584" y="100013"/>
                  </a:lnTo>
                  <a:lnTo>
                    <a:pt x="103584" y="71438"/>
                  </a:lnTo>
                  <a:lnTo>
                    <a:pt x="100013" y="71438"/>
                  </a:lnTo>
                  <a:cubicBezTo>
                    <a:pt x="92110" y="71438"/>
                    <a:pt x="85725" y="65053"/>
                    <a:pt x="85725" y="57150"/>
                  </a:cubicBezTo>
                  <a:lnTo>
                    <a:pt x="85725" y="2857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8" name="Text 2">
              <a:extLst>
                <a:ext uri="{FF2B5EF4-FFF2-40B4-BE49-F238E27FC236}">
                  <a16:creationId xmlns:a16="http://schemas.microsoft.com/office/drawing/2014/main" id="{738A094B-B2BB-4DF5-80C2-05AACD1675BA}"/>
                </a:ext>
              </a:extLst>
            </p:cNvPr>
            <p:cNvSpPr/>
            <p:nvPr/>
          </p:nvSpPr>
          <p:spPr>
            <a:xfrm>
              <a:off x="1066800" y="400050"/>
              <a:ext cx="38004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Архитектура решения</a:t>
              </a:r>
              <a:endParaRPr lang="en-US" sz="1600" dirty="0"/>
            </a:p>
          </p:txBody>
        </p:sp>
        <p:sp>
          <p:nvSpPr>
            <p:cNvPr id="149" name="Shape 3">
              <a:extLst>
                <a:ext uri="{FF2B5EF4-FFF2-40B4-BE49-F238E27FC236}">
                  <a16:creationId xmlns:a16="http://schemas.microsoft.com/office/drawing/2014/main" id="{464F5C91-A29E-4B2F-A709-E9F1697072FD}"/>
                </a:ext>
              </a:extLst>
            </p:cNvPr>
            <p:cNvSpPr/>
            <p:nvPr/>
          </p:nvSpPr>
          <p:spPr>
            <a:xfrm>
              <a:off x="704849" y="857249"/>
              <a:ext cx="4162425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50" name="Text 7">
            <a:extLst>
              <a:ext uri="{FF2B5EF4-FFF2-40B4-BE49-F238E27FC236}">
                <a16:creationId xmlns:a16="http://schemas.microsoft.com/office/drawing/2014/main" id="{CCB2D46D-BC2E-4F04-B1B4-2CDD7E5DFCD0}"/>
              </a:ext>
            </a:extLst>
          </p:cNvPr>
          <p:cNvSpPr/>
          <p:nvPr/>
        </p:nvSpPr>
        <p:spPr>
          <a:xfrm>
            <a:off x="11191172" y="-2090509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10</a:t>
            </a:r>
            <a:endParaRPr lang="en-US" sz="1600" dirty="0"/>
          </a:p>
        </p:txBody>
      </p: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140054C3-1EF7-4B12-AACF-D15E2DB49560}"/>
              </a:ext>
            </a:extLst>
          </p:cNvPr>
          <p:cNvGrpSpPr/>
          <p:nvPr/>
        </p:nvGrpSpPr>
        <p:grpSpPr>
          <a:xfrm>
            <a:off x="-12774570" y="1450182"/>
            <a:ext cx="11430000" cy="3769518"/>
            <a:chOff x="381000" y="1450182"/>
            <a:chExt cx="11430000" cy="3769518"/>
          </a:xfrm>
        </p:grpSpPr>
        <p:sp>
          <p:nvSpPr>
            <p:cNvPr id="152" name="Shape 4">
              <a:extLst>
                <a:ext uri="{FF2B5EF4-FFF2-40B4-BE49-F238E27FC236}">
                  <a16:creationId xmlns:a16="http://schemas.microsoft.com/office/drawing/2014/main" id="{3366C981-3669-454D-A5D7-720C30E3F0CE}"/>
                </a:ext>
              </a:extLst>
            </p:cNvPr>
            <p:cNvSpPr/>
            <p:nvPr/>
          </p:nvSpPr>
          <p:spPr>
            <a:xfrm>
              <a:off x="381000" y="1450182"/>
              <a:ext cx="11430000" cy="3769518"/>
            </a:xfrm>
            <a:custGeom>
              <a:avLst/>
              <a:gdLst/>
              <a:ahLst/>
              <a:cxnLst/>
              <a:rect l="l" t="t" r="r" b="b"/>
              <a:pathLst>
                <a:path w="11430000" h="2971800">
                  <a:moveTo>
                    <a:pt x="152394" y="0"/>
                  </a:moveTo>
                  <a:lnTo>
                    <a:pt x="11277606" y="0"/>
                  </a:lnTo>
                  <a:cubicBezTo>
                    <a:pt x="11361771" y="0"/>
                    <a:pt x="11430000" y="68229"/>
                    <a:pt x="11430000" y="152394"/>
                  </a:cubicBezTo>
                  <a:lnTo>
                    <a:pt x="11430000" y="2819406"/>
                  </a:lnTo>
                  <a:cubicBezTo>
                    <a:pt x="11430000" y="2903571"/>
                    <a:pt x="11361771" y="2971800"/>
                    <a:pt x="11277606" y="2971800"/>
                  </a:cubicBezTo>
                  <a:lnTo>
                    <a:pt x="152394" y="2971800"/>
                  </a:lnTo>
                  <a:cubicBezTo>
                    <a:pt x="68229" y="2971800"/>
                    <a:pt x="0" y="2903571"/>
                    <a:pt x="0" y="28194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53" name="Shape 5">
              <a:extLst>
                <a:ext uri="{FF2B5EF4-FFF2-40B4-BE49-F238E27FC236}">
                  <a16:creationId xmlns:a16="http://schemas.microsoft.com/office/drawing/2014/main" id="{663DA062-73BC-4A6F-AEDE-B710D87FB440}"/>
                </a:ext>
              </a:extLst>
            </p:cNvPr>
            <p:cNvSpPr/>
            <p:nvPr/>
          </p:nvSpPr>
          <p:spPr>
            <a:xfrm>
              <a:off x="619125" y="1952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D700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4" name="Shape 6">
              <a:extLst>
                <a:ext uri="{FF2B5EF4-FFF2-40B4-BE49-F238E27FC236}">
                  <a16:creationId xmlns:a16="http://schemas.microsoft.com/office/drawing/2014/main" id="{E47E4A84-21B1-4905-99EC-80B822C133B8}"/>
                </a:ext>
              </a:extLst>
            </p:cNvPr>
            <p:cNvSpPr/>
            <p:nvPr/>
          </p:nvSpPr>
          <p:spPr>
            <a:xfrm>
              <a:off x="781050" y="2114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5" name="Shape 7">
              <a:extLst>
                <a:ext uri="{FF2B5EF4-FFF2-40B4-BE49-F238E27FC236}">
                  <a16:creationId xmlns:a16="http://schemas.microsoft.com/office/drawing/2014/main" id="{0DF8221E-5FF9-41CD-AFE1-BB4AF4B5B834}"/>
                </a:ext>
              </a:extLst>
            </p:cNvPr>
            <p:cNvSpPr/>
            <p:nvPr/>
          </p:nvSpPr>
          <p:spPr>
            <a:xfrm>
              <a:off x="888206" y="2219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21431" y="10716"/>
                  </a:moveTo>
                  <a:cubicBezTo>
                    <a:pt x="9611" y="10716"/>
                    <a:pt x="0" y="20326"/>
                    <a:pt x="0" y="32147"/>
                  </a:cubicBezTo>
                  <a:lnTo>
                    <a:pt x="0" y="117872"/>
                  </a:lnTo>
                  <a:cubicBezTo>
                    <a:pt x="0" y="129693"/>
                    <a:pt x="9611" y="139303"/>
                    <a:pt x="21431" y="139303"/>
                  </a:cubicBezTo>
                  <a:lnTo>
                    <a:pt x="69652" y="139303"/>
                  </a:lnTo>
                  <a:lnTo>
                    <a:pt x="64294" y="155377"/>
                  </a:lnTo>
                  <a:lnTo>
                    <a:pt x="40184" y="155377"/>
                  </a:lnTo>
                  <a:cubicBezTo>
                    <a:pt x="35730" y="155377"/>
                    <a:pt x="32147" y="158960"/>
                    <a:pt x="32147" y="163413"/>
                  </a:cubicBezTo>
                  <a:cubicBezTo>
                    <a:pt x="32147" y="167867"/>
                    <a:pt x="35730" y="171450"/>
                    <a:pt x="40184" y="171450"/>
                  </a:cubicBezTo>
                  <a:lnTo>
                    <a:pt x="131266" y="171450"/>
                  </a:lnTo>
                  <a:cubicBezTo>
                    <a:pt x="135720" y="171450"/>
                    <a:pt x="139303" y="167867"/>
                    <a:pt x="139303" y="163413"/>
                  </a:cubicBezTo>
                  <a:cubicBezTo>
                    <a:pt x="139303" y="158960"/>
                    <a:pt x="135720" y="155377"/>
                    <a:pt x="131266" y="155377"/>
                  </a:cubicBezTo>
                  <a:lnTo>
                    <a:pt x="107156" y="155377"/>
                  </a:lnTo>
                  <a:lnTo>
                    <a:pt x="101798" y="139303"/>
                  </a:lnTo>
                  <a:lnTo>
                    <a:pt x="150019" y="139303"/>
                  </a:lnTo>
                  <a:cubicBezTo>
                    <a:pt x="161839" y="139303"/>
                    <a:pt x="171450" y="129693"/>
                    <a:pt x="171450" y="117872"/>
                  </a:cubicBezTo>
                  <a:lnTo>
                    <a:pt x="171450" y="32147"/>
                  </a:lnTo>
                  <a:cubicBezTo>
                    <a:pt x="171450" y="20326"/>
                    <a:pt x="161839" y="10716"/>
                    <a:pt x="150019" y="10716"/>
                  </a:cubicBezTo>
                  <a:lnTo>
                    <a:pt x="21431" y="10716"/>
                  </a:lnTo>
                  <a:close/>
                  <a:moveTo>
                    <a:pt x="32147" y="32147"/>
                  </a:moveTo>
                  <a:lnTo>
                    <a:pt x="139303" y="32147"/>
                  </a:lnTo>
                  <a:cubicBezTo>
                    <a:pt x="145230" y="32147"/>
                    <a:pt x="150019" y="36935"/>
                    <a:pt x="150019" y="42863"/>
                  </a:cubicBezTo>
                  <a:lnTo>
                    <a:pt x="150019" y="96441"/>
                  </a:lnTo>
                  <a:cubicBezTo>
                    <a:pt x="150019" y="102368"/>
                    <a:pt x="145230" y="107156"/>
                    <a:pt x="139303" y="107156"/>
                  </a:cubicBezTo>
                  <a:lnTo>
                    <a:pt x="32147" y="107156"/>
                  </a:lnTo>
                  <a:cubicBezTo>
                    <a:pt x="26220" y="107156"/>
                    <a:pt x="21431" y="102368"/>
                    <a:pt x="21431" y="96441"/>
                  </a:cubicBezTo>
                  <a:lnTo>
                    <a:pt x="21431" y="42863"/>
                  </a:lnTo>
                  <a:cubicBezTo>
                    <a:pt x="21431" y="36935"/>
                    <a:pt x="26220" y="32147"/>
                    <a:pt x="32147" y="3214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56" name="Text 8">
              <a:extLst>
                <a:ext uri="{FF2B5EF4-FFF2-40B4-BE49-F238E27FC236}">
                  <a16:creationId xmlns:a16="http://schemas.microsoft.com/office/drawing/2014/main" id="{3C4D92ED-D773-4120-9288-6760BEEF30EE}"/>
                </a:ext>
              </a:extLst>
            </p:cNvPr>
            <p:cNvSpPr/>
            <p:nvPr/>
          </p:nvSpPr>
          <p:spPr>
            <a:xfrm>
              <a:off x="1276349" y="2171700"/>
              <a:ext cx="417154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1С-клиент</a:t>
              </a:r>
              <a:endParaRPr lang="en-US" sz="2400" dirty="0"/>
            </a:p>
          </p:txBody>
        </p:sp>
        <p:sp>
          <p:nvSpPr>
            <p:cNvPr id="157" name="Text 9">
              <a:extLst>
                <a:ext uri="{FF2B5EF4-FFF2-40B4-BE49-F238E27FC236}">
                  <a16:creationId xmlns:a16="http://schemas.microsoft.com/office/drawing/2014/main" id="{38E2B941-7F19-4552-B093-D72AA118B783}"/>
                </a:ext>
              </a:extLst>
            </p:cNvPr>
            <p:cNvSpPr/>
            <p:nvPr/>
          </p:nvSpPr>
          <p:spPr>
            <a:xfrm>
              <a:off x="781050" y="2571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Пользовательский интерфейс</a:t>
              </a:r>
              <a:endParaRPr lang="en-US" sz="2400" dirty="0"/>
            </a:p>
          </p:txBody>
        </p:sp>
        <p:sp>
          <p:nvSpPr>
            <p:cNvPr id="158" name="Shape 10">
              <a:extLst>
                <a:ext uri="{FF2B5EF4-FFF2-40B4-BE49-F238E27FC236}">
                  <a16:creationId xmlns:a16="http://schemas.microsoft.com/office/drawing/2014/main" id="{57CD3B64-A755-4F5A-A86E-F82F99170542}"/>
                </a:ext>
              </a:extLst>
            </p:cNvPr>
            <p:cNvSpPr/>
            <p:nvPr/>
          </p:nvSpPr>
          <p:spPr>
            <a:xfrm>
              <a:off x="3101499" y="30861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9" name="Shape 11">
              <a:extLst>
                <a:ext uri="{FF2B5EF4-FFF2-40B4-BE49-F238E27FC236}">
                  <a16:creationId xmlns:a16="http://schemas.microsoft.com/office/drawing/2014/main" id="{CF20F6FC-2476-4917-BECE-EAA54846527B}"/>
                </a:ext>
              </a:extLst>
            </p:cNvPr>
            <p:cNvSpPr/>
            <p:nvPr/>
          </p:nvSpPr>
          <p:spPr>
            <a:xfrm>
              <a:off x="619125" y="3476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D700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60" name="Shape 12">
              <a:extLst>
                <a:ext uri="{FF2B5EF4-FFF2-40B4-BE49-F238E27FC236}">
                  <a16:creationId xmlns:a16="http://schemas.microsoft.com/office/drawing/2014/main" id="{FED24354-098A-4628-A51B-0115D81EB20B}"/>
                </a:ext>
              </a:extLst>
            </p:cNvPr>
            <p:cNvSpPr/>
            <p:nvPr/>
          </p:nvSpPr>
          <p:spPr>
            <a:xfrm>
              <a:off x="781050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61" name="Shape 13">
              <a:extLst>
                <a:ext uri="{FF2B5EF4-FFF2-40B4-BE49-F238E27FC236}">
                  <a16:creationId xmlns:a16="http://schemas.microsoft.com/office/drawing/2014/main" id="{2A397C38-5C1E-4C40-B5C4-5AA950163BB4}"/>
                </a:ext>
              </a:extLst>
            </p:cNvPr>
            <p:cNvSpPr/>
            <p:nvPr/>
          </p:nvSpPr>
          <p:spPr>
            <a:xfrm>
              <a:off x="888206" y="3743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75009" y="0"/>
                  </a:moveTo>
                  <a:cubicBezTo>
                    <a:pt x="86830" y="0"/>
                    <a:pt x="96441" y="7200"/>
                    <a:pt x="96441" y="16073"/>
                  </a:cubicBezTo>
                  <a:cubicBezTo>
                    <a:pt x="96441" y="19556"/>
                    <a:pt x="94967" y="22771"/>
                    <a:pt x="92422" y="25416"/>
                  </a:cubicBezTo>
                  <a:cubicBezTo>
                    <a:pt x="90212" y="27727"/>
                    <a:pt x="88404" y="30540"/>
                    <a:pt x="88404" y="33754"/>
                  </a:cubicBezTo>
                  <a:cubicBezTo>
                    <a:pt x="88404" y="38777"/>
                    <a:pt x="92489" y="42863"/>
                    <a:pt x="97512" y="42863"/>
                  </a:cubicBezTo>
                  <a:lnTo>
                    <a:pt x="112514" y="42863"/>
                  </a:lnTo>
                  <a:cubicBezTo>
                    <a:pt x="121388" y="42863"/>
                    <a:pt x="128588" y="50062"/>
                    <a:pt x="128588" y="58936"/>
                  </a:cubicBezTo>
                  <a:lnTo>
                    <a:pt x="128588" y="73938"/>
                  </a:lnTo>
                  <a:cubicBezTo>
                    <a:pt x="128588" y="78961"/>
                    <a:pt x="132673" y="83046"/>
                    <a:pt x="137696" y="83046"/>
                  </a:cubicBezTo>
                  <a:cubicBezTo>
                    <a:pt x="140877" y="83046"/>
                    <a:pt x="143723" y="81238"/>
                    <a:pt x="146034" y="79028"/>
                  </a:cubicBezTo>
                  <a:cubicBezTo>
                    <a:pt x="148679" y="76516"/>
                    <a:pt x="151894" y="75009"/>
                    <a:pt x="155377" y="75009"/>
                  </a:cubicBezTo>
                  <a:cubicBezTo>
                    <a:pt x="164250" y="75009"/>
                    <a:pt x="171450" y="84620"/>
                    <a:pt x="171450" y="96441"/>
                  </a:cubicBezTo>
                  <a:cubicBezTo>
                    <a:pt x="171450" y="108261"/>
                    <a:pt x="164250" y="117872"/>
                    <a:pt x="155377" y="117872"/>
                  </a:cubicBezTo>
                  <a:cubicBezTo>
                    <a:pt x="151894" y="117872"/>
                    <a:pt x="148646" y="116398"/>
                    <a:pt x="146034" y="113854"/>
                  </a:cubicBezTo>
                  <a:cubicBezTo>
                    <a:pt x="143723" y="111643"/>
                    <a:pt x="140910" y="109835"/>
                    <a:pt x="137696" y="109835"/>
                  </a:cubicBezTo>
                  <a:cubicBezTo>
                    <a:pt x="132673" y="109835"/>
                    <a:pt x="128588" y="113920"/>
                    <a:pt x="128588" y="118943"/>
                  </a:cubicBezTo>
                  <a:lnTo>
                    <a:pt x="128588" y="155377"/>
                  </a:lnTo>
                  <a:cubicBezTo>
                    <a:pt x="128588" y="164250"/>
                    <a:pt x="121388" y="171450"/>
                    <a:pt x="112514" y="171450"/>
                  </a:cubicBezTo>
                  <a:lnTo>
                    <a:pt x="93494" y="171450"/>
                  </a:lnTo>
                  <a:cubicBezTo>
                    <a:pt x="89208" y="171450"/>
                    <a:pt x="85725" y="167967"/>
                    <a:pt x="85725" y="163681"/>
                  </a:cubicBezTo>
                  <a:cubicBezTo>
                    <a:pt x="85725" y="160600"/>
                    <a:pt x="87667" y="157888"/>
                    <a:pt x="90145" y="156046"/>
                  </a:cubicBezTo>
                  <a:cubicBezTo>
                    <a:pt x="94030" y="153133"/>
                    <a:pt x="96441" y="149115"/>
                    <a:pt x="96441" y="144661"/>
                  </a:cubicBezTo>
                  <a:cubicBezTo>
                    <a:pt x="96441" y="135787"/>
                    <a:pt x="86830" y="128588"/>
                    <a:pt x="75009" y="128588"/>
                  </a:cubicBezTo>
                  <a:cubicBezTo>
                    <a:pt x="63189" y="128588"/>
                    <a:pt x="53578" y="135787"/>
                    <a:pt x="53578" y="144661"/>
                  </a:cubicBezTo>
                  <a:cubicBezTo>
                    <a:pt x="53578" y="149115"/>
                    <a:pt x="55989" y="153133"/>
                    <a:pt x="59874" y="156046"/>
                  </a:cubicBezTo>
                  <a:cubicBezTo>
                    <a:pt x="62352" y="157888"/>
                    <a:pt x="64294" y="160567"/>
                    <a:pt x="64294" y="163681"/>
                  </a:cubicBezTo>
                  <a:cubicBezTo>
                    <a:pt x="64294" y="167967"/>
                    <a:pt x="60811" y="171450"/>
                    <a:pt x="56525" y="171450"/>
                  </a:cubicBezTo>
                  <a:lnTo>
                    <a:pt x="16073" y="171450"/>
                  </a:lnTo>
                  <a:cubicBezTo>
                    <a:pt x="7200" y="171450"/>
                    <a:pt x="0" y="164250"/>
                    <a:pt x="0" y="155377"/>
                  </a:cubicBezTo>
                  <a:lnTo>
                    <a:pt x="0" y="114925"/>
                  </a:lnTo>
                  <a:cubicBezTo>
                    <a:pt x="0" y="110639"/>
                    <a:pt x="3483" y="107156"/>
                    <a:pt x="7769" y="107156"/>
                  </a:cubicBezTo>
                  <a:cubicBezTo>
                    <a:pt x="10850" y="107156"/>
                    <a:pt x="13562" y="109098"/>
                    <a:pt x="15404" y="111576"/>
                  </a:cubicBezTo>
                  <a:cubicBezTo>
                    <a:pt x="18317" y="115461"/>
                    <a:pt x="22335" y="117872"/>
                    <a:pt x="26789" y="117872"/>
                  </a:cubicBezTo>
                  <a:cubicBezTo>
                    <a:pt x="35663" y="117872"/>
                    <a:pt x="42863" y="108261"/>
                    <a:pt x="42863" y="96441"/>
                  </a:cubicBezTo>
                  <a:cubicBezTo>
                    <a:pt x="42863" y="84620"/>
                    <a:pt x="35663" y="75009"/>
                    <a:pt x="26789" y="75009"/>
                  </a:cubicBezTo>
                  <a:cubicBezTo>
                    <a:pt x="22335" y="75009"/>
                    <a:pt x="18317" y="77420"/>
                    <a:pt x="15404" y="81305"/>
                  </a:cubicBezTo>
                  <a:cubicBezTo>
                    <a:pt x="13562" y="83783"/>
                    <a:pt x="10883" y="85725"/>
                    <a:pt x="7769" y="85725"/>
                  </a:cubicBezTo>
                  <a:cubicBezTo>
                    <a:pt x="3483" y="85725"/>
                    <a:pt x="0" y="82242"/>
                    <a:pt x="0" y="77956"/>
                  </a:cubicBezTo>
                  <a:lnTo>
                    <a:pt x="0" y="58936"/>
                  </a:lnTo>
                  <a:cubicBezTo>
                    <a:pt x="0" y="50062"/>
                    <a:pt x="7200" y="42863"/>
                    <a:pt x="16073" y="42863"/>
                  </a:cubicBezTo>
                  <a:lnTo>
                    <a:pt x="52507" y="42863"/>
                  </a:lnTo>
                  <a:cubicBezTo>
                    <a:pt x="57530" y="42863"/>
                    <a:pt x="61615" y="38777"/>
                    <a:pt x="61615" y="33754"/>
                  </a:cubicBezTo>
                  <a:cubicBezTo>
                    <a:pt x="61615" y="30573"/>
                    <a:pt x="59807" y="27727"/>
                    <a:pt x="57596" y="25416"/>
                  </a:cubicBezTo>
                  <a:cubicBezTo>
                    <a:pt x="55085" y="22771"/>
                    <a:pt x="53578" y="19556"/>
                    <a:pt x="53578" y="16073"/>
                  </a:cubicBezTo>
                  <a:cubicBezTo>
                    <a:pt x="53578" y="7200"/>
                    <a:pt x="63189" y="0"/>
                    <a:pt x="75009" y="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62" name="Text 14">
              <a:extLst>
                <a:ext uri="{FF2B5EF4-FFF2-40B4-BE49-F238E27FC236}">
                  <a16:creationId xmlns:a16="http://schemas.microsoft.com/office/drawing/2014/main" id="{AD03BF40-BBD2-41A0-902A-D6A69AAB8911}"/>
                </a:ext>
              </a:extLst>
            </p:cNvPr>
            <p:cNvSpPr/>
            <p:nvPr/>
          </p:nvSpPr>
          <p:spPr>
            <a:xfrm>
              <a:off x="1276350" y="3695700"/>
              <a:ext cx="377691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Расширение 1С</a:t>
              </a:r>
              <a:endParaRPr lang="en-US" sz="2400" dirty="0"/>
            </a:p>
          </p:txBody>
        </p:sp>
        <p:sp>
          <p:nvSpPr>
            <p:cNvPr id="163" name="Text 15">
              <a:extLst>
                <a:ext uri="{FF2B5EF4-FFF2-40B4-BE49-F238E27FC236}">
                  <a16:creationId xmlns:a16="http://schemas.microsoft.com/office/drawing/2014/main" id="{A96DFF0A-5CF6-4424-B287-DB579A8E5B27}"/>
                </a:ext>
              </a:extLst>
            </p:cNvPr>
            <p:cNvSpPr/>
            <p:nvPr/>
          </p:nvSpPr>
          <p:spPr>
            <a:xfrm>
              <a:off x="781050" y="4095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HTTP-сервис, чат-форма</a:t>
              </a:r>
              <a:endParaRPr lang="en-US" sz="2400" dirty="0"/>
            </a:p>
          </p:txBody>
        </p:sp>
        <p:sp>
          <p:nvSpPr>
            <p:cNvPr id="164" name="Shape 16">
              <a:extLst>
                <a:ext uri="{FF2B5EF4-FFF2-40B4-BE49-F238E27FC236}">
                  <a16:creationId xmlns:a16="http://schemas.microsoft.com/office/drawing/2014/main" id="{D3632558-FD35-4888-9244-66FD7FFE0E86}"/>
                </a:ext>
              </a:extLst>
            </p:cNvPr>
            <p:cNvSpPr/>
            <p:nvPr/>
          </p:nvSpPr>
          <p:spPr>
            <a:xfrm>
              <a:off x="5955506" y="30575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0504" y="226926"/>
                  </a:moveTo>
                  <a:lnTo>
                    <a:pt x="226926" y="280504"/>
                  </a:lnTo>
                  <a:cubicBezTo>
                    <a:pt x="221791" y="285638"/>
                    <a:pt x="214145" y="287145"/>
                    <a:pt x="207448" y="284355"/>
                  </a:cubicBezTo>
                  <a:cubicBezTo>
                    <a:pt x="200751" y="281564"/>
                    <a:pt x="196453" y="275090"/>
                    <a:pt x="196453" y="267891"/>
                  </a:cubicBezTo>
                  <a:lnTo>
                    <a:pt x="196453" y="232172"/>
                  </a:lnTo>
                  <a:lnTo>
                    <a:pt x="17859" y="232172"/>
                  </a:lnTo>
                  <a:cubicBezTo>
                    <a:pt x="7981" y="232172"/>
                    <a:pt x="0" y="224191"/>
                    <a:pt x="0" y="214313"/>
                  </a:cubicBezTo>
                  <a:cubicBezTo>
                    <a:pt x="0" y="204434"/>
                    <a:pt x="7981" y="196453"/>
                    <a:pt x="17859" y="196453"/>
                  </a:cubicBezTo>
                  <a:lnTo>
                    <a:pt x="196453" y="196453"/>
                  </a:lnTo>
                  <a:lnTo>
                    <a:pt x="196453" y="160734"/>
                  </a:lnTo>
                  <a:cubicBezTo>
                    <a:pt x="196453" y="153535"/>
                    <a:pt x="200806" y="147005"/>
                    <a:pt x="207504" y="144214"/>
                  </a:cubicBezTo>
                  <a:cubicBezTo>
                    <a:pt x="214201" y="141424"/>
                    <a:pt x="221847" y="142987"/>
                    <a:pt x="226981" y="148065"/>
                  </a:cubicBezTo>
                  <a:lnTo>
                    <a:pt x="280560" y="201644"/>
                  </a:lnTo>
                  <a:cubicBezTo>
                    <a:pt x="287536" y="208620"/>
                    <a:pt x="287536" y="219949"/>
                    <a:pt x="280560" y="226926"/>
                  </a:cubicBezTo>
                  <a:close/>
                  <a:moveTo>
                    <a:pt x="5246" y="84051"/>
                  </a:moveTo>
                  <a:cubicBezTo>
                    <a:pt x="-1730" y="77074"/>
                    <a:pt x="-1730" y="65745"/>
                    <a:pt x="5246" y="58769"/>
                  </a:cubicBezTo>
                  <a:lnTo>
                    <a:pt x="58824" y="5190"/>
                  </a:lnTo>
                  <a:cubicBezTo>
                    <a:pt x="63959" y="56"/>
                    <a:pt x="71605" y="-1451"/>
                    <a:pt x="78302" y="1339"/>
                  </a:cubicBezTo>
                  <a:cubicBezTo>
                    <a:pt x="84999" y="4130"/>
                    <a:pt x="89297" y="10660"/>
                    <a:pt x="89297" y="17859"/>
                  </a:cubicBezTo>
                  <a:lnTo>
                    <a:pt x="89297" y="53578"/>
                  </a:lnTo>
                  <a:lnTo>
                    <a:pt x="267891" y="53578"/>
                  </a:lnTo>
                  <a:cubicBezTo>
                    <a:pt x="277769" y="53578"/>
                    <a:pt x="285750" y="61559"/>
                    <a:pt x="285750" y="71438"/>
                  </a:cubicBezTo>
                  <a:cubicBezTo>
                    <a:pt x="285750" y="81316"/>
                    <a:pt x="277769" y="89297"/>
                    <a:pt x="267891" y="89297"/>
                  </a:cubicBezTo>
                  <a:lnTo>
                    <a:pt x="89297" y="89297"/>
                  </a:lnTo>
                  <a:lnTo>
                    <a:pt x="89297" y="125016"/>
                  </a:lnTo>
                  <a:cubicBezTo>
                    <a:pt x="89297" y="132215"/>
                    <a:pt x="84944" y="138745"/>
                    <a:pt x="78246" y="141536"/>
                  </a:cubicBezTo>
                  <a:cubicBezTo>
                    <a:pt x="71549" y="144326"/>
                    <a:pt x="63903" y="142763"/>
                    <a:pt x="58769" y="137685"/>
                  </a:cubicBezTo>
                  <a:lnTo>
                    <a:pt x="5190" y="84106"/>
                  </a:lnTo>
                  <a:close/>
                </a:path>
              </a:pathLst>
            </a:custGeom>
            <a:solidFill>
              <a:srgbClr val="4A4A4A"/>
            </a:solidFill>
            <a:ln/>
          </p:spPr>
        </p:sp>
        <p:sp>
          <p:nvSpPr>
            <p:cNvPr id="165" name="Shape 17">
              <a:extLst>
                <a:ext uri="{FF2B5EF4-FFF2-40B4-BE49-F238E27FC236}">
                  <a16:creationId xmlns:a16="http://schemas.microsoft.com/office/drawing/2014/main" id="{6AEAF129-41EF-4D0F-9E3C-AF31F399B611}"/>
                </a:ext>
              </a:extLst>
            </p:cNvPr>
            <p:cNvSpPr/>
            <p:nvPr/>
          </p:nvSpPr>
          <p:spPr>
            <a:xfrm>
              <a:off x="6436519" y="1952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66" name="Shape 18">
              <a:extLst>
                <a:ext uri="{FF2B5EF4-FFF2-40B4-BE49-F238E27FC236}">
                  <a16:creationId xmlns:a16="http://schemas.microsoft.com/office/drawing/2014/main" id="{D82F22C3-4011-4149-9020-51E485C3ABB3}"/>
                </a:ext>
              </a:extLst>
            </p:cNvPr>
            <p:cNvSpPr/>
            <p:nvPr/>
          </p:nvSpPr>
          <p:spPr>
            <a:xfrm>
              <a:off x="6598444" y="2114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67" name="Shape 19">
              <a:extLst>
                <a:ext uri="{FF2B5EF4-FFF2-40B4-BE49-F238E27FC236}">
                  <a16:creationId xmlns:a16="http://schemas.microsoft.com/office/drawing/2014/main" id="{32680D29-ABE0-4D58-89B8-658A3295B6B3}"/>
                </a:ext>
              </a:extLst>
            </p:cNvPr>
            <p:cNvSpPr/>
            <p:nvPr/>
          </p:nvSpPr>
          <p:spPr>
            <a:xfrm>
              <a:off x="6716316" y="2219325"/>
              <a:ext cx="150019" cy="17145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147273" y="67140"/>
                  </a:moveTo>
                  <a:cubicBezTo>
                    <a:pt x="144694" y="56793"/>
                    <a:pt x="139805" y="48990"/>
                    <a:pt x="129391" y="48990"/>
                  </a:cubicBezTo>
                  <a:lnTo>
                    <a:pt x="115963" y="48990"/>
                  </a:lnTo>
                  <a:lnTo>
                    <a:pt x="115963" y="64863"/>
                  </a:lnTo>
                  <a:cubicBezTo>
                    <a:pt x="115963" y="77186"/>
                    <a:pt x="105515" y="87567"/>
                    <a:pt x="93594" y="87567"/>
                  </a:cubicBezTo>
                  <a:lnTo>
                    <a:pt x="57831" y="87567"/>
                  </a:lnTo>
                  <a:cubicBezTo>
                    <a:pt x="48053" y="87567"/>
                    <a:pt x="39949" y="95938"/>
                    <a:pt x="39949" y="105750"/>
                  </a:cubicBezTo>
                  <a:lnTo>
                    <a:pt x="39949" y="139839"/>
                  </a:lnTo>
                  <a:cubicBezTo>
                    <a:pt x="39949" y="149550"/>
                    <a:pt x="48388" y="155243"/>
                    <a:pt x="57831" y="158022"/>
                  </a:cubicBezTo>
                  <a:cubicBezTo>
                    <a:pt x="69149" y="161337"/>
                    <a:pt x="80032" y="161940"/>
                    <a:pt x="93594" y="158022"/>
                  </a:cubicBezTo>
                  <a:cubicBezTo>
                    <a:pt x="102602" y="155410"/>
                    <a:pt x="111476" y="150153"/>
                    <a:pt x="111476" y="139839"/>
                  </a:cubicBezTo>
                  <a:lnTo>
                    <a:pt x="111476" y="126210"/>
                  </a:lnTo>
                  <a:lnTo>
                    <a:pt x="75746" y="126210"/>
                  </a:lnTo>
                  <a:lnTo>
                    <a:pt x="75746" y="121656"/>
                  </a:lnTo>
                  <a:lnTo>
                    <a:pt x="129391" y="121656"/>
                  </a:lnTo>
                  <a:cubicBezTo>
                    <a:pt x="139805" y="121656"/>
                    <a:pt x="143656" y="114389"/>
                    <a:pt x="147273" y="103506"/>
                  </a:cubicBezTo>
                  <a:cubicBezTo>
                    <a:pt x="151023" y="92288"/>
                    <a:pt x="150856" y="81506"/>
                    <a:pt x="147273" y="67140"/>
                  </a:cubicBezTo>
                  <a:close/>
                  <a:moveTo>
                    <a:pt x="95838" y="148914"/>
                  </a:moveTo>
                  <a:cubicBezTo>
                    <a:pt x="93289" y="149092"/>
                    <a:pt x="90854" y="147834"/>
                    <a:pt x="89525" y="145652"/>
                  </a:cubicBezTo>
                  <a:cubicBezTo>
                    <a:pt x="88196" y="143470"/>
                    <a:pt x="88196" y="140729"/>
                    <a:pt x="89525" y="138546"/>
                  </a:cubicBezTo>
                  <a:cubicBezTo>
                    <a:pt x="90854" y="136364"/>
                    <a:pt x="93289" y="135106"/>
                    <a:pt x="95838" y="135285"/>
                  </a:cubicBezTo>
                  <a:cubicBezTo>
                    <a:pt x="98386" y="135106"/>
                    <a:pt x="100822" y="136364"/>
                    <a:pt x="102151" y="138546"/>
                  </a:cubicBezTo>
                  <a:cubicBezTo>
                    <a:pt x="103479" y="140729"/>
                    <a:pt x="103479" y="143470"/>
                    <a:pt x="102151" y="145652"/>
                  </a:cubicBezTo>
                  <a:cubicBezTo>
                    <a:pt x="100822" y="147834"/>
                    <a:pt x="98386" y="149092"/>
                    <a:pt x="95838" y="148914"/>
                  </a:cubicBezTo>
                  <a:close/>
                  <a:moveTo>
                    <a:pt x="56190" y="83080"/>
                  </a:moveTo>
                  <a:lnTo>
                    <a:pt x="91953" y="83080"/>
                  </a:lnTo>
                  <a:cubicBezTo>
                    <a:pt x="101899" y="83080"/>
                    <a:pt x="109835" y="74875"/>
                    <a:pt x="109835" y="64897"/>
                  </a:cubicBezTo>
                  <a:lnTo>
                    <a:pt x="109835" y="30774"/>
                  </a:lnTo>
                  <a:cubicBezTo>
                    <a:pt x="109835" y="21063"/>
                    <a:pt x="101664" y="13796"/>
                    <a:pt x="91953" y="12156"/>
                  </a:cubicBezTo>
                  <a:cubicBezTo>
                    <a:pt x="79965" y="10180"/>
                    <a:pt x="66939" y="10280"/>
                    <a:pt x="56190" y="12189"/>
                  </a:cubicBezTo>
                  <a:cubicBezTo>
                    <a:pt x="41054" y="14868"/>
                    <a:pt x="38308" y="20460"/>
                    <a:pt x="38308" y="30807"/>
                  </a:cubicBezTo>
                  <a:lnTo>
                    <a:pt x="38308" y="44436"/>
                  </a:lnTo>
                  <a:lnTo>
                    <a:pt x="74105" y="44436"/>
                  </a:lnTo>
                  <a:lnTo>
                    <a:pt x="74105" y="48990"/>
                  </a:lnTo>
                  <a:lnTo>
                    <a:pt x="24880" y="48990"/>
                  </a:lnTo>
                  <a:cubicBezTo>
                    <a:pt x="14466" y="48990"/>
                    <a:pt x="5358" y="55252"/>
                    <a:pt x="2511" y="67140"/>
                  </a:cubicBezTo>
                  <a:cubicBezTo>
                    <a:pt x="-770" y="80769"/>
                    <a:pt x="-904" y="89275"/>
                    <a:pt x="2511" y="103506"/>
                  </a:cubicBezTo>
                  <a:cubicBezTo>
                    <a:pt x="5056" y="114088"/>
                    <a:pt x="11117" y="121656"/>
                    <a:pt x="21532" y="121656"/>
                  </a:cubicBezTo>
                  <a:lnTo>
                    <a:pt x="33821" y="121656"/>
                  </a:lnTo>
                  <a:lnTo>
                    <a:pt x="33821" y="105315"/>
                  </a:lnTo>
                  <a:cubicBezTo>
                    <a:pt x="33821" y="93494"/>
                    <a:pt x="44035" y="83080"/>
                    <a:pt x="56190" y="83080"/>
                  </a:cubicBezTo>
                  <a:close/>
                  <a:moveTo>
                    <a:pt x="53980" y="21666"/>
                  </a:moveTo>
                  <a:cubicBezTo>
                    <a:pt x="57750" y="21666"/>
                    <a:pt x="60811" y="24727"/>
                    <a:pt x="60811" y="28497"/>
                  </a:cubicBezTo>
                  <a:cubicBezTo>
                    <a:pt x="60811" y="32267"/>
                    <a:pt x="57750" y="35328"/>
                    <a:pt x="53980" y="35328"/>
                  </a:cubicBezTo>
                  <a:cubicBezTo>
                    <a:pt x="50210" y="35328"/>
                    <a:pt x="47149" y="32267"/>
                    <a:pt x="47149" y="28497"/>
                  </a:cubicBezTo>
                  <a:cubicBezTo>
                    <a:pt x="47149" y="24727"/>
                    <a:pt x="50210" y="21666"/>
                    <a:pt x="53980" y="21666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8" name="Text 20">
              <a:extLst>
                <a:ext uri="{FF2B5EF4-FFF2-40B4-BE49-F238E27FC236}">
                  <a16:creationId xmlns:a16="http://schemas.microsoft.com/office/drawing/2014/main" id="{F3568AED-89C8-41A5-901C-9959C668A9D8}"/>
                </a:ext>
              </a:extLst>
            </p:cNvPr>
            <p:cNvSpPr/>
            <p:nvPr/>
          </p:nvSpPr>
          <p:spPr>
            <a:xfrm>
              <a:off x="7093744" y="2171700"/>
              <a:ext cx="4210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Middleware FastAPI</a:t>
              </a:r>
              <a:endParaRPr lang="en-US" sz="2400" dirty="0"/>
            </a:p>
          </p:txBody>
        </p:sp>
        <p:sp>
          <p:nvSpPr>
            <p:cNvPr id="169" name="Text 21">
              <a:extLst>
                <a:ext uri="{FF2B5EF4-FFF2-40B4-BE49-F238E27FC236}">
                  <a16:creationId xmlns:a16="http://schemas.microsoft.com/office/drawing/2014/main" id="{BE28B972-B408-46C9-85DF-740756E981F8}"/>
                </a:ext>
              </a:extLst>
            </p:cNvPr>
            <p:cNvSpPr/>
            <p:nvPr/>
          </p:nvSpPr>
          <p:spPr>
            <a:xfrm>
              <a:off x="6598444" y="2571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Маршрутизация, обработка</a:t>
              </a:r>
              <a:endParaRPr lang="en-US" sz="2400" dirty="0"/>
            </a:p>
          </p:txBody>
        </p:sp>
        <p:sp>
          <p:nvSpPr>
            <p:cNvPr id="170" name="Shape 22">
              <a:extLst>
                <a:ext uri="{FF2B5EF4-FFF2-40B4-BE49-F238E27FC236}">
                  <a16:creationId xmlns:a16="http://schemas.microsoft.com/office/drawing/2014/main" id="{01174B7A-7C1A-43EF-AAC0-672681C7CE4B}"/>
                </a:ext>
              </a:extLst>
            </p:cNvPr>
            <p:cNvSpPr/>
            <p:nvPr/>
          </p:nvSpPr>
          <p:spPr>
            <a:xfrm>
              <a:off x="7742237" y="31146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71" name="Shape 23">
              <a:extLst>
                <a:ext uri="{FF2B5EF4-FFF2-40B4-BE49-F238E27FC236}">
                  <a16:creationId xmlns:a16="http://schemas.microsoft.com/office/drawing/2014/main" id="{79526F5D-8E1D-4A5E-B074-CF5B3BABA742}"/>
                </a:ext>
              </a:extLst>
            </p:cNvPr>
            <p:cNvSpPr/>
            <p:nvPr/>
          </p:nvSpPr>
          <p:spPr>
            <a:xfrm>
              <a:off x="10162063" y="31242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72" name="Shape 24">
              <a:extLst>
                <a:ext uri="{FF2B5EF4-FFF2-40B4-BE49-F238E27FC236}">
                  <a16:creationId xmlns:a16="http://schemas.microsoft.com/office/drawing/2014/main" id="{776655CC-7397-486B-8BFF-E52EE9D01C01}"/>
                </a:ext>
              </a:extLst>
            </p:cNvPr>
            <p:cNvSpPr/>
            <p:nvPr/>
          </p:nvSpPr>
          <p:spPr>
            <a:xfrm>
              <a:off x="6436519" y="3476625"/>
              <a:ext cx="2486025" cy="971550"/>
            </a:xfrm>
            <a:custGeom>
              <a:avLst/>
              <a:gdLst/>
              <a:ahLst/>
              <a:cxnLst/>
              <a:rect l="l" t="t" r="r" b="b"/>
              <a:pathLst>
                <a:path w="2486025" h="971550">
                  <a:moveTo>
                    <a:pt x="114303" y="0"/>
                  </a:moveTo>
                  <a:lnTo>
                    <a:pt x="2371722" y="0"/>
                  </a:lnTo>
                  <a:cubicBezTo>
                    <a:pt x="2434808" y="0"/>
                    <a:pt x="2486025" y="51217"/>
                    <a:pt x="2486025" y="114303"/>
                  </a:cubicBezTo>
                  <a:lnTo>
                    <a:pt x="2486025" y="857247"/>
                  </a:lnTo>
                  <a:cubicBezTo>
                    <a:pt x="2486025" y="920333"/>
                    <a:pt x="2434808" y="971550"/>
                    <a:pt x="237172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3" name="Shape 25">
              <a:extLst>
                <a:ext uri="{FF2B5EF4-FFF2-40B4-BE49-F238E27FC236}">
                  <a16:creationId xmlns:a16="http://schemas.microsoft.com/office/drawing/2014/main" id="{0095E6DB-3B48-4730-B805-A6AB771D837C}"/>
                </a:ext>
              </a:extLst>
            </p:cNvPr>
            <p:cNvSpPr/>
            <p:nvPr/>
          </p:nvSpPr>
          <p:spPr>
            <a:xfrm>
              <a:off x="6598444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74" name="Shape 26">
              <a:extLst>
                <a:ext uri="{FF2B5EF4-FFF2-40B4-BE49-F238E27FC236}">
                  <a16:creationId xmlns:a16="http://schemas.microsoft.com/office/drawing/2014/main" id="{A9029EFB-795B-4D68-9BAF-4D74A51297C5}"/>
                </a:ext>
              </a:extLst>
            </p:cNvPr>
            <p:cNvSpPr/>
            <p:nvPr/>
          </p:nvSpPr>
          <p:spPr>
            <a:xfrm>
              <a:off x="6705600" y="3743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40184" y="18752"/>
                  </a:moveTo>
                  <a:cubicBezTo>
                    <a:pt x="40184" y="8405"/>
                    <a:pt x="48589" y="0"/>
                    <a:pt x="58936" y="0"/>
                  </a:cubicBezTo>
                  <a:lnTo>
                    <a:pt x="66973" y="0"/>
                  </a:lnTo>
                  <a:cubicBezTo>
                    <a:pt x="72900" y="0"/>
                    <a:pt x="77688" y="4789"/>
                    <a:pt x="77688" y="10716"/>
                  </a:cubicBezTo>
                  <a:lnTo>
                    <a:pt x="77688" y="160734"/>
                  </a:lnTo>
                  <a:cubicBezTo>
                    <a:pt x="77688" y="166661"/>
                    <a:pt x="72900" y="171450"/>
                    <a:pt x="66973" y="171450"/>
                  </a:cubicBezTo>
                  <a:lnTo>
                    <a:pt x="56257" y="171450"/>
                  </a:lnTo>
                  <a:cubicBezTo>
                    <a:pt x="46278" y="171450"/>
                    <a:pt x="37873" y="164619"/>
                    <a:pt x="35496" y="155377"/>
                  </a:cubicBezTo>
                  <a:cubicBezTo>
                    <a:pt x="35261" y="155377"/>
                    <a:pt x="35060" y="155377"/>
                    <a:pt x="34826" y="155377"/>
                  </a:cubicBezTo>
                  <a:cubicBezTo>
                    <a:pt x="20025" y="155377"/>
                    <a:pt x="8037" y="143388"/>
                    <a:pt x="8037" y="128588"/>
                  </a:cubicBezTo>
                  <a:cubicBezTo>
                    <a:pt x="8037" y="122560"/>
                    <a:pt x="10046" y="117001"/>
                    <a:pt x="13395" y="112514"/>
                  </a:cubicBezTo>
                  <a:cubicBezTo>
                    <a:pt x="6898" y="107625"/>
                    <a:pt x="2679" y="99856"/>
                    <a:pt x="2679" y="91083"/>
                  </a:cubicBezTo>
                  <a:cubicBezTo>
                    <a:pt x="2679" y="80736"/>
                    <a:pt x="8573" y="71728"/>
                    <a:pt x="17145" y="67274"/>
                  </a:cubicBezTo>
                  <a:cubicBezTo>
                    <a:pt x="14767" y="63256"/>
                    <a:pt x="13395" y="58568"/>
                    <a:pt x="13395" y="53578"/>
                  </a:cubicBezTo>
                  <a:cubicBezTo>
                    <a:pt x="13395" y="38777"/>
                    <a:pt x="25383" y="26789"/>
                    <a:pt x="40184" y="26789"/>
                  </a:cubicBezTo>
                  <a:lnTo>
                    <a:pt x="40184" y="18752"/>
                  </a:lnTo>
                  <a:close/>
                  <a:moveTo>
                    <a:pt x="131266" y="18752"/>
                  </a:moveTo>
                  <a:lnTo>
                    <a:pt x="131266" y="26789"/>
                  </a:lnTo>
                  <a:cubicBezTo>
                    <a:pt x="146067" y="26789"/>
                    <a:pt x="158055" y="38777"/>
                    <a:pt x="158055" y="53578"/>
                  </a:cubicBezTo>
                  <a:cubicBezTo>
                    <a:pt x="158055" y="58601"/>
                    <a:pt x="156683" y="63289"/>
                    <a:pt x="154305" y="67274"/>
                  </a:cubicBezTo>
                  <a:cubicBezTo>
                    <a:pt x="162911" y="71728"/>
                    <a:pt x="168771" y="80702"/>
                    <a:pt x="168771" y="91083"/>
                  </a:cubicBezTo>
                  <a:cubicBezTo>
                    <a:pt x="168771" y="99856"/>
                    <a:pt x="164552" y="107625"/>
                    <a:pt x="158055" y="112514"/>
                  </a:cubicBezTo>
                  <a:cubicBezTo>
                    <a:pt x="161404" y="117001"/>
                    <a:pt x="163413" y="122560"/>
                    <a:pt x="163413" y="128588"/>
                  </a:cubicBezTo>
                  <a:cubicBezTo>
                    <a:pt x="163413" y="143388"/>
                    <a:pt x="151425" y="155377"/>
                    <a:pt x="136624" y="155377"/>
                  </a:cubicBezTo>
                  <a:cubicBezTo>
                    <a:pt x="136390" y="155377"/>
                    <a:pt x="136189" y="155377"/>
                    <a:pt x="135954" y="155377"/>
                  </a:cubicBezTo>
                  <a:cubicBezTo>
                    <a:pt x="133577" y="164619"/>
                    <a:pt x="125172" y="171450"/>
                    <a:pt x="115193" y="171450"/>
                  </a:cubicBezTo>
                  <a:lnTo>
                    <a:pt x="104477" y="171450"/>
                  </a:lnTo>
                  <a:cubicBezTo>
                    <a:pt x="98550" y="171450"/>
                    <a:pt x="93762" y="166661"/>
                    <a:pt x="93762" y="160734"/>
                  </a:cubicBezTo>
                  <a:lnTo>
                    <a:pt x="93762" y="10716"/>
                  </a:lnTo>
                  <a:cubicBezTo>
                    <a:pt x="93762" y="4789"/>
                    <a:pt x="98550" y="0"/>
                    <a:pt x="104477" y="0"/>
                  </a:cubicBezTo>
                  <a:lnTo>
                    <a:pt x="112514" y="0"/>
                  </a:lnTo>
                  <a:cubicBezTo>
                    <a:pt x="122861" y="0"/>
                    <a:pt x="131266" y="8405"/>
                    <a:pt x="131266" y="1875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75" name="Text 27">
              <a:extLst>
                <a:ext uri="{FF2B5EF4-FFF2-40B4-BE49-F238E27FC236}">
                  <a16:creationId xmlns:a16="http://schemas.microsoft.com/office/drawing/2014/main" id="{79FA145B-9D42-4B58-9203-0961BDA3F513}"/>
                </a:ext>
              </a:extLst>
            </p:cNvPr>
            <p:cNvSpPr/>
            <p:nvPr/>
          </p:nvSpPr>
          <p:spPr>
            <a:xfrm>
              <a:off x="7093744" y="3714750"/>
              <a:ext cx="15930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LLM API</a:t>
              </a:r>
              <a:endParaRPr lang="en-US" sz="2400" dirty="0"/>
            </a:p>
          </p:txBody>
        </p:sp>
        <p:sp>
          <p:nvSpPr>
            <p:cNvPr id="176" name="Text 28">
              <a:extLst>
                <a:ext uri="{FF2B5EF4-FFF2-40B4-BE49-F238E27FC236}">
                  <a16:creationId xmlns:a16="http://schemas.microsoft.com/office/drawing/2014/main" id="{DCE4B920-AB83-44A6-8462-8E10FC398984}"/>
                </a:ext>
              </a:extLst>
            </p:cNvPr>
            <p:cNvSpPr/>
            <p:nvPr/>
          </p:nvSpPr>
          <p:spPr>
            <a:xfrm>
              <a:off x="6598444" y="4095750"/>
              <a:ext cx="22288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Понимание запросов</a:t>
              </a:r>
              <a:endParaRPr lang="en-US" sz="2400" dirty="0"/>
            </a:p>
          </p:txBody>
        </p:sp>
        <p:sp>
          <p:nvSpPr>
            <p:cNvPr id="177" name="Shape 29">
              <a:extLst>
                <a:ext uri="{FF2B5EF4-FFF2-40B4-BE49-F238E27FC236}">
                  <a16:creationId xmlns:a16="http://schemas.microsoft.com/office/drawing/2014/main" id="{5328F0EA-BED9-4D51-91FA-DAAFA7C98C75}"/>
                </a:ext>
              </a:extLst>
            </p:cNvPr>
            <p:cNvSpPr/>
            <p:nvPr/>
          </p:nvSpPr>
          <p:spPr>
            <a:xfrm>
              <a:off x="9090501" y="3476625"/>
              <a:ext cx="2486025" cy="971550"/>
            </a:xfrm>
            <a:custGeom>
              <a:avLst/>
              <a:gdLst/>
              <a:ahLst/>
              <a:cxnLst/>
              <a:rect l="l" t="t" r="r" b="b"/>
              <a:pathLst>
                <a:path w="2486025" h="971550">
                  <a:moveTo>
                    <a:pt x="114303" y="0"/>
                  </a:moveTo>
                  <a:lnTo>
                    <a:pt x="2371722" y="0"/>
                  </a:lnTo>
                  <a:cubicBezTo>
                    <a:pt x="2434808" y="0"/>
                    <a:pt x="2486025" y="51217"/>
                    <a:pt x="2486025" y="114303"/>
                  </a:cubicBezTo>
                  <a:lnTo>
                    <a:pt x="2486025" y="857247"/>
                  </a:lnTo>
                  <a:cubicBezTo>
                    <a:pt x="2486025" y="920333"/>
                    <a:pt x="2434808" y="971550"/>
                    <a:pt x="237172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8" name="Shape 30">
              <a:extLst>
                <a:ext uri="{FF2B5EF4-FFF2-40B4-BE49-F238E27FC236}">
                  <a16:creationId xmlns:a16="http://schemas.microsoft.com/office/drawing/2014/main" id="{6181DE58-A125-4301-AF02-306945064624}"/>
                </a:ext>
              </a:extLst>
            </p:cNvPr>
            <p:cNvSpPr/>
            <p:nvPr/>
          </p:nvSpPr>
          <p:spPr>
            <a:xfrm>
              <a:off x="9252426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79" name="Shape 31">
              <a:extLst>
                <a:ext uri="{FF2B5EF4-FFF2-40B4-BE49-F238E27FC236}">
                  <a16:creationId xmlns:a16="http://schemas.microsoft.com/office/drawing/2014/main" id="{0AEB4485-E2A3-4963-93A9-3839B990B1DA}"/>
                </a:ext>
              </a:extLst>
            </p:cNvPr>
            <p:cNvSpPr/>
            <p:nvPr/>
          </p:nvSpPr>
          <p:spPr>
            <a:xfrm>
              <a:off x="9370298" y="3743325"/>
              <a:ext cx="150019" cy="17145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150019" y="68915"/>
                  </a:moveTo>
                  <a:cubicBezTo>
                    <a:pt x="145063" y="72197"/>
                    <a:pt x="139370" y="74842"/>
                    <a:pt x="133443" y="76952"/>
                  </a:cubicBezTo>
                  <a:cubicBezTo>
                    <a:pt x="117704" y="82577"/>
                    <a:pt x="97043" y="85725"/>
                    <a:pt x="75009" y="85725"/>
                  </a:cubicBezTo>
                  <a:cubicBezTo>
                    <a:pt x="52975" y="85725"/>
                    <a:pt x="32281" y="82544"/>
                    <a:pt x="16576" y="76952"/>
                  </a:cubicBezTo>
                  <a:cubicBezTo>
                    <a:pt x="10682" y="74842"/>
                    <a:pt x="4956" y="72197"/>
                    <a:pt x="0" y="68915"/>
                  </a:cubicBezTo>
                  <a:lnTo>
                    <a:pt x="0" y="96441"/>
                  </a:lnTo>
                  <a:cubicBezTo>
                    <a:pt x="0" y="111242"/>
                    <a:pt x="33587" y="123230"/>
                    <a:pt x="75009" y="123230"/>
                  </a:cubicBezTo>
                  <a:cubicBezTo>
                    <a:pt x="116432" y="123230"/>
                    <a:pt x="150019" y="111242"/>
                    <a:pt x="150019" y="96441"/>
                  </a:cubicBezTo>
                  <a:lnTo>
                    <a:pt x="150019" y="68915"/>
                  </a:lnTo>
                  <a:close/>
                  <a:moveTo>
                    <a:pt x="150019" y="42863"/>
                  </a:moveTo>
                  <a:lnTo>
                    <a:pt x="150019" y="26789"/>
                  </a:lnTo>
                  <a:cubicBezTo>
                    <a:pt x="150019" y="11988"/>
                    <a:pt x="116432" y="0"/>
                    <a:pt x="75009" y="0"/>
                  </a:cubicBezTo>
                  <a:cubicBezTo>
                    <a:pt x="33587" y="0"/>
                    <a:pt x="0" y="11988"/>
                    <a:pt x="0" y="26789"/>
                  </a:cubicBezTo>
                  <a:lnTo>
                    <a:pt x="0" y="42863"/>
                  </a:lnTo>
                  <a:cubicBezTo>
                    <a:pt x="0" y="57663"/>
                    <a:pt x="33587" y="69652"/>
                    <a:pt x="75009" y="69652"/>
                  </a:cubicBezTo>
                  <a:cubicBezTo>
                    <a:pt x="116432" y="69652"/>
                    <a:pt x="150019" y="57663"/>
                    <a:pt x="150019" y="42863"/>
                  </a:cubicBezTo>
                  <a:close/>
                  <a:moveTo>
                    <a:pt x="133443" y="130530"/>
                  </a:moveTo>
                  <a:cubicBezTo>
                    <a:pt x="117738" y="136122"/>
                    <a:pt x="97077" y="139303"/>
                    <a:pt x="75009" y="139303"/>
                  </a:cubicBezTo>
                  <a:cubicBezTo>
                    <a:pt x="52942" y="139303"/>
                    <a:pt x="32281" y="136122"/>
                    <a:pt x="16576" y="130530"/>
                  </a:cubicBezTo>
                  <a:cubicBezTo>
                    <a:pt x="10682" y="128420"/>
                    <a:pt x="4956" y="125775"/>
                    <a:pt x="0" y="122493"/>
                  </a:cubicBezTo>
                  <a:lnTo>
                    <a:pt x="0" y="144661"/>
                  </a:lnTo>
                  <a:cubicBezTo>
                    <a:pt x="0" y="159462"/>
                    <a:pt x="33587" y="171450"/>
                    <a:pt x="75009" y="171450"/>
                  </a:cubicBezTo>
                  <a:cubicBezTo>
                    <a:pt x="116432" y="171450"/>
                    <a:pt x="150019" y="159462"/>
                    <a:pt x="150019" y="144661"/>
                  </a:cubicBezTo>
                  <a:lnTo>
                    <a:pt x="150019" y="122493"/>
                  </a:lnTo>
                  <a:cubicBezTo>
                    <a:pt x="145063" y="125775"/>
                    <a:pt x="139370" y="128420"/>
                    <a:pt x="133443" y="13053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80" name="Text 32">
              <a:extLst>
                <a:ext uri="{FF2B5EF4-FFF2-40B4-BE49-F238E27FC236}">
                  <a16:creationId xmlns:a16="http://schemas.microsoft.com/office/drawing/2014/main" id="{C3016A3E-ED83-402F-A2E3-CE8D9A0D9FF1}"/>
                </a:ext>
              </a:extLst>
            </p:cNvPr>
            <p:cNvSpPr/>
            <p:nvPr/>
          </p:nvSpPr>
          <p:spPr>
            <a:xfrm>
              <a:off x="9747726" y="3714750"/>
              <a:ext cx="17037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Векторная БД</a:t>
              </a:r>
              <a:endParaRPr lang="en-US" sz="2400" dirty="0"/>
            </a:p>
          </p:txBody>
        </p:sp>
        <p:sp>
          <p:nvSpPr>
            <p:cNvPr id="181" name="Text 33">
              <a:extLst>
                <a:ext uri="{FF2B5EF4-FFF2-40B4-BE49-F238E27FC236}">
                  <a16:creationId xmlns:a16="http://schemas.microsoft.com/office/drawing/2014/main" id="{892792C8-083A-473F-ACF9-47C729EF94AE}"/>
                </a:ext>
              </a:extLst>
            </p:cNvPr>
            <p:cNvSpPr/>
            <p:nvPr/>
          </p:nvSpPr>
          <p:spPr>
            <a:xfrm>
              <a:off x="9252426" y="4095750"/>
              <a:ext cx="22288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Метаданные 1С для RAG</a:t>
              </a:r>
              <a:endParaRPr lang="en-US" sz="2400" dirty="0"/>
            </a:p>
          </p:txBody>
        </p:sp>
      </p:grpSp>
      <p:grpSp>
        <p:nvGrpSpPr>
          <p:cNvPr id="182" name="Группа 181">
            <a:extLst>
              <a:ext uri="{FF2B5EF4-FFF2-40B4-BE49-F238E27FC236}">
                <a16:creationId xmlns:a16="http://schemas.microsoft.com/office/drawing/2014/main" id="{1A74BB26-F65C-4696-95B2-E50A8B588B03}"/>
              </a:ext>
            </a:extLst>
          </p:cNvPr>
          <p:cNvGrpSpPr/>
          <p:nvPr/>
        </p:nvGrpSpPr>
        <p:grpSpPr>
          <a:xfrm>
            <a:off x="381000" y="7981338"/>
            <a:ext cx="11426825" cy="1028700"/>
            <a:chOff x="381000" y="4876800"/>
            <a:chExt cx="11426825" cy="1028700"/>
          </a:xfrm>
        </p:grpSpPr>
        <p:sp>
          <p:nvSpPr>
            <p:cNvPr id="183" name="Shape 34">
              <a:extLst>
                <a:ext uri="{FF2B5EF4-FFF2-40B4-BE49-F238E27FC236}">
                  <a16:creationId xmlns:a16="http://schemas.microsoft.com/office/drawing/2014/main" id="{8A006D8E-E4DB-4AB0-AFC5-A1861A3D40F4}"/>
                </a:ext>
              </a:extLst>
            </p:cNvPr>
            <p:cNvSpPr/>
            <p:nvPr/>
          </p:nvSpPr>
          <p:spPr>
            <a:xfrm>
              <a:off x="3810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4" name="Shape 35">
              <a:extLst>
                <a:ext uri="{FF2B5EF4-FFF2-40B4-BE49-F238E27FC236}">
                  <a16:creationId xmlns:a16="http://schemas.microsoft.com/office/drawing/2014/main" id="{863D1BE5-D742-4AB9-AFEA-5246AF8A86B6}"/>
                </a:ext>
              </a:extLst>
            </p:cNvPr>
            <p:cNvSpPr/>
            <p:nvPr/>
          </p:nvSpPr>
          <p:spPr>
            <a:xfrm>
              <a:off x="2120900" y="5029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67241"/>
                  </a:moveTo>
                  <a:lnTo>
                    <a:pt x="181541" y="110103"/>
                  </a:lnTo>
                  <a:cubicBezTo>
                    <a:pt x="177433" y="114211"/>
                    <a:pt x="171316" y="115416"/>
                    <a:pt x="165958" y="113184"/>
                  </a:cubicBezTo>
                  <a:cubicBezTo>
                    <a:pt x="160600" y="110951"/>
                    <a:pt x="157163" y="105772"/>
                    <a:pt x="157163" y="100013"/>
                  </a:cubicBezTo>
                  <a:lnTo>
                    <a:pt x="157163" y="71438"/>
                  </a:lnTo>
                  <a:lnTo>
                    <a:pt x="14288" y="71438"/>
                  </a:lnTo>
                  <a:cubicBezTo>
                    <a:pt x="6385" y="71438"/>
                    <a:pt x="0" y="65053"/>
                    <a:pt x="0" y="57150"/>
                  </a:cubicBezTo>
                  <a:cubicBezTo>
                    <a:pt x="0" y="49247"/>
                    <a:pt x="6385" y="42863"/>
                    <a:pt x="14288" y="42863"/>
                  </a:cubicBezTo>
                  <a:lnTo>
                    <a:pt x="157163" y="42863"/>
                  </a:lnTo>
                  <a:lnTo>
                    <a:pt x="157163" y="14288"/>
                  </a:lnTo>
                  <a:cubicBezTo>
                    <a:pt x="157163" y="8528"/>
                    <a:pt x="160645" y="3304"/>
                    <a:pt x="166003" y="1072"/>
                  </a:cubicBezTo>
                  <a:cubicBezTo>
                    <a:pt x="171361" y="-1161"/>
                    <a:pt x="177478" y="89"/>
                    <a:pt x="181585" y="4152"/>
                  </a:cubicBezTo>
                  <a:lnTo>
                    <a:pt x="224448" y="47015"/>
                  </a:lnTo>
                  <a:cubicBezTo>
                    <a:pt x="230029" y="52596"/>
                    <a:pt x="230029" y="61659"/>
                    <a:pt x="224448" y="67241"/>
                  </a:cubicBezTo>
                  <a:close/>
                  <a:moveTo>
                    <a:pt x="47015" y="224403"/>
                  </a:moveTo>
                  <a:lnTo>
                    <a:pt x="4152" y="181541"/>
                  </a:lnTo>
                  <a:cubicBezTo>
                    <a:pt x="-1429" y="175959"/>
                    <a:pt x="-1429" y="166896"/>
                    <a:pt x="4152" y="161315"/>
                  </a:cubicBezTo>
                  <a:lnTo>
                    <a:pt x="47015" y="118452"/>
                  </a:lnTo>
                  <a:cubicBezTo>
                    <a:pt x="51122" y="114345"/>
                    <a:pt x="57239" y="113139"/>
                    <a:pt x="62597" y="115372"/>
                  </a:cubicBezTo>
                  <a:cubicBezTo>
                    <a:pt x="67955" y="117604"/>
                    <a:pt x="71438" y="122828"/>
                    <a:pt x="71438" y="128588"/>
                  </a:cubicBezTo>
                  <a:lnTo>
                    <a:pt x="71438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cubicBezTo>
                    <a:pt x="228600" y="179353"/>
                    <a:pt x="222215" y="185738"/>
                    <a:pt x="214313" y="185738"/>
                  </a:cubicBezTo>
                  <a:lnTo>
                    <a:pt x="71438" y="185738"/>
                  </a:lnTo>
                  <a:lnTo>
                    <a:pt x="71438" y="214313"/>
                  </a:lnTo>
                  <a:cubicBezTo>
                    <a:pt x="71438" y="220072"/>
                    <a:pt x="67955" y="225296"/>
                    <a:pt x="62597" y="227528"/>
                  </a:cubicBezTo>
                  <a:cubicBezTo>
                    <a:pt x="57239" y="229761"/>
                    <a:pt x="51122" y="228511"/>
                    <a:pt x="47015" y="22444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85" name="Text 36">
              <a:extLst>
                <a:ext uri="{FF2B5EF4-FFF2-40B4-BE49-F238E27FC236}">
                  <a16:creationId xmlns:a16="http://schemas.microsoft.com/office/drawing/2014/main" id="{51BA2F04-C810-484E-B178-0AACE474447D}"/>
                </a:ext>
              </a:extLst>
            </p:cNvPr>
            <p:cNvSpPr/>
            <p:nvPr/>
          </p:nvSpPr>
          <p:spPr>
            <a:xfrm>
              <a:off x="4953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REST API</a:t>
              </a:r>
              <a:endParaRPr lang="en-US" sz="2800" dirty="0"/>
            </a:p>
          </p:txBody>
        </p:sp>
        <p:sp>
          <p:nvSpPr>
            <p:cNvPr id="186" name="Text 37">
              <a:extLst>
                <a:ext uri="{FF2B5EF4-FFF2-40B4-BE49-F238E27FC236}">
                  <a16:creationId xmlns:a16="http://schemas.microsoft.com/office/drawing/2014/main" id="{EC69572E-B808-4CE4-A6CE-3CFE315378B6}"/>
                </a:ext>
              </a:extLst>
            </p:cNvPr>
            <p:cNvSpPr/>
            <p:nvPr/>
          </p:nvSpPr>
          <p:spPr>
            <a:xfrm>
              <a:off x="500063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JSON формат</a:t>
              </a:r>
              <a:endParaRPr lang="en-US" sz="2800" dirty="0"/>
            </a:p>
          </p:txBody>
        </p:sp>
        <p:sp>
          <p:nvSpPr>
            <p:cNvPr id="187" name="Shape 38">
              <a:extLst>
                <a:ext uri="{FF2B5EF4-FFF2-40B4-BE49-F238E27FC236}">
                  <a16:creationId xmlns:a16="http://schemas.microsoft.com/office/drawing/2014/main" id="{06DC80C3-B719-4ADA-B23D-082D0D75B477}"/>
                </a:ext>
              </a:extLst>
            </p:cNvPr>
            <p:cNvSpPr/>
            <p:nvPr/>
          </p:nvSpPr>
          <p:spPr>
            <a:xfrm>
              <a:off x="42418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8" name="Shape 39">
              <a:extLst>
                <a:ext uri="{FF2B5EF4-FFF2-40B4-BE49-F238E27FC236}">
                  <a16:creationId xmlns:a16="http://schemas.microsoft.com/office/drawing/2014/main" id="{556AEB5B-C879-4A7B-A98E-1CF094D29AF1}"/>
                </a:ext>
              </a:extLst>
            </p:cNvPr>
            <p:cNvSpPr/>
            <p:nvPr/>
          </p:nvSpPr>
          <p:spPr>
            <a:xfrm>
              <a:off x="5995988" y="50292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51269" y="-4420"/>
                  </a:moveTo>
                  <a:cubicBezTo>
                    <a:pt x="156582" y="-580"/>
                    <a:pt x="158547" y="6385"/>
                    <a:pt x="156136" y="12457"/>
                  </a:cubicBezTo>
                  <a:lnTo>
                    <a:pt x="121131" y="100013"/>
                  </a:lnTo>
                  <a:lnTo>
                    <a:pt x="185738" y="100013"/>
                  </a:lnTo>
                  <a:cubicBezTo>
                    <a:pt x="191765" y="100013"/>
                    <a:pt x="197123" y="103763"/>
                    <a:pt x="199177" y="109433"/>
                  </a:cubicBezTo>
                  <a:cubicBezTo>
                    <a:pt x="201231" y="115104"/>
                    <a:pt x="199489" y="121444"/>
                    <a:pt x="194890" y="125284"/>
                  </a:cubicBezTo>
                  <a:lnTo>
                    <a:pt x="66303" y="232440"/>
                  </a:lnTo>
                  <a:cubicBezTo>
                    <a:pt x="61258" y="236637"/>
                    <a:pt x="54069" y="236860"/>
                    <a:pt x="48756" y="233020"/>
                  </a:cubicBezTo>
                  <a:cubicBezTo>
                    <a:pt x="43443" y="229180"/>
                    <a:pt x="41478" y="222215"/>
                    <a:pt x="43889" y="216143"/>
                  </a:cubicBezTo>
                  <a:lnTo>
                    <a:pt x="78894" y="128588"/>
                  </a:lnTo>
                  <a:lnTo>
                    <a:pt x="14288" y="128588"/>
                  </a:lnTo>
                  <a:cubicBezTo>
                    <a:pt x="8260" y="128588"/>
                    <a:pt x="2902" y="124837"/>
                    <a:pt x="848" y="119167"/>
                  </a:cubicBezTo>
                  <a:cubicBezTo>
                    <a:pt x="-1206" y="113496"/>
                    <a:pt x="536" y="107156"/>
                    <a:pt x="5135" y="103316"/>
                  </a:cubicBezTo>
                  <a:lnTo>
                    <a:pt x="133722" y="-3840"/>
                  </a:lnTo>
                  <a:cubicBezTo>
                    <a:pt x="138767" y="-8037"/>
                    <a:pt x="145956" y="-8260"/>
                    <a:pt x="151269" y="-442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89" name="Text 40">
              <a:extLst>
                <a:ext uri="{FF2B5EF4-FFF2-40B4-BE49-F238E27FC236}">
                  <a16:creationId xmlns:a16="http://schemas.microsoft.com/office/drawing/2014/main" id="{0EFBE83F-6CF2-4540-917A-86E0DE807E2A}"/>
                </a:ext>
              </a:extLst>
            </p:cNvPr>
            <p:cNvSpPr/>
            <p:nvPr/>
          </p:nvSpPr>
          <p:spPr>
            <a:xfrm>
              <a:off x="43561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Async</a:t>
              </a:r>
              <a:endParaRPr lang="en-US" sz="2800" dirty="0"/>
            </a:p>
          </p:txBody>
        </p:sp>
        <p:sp>
          <p:nvSpPr>
            <p:cNvPr id="190" name="Text 41">
              <a:extLst>
                <a:ext uri="{FF2B5EF4-FFF2-40B4-BE49-F238E27FC236}">
                  <a16:creationId xmlns:a16="http://schemas.microsoft.com/office/drawing/2014/main" id="{3304A53F-DB0C-4007-8DEF-F4A64DC539FA}"/>
                </a:ext>
              </a:extLst>
            </p:cNvPr>
            <p:cNvSpPr/>
            <p:nvPr/>
          </p:nvSpPr>
          <p:spPr>
            <a:xfrm>
              <a:off x="4360862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Асинхронная обработка</a:t>
              </a:r>
              <a:endParaRPr lang="en-US" sz="2800" dirty="0"/>
            </a:p>
          </p:txBody>
        </p:sp>
        <p:sp>
          <p:nvSpPr>
            <p:cNvPr id="191" name="Shape 42">
              <a:extLst>
                <a:ext uri="{FF2B5EF4-FFF2-40B4-BE49-F238E27FC236}">
                  <a16:creationId xmlns:a16="http://schemas.microsoft.com/office/drawing/2014/main" id="{86D08080-D4E9-4FCD-847E-078FAAD89E38}"/>
                </a:ext>
              </a:extLst>
            </p:cNvPr>
            <p:cNvSpPr/>
            <p:nvPr/>
          </p:nvSpPr>
          <p:spPr>
            <a:xfrm>
              <a:off x="81026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2" name="Shape 43">
              <a:extLst>
                <a:ext uri="{FF2B5EF4-FFF2-40B4-BE49-F238E27FC236}">
                  <a16:creationId xmlns:a16="http://schemas.microsoft.com/office/drawing/2014/main" id="{4705E419-20ED-43B0-B7EF-806BF775A3CD}"/>
                </a:ext>
              </a:extLst>
            </p:cNvPr>
            <p:cNvSpPr/>
            <p:nvPr/>
          </p:nvSpPr>
          <p:spPr>
            <a:xfrm>
              <a:off x="9871075" y="50292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57150" y="42863"/>
                  </a:moveTo>
                  <a:lnTo>
                    <a:pt x="57150" y="71438"/>
                  </a:lnTo>
                  <a:lnTo>
                    <a:pt x="114300" y="71438"/>
                  </a:lnTo>
                  <a:lnTo>
                    <a:pt x="114300" y="42863"/>
                  </a:lnTo>
                  <a:cubicBezTo>
                    <a:pt x="114300" y="27102"/>
                    <a:pt x="101486" y="14288"/>
                    <a:pt x="85725" y="14288"/>
                  </a:cubicBezTo>
                  <a:cubicBezTo>
                    <a:pt x="69964" y="14288"/>
                    <a:pt x="57150" y="27102"/>
                    <a:pt x="57150" y="42863"/>
                  </a:cubicBezTo>
                  <a:close/>
                  <a:moveTo>
                    <a:pt x="28575" y="71438"/>
                  </a:moveTo>
                  <a:lnTo>
                    <a:pt x="28575" y="42863"/>
                  </a:lnTo>
                  <a:cubicBezTo>
                    <a:pt x="28575" y="11296"/>
                    <a:pt x="54159" y="-14287"/>
                    <a:pt x="85725" y="-14287"/>
                  </a:cubicBezTo>
                  <a:cubicBezTo>
                    <a:pt x="117291" y="-14287"/>
                    <a:pt x="142875" y="11296"/>
                    <a:pt x="142875" y="42863"/>
                  </a:cubicBezTo>
                  <a:lnTo>
                    <a:pt x="142875" y="71438"/>
                  </a:lnTo>
                  <a:cubicBezTo>
                    <a:pt x="158636" y="71438"/>
                    <a:pt x="171450" y="84252"/>
                    <a:pt x="171450" y="100013"/>
                  </a:cubicBezTo>
                  <a:lnTo>
                    <a:pt x="171450" y="200025"/>
                  </a:lnTo>
                  <a:cubicBezTo>
                    <a:pt x="171450" y="215786"/>
                    <a:pt x="158636" y="228600"/>
                    <a:pt x="14287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100013"/>
                  </a:lnTo>
                  <a:cubicBezTo>
                    <a:pt x="0" y="84252"/>
                    <a:pt x="12814" y="71438"/>
                    <a:pt x="28575" y="7143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93" name="Text 44">
              <a:extLst>
                <a:ext uri="{FF2B5EF4-FFF2-40B4-BE49-F238E27FC236}">
                  <a16:creationId xmlns:a16="http://schemas.microsoft.com/office/drawing/2014/main" id="{D670405F-15D6-483F-98C7-E505A8203CFC}"/>
                </a:ext>
              </a:extLst>
            </p:cNvPr>
            <p:cNvSpPr/>
            <p:nvPr/>
          </p:nvSpPr>
          <p:spPr>
            <a:xfrm>
              <a:off x="82169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Security</a:t>
              </a:r>
              <a:endParaRPr lang="en-US" sz="2800" dirty="0"/>
            </a:p>
          </p:txBody>
        </p:sp>
        <p:sp>
          <p:nvSpPr>
            <p:cNvPr id="194" name="Text 45">
              <a:extLst>
                <a:ext uri="{FF2B5EF4-FFF2-40B4-BE49-F238E27FC236}">
                  <a16:creationId xmlns:a16="http://schemas.microsoft.com/office/drawing/2014/main" id="{9194640B-DC44-4239-8955-5629F01D2ED4}"/>
                </a:ext>
              </a:extLst>
            </p:cNvPr>
            <p:cNvSpPr/>
            <p:nvPr/>
          </p:nvSpPr>
          <p:spPr>
            <a:xfrm>
              <a:off x="8221663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Аутентификация</a:t>
              </a:r>
              <a:endParaRPr lang="en-US" sz="28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77BA6CDB-8555-4B97-B45D-55D45208800D}"/>
              </a:ext>
            </a:extLst>
          </p:cNvPr>
          <p:cNvGrpSpPr/>
          <p:nvPr/>
        </p:nvGrpSpPr>
        <p:grpSpPr>
          <a:xfrm>
            <a:off x="381000" y="381000"/>
            <a:ext cx="4486275" cy="533400"/>
            <a:chOff x="381000" y="381000"/>
            <a:chExt cx="4486275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85725" y="28575"/>
                  </a:moveTo>
                  <a:cubicBezTo>
                    <a:pt x="85725" y="20672"/>
                    <a:pt x="92110" y="14288"/>
                    <a:pt x="100013" y="14288"/>
                  </a:cubicBezTo>
                  <a:lnTo>
                    <a:pt x="128588" y="14288"/>
                  </a:lnTo>
                  <a:cubicBezTo>
                    <a:pt x="136490" y="14288"/>
                    <a:pt x="142875" y="20672"/>
                    <a:pt x="142875" y="28575"/>
                  </a:cubicBezTo>
                  <a:lnTo>
                    <a:pt x="142875" y="57150"/>
                  </a:lnTo>
                  <a:cubicBezTo>
                    <a:pt x="142875" y="65053"/>
                    <a:pt x="136490" y="71438"/>
                    <a:pt x="128588" y="71438"/>
                  </a:cubicBezTo>
                  <a:lnTo>
                    <a:pt x="125016" y="71438"/>
                  </a:lnTo>
                  <a:lnTo>
                    <a:pt x="125016" y="100013"/>
                  </a:lnTo>
                  <a:lnTo>
                    <a:pt x="178594" y="100013"/>
                  </a:lnTo>
                  <a:cubicBezTo>
                    <a:pt x="196364" y="100013"/>
                    <a:pt x="210741" y="114389"/>
                    <a:pt x="210741" y="132159"/>
                  </a:cubicBezTo>
                  <a:lnTo>
                    <a:pt x="210741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lnTo>
                    <a:pt x="228600" y="200025"/>
                  </a:lnTo>
                  <a:cubicBezTo>
                    <a:pt x="228600" y="207928"/>
                    <a:pt x="222215" y="214313"/>
                    <a:pt x="214313" y="214313"/>
                  </a:cubicBezTo>
                  <a:lnTo>
                    <a:pt x="185738" y="214313"/>
                  </a:lnTo>
                  <a:cubicBezTo>
                    <a:pt x="177835" y="214313"/>
                    <a:pt x="171450" y="207928"/>
                    <a:pt x="171450" y="200025"/>
                  </a:cubicBezTo>
                  <a:lnTo>
                    <a:pt x="171450" y="171450"/>
                  </a:lnTo>
                  <a:cubicBezTo>
                    <a:pt x="171450" y="163547"/>
                    <a:pt x="177835" y="157163"/>
                    <a:pt x="185738" y="157163"/>
                  </a:cubicBezTo>
                  <a:lnTo>
                    <a:pt x="189309" y="157163"/>
                  </a:lnTo>
                  <a:lnTo>
                    <a:pt x="189309" y="132159"/>
                  </a:lnTo>
                  <a:cubicBezTo>
                    <a:pt x="189309" y="126221"/>
                    <a:pt x="184532" y="121444"/>
                    <a:pt x="178594" y="121444"/>
                  </a:cubicBezTo>
                  <a:lnTo>
                    <a:pt x="125016" y="121444"/>
                  </a:lnTo>
                  <a:lnTo>
                    <a:pt x="125016" y="157163"/>
                  </a:lnTo>
                  <a:lnTo>
                    <a:pt x="128588" y="157163"/>
                  </a:lnTo>
                  <a:cubicBezTo>
                    <a:pt x="136490" y="157163"/>
                    <a:pt x="142875" y="163547"/>
                    <a:pt x="142875" y="171450"/>
                  </a:cubicBezTo>
                  <a:lnTo>
                    <a:pt x="142875" y="200025"/>
                  </a:lnTo>
                  <a:cubicBezTo>
                    <a:pt x="142875" y="207928"/>
                    <a:pt x="136490" y="214313"/>
                    <a:pt x="128588" y="214313"/>
                  </a:cubicBezTo>
                  <a:lnTo>
                    <a:pt x="100013" y="214313"/>
                  </a:lnTo>
                  <a:cubicBezTo>
                    <a:pt x="92110" y="214313"/>
                    <a:pt x="85725" y="207928"/>
                    <a:pt x="85725" y="200025"/>
                  </a:cubicBezTo>
                  <a:lnTo>
                    <a:pt x="85725" y="171450"/>
                  </a:lnTo>
                  <a:cubicBezTo>
                    <a:pt x="85725" y="163547"/>
                    <a:pt x="92110" y="157163"/>
                    <a:pt x="100013" y="157163"/>
                  </a:cubicBezTo>
                  <a:lnTo>
                    <a:pt x="103584" y="157163"/>
                  </a:lnTo>
                  <a:lnTo>
                    <a:pt x="103584" y="121444"/>
                  </a:lnTo>
                  <a:lnTo>
                    <a:pt x="50006" y="121444"/>
                  </a:lnTo>
                  <a:cubicBezTo>
                    <a:pt x="44068" y="121444"/>
                    <a:pt x="39291" y="126221"/>
                    <a:pt x="39291" y="132159"/>
                  </a:cubicBezTo>
                  <a:lnTo>
                    <a:pt x="39291" y="157163"/>
                  </a:lnTo>
                  <a:lnTo>
                    <a:pt x="42863" y="157163"/>
                  </a:lnTo>
                  <a:cubicBezTo>
                    <a:pt x="50765" y="157163"/>
                    <a:pt x="57150" y="163547"/>
                    <a:pt x="57150" y="171450"/>
                  </a:cubicBezTo>
                  <a:lnTo>
                    <a:pt x="57150" y="200025"/>
                  </a:lnTo>
                  <a:cubicBezTo>
                    <a:pt x="57150" y="207928"/>
                    <a:pt x="50765" y="214313"/>
                    <a:pt x="42863" y="214313"/>
                  </a:cubicBezTo>
                  <a:lnTo>
                    <a:pt x="14288" y="214313"/>
                  </a:lnTo>
                  <a:cubicBezTo>
                    <a:pt x="6385" y="214313"/>
                    <a:pt x="0" y="207928"/>
                    <a:pt x="0" y="200025"/>
                  </a:cubicBezTo>
                  <a:lnTo>
                    <a:pt x="0" y="171450"/>
                  </a:lnTo>
                  <a:cubicBezTo>
                    <a:pt x="0" y="163547"/>
                    <a:pt x="6385" y="157163"/>
                    <a:pt x="14288" y="157163"/>
                  </a:cubicBezTo>
                  <a:lnTo>
                    <a:pt x="17859" y="157163"/>
                  </a:lnTo>
                  <a:lnTo>
                    <a:pt x="17859" y="132159"/>
                  </a:lnTo>
                  <a:cubicBezTo>
                    <a:pt x="17859" y="114389"/>
                    <a:pt x="32236" y="100013"/>
                    <a:pt x="50006" y="100013"/>
                  </a:cubicBezTo>
                  <a:lnTo>
                    <a:pt x="103584" y="100013"/>
                  </a:lnTo>
                  <a:lnTo>
                    <a:pt x="103584" y="71438"/>
                  </a:lnTo>
                  <a:lnTo>
                    <a:pt x="100013" y="71438"/>
                  </a:lnTo>
                  <a:cubicBezTo>
                    <a:pt x="92110" y="71438"/>
                    <a:pt x="85725" y="65053"/>
                    <a:pt x="85725" y="57150"/>
                  </a:cubicBezTo>
                  <a:lnTo>
                    <a:pt x="85725" y="2857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38004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Архитектура решения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04849" y="857249"/>
              <a:ext cx="4162425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DB3AFA81-A97A-4782-83F0-E538ECE04FCB}"/>
              </a:ext>
            </a:extLst>
          </p:cNvPr>
          <p:cNvGrpSpPr/>
          <p:nvPr/>
        </p:nvGrpSpPr>
        <p:grpSpPr>
          <a:xfrm>
            <a:off x="381000" y="1450182"/>
            <a:ext cx="11430000" cy="3769518"/>
            <a:chOff x="381000" y="1450182"/>
            <a:chExt cx="11430000" cy="3769518"/>
          </a:xfrm>
        </p:grpSpPr>
        <p:sp>
          <p:nvSpPr>
            <p:cNvPr id="6" name="Shape 4"/>
            <p:cNvSpPr/>
            <p:nvPr/>
          </p:nvSpPr>
          <p:spPr>
            <a:xfrm>
              <a:off x="381000" y="1450182"/>
              <a:ext cx="11430000" cy="3769518"/>
            </a:xfrm>
            <a:custGeom>
              <a:avLst/>
              <a:gdLst/>
              <a:ahLst/>
              <a:cxnLst/>
              <a:rect l="l" t="t" r="r" b="b"/>
              <a:pathLst>
                <a:path w="11430000" h="2971800">
                  <a:moveTo>
                    <a:pt x="152394" y="0"/>
                  </a:moveTo>
                  <a:lnTo>
                    <a:pt x="11277606" y="0"/>
                  </a:lnTo>
                  <a:cubicBezTo>
                    <a:pt x="11361771" y="0"/>
                    <a:pt x="11430000" y="68229"/>
                    <a:pt x="11430000" y="152394"/>
                  </a:cubicBezTo>
                  <a:lnTo>
                    <a:pt x="11430000" y="2819406"/>
                  </a:lnTo>
                  <a:cubicBezTo>
                    <a:pt x="11430000" y="2903571"/>
                    <a:pt x="11361771" y="2971800"/>
                    <a:pt x="11277606" y="2971800"/>
                  </a:cubicBezTo>
                  <a:lnTo>
                    <a:pt x="152394" y="2971800"/>
                  </a:lnTo>
                  <a:cubicBezTo>
                    <a:pt x="68229" y="2971800"/>
                    <a:pt x="0" y="2903571"/>
                    <a:pt x="0" y="28194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19125" y="1952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D700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781050" y="2114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888206" y="2219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21431" y="10716"/>
                  </a:moveTo>
                  <a:cubicBezTo>
                    <a:pt x="9611" y="10716"/>
                    <a:pt x="0" y="20326"/>
                    <a:pt x="0" y="32147"/>
                  </a:cubicBezTo>
                  <a:lnTo>
                    <a:pt x="0" y="117872"/>
                  </a:lnTo>
                  <a:cubicBezTo>
                    <a:pt x="0" y="129693"/>
                    <a:pt x="9611" y="139303"/>
                    <a:pt x="21431" y="139303"/>
                  </a:cubicBezTo>
                  <a:lnTo>
                    <a:pt x="69652" y="139303"/>
                  </a:lnTo>
                  <a:lnTo>
                    <a:pt x="64294" y="155377"/>
                  </a:lnTo>
                  <a:lnTo>
                    <a:pt x="40184" y="155377"/>
                  </a:lnTo>
                  <a:cubicBezTo>
                    <a:pt x="35730" y="155377"/>
                    <a:pt x="32147" y="158960"/>
                    <a:pt x="32147" y="163413"/>
                  </a:cubicBezTo>
                  <a:cubicBezTo>
                    <a:pt x="32147" y="167867"/>
                    <a:pt x="35730" y="171450"/>
                    <a:pt x="40184" y="171450"/>
                  </a:cubicBezTo>
                  <a:lnTo>
                    <a:pt x="131266" y="171450"/>
                  </a:lnTo>
                  <a:cubicBezTo>
                    <a:pt x="135720" y="171450"/>
                    <a:pt x="139303" y="167867"/>
                    <a:pt x="139303" y="163413"/>
                  </a:cubicBezTo>
                  <a:cubicBezTo>
                    <a:pt x="139303" y="158960"/>
                    <a:pt x="135720" y="155377"/>
                    <a:pt x="131266" y="155377"/>
                  </a:cubicBezTo>
                  <a:lnTo>
                    <a:pt x="107156" y="155377"/>
                  </a:lnTo>
                  <a:lnTo>
                    <a:pt x="101798" y="139303"/>
                  </a:lnTo>
                  <a:lnTo>
                    <a:pt x="150019" y="139303"/>
                  </a:lnTo>
                  <a:cubicBezTo>
                    <a:pt x="161839" y="139303"/>
                    <a:pt x="171450" y="129693"/>
                    <a:pt x="171450" y="117872"/>
                  </a:cubicBezTo>
                  <a:lnTo>
                    <a:pt x="171450" y="32147"/>
                  </a:lnTo>
                  <a:cubicBezTo>
                    <a:pt x="171450" y="20326"/>
                    <a:pt x="161839" y="10716"/>
                    <a:pt x="150019" y="10716"/>
                  </a:cubicBezTo>
                  <a:lnTo>
                    <a:pt x="21431" y="10716"/>
                  </a:lnTo>
                  <a:close/>
                  <a:moveTo>
                    <a:pt x="32147" y="32147"/>
                  </a:moveTo>
                  <a:lnTo>
                    <a:pt x="139303" y="32147"/>
                  </a:lnTo>
                  <a:cubicBezTo>
                    <a:pt x="145230" y="32147"/>
                    <a:pt x="150019" y="36935"/>
                    <a:pt x="150019" y="42863"/>
                  </a:cubicBezTo>
                  <a:lnTo>
                    <a:pt x="150019" y="96441"/>
                  </a:lnTo>
                  <a:cubicBezTo>
                    <a:pt x="150019" y="102368"/>
                    <a:pt x="145230" y="107156"/>
                    <a:pt x="139303" y="107156"/>
                  </a:cubicBezTo>
                  <a:lnTo>
                    <a:pt x="32147" y="107156"/>
                  </a:lnTo>
                  <a:cubicBezTo>
                    <a:pt x="26220" y="107156"/>
                    <a:pt x="21431" y="102368"/>
                    <a:pt x="21431" y="96441"/>
                  </a:cubicBezTo>
                  <a:lnTo>
                    <a:pt x="21431" y="42863"/>
                  </a:lnTo>
                  <a:cubicBezTo>
                    <a:pt x="21431" y="36935"/>
                    <a:pt x="26220" y="32147"/>
                    <a:pt x="32147" y="3214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1276349" y="2171700"/>
              <a:ext cx="417154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1С-клиент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81050" y="2571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Пользовательский интерфейс</a:t>
              </a:r>
              <a:endParaRPr lang="en-US" sz="2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101499" y="30861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619125" y="3476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D700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781050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888206" y="3743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75009" y="0"/>
                  </a:moveTo>
                  <a:cubicBezTo>
                    <a:pt x="86830" y="0"/>
                    <a:pt x="96441" y="7200"/>
                    <a:pt x="96441" y="16073"/>
                  </a:cubicBezTo>
                  <a:cubicBezTo>
                    <a:pt x="96441" y="19556"/>
                    <a:pt x="94967" y="22771"/>
                    <a:pt x="92422" y="25416"/>
                  </a:cubicBezTo>
                  <a:cubicBezTo>
                    <a:pt x="90212" y="27727"/>
                    <a:pt x="88404" y="30540"/>
                    <a:pt x="88404" y="33754"/>
                  </a:cubicBezTo>
                  <a:cubicBezTo>
                    <a:pt x="88404" y="38777"/>
                    <a:pt x="92489" y="42863"/>
                    <a:pt x="97512" y="42863"/>
                  </a:cubicBezTo>
                  <a:lnTo>
                    <a:pt x="112514" y="42863"/>
                  </a:lnTo>
                  <a:cubicBezTo>
                    <a:pt x="121388" y="42863"/>
                    <a:pt x="128588" y="50062"/>
                    <a:pt x="128588" y="58936"/>
                  </a:cubicBezTo>
                  <a:lnTo>
                    <a:pt x="128588" y="73938"/>
                  </a:lnTo>
                  <a:cubicBezTo>
                    <a:pt x="128588" y="78961"/>
                    <a:pt x="132673" y="83046"/>
                    <a:pt x="137696" y="83046"/>
                  </a:cubicBezTo>
                  <a:cubicBezTo>
                    <a:pt x="140877" y="83046"/>
                    <a:pt x="143723" y="81238"/>
                    <a:pt x="146034" y="79028"/>
                  </a:cubicBezTo>
                  <a:cubicBezTo>
                    <a:pt x="148679" y="76516"/>
                    <a:pt x="151894" y="75009"/>
                    <a:pt x="155377" y="75009"/>
                  </a:cubicBezTo>
                  <a:cubicBezTo>
                    <a:pt x="164250" y="75009"/>
                    <a:pt x="171450" y="84620"/>
                    <a:pt x="171450" y="96441"/>
                  </a:cubicBezTo>
                  <a:cubicBezTo>
                    <a:pt x="171450" y="108261"/>
                    <a:pt x="164250" y="117872"/>
                    <a:pt x="155377" y="117872"/>
                  </a:cubicBezTo>
                  <a:cubicBezTo>
                    <a:pt x="151894" y="117872"/>
                    <a:pt x="148646" y="116398"/>
                    <a:pt x="146034" y="113854"/>
                  </a:cubicBezTo>
                  <a:cubicBezTo>
                    <a:pt x="143723" y="111643"/>
                    <a:pt x="140910" y="109835"/>
                    <a:pt x="137696" y="109835"/>
                  </a:cubicBezTo>
                  <a:cubicBezTo>
                    <a:pt x="132673" y="109835"/>
                    <a:pt x="128588" y="113920"/>
                    <a:pt x="128588" y="118943"/>
                  </a:cubicBezTo>
                  <a:lnTo>
                    <a:pt x="128588" y="155377"/>
                  </a:lnTo>
                  <a:cubicBezTo>
                    <a:pt x="128588" y="164250"/>
                    <a:pt x="121388" y="171450"/>
                    <a:pt x="112514" y="171450"/>
                  </a:cubicBezTo>
                  <a:lnTo>
                    <a:pt x="93494" y="171450"/>
                  </a:lnTo>
                  <a:cubicBezTo>
                    <a:pt x="89208" y="171450"/>
                    <a:pt x="85725" y="167967"/>
                    <a:pt x="85725" y="163681"/>
                  </a:cubicBezTo>
                  <a:cubicBezTo>
                    <a:pt x="85725" y="160600"/>
                    <a:pt x="87667" y="157888"/>
                    <a:pt x="90145" y="156046"/>
                  </a:cubicBezTo>
                  <a:cubicBezTo>
                    <a:pt x="94030" y="153133"/>
                    <a:pt x="96441" y="149115"/>
                    <a:pt x="96441" y="144661"/>
                  </a:cubicBezTo>
                  <a:cubicBezTo>
                    <a:pt x="96441" y="135787"/>
                    <a:pt x="86830" y="128588"/>
                    <a:pt x="75009" y="128588"/>
                  </a:cubicBezTo>
                  <a:cubicBezTo>
                    <a:pt x="63189" y="128588"/>
                    <a:pt x="53578" y="135787"/>
                    <a:pt x="53578" y="144661"/>
                  </a:cubicBezTo>
                  <a:cubicBezTo>
                    <a:pt x="53578" y="149115"/>
                    <a:pt x="55989" y="153133"/>
                    <a:pt x="59874" y="156046"/>
                  </a:cubicBezTo>
                  <a:cubicBezTo>
                    <a:pt x="62352" y="157888"/>
                    <a:pt x="64294" y="160567"/>
                    <a:pt x="64294" y="163681"/>
                  </a:cubicBezTo>
                  <a:cubicBezTo>
                    <a:pt x="64294" y="167967"/>
                    <a:pt x="60811" y="171450"/>
                    <a:pt x="56525" y="171450"/>
                  </a:cubicBezTo>
                  <a:lnTo>
                    <a:pt x="16073" y="171450"/>
                  </a:lnTo>
                  <a:cubicBezTo>
                    <a:pt x="7200" y="171450"/>
                    <a:pt x="0" y="164250"/>
                    <a:pt x="0" y="155377"/>
                  </a:cubicBezTo>
                  <a:lnTo>
                    <a:pt x="0" y="114925"/>
                  </a:lnTo>
                  <a:cubicBezTo>
                    <a:pt x="0" y="110639"/>
                    <a:pt x="3483" y="107156"/>
                    <a:pt x="7769" y="107156"/>
                  </a:cubicBezTo>
                  <a:cubicBezTo>
                    <a:pt x="10850" y="107156"/>
                    <a:pt x="13562" y="109098"/>
                    <a:pt x="15404" y="111576"/>
                  </a:cubicBezTo>
                  <a:cubicBezTo>
                    <a:pt x="18317" y="115461"/>
                    <a:pt x="22335" y="117872"/>
                    <a:pt x="26789" y="117872"/>
                  </a:cubicBezTo>
                  <a:cubicBezTo>
                    <a:pt x="35663" y="117872"/>
                    <a:pt x="42863" y="108261"/>
                    <a:pt x="42863" y="96441"/>
                  </a:cubicBezTo>
                  <a:cubicBezTo>
                    <a:pt x="42863" y="84620"/>
                    <a:pt x="35663" y="75009"/>
                    <a:pt x="26789" y="75009"/>
                  </a:cubicBezTo>
                  <a:cubicBezTo>
                    <a:pt x="22335" y="75009"/>
                    <a:pt x="18317" y="77420"/>
                    <a:pt x="15404" y="81305"/>
                  </a:cubicBezTo>
                  <a:cubicBezTo>
                    <a:pt x="13562" y="83783"/>
                    <a:pt x="10883" y="85725"/>
                    <a:pt x="7769" y="85725"/>
                  </a:cubicBezTo>
                  <a:cubicBezTo>
                    <a:pt x="3483" y="85725"/>
                    <a:pt x="0" y="82242"/>
                    <a:pt x="0" y="77956"/>
                  </a:cubicBezTo>
                  <a:lnTo>
                    <a:pt x="0" y="58936"/>
                  </a:lnTo>
                  <a:cubicBezTo>
                    <a:pt x="0" y="50062"/>
                    <a:pt x="7200" y="42863"/>
                    <a:pt x="16073" y="42863"/>
                  </a:cubicBezTo>
                  <a:lnTo>
                    <a:pt x="52507" y="42863"/>
                  </a:lnTo>
                  <a:cubicBezTo>
                    <a:pt x="57530" y="42863"/>
                    <a:pt x="61615" y="38777"/>
                    <a:pt x="61615" y="33754"/>
                  </a:cubicBezTo>
                  <a:cubicBezTo>
                    <a:pt x="61615" y="30573"/>
                    <a:pt x="59807" y="27727"/>
                    <a:pt x="57596" y="25416"/>
                  </a:cubicBezTo>
                  <a:cubicBezTo>
                    <a:pt x="55085" y="22771"/>
                    <a:pt x="53578" y="19556"/>
                    <a:pt x="53578" y="16073"/>
                  </a:cubicBezTo>
                  <a:cubicBezTo>
                    <a:pt x="53578" y="7200"/>
                    <a:pt x="63189" y="0"/>
                    <a:pt x="75009" y="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1276350" y="3695700"/>
              <a:ext cx="377691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Расширение 1С</a:t>
              </a:r>
              <a:endParaRPr lang="en-US" sz="2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1050" y="4095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HTTP-сервис, чат-форма</a:t>
              </a:r>
              <a:endParaRPr lang="en-US" sz="2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955506" y="30575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0504" y="226926"/>
                  </a:moveTo>
                  <a:lnTo>
                    <a:pt x="226926" y="280504"/>
                  </a:lnTo>
                  <a:cubicBezTo>
                    <a:pt x="221791" y="285638"/>
                    <a:pt x="214145" y="287145"/>
                    <a:pt x="207448" y="284355"/>
                  </a:cubicBezTo>
                  <a:cubicBezTo>
                    <a:pt x="200751" y="281564"/>
                    <a:pt x="196453" y="275090"/>
                    <a:pt x="196453" y="267891"/>
                  </a:cubicBezTo>
                  <a:lnTo>
                    <a:pt x="196453" y="232172"/>
                  </a:lnTo>
                  <a:lnTo>
                    <a:pt x="17859" y="232172"/>
                  </a:lnTo>
                  <a:cubicBezTo>
                    <a:pt x="7981" y="232172"/>
                    <a:pt x="0" y="224191"/>
                    <a:pt x="0" y="214313"/>
                  </a:cubicBezTo>
                  <a:cubicBezTo>
                    <a:pt x="0" y="204434"/>
                    <a:pt x="7981" y="196453"/>
                    <a:pt x="17859" y="196453"/>
                  </a:cubicBezTo>
                  <a:lnTo>
                    <a:pt x="196453" y="196453"/>
                  </a:lnTo>
                  <a:lnTo>
                    <a:pt x="196453" y="160734"/>
                  </a:lnTo>
                  <a:cubicBezTo>
                    <a:pt x="196453" y="153535"/>
                    <a:pt x="200806" y="147005"/>
                    <a:pt x="207504" y="144214"/>
                  </a:cubicBezTo>
                  <a:cubicBezTo>
                    <a:pt x="214201" y="141424"/>
                    <a:pt x="221847" y="142987"/>
                    <a:pt x="226981" y="148065"/>
                  </a:cubicBezTo>
                  <a:lnTo>
                    <a:pt x="280560" y="201644"/>
                  </a:lnTo>
                  <a:cubicBezTo>
                    <a:pt x="287536" y="208620"/>
                    <a:pt x="287536" y="219949"/>
                    <a:pt x="280560" y="226926"/>
                  </a:cubicBezTo>
                  <a:close/>
                  <a:moveTo>
                    <a:pt x="5246" y="84051"/>
                  </a:moveTo>
                  <a:cubicBezTo>
                    <a:pt x="-1730" y="77074"/>
                    <a:pt x="-1730" y="65745"/>
                    <a:pt x="5246" y="58769"/>
                  </a:cubicBezTo>
                  <a:lnTo>
                    <a:pt x="58824" y="5190"/>
                  </a:lnTo>
                  <a:cubicBezTo>
                    <a:pt x="63959" y="56"/>
                    <a:pt x="71605" y="-1451"/>
                    <a:pt x="78302" y="1339"/>
                  </a:cubicBezTo>
                  <a:cubicBezTo>
                    <a:pt x="84999" y="4130"/>
                    <a:pt x="89297" y="10660"/>
                    <a:pt x="89297" y="17859"/>
                  </a:cubicBezTo>
                  <a:lnTo>
                    <a:pt x="89297" y="53578"/>
                  </a:lnTo>
                  <a:lnTo>
                    <a:pt x="267891" y="53578"/>
                  </a:lnTo>
                  <a:cubicBezTo>
                    <a:pt x="277769" y="53578"/>
                    <a:pt x="285750" y="61559"/>
                    <a:pt x="285750" y="71438"/>
                  </a:cubicBezTo>
                  <a:cubicBezTo>
                    <a:pt x="285750" y="81316"/>
                    <a:pt x="277769" y="89297"/>
                    <a:pt x="267891" y="89297"/>
                  </a:cubicBezTo>
                  <a:lnTo>
                    <a:pt x="89297" y="89297"/>
                  </a:lnTo>
                  <a:lnTo>
                    <a:pt x="89297" y="125016"/>
                  </a:lnTo>
                  <a:cubicBezTo>
                    <a:pt x="89297" y="132215"/>
                    <a:pt x="84944" y="138745"/>
                    <a:pt x="78246" y="141536"/>
                  </a:cubicBezTo>
                  <a:cubicBezTo>
                    <a:pt x="71549" y="144326"/>
                    <a:pt x="63903" y="142763"/>
                    <a:pt x="58769" y="137685"/>
                  </a:cubicBezTo>
                  <a:lnTo>
                    <a:pt x="5190" y="84106"/>
                  </a:lnTo>
                  <a:close/>
                </a:path>
              </a:pathLst>
            </a:custGeom>
            <a:solidFill>
              <a:srgbClr val="4A4A4A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6436519" y="1952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6598444" y="2114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716316" y="2219325"/>
              <a:ext cx="150019" cy="17145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147273" y="67140"/>
                  </a:moveTo>
                  <a:cubicBezTo>
                    <a:pt x="144694" y="56793"/>
                    <a:pt x="139805" y="48990"/>
                    <a:pt x="129391" y="48990"/>
                  </a:cubicBezTo>
                  <a:lnTo>
                    <a:pt x="115963" y="48990"/>
                  </a:lnTo>
                  <a:lnTo>
                    <a:pt x="115963" y="64863"/>
                  </a:lnTo>
                  <a:cubicBezTo>
                    <a:pt x="115963" y="77186"/>
                    <a:pt x="105515" y="87567"/>
                    <a:pt x="93594" y="87567"/>
                  </a:cubicBezTo>
                  <a:lnTo>
                    <a:pt x="57831" y="87567"/>
                  </a:lnTo>
                  <a:cubicBezTo>
                    <a:pt x="48053" y="87567"/>
                    <a:pt x="39949" y="95938"/>
                    <a:pt x="39949" y="105750"/>
                  </a:cubicBezTo>
                  <a:lnTo>
                    <a:pt x="39949" y="139839"/>
                  </a:lnTo>
                  <a:cubicBezTo>
                    <a:pt x="39949" y="149550"/>
                    <a:pt x="48388" y="155243"/>
                    <a:pt x="57831" y="158022"/>
                  </a:cubicBezTo>
                  <a:cubicBezTo>
                    <a:pt x="69149" y="161337"/>
                    <a:pt x="80032" y="161940"/>
                    <a:pt x="93594" y="158022"/>
                  </a:cubicBezTo>
                  <a:cubicBezTo>
                    <a:pt x="102602" y="155410"/>
                    <a:pt x="111476" y="150153"/>
                    <a:pt x="111476" y="139839"/>
                  </a:cubicBezTo>
                  <a:lnTo>
                    <a:pt x="111476" y="126210"/>
                  </a:lnTo>
                  <a:lnTo>
                    <a:pt x="75746" y="126210"/>
                  </a:lnTo>
                  <a:lnTo>
                    <a:pt x="75746" y="121656"/>
                  </a:lnTo>
                  <a:lnTo>
                    <a:pt x="129391" y="121656"/>
                  </a:lnTo>
                  <a:cubicBezTo>
                    <a:pt x="139805" y="121656"/>
                    <a:pt x="143656" y="114389"/>
                    <a:pt x="147273" y="103506"/>
                  </a:cubicBezTo>
                  <a:cubicBezTo>
                    <a:pt x="151023" y="92288"/>
                    <a:pt x="150856" y="81506"/>
                    <a:pt x="147273" y="67140"/>
                  </a:cubicBezTo>
                  <a:close/>
                  <a:moveTo>
                    <a:pt x="95838" y="148914"/>
                  </a:moveTo>
                  <a:cubicBezTo>
                    <a:pt x="93289" y="149092"/>
                    <a:pt x="90854" y="147834"/>
                    <a:pt x="89525" y="145652"/>
                  </a:cubicBezTo>
                  <a:cubicBezTo>
                    <a:pt x="88196" y="143470"/>
                    <a:pt x="88196" y="140729"/>
                    <a:pt x="89525" y="138546"/>
                  </a:cubicBezTo>
                  <a:cubicBezTo>
                    <a:pt x="90854" y="136364"/>
                    <a:pt x="93289" y="135106"/>
                    <a:pt x="95838" y="135285"/>
                  </a:cubicBezTo>
                  <a:cubicBezTo>
                    <a:pt x="98386" y="135106"/>
                    <a:pt x="100822" y="136364"/>
                    <a:pt x="102151" y="138546"/>
                  </a:cubicBezTo>
                  <a:cubicBezTo>
                    <a:pt x="103479" y="140729"/>
                    <a:pt x="103479" y="143470"/>
                    <a:pt x="102151" y="145652"/>
                  </a:cubicBezTo>
                  <a:cubicBezTo>
                    <a:pt x="100822" y="147834"/>
                    <a:pt x="98386" y="149092"/>
                    <a:pt x="95838" y="148914"/>
                  </a:cubicBezTo>
                  <a:close/>
                  <a:moveTo>
                    <a:pt x="56190" y="83080"/>
                  </a:moveTo>
                  <a:lnTo>
                    <a:pt x="91953" y="83080"/>
                  </a:lnTo>
                  <a:cubicBezTo>
                    <a:pt x="101899" y="83080"/>
                    <a:pt x="109835" y="74875"/>
                    <a:pt x="109835" y="64897"/>
                  </a:cubicBezTo>
                  <a:lnTo>
                    <a:pt x="109835" y="30774"/>
                  </a:lnTo>
                  <a:cubicBezTo>
                    <a:pt x="109835" y="21063"/>
                    <a:pt x="101664" y="13796"/>
                    <a:pt x="91953" y="12156"/>
                  </a:cubicBezTo>
                  <a:cubicBezTo>
                    <a:pt x="79965" y="10180"/>
                    <a:pt x="66939" y="10280"/>
                    <a:pt x="56190" y="12189"/>
                  </a:cubicBezTo>
                  <a:cubicBezTo>
                    <a:pt x="41054" y="14868"/>
                    <a:pt x="38308" y="20460"/>
                    <a:pt x="38308" y="30807"/>
                  </a:cubicBezTo>
                  <a:lnTo>
                    <a:pt x="38308" y="44436"/>
                  </a:lnTo>
                  <a:lnTo>
                    <a:pt x="74105" y="44436"/>
                  </a:lnTo>
                  <a:lnTo>
                    <a:pt x="74105" y="48990"/>
                  </a:lnTo>
                  <a:lnTo>
                    <a:pt x="24880" y="48990"/>
                  </a:lnTo>
                  <a:cubicBezTo>
                    <a:pt x="14466" y="48990"/>
                    <a:pt x="5358" y="55252"/>
                    <a:pt x="2511" y="67140"/>
                  </a:cubicBezTo>
                  <a:cubicBezTo>
                    <a:pt x="-770" y="80769"/>
                    <a:pt x="-904" y="89275"/>
                    <a:pt x="2511" y="103506"/>
                  </a:cubicBezTo>
                  <a:cubicBezTo>
                    <a:pt x="5056" y="114088"/>
                    <a:pt x="11117" y="121656"/>
                    <a:pt x="21532" y="121656"/>
                  </a:cubicBezTo>
                  <a:lnTo>
                    <a:pt x="33821" y="121656"/>
                  </a:lnTo>
                  <a:lnTo>
                    <a:pt x="33821" y="105315"/>
                  </a:lnTo>
                  <a:cubicBezTo>
                    <a:pt x="33821" y="93494"/>
                    <a:pt x="44035" y="83080"/>
                    <a:pt x="56190" y="83080"/>
                  </a:cubicBezTo>
                  <a:close/>
                  <a:moveTo>
                    <a:pt x="53980" y="21666"/>
                  </a:moveTo>
                  <a:cubicBezTo>
                    <a:pt x="57750" y="21666"/>
                    <a:pt x="60811" y="24727"/>
                    <a:pt x="60811" y="28497"/>
                  </a:cubicBezTo>
                  <a:cubicBezTo>
                    <a:pt x="60811" y="32267"/>
                    <a:pt x="57750" y="35328"/>
                    <a:pt x="53980" y="35328"/>
                  </a:cubicBezTo>
                  <a:cubicBezTo>
                    <a:pt x="50210" y="35328"/>
                    <a:pt x="47149" y="32267"/>
                    <a:pt x="47149" y="28497"/>
                  </a:cubicBezTo>
                  <a:cubicBezTo>
                    <a:pt x="47149" y="24727"/>
                    <a:pt x="50210" y="21666"/>
                    <a:pt x="53980" y="21666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093744" y="2171700"/>
              <a:ext cx="4210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Middleware FastAPI</a:t>
              </a:r>
              <a:endParaRPr lang="en-US" sz="2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598444" y="2571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Маршрутизация, обработка</a:t>
              </a:r>
              <a:endParaRPr lang="en-US" sz="2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742237" y="31146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10162063" y="31242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6436519" y="3476625"/>
              <a:ext cx="2486025" cy="971550"/>
            </a:xfrm>
            <a:custGeom>
              <a:avLst/>
              <a:gdLst/>
              <a:ahLst/>
              <a:cxnLst/>
              <a:rect l="l" t="t" r="r" b="b"/>
              <a:pathLst>
                <a:path w="2486025" h="971550">
                  <a:moveTo>
                    <a:pt x="114303" y="0"/>
                  </a:moveTo>
                  <a:lnTo>
                    <a:pt x="2371722" y="0"/>
                  </a:lnTo>
                  <a:cubicBezTo>
                    <a:pt x="2434808" y="0"/>
                    <a:pt x="2486025" y="51217"/>
                    <a:pt x="2486025" y="114303"/>
                  </a:cubicBezTo>
                  <a:lnTo>
                    <a:pt x="2486025" y="857247"/>
                  </a:lnTo>
                  <a:cubicBezTo>
                    <a:pt x="2486025" y="920333"/>
                    <a:pt x="2434808" y="971550"/>
                    <a:pt x="237172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6598444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6705600" y="3743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40184" y="18752"/>
                  </a:moveTo>
                  <a:cubicBezTo>
                    <a:pt x="40184" y="8405"/>
                    <a:pt x="48589" y="0"/>
                    <a:pt x="58936" y="0"/>
                  </a:cubicBezTo>
                  <a:lnTo>
                    <a:pt x="66973" y="0"/>
                  </a:lnTo>
                  <a:cubicBezTo>
                    <a:pt x="72900" y="0"/>
                    <a:pt x="77688" y="4789"/>
                    <a:pt x="77688" y="10716"/>
                  </a:cubicBezTo>
                  <a:lnTo>
                    <a:pt x="77688" y="160734"/>
                  </a:lnTo>
                  <a:cubicBezTo>
                    <a:pt x="77688" y="166661"/>
                    <a:pt x="72900" y="171450"/>
                    <a:pt x="66973" y="171450"/>
                  </a:cubicBezTo>
                  <a:lnTo>
                    <a:pt x="56257" y="171450"/>
                  </a:lnTo>
                  <a:cubicBezTo>
                    <a:pt x="46278" y="171450"/>
                    <a:pt x="37873" y="164619"/>
                    <a:pt x="35496" y="155377"/>
                  </a:cubicBezTo>
                  <a:cubicBezTo>
                    <a:pt x="35261" y="155377"/>
                    <a:pt x="35060" y="155377"/>
                    <a:pt x="34826" y="155377"/>
                  </a:cubicBezTo>
                  <a:cubicBezTo>
                    <a:pt x="20025" y="155377"/>
                    <a:pt x="8037" y="143388"/>
                    <a:pt x="8037" y="128588"/>
                  </a:cubicBezTo>
                  <a:cubicBezTo>
                    <a:pt x="8037" y="122560"/>
                    <a:pt x="10046" y="117001"/>
                    <a:pt x="13395" y="112514"/>
                  </a:cubicBezTo>
                  <a:cubicBezTo>
                    <a:pt x="6898" y="107625"/>
                    <a:pt x="2679" y="99856"/>
                    <a:pt x="2679" y="91083"/>
                  </a:cubicBezTo>
                  <a:cubicBezTo>
                    <a:pt x="2679" y="80736"/>
                    <a:pt x="8573" y="71728"/>
                    <a:pt x="17145" y="67274"/>
                  </a:cubicBezTo>
                  <a:cubicBezTo>
                    <a:pt x="14767" y="63256"/>
                    <a:pt x="13395" y="58568"/>
                    <a:pt x="13395" y="53578"/>
                  </a:cubicBezTo>
                  <a:cubicBezTo>
                    <a:pt x="13395" y="38777"/>
                    <a:pt x="25383" y="26789"/>
                    <a:pt x="40184" y="26789"/>
                  </a:cubicBezTo>
                  <a:lnTo>
                    <a:pt x="40184" y="18752"/>
                  </a:lnTo>
                  <a:close/>
                  <a:moveTo>
                    <a:pt x="131266" y="18752"/>
                  </a:moveTo>
                  <a:lnTo>
                    <a:pt x="131266" y="26789"/>
                  </a:lnTo>
                  <a:cubicBezTo>
                    <a:pt x="146067" y="26789"/>
                    <a:pt x="158055" y="38777"/>
                    <a:pt x="158055" y="53578"/>
                  </a:cubicBezTo>
                  <a:cubicBezTo>
                    <a:pt x="158055" y="58601"/>
                    <a:pt x="156683" y="63289"/>
                    <a:pt x="154305" y="67274"/>
                  </a:cubicBezTo>
                  <a:cubicBezTo>
                    <a:pt x="162911" y="71728"/>
                    <a:pt x="168771" y="80702"/>
                    <a:pt x="168771" y="91083"/>
                  </a:cubicBezTo>
                  <a:cubicBezTo>
                    <a:pt x="168771" y="99856"/>
                    <a:pt x="164552" y="107625"/>
                    <a:pt x="158055" y="112514"/>
                  </a:cubicBezTo>
                  <a:cubicBezTo>
                    <a:pt x="161404" y="117001"/>
                    <a:pt x="163413" y="122560"/>
                    <a:pt x="163413" y="128588"/>
                  </a:cubicBezTo>
                  <a:cubicBezTo>
                    <a:pt x="163413" y="143388"/>
                    <a:pt x="151425" y="155377"/>
                    <a:pt x="136624" y="155377"/>
                  </a:cubicBezTo>
                  <a:cubicBezTo>
                    <a:pt x="136390" y="155377"/>
                    <a:pt x="136189" y="155377"/>
                    <a:pt x="135954" y="155377"/>
                  </a:cubicBezTo>
                  <a:cubicBezTo>
                    <a:pt x="133577" y="164619"/>
                    <a:pt x="125172" y="171450"/>
                    <a:pt x="115193" y="171450"/>
                  </a:cubicBezTo>
                  <a:lnTo>
                    <a:pt x="104477" y="171450"/>
                  </a:lnTo>
                  <a:cubicBezTo>
                    <a:pt x="98550" y="171450"/>
                    <a:pt x="93762" y="166661"/>
                    <a:pt x="93762" y="160734"/>
                  </a:cubicBezTo>
                  <a:lnTo>
                    <a:pt x="93762" y="10716"/>
                  </a:lnTo>
                  <a:cubicBezTo>
                    <a:pt x="93762" y="4789"/>
                    <a:pt x="98550" y="0"/>
                    <a:pt x="104477" y="0"/>
                  </a:cubicBezTo>
                  <a:lnTo>
                    <a:pt x="112514" y="0"/>
                  </a:lnTo>
                  <a:cubicBezTo>
                    <a:pt x="122861" y="0"/>
                    <a:pt x="131266" y="8405"/>
                    <a:pt x="131266" y="1875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7093744" y="3714750"/>
              <a:ext cx="15930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LLM API</a:t>
              </a:r>
              <a:endParaRPr lang="en-US" sz="2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598444" y="4095750"/>
              <a:ext cx="22288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Понимание запросов</a:t>
              </a:r>
              <a:endParaRPr lang="en-US" sz="24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9090501" y="3476625"/>
              <a:ext cx="2486025" cy="971550"/>
            </a:xfrm>
            <a:custGeom>
              <a:avLst/>
              <a:gdLst/>
              <a:ahLst/>
              <a:cxnLst/>
              <a:rect l="l" t="t" r="r" b="b"/>
              <a:pathLst>
                <a:path w="2486025" h="971550">
                  <a:moveTo>
                    <a:pt x="114303" y="0"/>
                  </a:moveTo>
                  <a:lnTo>
                    <a:pt x="2371722" y="0"/>
                  </a:lnTo>
                  <a:cubicBezTo>
                    <a:pt x="2434808" y="0"/>
                    <a:pt x="2486025" y="51217"/>
                    <a:pt x="2486025" y="114303"/>
                  </a:cubicBezTo>
                  <a:lnTo>
                    <a:pt x="2486025" y="857247"/>
                  </a:lnTo>
                  <a:cubicBezTo>
                    <a:pt x="2486025" y="920333"/>
                    <a:pt x="2434808" y="971550"/>
                    <a:pt x="237172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2" name="Shape 30"/>
            <p:cNvSpPr/>
            <p:nvPr/>
          </p:nvSpPr>
          <p:spPr>
            <a:xfrm>
              <a:off x="9252426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9370298" y="3743325"/>
              <a:ext cx="150019" cy="17145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150019" y="68915"/>
                  </a:moveTo>
                  <a:cubicBezTo>
                    <a:pt x="145063" y="72197"/>
                    <a:pt x="139370" y="74842"/>
                    <a:pt x="133443" y="76952"/>
                  </a:cubicBezTo>
                  <a:cubicBezTo>
                    <a:pt x="117704" y="82577"/>
                    <a:pt x="97043" y="85725"/>
                    <a:pt x="75009" y="85725"/>
                  </a:cubicBezTo>
                  <a:cubicBezTo>
                    <a:pt x="52975" y="85725"/>
                    <a:pt x="32281" y="82544"/>
                    <a:pt x="16576" y="76952"/>
                  </a:cubicBezTo>
                  <a:cubicBezTo>
                    <a:pt x="10682" y="74842"/>
                    <a:pt x="4956" y="72197"/>
                    <a:pt x="0" y="68915"/>
                  </a:cubicBezTo>
                  <a:lnTo>
                    <a:pt x="0" y="96441"/>
                  </a:lnTo>
                  <a:cubicBezTo>
                    <a:pt x="0" y="111242"/>
                    <a:pt x="33587" y="123230"/>
                    <a:pt x="75009" y="123230"/>
                  </a:cubicBezTo>
                  <a:cubicBezTo>
                    <a:pt x="116432" y="123230"/>
                    <a:pt x="150019" y="111242"/>
                    <a:pt x="150019" y="96441"/>
                  </a:cubicBezTo>
                  <a:lnTo>
                    <a:pt x="150019" y="68915"/>
                  </a:lnTo>
                  <a:close/>
                  <a:moveTo>
                    <a:pt x="150019" y="42863"/>
                  </a:moveTo>
                  <a:lnTo>
                    <a:pt x="150019" y="26789"/>
                  </a:lnTo>
                  <a:cubicBezTo>
                    <a:pt x="150019" y="11988"/>
                    <a:pt x="116432" y="0"/>
                    <a:pt x="75009" y="0"/>
                  </a:cubicBezTo>
                  <a:cubicBezTo>
                    <a:pt x="33587" y="0"/>
                    <a:pt x="0" y="11988"/>
                    <a:pt x="0" y="26789"/>
                  </a:cubicBezTo>
                  <a:lnTo>
                    <a:pt x="0" y="42863"/>
                  </a:lnTo>
                  <a:cubicBezTo>
                    <a:pt x="0" y="57663"/>
                    <a:pt x="33587" y="69652"/>
                    <a:pt x="75009" y="69652"/>
                  </a:cubicBezTo>
                  <a:cubicBezTo>
                    <a:pt x="116432" y="69652"/>
                    <a:pt x="150019" y="57663"/>
                    <a:pt x="150019" y="42863"/>
                  </a:cubicBezTo>
                  <a:close/>
                  <a:moveTo>
                    <a:pt x="133443" y="130530"/>
                  </a:moveTo>
                  <a:cubicBezTo>
                    <a:pt x="117738" y="136122"/>
                    <a:pt x="97077" y="139303"/>
                    <a:pt x="75009" y="139303"/>
                  </a:cubicBezTo>
                  <a:cubicBezTo>
                    <a:pt x="52942" y="139303"/>
                    <a:pt x="32281" y="136122"/>
                    <a:pt x="16576" y="130530"/>
                  </a:cubicBezTo>
                  <a:cubicBezTo>
                    <a:pt x="10682" y="128420"/>
                    <a:pt x="4956" y="125775"/>
                    <a:pt x="0" y="122493"/>
                  </a:cubicBezTo>
                  <a:lnTo>
                    <a:pt x="0" y="144661"/>
                  </a:lnTo>
                  <a:cubicBezTo>
                    <a:pt x="0" y="159462"/>
                    <a:pt x="33587" y="171450"/>
                    <a:pt x="75009" y="171450"/>
                  </a:cubicBezTo>
                  <a:cubicBezTo>
                    <a:pt x="116432" y="171450"/>
                    <a:pt x="150019" y="159462"/>
                    <a:pt x="150019" y="144661"/>
                  </a:cubicBezTo>
                  <a:lnTo>
                    <a:pt x="150019" y="122493"/>
                  </a:lnTo>
                  <a:cubicBezTo>
                    <a:pt x="145063" y="125775"/>
                    <a:pt x="139370" y="128420"/>
                    <a:pt x="133443" y="13053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9747726" y="3714750"/>
              <a:ext cx="17037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Векторная БД</a:t>
              </a:r>
              <a:endParaRPr lang="en-US" sz="24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9252426" y="4095750"/>
              <a:ext cx="22288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Метаданные 1С для RAG</a:t>
              </a:r>
              <a:endParaRPr lang="en-US" sz="2400" dirty="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AFA7208A-8BE6-47C1-A9FC-02491C5A0FBF}"/>
              </a:ext>
            </a:extLst>
          </p:cNvPr>
          <p:cNvGrpSpPr/>
          <p:nvPr/>
        </p:nvGrpSpPr>
        <p:grpSpPr>
          <a:xfrm>
            <a:off x="381000" y="5562600"/>
            <a:ext cx="11426825" cy="1028700"/>
            <a:chOff x="381000" y="4876800"/>
            <a:chExt cx="11426825" cy="1028700"/>
          </a:xfrm>
        </p:grpSpPr>
        <p:sp>
          <p:nvSpPr>
            <p:cNvPr id="36" name="Shape 34"/>
            <p:cNvSpPr/>
            <p:nvPr/>
          </p:nvSpPr>
          <p:spPr>
            <a:xfrm>
              <a:off x="3810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7" name="Shape 35"/>
            <p:cNvSpPr/>
            <p:nvPr/>
          </p:nvSpPr>
          <p:spPr>
            <a:xfrm>
              <a:off x="2120900" y="5029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67241"/>
                  </a:moveTo>
                  <a:lnTo>
                    <a:pt x="181541" y="110103"/>
                  </a:lnTo>
                  <a:cubicBezTo>
                    <a:pt x="177433" y="114211"/>
                    <a:pt x="171316" y="115416"/>
                    <a:pt x="165958" y="113184"/>
                  </a:cubicBezTo>
                  <a:cubicBezTo>
                    <a:pt x="160600" y="110951"/>
                    <a:pt x="157163" y="105772"/>
                    <a:pt x="157163" y="100013"/>
                  </a:cubicBezTo>
                  <a:lnTo>
                    <a:pt x="157163" y="71438"/>
                  </a:lnTo>
                  <a:lnTo>
                    <a:pt x="14288" y="71438"/>
                  </a:lnTo>
                  <a:cubicBezTo>
                    <a:pt x="6385" y="71438"/>
                    <a:pt x="0" y="65053"/>
                    <a:pt x="0" y="57150"/>
                  </a:cubicBezTo>
                  <a:cubicBezTo>
                    <a:pt x="0" y="49247"/>
                    <a:pt x="6385" y="42863"/>
                    <a:pt x="14288" y="42863"/>
                  </a:cubicBezTo>
                  <a:lnTo>
                    <a:pt x="157163" y="42863"/>
                  </a:lnTo>
                  <a:lnTo>
                    <a:pt x="157163" y="14288"/>
                  </a:lnTo>
                  <a:cubicBezTo>
                    <a:pt x="157163" y="8528"/>
                    <a:pt x="160645" y="3304"/>
                    <a:pt x="166003" y="1072"/>
                  </a:cubicBezTo>
                  <a:cubicBezTo>
                    <a:pt x="171361" y="-1161"/>
                    <a:pt x="177478" y="89"/>
                    <a:pt x="181585" y="4152"/>
                  </a:cubicBezTo>
                  <a:lnTo>
                    <a:pt x="224448" y="47015"/>
                  </a:lnTo>
                  <a:cubicBezTo>
                    <a:pt x="230029" y="52596"/>
                    <a:pt x="230029" y="61659"/>
                    <a:pt x="224448" y="67241"/>
                  </a:cubicBezTo>
                  <a:close/>
                  <a:moveTo>
                    <a:pt x="47015" y="224403"/>
                  </a:moveTo>
                  <a:lnTo>
                    <a:pt x="4152" y="181541"/>
                  </a:lnTo>
                  <a:cubicBezTo>
                    <a:pt x="-1429" y="175959"/>
                    <a:pt x="-1429" y="166896"/>
                    <a:pt x="4152" y="161315"/>
                  </a:cubicBezTo>
                  <a:lnTo>
                    <a:pt x="47015" y="118452"/>
                  </a:lnTo>
                  <a:cubicBezTo>
                    <a:pt x="51122" y="114345"/>
                    <a:pt x="57239" y="113139"/>
                    <a:pt x="62597" y="115372"/>
                  </a:cubicBezTo>
                  <a:cubicBezTo>
                    <a:pt x="67955" y="117604"/>
                    <a:pt x="71438" y="122828"/>
                    <a:pt x="71438" y="128588"/>
                  </a:cubicBezTo>
                  <a:lnTo>
                    <a:pt x="71438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cubicBezTo>
                    <a:pt x="228600" y="179353"/>
                    <a:pt x="222215" y="185738"/>
                    <a:pt x="214313" y="185738"/>
                  </a:cubicBezTo>
                  <a:lnTo>
                    <a:pt x="71438" y="185738"/>
                  </a:lnTo>
                  <a:lnTo>
                    <a:pt x="71438" y="214313"/>
                  </a:lnTo>
                  <a:cubicBezTo>
                    <a:pt x="71438" y="220072"/>
                    <a:pt x="67955" y="225296"/>
                    <a:pt x="62597" y="227528"/>
                  </a:cubicBezTo>
                  <a:cubicBezTo>
                    <a:pt x="57239" y="229761"/>
                    <a:pt x="51122" y="228511"/>
                    <a:pt x="47015" y="22444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4953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REST API</a:t>
              </a:r>
              <a:endParaRPr lang="en-US" sz="28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500063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JSON формат</a:t>
              </a:r>
              <a:endParaRPr lang="en-US" sz="28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2418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1" name="Shape 39"/>
            <p:cNvSpPr/>
            <p:nvPr/>
          </p:nvSpPr>
          <p:spPr>
            <a:xfrm>
              <a:off x="5995988" y="50292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51269" y="-4420"/>
                  </a:moveTo>
                  <a:cubicBezTo>
                    <a:pt x="156582" y="-580"/>
                    <a:pt x="158547" y="6385"/>
                    <a:pt x="156136" y="12457"/>
                  </a:cubicBezTo>
                  <a:lnTo>
                    <a:pt x="121131" y="100013"/>
                  </a:lnTo>
                  <a:lnTo>
                    <a:pt x="185738" y="100013"/>
                  </a:lnTo>
                  <a:cubicBezTo>
                    <a:pt x="191765" y="100013"/>
                    <a:pt x="197123" y="103763"/>
                    <a:pt x="199177" y="109433"/>
                  </a:cubicBezTo>
                  <a:cubicBezTo>
                    <a:pt x="201231" y="115104"/>
                    <a:pt x="199489" y="121444"/>
                    <a:pt x="194890" y="125284"/>
                  </a:cubicBezTo>
                  <a:lnTo>
                    <a:pt x="66303" y="232440"/>
                  </a:lnTo>
                  <a:cubicBezTo>
                    <a:pt x="61258" y="236637"/>
                    <a:pt x="54069" y="236860"/>
                    <a:pt x="48756" y="233020"/>
                  </a:cubicBezTo>
                  <a:cubicBezTo>
                    <a:pt x="43443" y="229180"/>
                    <a:pt x="41478" y="222215"/>
                    <a:pt x="43889" y="216143"/>
                  </a:cubicBezTo>
                  <a:lnTo>
                    <a:pt x="78894" y="128588"/>
                  </a:lnTo>
                  <a:lnTo>
                    <a:pt x="14288" y="128588"/>
                  </a:lnTo>
                  <a:cubicBezTo>
                    <a:pt x="8260" y="128588"/>
                    <a:pt x="2902" y="124837"/>
                    <a:pt x="848" y="119167"/>
                  </a:cubicBezTo>
                  <a:cubicBezTo>
                    <a:pt x="-1206" y="113496"/>
                    <a:pt x="536" y="107156"/>
                    <a:pt x="5135" y="103316"/>
                  </a:cubicBezTo>
                  <a:lnTo>
                    <a:pt x="133722" y="-3840"/>
                  </a:lnTo>
                  <a:cubicBezTo>
                    <a:pt x="138767" y="-8037"/>
                    <a:pt x="145956" y="-8260"/>
                    <a:pt x="151269" y="-442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3561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Async</a:t>
              </a:r>
              <a:endParaRPr lang="en-US" sz="28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360862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Асинхронная обработка</a:t>
              </a:r>
              <a:endParaRPr lang="en-US" sz="28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81026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5" name="Shape 43"/>
            <p:cNvSpPr/>
            <p:nvPr/>
          </p:nvSpPr>
          <p:spPr>
            <a:xfrm>
              <a:off x="9871075" y="50292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57150" y="42863"/>
                  </a:moveTo>
                  <a:lnTo>
                    <a:pt x="57150" y="71438"/>
                  </a:lnTo>
                  <a:lnTo>
                    <a:pt x="114300" y="71438"/>
                  </a:lnTo>
                  <a:lnTo>
                    <a:pt x="114300" y="42863"/>
                  </a:lnTo>
                  <a:cubicBezTo>
                    <a:pt x="114300" y="27102"/>
                    <a:pt x="101486" y="14288"/>
                    <a:pt x="85725" y="14288"/>
                  </a:cubicBezTo>
                  <a:cubicBezTo>
                    <a:pt x="69964" y="14288"/>
                    <a:pt x="57150" y="27102"/>
                    <a:pt x="57150" y="42863"/>
                  </a:cubicBezTo>
                  <a:close/>
                  <a:moveTo>
                    <a:pt x="28575" y="71438"/>
                  </a:moveTo>
                  <a:lnTo>
                    <a:pt x="28575" y="42863"/>
                  </a:lnTo>
                  <a:cubicBezTo>
                    <a:pt x="28575" y="11296"/>
                    <a:pt x="54159" y="-14287"/>
                    <a:pt x="85725" y="-14287"/>
                  </a:cubicBezTo>
                  <a:cubicBezTo>
                    <a:pt x="117291" y="-14287"/>
                    <a:pt x="142875" y="11296"/>
                    <a:pt x="142875" y="42863"/>
                  </a:cubicBezTo>
                  <a:lnTo>
                    <a:pt x="142875" y="71438"/>
                  </a:lnTo>
                  <a:cubicBezTo>
                    <a:pt x="158636" y="71438"/>
                    <a:pt x="171450" y="84252"/>
                    <a:pt x="171450" y="100013"/>
                  </a:cubicBezTo>
                  <a:lnTo>
                    <a:pt x="171450" y="200025"/>
                  </a:lnTo>
                  <a:cubicBezTo>
                    <a:pt x="171450" y="215786"/>
                    <a:pt x="158636" y="228600"/>
                    <a:pt x="14287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100013"/>
                  </a:lnTo>
                  <a:cubicBezTo>
                    <a:pt x="0" y="84252"/>
                    <a:pt x="12814" y="71438"/>
                    <a:pt x="28575" y="7143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82169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Security</a:t>
              </a:r>
              <a:endParaRPr lang="en-US" sz="28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8221663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Аутентификация</a:t>
              </a:r>
              <a:endParaRPr lang="en-US" sz="2800" dirty="0"/>
            </a:p>
          </p:txBody>
        </p:sp>
      </p:grpSp>
      <p:sp>
        <p:nvSpPr>
          <p:cNvPr id="51" name="Text 7">
            <a:extLst>
              <a:ext uri="{FF2B5EF4-FFF2-40B4-BE49-F238E27FC236}">
                <a16:creationId xmlns:a16="http://schemas.microsoft.com/office/drawing/2014/main" id="{547CED64-B9D7-4685-8C1D-14AD5E04F2FC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10</a:t>
            </a:r>
            <a:endParaRPr lang="en-US" sz="1600" dirty="0"/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DAD6AFE3-40D9-47AF-B840-3697EFE77B8E}"/>
              </a:ext>
            </a:extLst>
          </p:cNvPr>
          <p:cNvGrpSpPr/>
          <p:nvPr/>
        </p:nvGrpSpPr>
        <p:grpSpPr>
          <a:xfrm>
            <a:off x="381000" y="8182284"/>
            <a:ext cx="2162175" cy="2647950"/>
            <a:chOff x="381000" y="2990850"/>
            <a:chExt cx="2162175" cy="2647950"/>
          </a:xfrm>
        </p:grpSpPr>
        <p:sp>
          <p:nvSpPr>
            <p:cNvPr id="53" name="Shape 23">
              <a:extLst>
                <a:ext uri="{FF2B5EF4-FFF2-40B4-BE49-F238E27FC236}">
                  <a16:creationId xmlns:a16="http://schemas.microsoft.com/office/drawing/2014/main" id="{3828B660-E817-4089-8AB9-FC9F5D50C29C}"/>
                </a:ext>
              </a:extLst>
            </p:cNvPr>
            <p:cNvSpPr/>
            <p:nvPr/>
          </p:nvSpPr>
          <p:spPr>
            <a:xfrm>
              <a:off x="38100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54" name="Shape 24">
              <a:extLst>
                <a:ext uri="{FF2B5EF4-FFF2-40B4-BE49-F238E27FC236}">
                  <a16:creationId xmlns:a16="http://schemas.microsoft.com/office/drawing/2014/main" id="{88195F58-2F30-4246-9BF0-3AB1396FB5E8}"/>
                </a:ext>
              </a:extLst>
            </p:cNvPr>
            <p:cNvSpPr/>
            <p:nvPr/>
          </p:nvSpPr>
          <p:spPr>
            <a:xfrm>
              <a:off x="552450" y="32861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60734"/>
                  </a:moveTo>
                  <a:cubicBezTo>
                    <a:pt x="133075" y="160734"/>
                    <a:pt x="171450" y="124737"/>
                    <a:pt x="171450" y="80367"/>
                  </a:cubicBezTo>
                  <a:cubicBezTo>
                    <a:pt x="171450" y="35998"/>
                    <a:pt x="133075" y="0"/>
                    <a:pt x="85725" y="0"/>
                  </a:cubicBezTo>
                  <a:cubicBezTo>
                    <a:pt x="38375" y="0"/>
                    <a:pt x="0" y="35998"/>
                    <a:pt x="0" y="80367"/>
                  </a:cubicBezTo>
                  <a:cubicBezTo>
                    <a:pt x="0" y="98550"/>
                    <a:pt x="6429" y="115293"/>
                    <a:pt x="17279" y="128755"/>
                  </a:cubicBezTo>
                  <a:lnTo>
                    <a:pt x="938" y="159663"/>
                  </a:lnTo>
                  <a:cubicBezTo>
                    <a:pt x="-670" y="162677"/>
                    <a:pt x="-167" y="166360"/>
                    <a:pt x="2143" y="168872"/>
                  </a:cubicBezTo>
                  <a:cubicBezTo>
                    <a:pt x="4454" y="171383"/>
                    <a:pt x="8104" y="172153"/>
                    <a:pt x="11218" y="170814"/>
                  </a:cubicBezTo>
                  <a:lnTo>
                    <a:pt x="50866" y="153836"/>
                  </a:lnTo>
                  <a:cubicBezTo>
                    <a:pt x="61514" y="158256"/>
                    <a:pt x="73302" y="160734"/>
                    <a:pt x="85725" y="160734"/>
                  </a:cubicBezTo>
                  <a:close/>
                  <a:moveTo>
                    <a:pt x="42863" y="69652"/>
                  </a:moveTo>
                  <a:cubicBezTo>
                    <a:pt x="48777" y="69652"/>
                    <a:pt x="53578" y="74453"/>
                    <a:pt x="53578" y="80367"/>
                  </a:cubicBezTo>
                  <a:cubicBezTo>
                    <a:pt x="53578" y="86281"/>
                    <a:pt x="48777" y="91083"/>
                    <a:pt x="42863" y="91083"/>
                  </a:cubicBezTo>
                  <a:cubicBezTo>
                    <a:pt x="36948" y="91083"/>
                    <a:pt x="32147" y="86281"/>
                    <a:pt x="32147" y="80367"/>
                  </a:cubicBezTo>
                  <a:cubicBezTo>
                    <a:pt x="32147" y="74453"/>
                    <a:pt x="36948" y="69652"/>
                    <a:pt x="42863" y="69652"/>
                  </a:cubicBezTo>
                  <a:close/>
                  <a:moveTo>
                    <a:pt x="85725" y="69652"/>
                  </a:moveTo>
                  <a:cubicBezTo>
                    <a:pt x="91639" y="69652"/>
                    <a:pt x="96441" y="74453"/>
                    <a:pt x="96441" y="80367"/>
                  </a:cubicBezTo>
                  <a:cubicBezTo>
                    <a:pt x="96441" y="86281"/>
                    <a:pt x="91639" y="91083"/>
                    <a:pt x="85725" y="91083"/>
                  </a:cubicBezTo>
                  <a:cubicBezTo>
                    <a:pt x="79811" y="91083"/>
                    <a:pt x="75009" y="86281"/>
                    <a:pt x="75009" y="80367"/>
                  </a:cubicBezTo>
                  <a:cubicBezTo>
                    <a:pt x="75009" y="74453"/>
                    <a:pt x="79811" y="69652"/>
                    <a:pt x="85725" y="69652"/>
                  </a:cubicBezTo>
                  <a:close/>
                  <a:moveTo>
                    <a:pt x="117872" y="80367"/>
                  </a:moveTo>
                  <a:cubicBezTo>
                    <a:pt x="117872" y="74453"/>
                    <a:pt x="122673" y="69652"/>
                    <a:pt x="128588" y="69652"/>
                  </a:cubicBezTo>
                  <a:cubicBezTo>
                    <a:pt x="134502" y="69652"/>
                    <a:pt x="139303" y="74453"/>
                    <a:pt x="139303" y="80367"/>
                  </a:cubicBezTo>
                  <a:cubicBezTo>
                    <a:pt x="139303" y="86281"/>
                    <a:pt x="134502" y="91083"/>
                    <a:pt x="128588" y="91083"/>
                  </a:cubicBezTo>
                  <a:cubicBezTo>
                    <a:pt x="122673" y="91083"/>
                    <a:pt x="117872" y="86281"/>
                    <a:pt x="117872" y="8036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5" name="Text 25">
              <a:extLst>
                <a:ext uri="{FF2B5EF4-FFF2-40B4-BE49-F238E27FC236}">
                  <a16:creationId xmlns:a16="http://schemas.microsoft.com/office/drawing/2014/main" id="{389600AB-726A-4984-86E1-8B29CF6B6E4C}"/>
                </a:ext>
              </a:extLst>
            </p:cNvPr>
            <p:cNvSpPr/>
            <p:nvPr/>
          </p:nvSpPr>
          <p:spPr>
            <a:xfrm>
              <a:off x="819150" y="3143250"/>
              <a:ext cx="164782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Естественный запрос</a:t>
              </a:r>
              <a:endParaRPr lang="en-US" sz="1600" dirty="0"/>
            </a:p>
          </p:txBody>
        </p:sp>
        <p:sp>
          <p:nvSpPr>
            <p:cNvPr id="56" name="Text 26">
              <a:extLst>
                <a:ext uri="{FF2B5EF4-FFF2-40B4-BE49-F238E27FC236}">
                  <a16:creationId xmlns:a16="http://schemas.microsoft.com/office/drawing/2014/main" id="{1225AF89-F41D-4D83-80B8-CBEA4DD409F2}"/>
                </a:ext>
              </a:extLst>
            </p:cNvPr>
            <p:cNvSpPr/>
            <p:nvPr/>
          </p:nvSpPr>
          <p:spPr>
            <a:xfrm>
              <a:off x="53340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 пишет:</a:t>
              </a:r>
              <a:endParaRPr lang="en-US" sz="1600" dirty="0"/>
            </a:p>
          </p:txBody>
        </p:sp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F8258B38-58C8-485A-8E42-CD6C71EAD0F1}"/>
                </a:ext>
              </a:extLst>
            </p:cNvPr>
            <p:cNvGrpSpPr/>
            <p:nvPr/>
          </p:nvGrpSpPr>
          <p:grpSpPr>
            <a:xfrm>
              <a:off x="533400" y="3990975"/>
              <a:ext cx="1924050" cy="1524000"/>
              <a:chOff x="533400" y="3981450"/>
              <a:chExt cx="1924050" cy="723900"/>
            </a:xfrm>
          </p:grpSpPr>
          <p:sp>
            <p:nvSpPr>
              <p:cNvPr id="58" name="Shape 27">
                <a:extLst>
                  <a:ext uri="{FF2B5EF4-FFF2-40B4-BE49-F238E27FC236}">
                    <a16:creationId xmlns:a16="http://schemas.microsoft.com/office/drawing/2014/main" id="{DB76A9E7-B07E-48E1-852B-82FBABE2B2DA}"/>
                  </a:ext>
                </a:extLst>
              </p:cNvPr>
              <p:cNvSpPr/>
              <p:nvPr/>
            </p:nvSpPr>
            <p:spPr>
              <a:xfrm>
                <a:off x="533400" y="3981450"/>
                <a:ext cx="185737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723900">
                    <a:moveTo>
                      <a:pt x="76198" y="0"/>
                    </a:moveTo>
                    <a:lnTo>
                      <a:pt x="1781177" y="0"/>
                    </a:lnTo>
                    <a:cubicBezTo>
                      <a:pt x="1823232" y="0"/>
                      <a:pt x="1857375" y="34143"/>
                      <a:pt x="1857375" y="76198"/>
                    </a:cubicBezTo>
                    <a:lnTo>
                      <a:pt x="1857375" y="647702"/>
                    </a:lnTo>
                    <a:cubicBezTo>
                      <a:pt x="1857375" y="689757"/>
                      <a:pt x="1823232" y="723900"/>
                      <a:pt x="1781177" y="723900"/>
                    </a:cubicBezTo>
                    <a:lnTo>
                      <a:pt x="76198" y="723900"/>
                    </a:lnTo>
                    <a:cubicBezTo>
                      <a:pt x="34143" y="723900"/>
                      <a:pt x="0" y="689757"/>
                      <a:pt x="0" y="647702"/>
                    </a:cubicBezTo>
                    <a:lnTo>
                      <a:pt x="0" y="76198"/>
                    </a:lnTo>
                    <a:cubicBezTo>
                      <a:pt x="0" y="34143"/>
                      <a:pt x="34143" y="0"/>
                      <a:pt x="76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59" name="Text 28">
                <a:extLst>
                  <a:ext uri="{FF2B5EF4-FFF2-40B4-BE49-F238E27FC236}">
                    <a16:creationId xmlns:a16="http://schemas.microsoft.com/office/drawing/2014/main" id="{F822B616-F6F7-4CC3-89A8-C84FB69102A6}"/>
                  </a:ext>
                </a:extLst>
              </p:cNvPr>
              <p:cNvSpPr/>
              <p:nvPr/>
            </p:nvSpPr>
            <p:spPr>
              <a:xfrm>
                <a:off x="533400" y="3981450"/>
                <a:ext cx="1924050" cy="723900"/>
              </a:xfrm>
              <a:prstGeom prst="rect">
                <a:avLst/>
              </a:prstGeom>
              <a:noFill/>
              <a:ln/>
            </p:spPr>
            <p:txBody>
              <a:bodyPr wrap="square" lIns="76200" tIns="76200" rIns="76200" bIns="7620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«Создай реализацию ООО Ромашка, 10 шт. товара А»</a:t>
                </a:r>
                <a:endParaRPr lang="en-US" sz="2000" dirty="0"/>
              </a:p>
            </p:txBody>
          </p:sp>
        </p:grp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73D582D6-CA51-4F13-89CA-05ABDA653513}"/>
              </a:ext>
            </a:extLst>
          </p:cNvPr>
          <p:cNvGrpSpPr/>
          <p:nvPr/>
        </p:nvGrpSpPr>
        <p:grpSpPr>
          <a:xfrm>
            <a:off x="2697480" y="8182284"/>
            <a:ext cx="2162175" cy="2647950"/>
            <a:chOff x="2697480" y="2990850"/>
            <a:chExt cx="2162175" cy="2647950"/>
          </a:xfrm>
        </p:grpSpPr>
        <p:sp>
          <p:nvSpPr>
            <p:cNvPr id="61" name="Shape 29">
              <a:extLst>
                <a:ext uri="{FF2B5EF4-FFF2-40B4-BE49-F238E27FC236}">
                  <a16:creationId xmlns:a16="http://schemas.microsoft.com/office/drawing/2014/main" id="{5A0A784D-1F68-400F-A39C-6CD0BC556115}"/>
                </a:ext>
              </a:extLst>
            </p:cNvPr>
            <p:cNvSpPr/>
            <p:nvPr/>
          </p:nvSpPr>
          <p:spPr>
            <a:xfrm>
              <a:off x="269748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62" name="Shape 30">
              <a:extLst>
                <a:ext uri="{FF2B5EF4-FFF2-40B4-BE49-F238E27FC236}">
                  <a16:creationId xmlns:a16="http://schemas.microsoft.com/office/drawing/2014/main" id="{EADD51EE-1D1B-45A3-B6D1-BE5BBB2E577E}"/>
                </a:ext>
              </a:extLst>
            </p:cNvPr>
            <p:cNvSpPr/>
            <p:nvPr/>
          </p:nvSpPr>
          <p:spPr>
            <a:xfrm>
              <a:off x="2864168" y="32861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40184" y="18752"/>
                  </a:moveTo>
                  <a:cubicBezTo>
                    <a:pt x="40184" y="8405"/>
                    <a:pt x="48589" y="0"/>
                    <a:pt x="58936" y="0"/>
                  </a:cubicBezTo>
                  <a:lnTo>
                    <a:pt x="66973" y="0"/>
                  </a:lnTo>
                  <a:cubicBezTo>
                    <a:pt x="72900" y="0"/>
                    <a:pt x="77688" y="4789"/>
                    <a:pt x="77688" y="10716"/>
                  </a:cubicBezTo>
                  <a:lnTo>
                    <a:pt x="77688" y="160734"/>
                  </a:lnTo>
                  <a:cubicBezTo>
                    <a:pt x="77688" y="166661"/>
                    <a:pt x="72900" y="171450"/>
                    <a:pt x="66973" y="171450"/>
                  </a:cubicBezTo>
                  <a:lnTo>
                    <a:pt x="56257" y="171450"/>
                  </a:lnTo>
                  <a:cubicBezTo>
                    <a:pt x="46278" y="171450"/>
                    <a:pt x="37873" y="164619"/>
                    <a:pt x="35496" y="155377"/>
                  </a:cubicBezTo>
                  <a:cubicBezTo>
                    <a:pt x="35261" y="155377"/>
                    <a:pt x="35060" y="155377"/>
                    <a:pt x="34826" y="155377"/>
                  </a:cubicBezTo>
                  <a:cubicBezTo>
                    <a:pt x="20025" y="155377"/>
                    <a:pt x="8037" y="143388"/>
                    <a:pt x="8037" y="128588"/>
                  </a:cubicBezTo>
                  <a:cubicBezTo>
                    <a:pt x="8037" y="122560"/>
                    <a:pt x="10046" y="117001"/>
                    <a:pt x="13395" y="112514"/>
                  </a:cubicBezTo>
                  <a:cubicBezTo>
                    <a:pt x="6898" y="107625"/>
                    <a:pt x="2679" y="99856"/>
                    <a:pt x="2679" y="91083"/>
                  </a:cubicBezTo>
                  <a:cubicBezTo>
                    <a:pt x="2679" y="80736"/>
                    <a:pt x="8573" y="71728"/>
                    <a:pt x="17145" y="67274"/>
                  </a:cubicBezTo>
                  <a:cubicBezTo>
                    <a:pt x="14767" y="63256"/>
                    <a:pt x="13395" y="58568"/>
                    <a:pt x="13395" y="53578"/>
                  </a:cubicBezTo>
                  <a:cubicBezTo>
                    <a:pt x="13395" y="38777"/>
                    <a:pt x="25383" y="26789"/>
                    <a:pt x="40184" y="26789"/>
                  </a:cubicBezTo>
                  <a:lnTo>
                    <a:pt x="40184" y="18752"/>
                  </a:lnTo>
                  <a:close/>
                  <a:moveTo>
                    <a:pt x="131266" y="18752"/>
                  </a:moveTo>
                  <a:lnTo>
                    <a:pt x="131266" y="26789"/>
                  </a:lnTo>
                  <a:cubicBezTo>
                    <a:pt x="146067" y="26789"/>
                    <a:pt x="158055" y="38777"/>
                    <a:pt x="158055" y="53578"/>
                  </a:cubicBezTo>
                  <a:cubicBezTo>
                    <a:pt x="158055" y="58601"/>
                    <a:pt x="156683" y="63289"/>
                    <a:pt x="154305" y="67274"/>
                  </a:cubicBezTo>
                  <a:cubicBezTo>
                    <a:pt x="162911" y="71728"/>
                    <a:pt x="168771" y="80702"/>
                    <a:pt x="168771" y="91083"/>
                  </a:cubicBezTo>
                  <a:cubicBezTo>
                    <a:pt x="168771" y="99856"/>
                    <a:pt x="164552" y="107625"/>
                    <a:pt x="158055" y="112514"/>
                  </a:cubicBezTo>
                  <a:cubicBezTo>
                    <a:pt x="161404" y="117001"/>
                    <a:pt x="163413" y="122560"/>
                    <a:pt x="163413" y="128588"/>
                  </a:cubicBezTo>
                  <a:cubicBezTo>
                    <a:pt x="163413" y="143388"/>
                    <a:pt x="151425" y="155377"/>
                    <a:pt x="136624" y="155377"/>
                  </a:cubicBezTo>
                  <a:cubicBezTo>
                    <a:pt x="136390" y="155377"/>
                    <a:pt x="136189" y="155377"/>
                    <a:pt x="135954" y="155377"/>
                  </a:cubicBezTo>
                  <a:cubicBezTo>
                    <a:pt x="133577" y="164619"/>
                    <a:pt x="125172" y="171450"/>
                    <a:pt x="115193" y="171450"/>
                  </a:cubicBezTo>
                  <a:lnTo>
                    <a:pt x="104477" y="171450"/>
                  </a:lnTo>
                  <a:cubicBezTo>
                    <a:pt x="98550" y="171450"/>
                    <a:pt x="93762" y="166661"/>
                    <a:pt x="93762" y="160734"/>
                  </a:cubicBezTo>
                  <a:lnTo>
                    <a:pt x="93762" y="10716"/>
                  </a:lnTo>
                  <a:cubicBezTo>
                    <a:pt x="93762" y="4789"/>
                    <a:pt x="98550" y="0"/>
                    <a:pt x="104477" y="0"/>
                  </a:cubicBezTo>
                  <a:lnTo>
                    <a:pt x="112514" y="0"/>
                  </a:lnTo>
                  <a:cubicBezTo>
                    <a:pt x="122861" y="0"/>
                    <a:pt x="131266" y="8405"/>
                    <a:pt x="131266" y="18752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63" name="Text 31">
              <a:extLst>
                <a:ext uri="{FF2B5EF4-FFF2-40B4-BE49-F238E27FC236}">
                  <a16:creationId xmlns:a16="http://schemas.microsoft.com/office/drawing/2014/main" id="{8F26FE72-69FE-4876-9EF1-4593289361C6}"/>
                </a:ext>
              </a:extLst>
            </p:cNvPr>
            <p:cNvSpPr/>
            <p:nvPr/>
          </p:nvSpPr>
          <p:spPr>
            <a:xfrm>
              <a:off x="3121819" y="3143250"/>
              <a:ext cx="16668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Извлечение сущностей</a:t>
              </a:r>
              <a:endParaRPr lang="en-US" sz="1600" dirty="0"/>
            </a:p>
          </p:txBody>
        </p:sp>
        <p:sp>
          <p:nvSpPr>
            <p:cNvPr id="64" name="Text 32">
              <a:extLst>
                <a:ext uri="{FF2B5EF4-FFF2-40B4-BE49-F238E27FC236}">
                  <a16:creationId xmlns:a16="http://schemas.microsoft.com/office/drawing/2014/main" id="{A8305EA5-3B11-4434-8895-B30679D89BEF}"/>
                </a:ext>
              </a:extLst>
            </p:cNvPr>
            <p:cNvSpPr/>
            <p:nvPr/>
          </p:nvSpPr>
          <p:spPr>
            <a:xfrm>
              <a:off x="284988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LLM выделяет:</a:t>
              </a:r>
              <a:endParaRPr lang="en-US" sz="1600" dirty="0"/>
            </a:p>
          </p:txBody>
        </p:sp>
        <p:grpSp>
          <p:nvGrpSpPr>
            <p:cNvPr id="65" name="Группа 64">
              <a:extLst>
                <a:ext uri="{FF2B5EF4-FFF2-40B4-BE49-F238E27FC236}">
                  <a16:creationId xmlns:a16="http://schemas.microsoft.com/office/drawing/2014/main" id="{2BF9D176-0614-4C85-9EA6-87779B02C14D}"/>
                </a:ext>
              </a:extLst>
            </p:cNvPr>
            <p:cNvGrpSpPr/>
            <p:nvPr/>
          </p:nvGrpSpPr>
          <p:grpSpPr>
            <a:xfrm>
              <a:off x="2849880" y="3990975"/>
              <a:ext cx="1924050" cy="1524000"/>
              <a:chOff x="2849880" y="3981450"/>
              <a:chExt cx="1924050" cy="876300"/>
            </a:xfrm>
          </p:grpSpPr>
          <p:sp>
            <p:nvSpPr>
              <p:cNvPr id="66" name="Shape 33">
                <a:extLst>
                  <a:ext uri="{FF2B5EF4-FFF2-40B4-BE49-F238E27FC236}">
                    <a16:creationId xmlns:a16="http://schemas.microsoft.com/office/drawing/2014/main" id="{F6FF0B4D-B75B-41A3-94DF-A39C342863CA}"/>
                  </a:ext>
                </a:extLst>
              </p:cNvPr>
              <p:cNvSpPr/>
              <p:nvPr/>
            </p:nvSpPr>
            <p:spPr>
              <a:xfrm>
                <a:off x="2849880" y="3981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67" name="Text 34">
                <a:extLst>
                  <a:ext uri="{FF2B5EF4-FFF2-40B4-BE49-F238E27FC236}">
                    <a16:creationId xmlns:a16="http://schemas.microsoft.com/office/drawing/2014/main" id="{B42F08B8-0C57-4CCA-B828-2E1F0AA5E624}"/>
                  </a:ext>
                </a:extLst>
              </p:cNvPr>
              <p:cNvSpPr/>
              <p:nvPr/>
            </p:nvSpPr>
            <p:spPr>
              <a:xfrm>
                <a:off x="2849880" y="3981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Контрагент</a:t>
                </a:r>
                <a:endParaRPr lang="en-US" sz="2400" dirty="0"/>
              </a:p>
            </p:txBody>
          </p:sp>
          <p:sp>
            <p:nvSpPr>
              <p:cNvPr id="68" name="Shape 35">
                <a:extLst>
                  <a:ext uri="{FF2B5EF4-FFF2-40B4-BE49-F238E27FC236}">
                    <a16:creationId xmlns:a16="http://schemas.microsoft.com/office/drawing/2014/main" id="{04CABF7B-F0EB-4FCA-A6FA-3492644941DA}"/>
                  </a:ext>
                </a:extLst>
              </p:cNvPr>
              <p:cNvSpPr/>
              <p:nvPr/>
            </p:nvSpPr>
            <p:spPr>
              <a:xfrm>
                <a:off x="2849880" y="42862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69" name="Text 36">
                <a:extLst>
                  <a:ext uri="{FF2B5EF4-FFF2-40B4-BE49-F238E27FC236}">
                    <a16:creationId xmlns:a16="http://schemas.microsoft.com/office/drawing/2014/main" id="{1F547EA9-57F0-46EC-B870-F83A44AEEBAD}"/>
                  </a:ext>
                </a:extLst>
              </p:cNvPr>
              <p:cNvSpPr/>
              <p:nvPr/>
            </p:nvSpPr>
            <p:spPr>
              <a:xfrm>
                <a:off x="2849880" y="42862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Номенклатура</a:t>
                </a:r>
                <a:endParaRPr lang="en-US" sz="2400" dirty="0"/>
              </a:p>
            </p:txBody>
          </p:sp>
          <p:sp>
            <p:nvSpPr>
              <p:cNvPr id="70" name="Shape 37">
                <a:extLst>
                  <a:ext uri="{FF2B5EF4-FFF2-40B4-BE49-F238E27FC236}">
                    <a16:creationId xmlns:a16="http://schemas.microsoft.com/office/drawing/2014/main" id="{DD0465EF-6821-4375-9D16-601B62F350A3}"/>
                  </a:ext>
                </a:extLst>
              </p:cNvPr>
              <p:cNvSpPr/>
              <p:nvPr/>
            </p:nvSpPr>
            <p:spPr>
              <a:xfrm>
                <a:off x="2849880" y="45910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71" name="Text 38">
                <a:extLst>
                  <a:ext uri="{FF2B5EF4-FFF2-40B4-BE49-F238E27FC236}">
                    <a16:creationId xmlns:a16="http://schemas.microsoft.com/office/drawing/2014/main" id="{6D90F39A-6D7B-4EAF-BB64-B2B9EA868ACF}"/>
                  </a:ext>
                </a:extLst>
              </p:cNvPr>
              <p:cNvSpPr/>
              <p:nvPr/>
            </p:nvSpPr>
            <p:spPr>
              <a:xfrm>
                <a:off x="2849880" y="45910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Количество</a:t>
                </a:r>
                <a:endParaRPr lang="en-US" sz="2400" dirty="0"/>
              </a:p>
            </p:txBody>
          </p:sp>
        </p:grp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233B42C5-914A-4074-B9E2-DD50D7DEA6C7}"/>
              </a:ext>
            </a:extLst>
          </p:cNvPr>
          <p:cNvGrpSpPr/>
          <p:nvPr/>
        </p:nvGrpSpPr>
        <p:grpSpPr>
          <a:xfrm>
            <a:off x="5013960" y="8182284"/>
            <a:ext cx="2162175" cy="2647950"/>
            <a:chOff x="5013960" y="2990850"/>
            <a:chExt cx="2162175" cy="2647950"/>
          </a:xfrm>
        </p:grpSpPr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B4050153-8D6B-43C7-867B-B40418125009}"/>
                </a:ext>
              </a:extLst>
            </p:cNvPr>
            <p:cNvSpPr/>
            <p:nvPr/>
          </p:nvSpPr>
          <p:spPr>
            <a:xfrm>
              <a:off x="501396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4" name="Shape 40">
              <a:extLst>
                <a:ext uri="{FF2B5EF4-FFF2-40B4-BE49-F238E27FC236}">
                  <a16:creationId xmlns:a16="http://schemas.microsoft.com/office/drawing/2014/main" id="{E6D38A32-E31F-4656-ABC2-9625BE5CF953}"/>
                </a:ext>
              </a:extLst>
            </p:cNvPr>
            <p:cNvSpPr/>
            <p:nvPr/>
          </p:nvSpPr>
          <p:spPr>
            <a:xfrm>
              <a:off x="5197316" y="3286125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83682" y="22369"/>
                  </a:moveTo>
                  <a:cubicBezTo>
                    <a:pt x="87165" y="17580"/>
                    <a:pt x="86093" y="10883"/>
                    <a:pt x="81305" y="7400"/>
                  </a:cubicBezTo>
                  <a:cubicBezTo>
                    <a:pt x="76516" y="3918"/>
                    <a:pt x="69819" y="4989"/>
                    <a:pt x="66336" y="9778"/>
                  </a:cubicBezTo>
                  <a:lnTo>
                    <a:pt x="30841" y="58568"/>
                  </a:lnTo>
                  <a:lnTo>
                    <a:pt x="18284" y="46010"/>
                  </a:lnTo>
                  <a:cubicBezTo>
                    <a:pt x="14098" y="41824"/>
                    <a:pt x="7300" y="41824"/>
                    <a:pt x="3114" y="46010"/>
                  </a:cubicBezTo>
                  <a:cubicBezTo>
                    <a:pt x="-1072" y="50196"/>
                    <a:pt x="-1072" y="56994"/>
                    <a:pt x="3114" y="61180"/>
                  </a:cubicBezTo>
                  <a:lnTo>
                    <a:pt x="24545" y="82611"/>
                  </a:lnTo>
                  <a:cubicBezTo>
                    <a:pt x="26756" y="84821"/>
                    <a:pt x="29836" y="85959"/>
                    <a:pt x="32951" y="85725"/>
                  </a:cubicBezTo>
                  <a:cubicBezTo>
                    <a:pt x="36065" y="85491"/>
                    <a:pt x="38945" y="83883"/>
                    <a:pt x="40786" y="81338"/>
                  </a:cubicBezTo>
                  <a:lnTo>
                    <a:pt x="83649" y="22402"/>
                  </a:lnTo>
                  <a:close/>
                  <a:moveTo>
                    <a:pt x="126545" y="67910"/>
                  </a:moveTo>
                  <a:cubicBezTo>
                    <a:pt x="130027" y="63122"/>
                    <a:pt x="128956" y="56424"/>
                    <a:pt x="124167" y="52942"/>
                  </a:cubicBezTo>
                  <a:cubicBezTo>
                    <a:pt x="119379" y="49459"/>
                    <a:pt x="112681" y="50531"/>
                    <a:pt x="109199" y="55319"/>
                  </a:cubicBezTo>
                  <a:lnTo>
                    <a:pt x="52272" y="133577"/>
                  </a:lnTo>
                  <a:lnTo>
                    <a:pt x="28999" y="110304"/>
                  </a:lnTo>
                  <a:cubicBezTo>
                    <a:pt x="24813" y="106118"/>
                    <a:pt x="18016" y="106118"/>
                    <a:pt x="13830" y="110304"/>
                  </a:cubicBezTo>
                  <a:cubicBezTo>
                    <a:pt x="9644" y="114490"/>
                    <a:pt x="9644" y="121287"/>
                    <a:pt x="13830" y="125473"/>
                  </a:cubicBezTo>
                  <a:lnTo>
                    <a:pt x="45977" y="157620"/>
                  </a:lnTo>
                  <a:cubicBezTo>
                    <a:pt x="48187" y="159830"/>
                    <a:pt x="51268" y="160969"/>
                    <a:pt x="54382" y="160734"/>
                  </a:cubicBezTo>
                  <a:cubicBezTo>
                    <a:pt x="57496" y="160500"/>
                    <a:pt x="60376" y="158893"/>
                    <a:pt x="62218" y="156348"/>
                  </a:cubicBezTo>
                  <a:lnTo>
                    <a:pt x="126511" y="67944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791B61A5-DE00-411C-9859-EF4BB689004D}"/>
                </a:ext>
              </a:extLst>
            </p:cNvPr>
            <p:cNvSpPr/>
            <p:nvPr/>
          </p:nvSpPr>
          <p:spPr>
            <a:xfrm>
              <a:off x="5433219" y="3143250"/>
              <a:ext cx="166687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Проверка справочников</a:t>
              </a:r>
              <a:endParaRPr lang="en-US" sz="16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51D5CC8-3410-4B61-8376-2ADFC9B20FFA}"/>
                </a:ext>
              </a:extLst>
            </p:cNvPr>
            <p:cNvSpPr/>
            <p:nvPr/>
          </p:nvSpPr>
          <p:spPr>
            <a:xfrm>
              <a:off x="516636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RAG ищет:</a:t>
              </a:r>
              <a:endParaRPr lang="en-US" sz="1600" dirty="0"/>
            </a:p>
          </p:txBody>
        </p:sp>
        <p:grpSp>
          <p:nvGrpSpPr>
            <p:cNvPr id="77" name="Группа 76">
              <a:extLst>
                <a:ext uri="{FF2B5EF4-FFF2-40B4-BE49-F238E27FC236}">
                  <a16:creationId xmlns:a16="http://schemas.microsoft.com/office/drawing/2014/main" id="{B4390D74-EC99-49A8-872B-9B702A3C4F84}"/>
                </a:ext>
              </a:extLst>
            </p:cNvPr>
            <p:cNvGrpSpPr/>
            <p:nvPr/>
          </p:nvGrpSpPr>
          <p:grpSpPr>
            <a:xfrm>
              <a:off x="5166360" y="3990975"/>
              <a:ext cx="1924050" cy="1524000"/>
              <a:chOff x="5166360" y="3981450"/>
              <a:chExt cx="1924050" cy="876300"/>
            </a:xfrm>
          </p:grpSpPr>
          <p:sp>
            <p:nvSpPr>
              <p:cNvPr id="78" name="Shape 43">
                <a:extLst>
                  <a:ext uri="{FF2B5EF4-FFF2-40B4-BE49-F238E27FC236}">
                    <a16:creationId xmlns:a16="http://schemas.microsoft.com/office/drawing/2014/main" id="{9538379E-FC35-4F8C-991C-16494D1D2C95}"/>
                  </a:ext>
                </a:extLst>
              </p:cNvPr>
              <p:cNvSpPr/>
              <p:nvPr/>
            </p:nvSpPr>
            <p:spPr>
              <a:xfrm>
                <a:off x="5166360" y="3981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79" name="Text 44">
                <a:extLst>
                  <a:ext uri="{FF2B5EF4-FFF2-40B4-BE49-F238E27FC236}">
                    <a16:creationId xmlns:a16="http://schemas.microsoft.com/office/drawing/2014/main" id="{4A653D09-B26C-4F66-8FA9-CD613D7AA6F5}"/>
                  </a:ext>
                </a:extLst>
              </p:cNvPr>
              <p:cNvSpPr/>
              <p:nvPr/>
            </p:nvSpPr>
            <p:spPr>
              <a:xfrm>
                <a:off x="5166360" y="3981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Контрагент в базе</a:t>
                </a:r>
                <a:endParaRPr lang="en-US" sz="2400" dirty="0"/>
              </a:p>
            </p:txBody>
          </p:sp>
          <p:sp>
            <p:nvSpPr>
              <p:cNvPr id="80" name="Shape 45">
                <a:extLst>
                  <a:ext uri="{FF2B5EF4-FFF2-40B4-BE49-F238E27FC236}">
                    <a16:creationId xmlns:a16="http://schemas.microsoft.com/office/drawing/2014/main" id="{D3BB989A-C506-44CC-823A-6897134A9F59}"/>
                  </a:ext>
                </a:extLst>
              </p:cNvPr>
              <p:cNvSpPr/>
              <p:nvPr/>
            </p:nvSpPr>
            <p:spPr>
              <a:xfrm>
                <a:off x="5166360" y="42862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81" name="Text 46">
                <a:extLst>
                  <a:ext uri="{FF2B5EF4-FFF2-40B4-BE49-F238E27FC236}">
                    <a16:creationId xmlns:a16="http://schemas.microsoft.com/office/drawing/2014/main" id="{E411FA3E-A0F5-4604-BC45-01F204770C2F}"/>
                  </a:ext>
                </a:extLst>
              </p:cNvPr>
              <p:cNvSpPr/>
              <p:nvPr/>
            </p:nvSpPr>
            <p:spPr>
              <a:xfrm>
                <a:off x="5166360" y="42862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Номенклатура</a:t>
                </a:r>
                <a:endParaRPr lang="en-US" sz="2400" dirty="0"/>
              </a:p>
            </p:txBody>
          </p:sp>
          <p:sp>
            <p:nvSpPr>
              <p:cNvPr id="82" name="Shape 47">
                <a:extLst>
                  <a:ext uri="{FF2B5EF4-FFF2-40B4-BE49-F238E27FC236}">
                    <a16:creationId xmlns:a16="http://schemas.microsoft.com/office/drawing/2014/main" id="{45C0F520-36D1-4BEC-82BE-D884F953588B}"/>
                  </a:ext>
                </a:extLst>
              </p:cNvPr>
              <p:cNvSpPr/>
              <p:nvPr/>
            </p:nvSpPr>
            <p:spPr>
              <a:xfrm>
                <a:off x="5166360" y="45910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83" name="Text 48">
                <a:extLst>
                  <a:ext uri="{FF2B5EF4-FFF2-40B4-BE49-F238E27FC236}">
                    <a16:creationId xmlns:a16="http://schemas.microsoft.com/office/drawing/2014/main" id="{1AF8CF53-010A-4FF5-9FA1-763B97603D40}"/>
                  </a:ext>
                </a:extLst>
              </p:cNvPr>
              <p:cNvSpPr/>
              <p:nvPr/>
            </p:nvSpPr>
            <p:spPr>
              <a:xfrm>
                <a:off x="5166360" y="45910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Цена, договор</a:t>
                </a:r>
                <a:endParaRPr lang="en-US" sz="2400" dirty="0"/>
              </a:p>
            </p:txBody>
          </p:sp>
        </p:grp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2B5F77B5-88F5-42E8-B3C1-B545ED8F3D1F}"/>
              </a:ext>
            </a:extLst>
          </p:cNvPr>
          <p:cNvGrpSpPr/>
          <p:nvPr/>
        </p:nvGrpSpPr>
        <p:grpSpPr>
          <a:xfrm>
            <a:off x="7330440" y="8182284"/>
            <a:ext cx="4478655" cy="2647950"/>
            <a:chOff x="7330440" y="2990850"/>
            <a:chExt cx="4478655" cy="2647950"/>
          </a:xfrm>
        </p:grpSpPr>
        <p:sp>
          <p:nvSpPr>
            <p:cNvPr id="85" name="Shape 49">
              <a:extLst>
                <a:ext uri="{FF2B5EF4-FFF2-40B4-BE49-F238E27FC236}">
                  <a16:creationId xmlns:a16="http://schemas.microsoft.com/office/drawing/2014/main" id="{D2CBDF81-8447-4DF7-A159-75F95BECE540}"/>
                </a:ext>
              </a:extLst>
            </p:cNvPr>
            <p:cNvSpPr/>
            <p:nvPr/>
          </p:nvSpPr>
          <p:spPr>
            <a:xfrm>
              <a:off x="733044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86" name="Shape 50">
              <a:extLst>
                <a:ext uri="{FF2B5EF4-FFF2-40B4-BE49-F238E27FC236}">
                  <a16:creationId xmlns:a16="http://schemas.microsoft.com/office/drawing/2014/main" id="{19D526C2-0BA4-4E02-8E74-4CBFF5706986}"/>
                </a:ext>
              </a:extLst>
            </p:cNvPr>
            <p:cNvSpPr/>
            <p:nvPr/>
          </p:nvSpPr>
          <p:spPr>
            <a:xfrm>
              <a:off x="7528084" y="3171825"/>
              <a:ext cx="128588" cy="17145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0" y="21431"/>
                  </a:moveTo>
                  <a:cubicBezTo>
                    <a:pt x="0" y="9611"/>
                    <a:pt x="9611" y="0"/>
                    <a:pt x="21431" y="0"/>
                  </a:cubicBezTo>
                  <a:lnTo>
                    <a:pt x="71493" y="0"/>
                  </a:lnTo>
                  <a:cubicBezTo>
                    <a:pt x="77186" y="0"/>
                    <a:pt x="82644" y="2244"/>
                    <a:pt x="86663" y="6262"/>
                  </a:cubicBezTo>
                  <a:lnTo>
                    <a:pt x="122326" y="41958"/>
                  </a:lnTo>
                  <a:cubicBezTo>
                    <a:pt x="126344" y="45977"/>
                    <a:pt x="128588" y="51435"/>
                    <a:pt x="128588" y="57128"/>
                  </a:cubicBezTo>
                  <a:lnTo>
                    <a:pt x="128588" y="150019"/>
                  </a:lnTo>
                  <a:cubicBezTo>
                    <a:pt x="128588" y="161839"/>
                    <a:pt x="118977" y="171450"/>
                    <a:pt x="107156" y="171450"/>
                  </a:cubicBezTo>
                  <a:lnTo>
                    <a:pt x="21431" y="171450"/>
                  </a:lnTo>
                  <a:cubicBezTo>
                    <a:pt x="9611" y="171450"/>
                    <a:pt x="0" y="161839"/>
                    <a:pt x="0" y="150019"/>
                  </a:cubicBezTo>
                  <a:lnTo>
                    <a:pt x="0" y="21431"/>
                  </a:lnTo>
                  <a:close/>
                  <a:moveTo>
                    <a:pt x="69652" y="19590"/>
                  </a:moveTo>
                  <a:lnTo>
                    <a:pt x="69652" y="50899"/>
                  </a:lnTo>
                  <a:cubicBezTo>
                    <a:pt x="69652" y="55353"/>
                    <a:pt x="73235" y="58936"/>
                    <a:pt x="77688" y="58936"/>
                  </a:cubicBezTo>
                  <a:lnTo>
                    <a:pt x="108998" y="58936"/>
                  </a:lnTo>
                  <a:lnTo>
                    <a:pt x="69652" y="19590"/>
                  </a:lnTo>
                  <a:close/>
                  <a:moveTo>
                    <a:pt x="40184" y="85725"/>
                  </a:moveTo>
                  <a:cubicBezTo>
                    <a:pt x="35730" y="85725"/>
                    <a:pt x="32147" y="89308"/>
                    <a:pt x="32147" y="93762"/>
                  </a:cubicBezTo>
                  <a:cubicBezTo>
                    <a:pt x="32147" y="98215"/>
                    <a:pt x="35730" y="101798"/>
                    <a:pt x="40184" y="101798"/>
                  </a:cubicBezTo>
                  <a:lnTo>
                    <a:pt x="88404" y="101798"/>
                  </a:lnTo>
                  <a:cubicBezTo>
                    <a:pt x="92858" y="101798"/>
                    <a:pt x="96441" y="98215"/>
                    <a:pt x="96441" y="93762"/>
                  </a:cubicBezTo>
                  <a:cubicBezTo>
                    <a:pt x="96441" y="89308"/>
                    <a:pt x="92858" y="85725"/>
                    <a:pt x="88404" y="85725"/>
                  </a:cubicBezTo>
                  <a:lnTo>
                    <a:pt x="40184" y="85725"/>
                  </a:lnTo>
                  <a:close/>
                  <a:moveTo>
                    <a:pt x="40184" y="117872"/>
                  </a:moveTo>
                  <a:cubicBezTo>
                    <a:pt x="35730" y="117872"/>
                    <a:pt x="32147" y="121455"/>
                    <a:pt x="32147" y="125909"/>
                  </a:cubicBezTo>
                  <a:cubicBezTo>
                    <a:pt x="32147" y="130362"/>
                    <a:pt x="35730" y="133945"/>
                    <a:pt x="40184" y="133945"/>
                  </a:cubicBezTo>
                  <a:lnTo>
                    <a:pt x="88404" y="133945"/>
                  </a:lnTo>
                  <a:cubicBezTo>
                    <a:pt x="92858" y="133945"/>
                    <a:pt x="96441" y="130362"/>
                    <a:pt x="96441" y="125909"/>
                  </a:cubicBezTo>
                  <a:cubicBezTo>
                    <a:pt x="96441" y="121455"/>
                    <a:pt x="92858" y="117872"/>
                    <a:pt x="88404" y="117872"/>
                  </a:cubicBezTo>
                  <a:lnTo>
                    <a:pt x="40184" y="117872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87" name="Text 51">
              <a:extLst>
                <a:ext uri="{FF2B5EF4-FFF2-40B4-BE49-F238E27FC236}">
                  <a16:creationId xmlns:a16="http://schemas.microsoft.com/office/drawing/2014/main" id="{C2E6EAE3-488E-43D8-8B78-4BEEF84431BF}"/>
                </a:ext>
              </a:extLst>
            </p:cNvPr>
            <p:cNvSpPr/>
            <p:nvPr/>
          </p:nvSpPr>
          <p:spPr>
            <a:xfrm>
              <a:off x="7773352" y="3143250"/>
              <a:ext cx="16097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Создание черновика</a:t>
              </a:r>
              <a:endParaRPr lang="en-US" sz="1600" dirty="0"/>
            </a:p>
          </p:txBody>
        </p:sp>
        <p:sp>
          <p:nvSpPr>
            <p:cNvPr id="88" name="Text 52">
              <a:extLst>
                <a:ext uri="{FF2B5EF4-FFF2-40B4-BE49-F238E27FC236}">
                  <a16:creationId xmlns:a16="http://schemas.microsoft.com/office/drawing/2014/main" id="{00090714-3DFC-47FA-BA8C-9A7626141B15}"/>
                </a:ext>
              </a:extLst>
            </p:cNvPr>
            <p:cNvSpPr/>
            <p:nvPr/>
          </p:nvSpPr>
          <p:spPr>
            <a:xfrm>
              <a:off x="748284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Система формирует:</a:t>
              </a:r>
              <a:endParaRPr lang="en-US" sz="1600" dirty="0"/>
            </a:p>
          </p:txBody>
        </p:sp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8C827276-0237-4E38-AF96-5390A5CB3F4D}"/>
                </a:ext>
              </a:extLst>
            </p:cNvPr>
            <p:cNvGrpSpPr/>
            <p:nvPr/>
          </p:nvGrpSpPr>
          <p:grpSpPr>
            <a:xfrm>
              <a:off x="7482840" y="3990975"/>
              <a:ext cx="1924050" cy="1485900"/>
              <a:chOff x="7482840" y="3752850"/>
              <a:chExt cx="1924050" cy="1066800"/>
            </a:xfrm>
          </p:grpSpPr>
          <p:sp>
            <p:nvSpPr>
              <p:cNvPr id="101" name="Shape 53">
                <a:extLst>
                  <a:ext uri="{FF2B5EF4-FFF2-40B4-BE49-F238E27FC236}">
                    <a16:creationId xmlns:a16="http://schemas.microsoft.com/office/drawing/2014/main" id="{A83273F2-E10C-4463-AF9D-DB11936BB7DE}"/>
                  </a:ext>
                </a:extLst>
              </p:cNvPr>
              <p:cNvSpPr/>
              <p:nvPr/>
            </p:nvSpPr>
            <p:spPr>
              <a:xfrm>
                <a:off x="7482840" y="3752850"/>
                <a:ext cx="18573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457200">
                    <a:moveTo>
                      <a:pt x="38098" y="0"/>
                    </a:moveTo>
                    <a:lnTo>
                      <a:pt x="1819277" y="0"/>
                    </a:lnTo>
                    <a:cubicBezTo>
                      <a:pt x="1840318" y="0"/>
                      <a:pt x="1857375" y="17057"/>
                      <a:pt x="1857375" y="38098"/>
                    </a:cubicBezTo>
                    <a:lnTo>
                      <a:pt x="1857375" y="419102"/>
                    </a:lnTo>
                    <a:cubicBezTo>
                      <a:pt x="1857375" y="440143"/>
                      <a:pt x="1840318" y="457200"/>
                      <a:pt x="1819277" y="457200"/>
                    </a:cubicBezTo>
                    <a:lnTo>
                      <a:pt x="38098" y="457200"/>
                    </a:lnTo>
                    <a:cubicBezTo>
                      <a:pt x="17057" y="457200"/>
                      <a:pt x="0" y="440143"/>
                      <a:pt x="0" y="419102"/>
                    </a:cubicBezTo>
                    <a:lnTo>
                      <a:pt x="0" y="38098"/>
                    </a:lnTo>
                    <a:cubicBezTo>
                      <a:pt x="0" y="17071"/>
                      <a:pt x="17071" y="0"/>
                      <a:pt x="380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02" name="Text 54">
                <a:extLst>
                  <a:ext uri="{FF2B5EF4-FFF2-40B4-BE49-F238E27FC236}">
                    <a16:creationId xmlns:a16="http://schemas.microsoft.com/office/drawing/2014/main" id="{B3D94389-94FF-4317-8FB6-D501D3875513}"/>
                  </a:ext>
                </a:extLst>
              </p:cNvPr>
              <p:cNvSpPr/>
              <p:nvPr/>
            </p:nvSpPr>
            <p:spPr>
              <a:xfrm>
                <a:off x="7482840" y="3752850"/>
                <a:ext cx="1924050" cy="4572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Предзаполненный документ</a:t>
                </a:r>
                <a:endParaRPr lang="en-US" sz="2400" dirty="0"/>
              </a:p>
            </p:txBody>
          </p:sp>
          <p:sp>
            <p:nvSpPr>
              <p:cNvPr id="103" name="Shape 55">
                <a:extLst>
                  <a:ext uri="{FF2B5EF4-FFF2-40B4-BE49-F238E27FC236}">
                    <a16:creationId xmlns:a16="http://schemas.microsoft.com/office/drawing/2014/main" id="{AC125BE8-9E14-4739-AB48-4AEA988D05B3}"/>
                  </a:ext>
                </a:extLst>
              </p:cNvPr>
              <p:cNvSpPr/>
              <p:nvPr/>
            </p:nvSpPr>
            <p:spPr>
              <a:xfrm>
                <a:off x="7482840" y="42481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04" name="Text 56">
                <a:extLst>
                  <a:ext uri="{FF2B5EF4-FFF2-40B4-BE49-F238E27FC236}">
                    <a16:creationId xmlns:a16="http://schemas.microsoft.com/office/drawing/2014/main" id="{40263B6A-CE56-441B-B226-32F5C26EB586}"/>
                  </a:ext>
                </a:extLst>
              </p:cNvPr>
              <p:cNvSpPr/>
              <p:nvPr/>
            </p:nvSpPr>
            <p:spPr>
              <a:xfrm>
                <a:off x="7482840" y="42481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Все реквизиты</a:t>
                </a:r>
                <a:endParaRPr lang="en-US" sz="2400" dirty="0"/>
              </a:p>
            </p:txBody>
          </p:sp>
          <p:sp>
            <p:nvSpPr>
              <p:cNvPr id="105" name="Shape 57">
                <a:extLst>
                  <a:ext uri="{FF2B5EF4-FFF2-40B4-BE49-F238E27FC236}">
                    <a16:creationId xmlns:a16="http://schemas.microsoft.com/office/drawing/2014/main" id="{54AACBF2-82C5-45D9-AADF-2DF9D716CE31}"/>
                  </a:ext>
                </a:extLst>
              </p:cNvPr>
              <p:cNvSpPr/>
              <p:nvPr/>
            </p:nvSpPr>
            <p:spPr>
              <a:xfrm>
                <a:off x="7482840" y="45529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06" name="Text 58">
                <a:extLst>
                  <a:ext uri="{FF2B5EF4-FFF2-40B4-BE49-F238E27FC236}">
                    <a16:creationId xmlns:a16="http://schemas.microsoft.com/office/drawing/2014/main" id="{49E7F1BD-ABA1-4F10-ABE0-F9845251D2D6}"/>
                  </a:ext>
                </a:extLst>
              </p:cNvPr>
              <p:cNvSpPr/>
              <p:nvPr/>
            </p:nvSpPr>
            <p:spPr>
              <a:xfrm>
                <a:off x="7482840" y="45529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Табличная часть</a:t>
                </a:r>
                <a:endParaRPr lang="en-US" sz="2400" dirty="0"/>
              </a:p>
            </p:txBody>
          </p:sp>
        </p:grpSp>
        <p:sp>
          <p:nvSpPr>
            <p:cNvPr id="90" name="Shape 59">
              <a:extLst>
                <a:ext uri="{FF2B5EF4-FFF2-40B4-BE49-F238E27FC236}">
                  <a16:creationId xmlns:a16="http://schemas.microsoft.com/office/drawing/2014/main" id="{5B0F6138-A269-4FFE-85F2-511A3C9FA3B5}"/>
                </a:ext>
              </a:extLst>
            </p:cNvPr>
            <p:cNvSpPr/>
            <p:nvPr/>
          </p:nvSpPr>
          <p:spPr>
            <a:xfrm>
              <a:off x="9646920" y="2990850"/>
              <a:ext cx="2162175" cy="2647950"/>
            </a:xfrm>
            <a:custGeom>
              <a:avLst/>
              <a:gdLst/>
              <a:ahLst/>
              <a:cxnLst/>
              <a:rect l="l" t="t" r="r" b="b"/>
              <a:pathLst>
                <a:path w="2162175" h="2019300">
                  <a:moveTo>
                    <a:pt x="114292" y="0"/>
                  </a:moveTo>
                  <a:lnTo>
                    <a:pt x="2047883" y="0"/>
                  </a:lnTo>
                  <a:cubicBezTo>
                    <a:pt x="2111005" y="0"/>
                    <a:pt x="2162175" y="51170"/>
                    <a:pt x="2162175" y="114292"/>
                  </a:cubicBezTo>
                  <a:lnTo>
                    <a:pt x="2162175" y="1905008"/>
                  </a:lnTo>
                  <a:cubicBezTo>
                    <a:pt x="2162175" y="1968130"/>
                    <a:pt x="2111005" y="2019300"/>
                    <a:pt x="2047883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91" name="Shape 60">
              <a:extLst>
                <a:ext uri="{FF2B5EF4-FFF2-40B4-BE49-F238E27FC236}">
                  <a16:creationId xmlns:a16="http://schemas.microsoft.com/office/drawing/2014/main" id="{987E4103-72D8-4E71-ADC0-DF2AB9C4AC89}"/>
                </a:ext>
              </a:extLst>
            </p:cNvPr>
            <p:cNvSpPr/>
            <p:nvPr/>
          </p:nvSpPr>
          <p:spPr>
            <a:xfrm>
              <a:off x="9801702" y="3171825"/>
              <a:ext cx="214313" cy="171450"/>
            </a:xfrm>
            <a:custGeom>
              <a:avLst/>
              <a:gdLst/>
              <a:ahLst/>
              <a:cxnLst/>
              <a:rect l="l" t="t" r="r" b="b"/>
              <a:pathLst>
                <a:path w="214313" h="171450">
                  <a:moveTo>
                    <a:pt x="45541" y="42863"/>
                  </a:moveTo>
                  <a:cubicBezTo>
                    <a:pt x="45541" y="20685"/>
                    <a:pt x="63547" y="2679"/>
                    <a:pt x="85725" y="2679"/>
                  </a:cubicBezTo>
                  <a:cubicBezTo>
                    <a:pt x="107903" y="2679"/>
                    <a:pt x="125909" y="20685"/>
                    <a:pt x="125909" y="42862"/>
                  </a:cubicBezTo>
                  <a:cubicBezTo>
                    <a:pt x="125909" y="65040"/>
                    <a:pt x="107903" y="83046"/>
                    <a:pt x="85725" y="83046"/>
                  </a:cubicBezTo>
                  <a:cubicBezTo>
                    <a:pt x="63547" y="83046"/>
                    <a:pt x="45541" y="65040"/>
                    <a:pt x="45541" y="42863"/>
                  </a:cubicBezTo>
                  <a:close/>
                  <a:moveTo>
                    <a:pt x="16073" y="161505"/>
                  </a:moveTo>
                  <a:cubicBezTo>
                    <a:pt x="16073" y="128521"/>
                    <a:pt x="42796" y="101798"/>
                    <a:pt x="75780" y="101798"/>
                  </a:cubicBezTo>
                  <a:lnTo>
                    <a:pt x="95670" y="101798"/>
                  </a:lnTo>
                  <a:cubicBezTo>
                    <a:pt x="128654" y="101798"/>
                    <a:pt x="155377" y="128521"/>
                    <a:pt x="155377" y="161505"/>
                  </a:cubicBezTo>
                  <a:cubicBezTo>
                    <a:pt x="155377" y="166996"/>
                    <a:pt x="150923" y="171450"/>
                    <a:pt x="145431" y="171450"/>
                  </a:cubicBezTo>
                  <a:lnTo>
                    <a:pt x="26019" y="171450"/>
                  </a:lnTo>
                  <a:cubicBezTo>
                    <a:pt x="20527" y="171450"/>
                    <a:pt x="16073" y="166996"/>
                    <a:pt x="16073" y="161505"/>
                  </a:cubicBezTo>
                  <a:close/>
                  <a:moveTo>
                    <a:pt x="205070" y="44436"/>
                  </a:moveTo>
                  <a:lnTo>
                    <a:pt x="178281" y="87299"/>
                  </a:lnTo>
                  <a:cubicBezTo>
                    <a:pt x="176875" y="89542"/>
                    <a:pt x="174464" y="90949"/>
                    <a:pt x="171818" y="91083"/>
                  </a:cubicBezTo>
                  <a:cubicBezTo>
                    <a:pt x="169173" y="91217"/>
                    <a:pt x="166628" y="90011"/>
                    <a:pt x="165054" y="87868"/>
                  </a:cubicBezTo>
                  <a:lnTo>
                    <a:pt x="148981" y="66437"/>
                  </a:lnTo>
                  <a:cubicBezTo>
                    <a:pt x="146302" y="62887"/>
                    <a:pt x="147038" y="57864"/>
                    <a:pt x="150588" y="55185"/>
                  </a:cubicBezTo>
                  <a:cubicBezTo>
                    <a:pt x="154138" y="52507"/>
                    <a:pt x="159161" y="53243"/>
                    <a:pt x="161839" y="56793"/>
                  </a:cubicBezTo>
                  <a:lnTo>
                    <a:pt x="170881" y="68848"/>
                  </a:lnTo>
                  <a:lnTo>
                    <a:pt x="191441" y="35931"/>
                  </a:lnTo>
                  <a:cubicBezTo>
                    <a:pt x="193785" y="32180"/>
                    <a:pt x="198741" y="31008"/>
                    <a:pt x="202525" y="33386"/>
                  </a:cubicBezTo>
                  <a:cubicBezTo>
                    <a:pt x="206309" y="35763"/>
                    <a:pt x="207448" y="40686"/>
                    <a:pt x="205070" y="4447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92" name="Text 61">
              <a:extLst>
                <a:ext uri="{FF2B5EF4-FFF2-40B4-BE49-F238E27FC236}">
                  <a16:creationId xmlns:a16="http://schemas.microsoft.com/office/drawing/2014/main" id="{76843514-C974-4B8F-8AE8-410351517173}"/>
                </a:ext>
              </a:extLst>
            </p:cNvPr>
            <p:cNvSpPr/>
            <p:nvPr/>
          </p:nvSpPr>
          <p:spPr>
            <a:xfrm>
              <a:off x="10089833" y="3143250"/>
              <a:ext cx="12763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Подтверждение</a:t>
              </a:r>
              <a:endParaRPr lang="en-US" sz="1600" dirty="0"/>
            </a:p>
          </p:txBody>
        </p:sp>
        <p:sp>
          <p:nvSpPr>
            <p:cNvPr id="93" name="Text 62">
              <a:extLst>
                <a:ext uri="{FF2B5EF4-FFF2-40B4-BE49-F238E27FC236}">
                  <a16:creationId xmlns:a16="http://schemas.microsoft.com/office/drawing/2014/main" id="{448F0517-4702-43B8-9412-598B73BEB9B8}"/>
                </a:ext>
              </a:extLst>
            </p:cNvPr>
            <p:cNvSpPr/>
            <p:nvPr/>
          </p:nvSpPr>
          <p:spPr>
            <a:xfrm>
              <a:off x="9786620" y="3714750"/>
              <a:ext cx="19240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Пользователь:</a:t>
              </a:r>
              <a:endParaRPr lang="en-US" sz="1600" dirty="0"/>
            </a:p>
          </p:txBody>
        </p:sp>
        <p:grpSp>
          <p:nvGrpSpPr>
            <p:cNvPr id="94" name="Группа 93">
              <a:extLst>
                <a:ext uri="{FF2B5EF4-FFF2-40B4-BE49-F238E27FC236}">
                  <a16:creationId xmlns:a16="http://schemas.microsoft.com/office/drawing/2014/main" id="{BC5F54F7-6D72-498F-853C-E60A10093CD3}"/>
                </a:ext>
              </a:extLst>
            </p:cNvPr>
            <p:cNvGrpSpPr/>
            <p:nvPr/>
          </p:nvGrpSpPr>
          <p:grpSpPr>
            <a:xfrm>
              <a:off x="9799320" y="3990975"/>
              <a:ext cx="1924050" cy="1485900"/>
              <a:chOff x="9799320" y="3752850"/>
              <a:chExt cx="1924050" cy="876300"/>
            </a:xfrm>
          </p:grpSpPr>
          <p:sp>
            <p:nvSpPr>
              <p:cNvPr id="95" name="Shape 63">
                <a:extLst>
                  <a:ext uri="{FF2B5EF4-FFF2-40B4-BE49-F238E27FC236}">
                    <a16:creationId xmlns:a16="http://schemas.microsoft.com/office/drawing/2014/main" id="{76880C1F-5850-4C14-BBDA-4788471D12B1}"/>
                  </a:ext>
                </a:extLst>
              </p:cNvPr>
              <p:cNvSpPr/>
              <p:nvPr/>
            </p:nvSpPr>
            <p:spPr>
              <a:xfrm>
                <a:off x="9799320" y="37528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96" name="Text 64">
                <a:extLst>
                  <a:ext uri="{FF2B5EF4-FFF2-40B4-BE49-F238E27FC236}">
                    <a16:creationId xmlns:a16="http://schemas.microsoft.com/office/drawing/2014/main" id="{2F64EE74-A003-4D82-9EE5-C01024450220}"/>
                  </a:ext>
                </a:extLst>
              </p:cNvPr>
              <p:cNvSpPr/>
              <p:nvPr/>
            </p:nvSpPr>
            <p:spPr>
              <a:xfrm>
                <a:off x="9799320" y="37528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Проверяет данные</a:t>
                </a:r>
                <a:endParaRPr lang="en-US" sz="2400" dirty="0"/>
              </a:p>
            </p:txBody>
          </p:sp>
          <p:sp>
            <p:nvSpPr>
              <p:cNvPr id="97" name="Shape 65">
                <a:extLst>
                  <a:ext uri="{FF2B5EF4-FFF2-40B4-BE49-F238E27FC236}">
                    <a16:creationId xmlns:a16="http://schemas.microsoft.com/office/drawing/2014/main" id="{AA6DF399-FBE6-4FA6-9ADA-D0B1D2952641}"/>
                  </a:ext>
                </a:extLst>
              </p:cNvPr>
              <p:cNvSpPr/>
              <p:nvPr/>
            </p:nvSpPr>
            <p:spPr>
              <a:xfrm>
                <a:off x="9799320" y="40576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98" name="Text 66">
                <a:extLst>
                  <a:ext uri="{FF2B5EF4-FFF2-40B4-BE49-F238E27FC236}">
                    <a16:creationId xmlns:a16="http://schemas.microsoft.com/office/drawing/2014/main" id="{11D37391-F0BD-40C6-99ED-01E567B1508F}"/>
                  </a:ext>
                </a:extLst>
              </p:cNvPr>
              <p:cNvSpPr/>
              <p:nvPr/>
            </p:nvSpPr>
            <p:spPr>
              <a:xfrm>
                <a:off x="9799320" y="40576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Вносит правки</a:t>
                </a:r>
                <a:endParaRPr lang="en-US" sz="2400" dirty="0"/>
              </a:p>
            </p:txBody>
          </p:sp>
          <p:sp>
            <p:nvSpPr>
              <p:cNvPr id="99" name="Shape 67">
                <a:extLst>
                  <a:ext uri="{FF2B5EF4-FFF2-40B4-BE49-F238E27FC236}">
                    <a16:creationId xmlns:a16="http://schemas.microsoft.com/office/drawing/2014/main" id="{8E567A27-5CCE-419C-867C-53075EB8D2E2}"/>
                  </a:ext>
                </a:extLst>
              </p:cNvPr>
              <p:cNvSpPr/>
              <p:nvPr/>
            </p:nvSpPr>
            <p:spPr>
              <a:xfrm>
                <a:off x="9799320" y="4362450"/>
                <a:ext cx="18573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857375" h="266700">
                    <a:moveTo>
                      <a:pt x="38101" y="0"/>
                    </a:moveTo>
                    <a:lnTo>
                      <a:pt x="1819274" y="0"/>
                    </a:lnTo>
                    <a:cubicBezTo>
                      <a:pt x="1840317" y="0"/>
                      <a:pt x="1857375" y="17058"/>
                      <a:pt x="1857375" y="38101"/>
                    </a:cubicBezTo>
                    <a:lnTo>
                      <a:pt x="1857375" y="228599"/>
                    </a:lnTo>
                    <a:cubicBezTo>
                      <a:pt x="1857375" y="249642"/>
                      <a:pt x="1840317" y="266700"/>
                      <a:pt x="1819274" y="266700"/>
                    </a:cubicBezTo>
                    <a:lnTo>
                      <a:pt x="38101" y="266700"/>
                    </a:lnTo>
                    <a:cubicBezTo>
                      <a:pt x="17058" y="266700"/>
                      <a:pt x="0" y="249642"/>
                      <a:pt x="0" y="228599"/>
                    </a:cubicBezTo>
                    <a:lnTo>
                      <a:pt x="0" y="38101"/>
                    </a:lnTo>
                    <a:cubicBezTo>
                      <a:pt x="0" y="17072"/>
                      <a:pt x="17072" y="0"/>
                      <a:pt x="38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</p:sp>
          <p:sp>
            <p:nvSpPr>
              <p:cNvPr id="100" name="Text 68">
                <a:extLst>
                  <a:ext uri="{FF2B5EF4-FFF2-40B4-BE49-F238E27FC236}">
                    <a16:creationId xmlns:a16="http://schemas.microsoft.com/office/drawing/2014/main" id="{7927110D-4E89-4D9C-B933-7BBAFFDC8B1F}"/>
                  </a:ext>
                </a:extLst>
              </p:cNvPr>
              <p:cNvSpPr/>
              <p:nvPr/>
            </p:nvSpPr>
            <p:spPr>
              <a:xfrm>
                <a:off x="9799320" y="4362450"/>
                <a:ext cx="1924050" cy="266700"/>
              </a:xfrm>
              <a:prstGeom prst="rect">
                <a:avLst/>
              </a:prstGeom>
              <a:noFill/>
              <a:ln/>
            </p:spPr>
            <p:txBody>
              <a:bodyPr wrap="square" lIns="38100" tIns="38100" rIns="38100" bIns="381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• Сохраняет документ</a:t>
                </a:r>
                <a:endParaRPr lang="en-US" sz="2400" dirty="0"/>
              </a:p>
            </p:txBody>
          </p:sp>
        </p:grpSp>
      </p:grpSp>
      <p:grpSp>
        <p:nvGrpSpPr>
          <p:cNvPr id="107" name="Группа 106">
            <a:extLst>
              <a:ext uri="{FF2B5EF4-FFF2-40B4-BE49-F238E27FC236}">
                <a16:creationId xmlns:a16="http://schemas.microsoft.com/office/drawing/2014/main" id="{5B84E003-BE93-4425-8CCB-212502482297}"/>
              </a:ext>
            </a:extLst>
          </p:cNvPr>
          <p:cNvGrpSpPr/>
          <p:nvPr/>
        </p:nvGrpSpPr>
        <p:grpSpPr>
          <a:xfrm>
            <a:off x="381000" y="11096934"/>
            <a:ext cx="11430000" cy="571500"/>
            <a:chOff x="381000" y="5905500"/>
            <a:chExt cx="11430000" cy="571500"/>
          </a:xfrm>
        </p:grpSpPr>
        <p:sp>
          <p:nvSpPr>
            <p:cNvPr id="108" name="Shape 69">
              <a:extLst>
                <a:ext uri="{FF2B5EF4-FFF2-40B4-BE49-F238E27FC236}">
                  <a16:creationId xmlns:a16="http://schemas.microsoft.com/office/drawing/2014/main" id="{C886D1D6-2A7D-4A3A-87C9-9D6228F85A2B}"/>
                </a:ext>
              </a:extLst>
            </p:cNvPr>
            <p:cNvSpPr/>
            <p:nvPr/>
          </p:nvSpPr>
          <p:spPr>
            <a:xfrm>
              <a:off x="381000" y="5905500"/>
              <a:ext cx="11430000" cy="571500"/>
            </a:xfrm>
            <a:custGeom>
              <a:avLst/>
              <a:gdLst/>
              <a:ahLst/>
              <a:cxnLst/>
              <a:rect l="l" t="t" r="r" b="b"/>
              <a:pathLst>
                <a:path w="11430000" h="571500">
                  <a:moveTo>
                    <a:pt x="114300" y="0"/>
                  </a:moveTo>
                  <a:lnTo>
                    <a:pt x="11315700" y="0"/>
                  </a:lnTo>
                  <a:cubicBezTo>
                    <a:pt x="11378784" y="0"/>
                    <a:pt x="11430000" y="51216"/>
                    <a:pt x="11430000" y="114300"/>
                  </a:cubicBezTo>
                  <a:lnTo>
                    <a:pt x="11430000" y="457200"/>
                  </a:lnTo>
                  <a:cubicBezTo>
                    <a:pt x="11430000" y="520284"/>
                    <a:pt x="11378784" y="571500"/>
                    <a:pt x="11315700" y="571500"/>
                  </a:cubicBezTo>
                  <a:lnTo>
                    <a:pt x="114300" y="571500"/>
                  </a:lnTo>
                  <a:cubicBezTo>
                    <a:pt x="51216" y="571500"/>
                    <a:pt x="0" y="520284"/>
                    <a:pt x="0" y="4572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9" name="Shape 70">
              <a:extLst>
                <a:ext uri="{FF2B5EF4-FFF2-40B4-BE49-F238E27FC236}">
                  <a16:creationId xmlns:a16="http://schemas.microsoft.com/office/drawing/2014/main" id="{33CDC42B-ADAC-4D72-9A87-710EBF885486}"/>
                </a:ext>
              </a:extLst>
            </p:cNvPr>
            <p:cNvSpPr/>
            <p:nvPr/>
          </p:nvSpPr>
          <p:spPr>
            <a:xfrm>
              <a:off x="2291715" y="607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0" name="Text 71">
              <a:extLst>
                <a:ext uri="{FF2B5EF4-FFF2-40B4-BE49-F238E27FC236}">
                  <a16:creationId xmlns:a16="http://schemas.microsoft.com/office/drawing/2014/main" id="{DA9ADE74-F7C7-4D41-9556-4B374D7629D9}"/>
                </a:ext>
              </a:extLst>
            </p:cNvPr>
            <p:cNvSpPr/>
            <p:nvPr/>
          </p:nvSpPr>
          <p:spPr>
            <a:xfrm>
              <a:off x="2777490" y="6057900"/>
              <a:ext cx="67246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Важно: финальное сохранение только после подтверждения пользователем</a:t>
              </a:r>
              <a:endParaRPr lang="en-US" sz="1600" dirty="0"/>
            </a:p>
          </p:txBody>
        </p:sp>
        <p:sp>
          <p:nvSpPr>
            <p:cNvPr id="111" name="Shape 72">
              <a:extLst>
                <a:ext uri="{FF2B5EF4-FFF2-40B4-BE49-F238E27FC236}">
                  <a16:creationId xmlns:a16="http://schemas.microsoft.com/office/drawing/2014/main" id="{6F7C7D4B-D599-4773-9F08-7F8BDAEC61E0}"/>
                </a:ext>
              </a:extLst>
            </p:cNvPr>
            <p:cNvSpPr/>
            <p:nvPr/>
          </p:nvSpPr>
          <p:spPr>
            <a:xfrm>
              <a:off x="9492615" y="609168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</p:grpSp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0C9E8DAD-999B-45C7-8170-20BE5E74A7B1}"/>
              </a:ext>
            </a:extLst>
          </p:cNvPr>
          <p:cNvGrpSpPr/>
          <p:nvPr/>
        </p:nvGrpSpPr>
        <p:grpSpPr>
          <a:xfrm>
            <a:off x="13536570" y="1885950"/>
            <a:ext cx="616426" cy="876300"/>
            <a:chOff x="381000" y="1885950"/>
            <a:chExt cx="616426" cy="876300"/>
          </a:xfrm>
        </p:grpSpPr>
        <p:sp>
          <p:nvSpPr>
            <p:cNvPr id="113" name="Shape 4">
              <a:extLst>
                <a:ext uri="{FF2B5EF4-FFF2-40B4-BE49-F238E27FC236}">
                  <a16:creationId xmlns:a16="http://schemas.microsoft.com/office/drawing/2014/main" id="{49E8C038-BCD5-4A48-AEE5-5F586D2BC96D}"/>
                </a:ext>
              </a:extLst>
            </p:cNvPr>
            <p:cNvSpPr/>
            <p:nvPr/>
          </p:nvSpPr>
          <p:spPr>
            <a:xfrm>
              <a:off x="38100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4" name="Text 5">
              <a:extLst>
                <a:ext uri="{FF2B5EF4-FFF2-40B4-BE49-F238E27FC236}">
                  <a16:creationId xmlns:a16="http://schemas.microsoft.com/office/drawing/2014/main" id="{C7B0840E-A0C7-46CB-B2AC-507063D50136}"/>
                </a:ext>
              </a:extLst>
            </p:cNvPr>
            <p:cNvSpPr/>
            <p:nvPr/>
          </p:nvSpPr>
          <p:spPr>
            <a:xfrm>
              <a:off x="61531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115" name="Text 6">
              <a:extLst>
                <a:ext uri="{FF2B5EF4-FFF2-40B4-BE49-F238E27FC236}">
                  <a16:creationId xmlns:a16="http://schemas.microsoft.com/office/drawing/2014/main" id="{403D1C15-2086-4713-8F0E-C4481B32C3B9}"/>
                </a:ext>
              </a:extLst>
            </p:cNvPr>
            <p:cNvSpPr/>
            <p:nvPr/>
          </p:nvSpPr>
          <p:spPr>
            <a:xfrm>
              <a:off x="444976" y="2571750"/>
              <a:ext cx="5524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2000" dirty="0"/>
            </a:p>
          </p:txBody>
        </p:sp>
      </p:grp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9365A8FF-7023-40A6-A5B1-46D614C37C9C}"/>
              </a:ext>
            </a:extLst>
          </p:cNvPr>
          <p:cNvGrpSpPr/>
          <p:nvPr/>
        </p:nvGrpSpPr>
        <p:grpSpPr>
          <a:xfrm>
            <a:off x="16155469" y="1885950"/>
            <a:ext cx="742950" cy="876300"/>
            <a:chOff x="2999899" y="1885950"/>
            <a:chExt cx="742950" cy="876300"/>
          </a:xfrm>
        </p:grpSpPr>
        <p:sp>
          <p:nvSpPr>
            <p:cNvPr id="117" name="Shape 8">
              <a:extLst>
                <a:ext uri="{FF2B5EF4-FFF2-40B4-BE49-F238E27FC236}">
                  <a16:creationId xmlns:a16="http://schemas.microsoft.com/office/drawing/2014/main" id="{E2DDCCB8-07C7-4E3D-9511-D0883DBCB8CD}"/>
                </a:ext>
              </a:extLst>
            </p:cNvPr>
            <p:cNvSpPr/>
            <p:nvPr/>
          </p:nvSpPr>
          <p:spPr>
            <a:xfrm>
              <a:off x="3032919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8" name="Text 9">
              <a:extLst>
                <a:ext uri="{FF2B5EF4-FFF2-40B4-BE49-F238E27FC236}">
                  <a16:creationId xmlns:a16="http://schemas.microsoft.com/office/drawing/2014/main" id="{CB3DF6AF-5E77-400C-BEEB-E5333A0BE459}"/>
                </a:ext>
              </a:extLst>
            </p:cNvPr>
            <p:cNvSpPr/>
            <p:nvPr/>
          </p:nvSpPr>
          <p:spPr>
            <a:xfrm>
              <a:off x="3267234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119" name="Text 10">
              <a:extLst>
                <a:ext uri="{FF2B5EF4-FFF2-40B4-BE49-F238E27FC236}">
                  <a16:creationId xmlns:a16="http://schemas.microsoft.com/office/drawing/2014/main" id="{204CE8B8-AE24-4785-B23E-6B3B4641FC32}"/>
                </a:ext>
              </a:extLst>
            </p:cNvPr>
            <p:cNvSpPr/>
            <p:nvPr/>
          </p:nvSpPr>
          <p:spPr>
            <a:xfrm>
              <a:off x="2999899" y="2571750"/>
              <a:ext cx="7429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Сущности</a:t>
              </a:r>
              <a:endParaRPr lang="en-US" sz="2000" dirty="0"/>
            </a:p>
          </p:txBody>
        </p:sp>
      </p:grpSp>
      <p:grpSp>
        <p:nvGrpSpPr>
          <p:cNvPr id="120" name="Группа 119">
            <a:extLst>
              <a:ext uri="{FF2B5EF4-FFF2-40B4-BE49-F238E27FC236}">
                <a16:creationId xmlns:a16="http://schemas.microsoft.com/office/drawing/2014/main" id="{EEAEAF96-13B8-4432-AB4D-28F929F07B7D}"/>
              </a:ext>
            </a:extLst>
          </p:cNvPr>
          <p:cNvGrpSpPr/>
          <p:nvPr/>
        </p:nvGrpSpPr>
        <p:grpSpPr>
          <a:xfrm>
            <a:off x="18840566" y="1885950"/>
            <a:ext cx="714375" cy="876300"/>
            <a:chOff x="5684996" y="1885950"/>
            <a:chExt cx="714375" cy="876300"/>
          </a:xfrm>
        </p:grpSpPr>
        <p:sp>
          <p:nvSpPr>
            <p:cNvPr id="121" name="Shape 12">
              <a:extLst>
                <a:ext uri="{FF2B5EF4-FFF2-40B4-BE49-F238E27FC236}">
                  <a16:creationId xmlns:a16="http://schemas.microsoft.com/office/drawing/2014/main" id="{0AEAB3C3-9ED2-4A62-95E3-B462BFC7B2D4}"/>
                </a:ext>
              </a:extLst>
            </p:cNvPr>
            <p:cNvSpPr/>
            <p:nvPr/>
          </p:nvSpPr>
          <p:spPr>
            <a:xfrm>
              <a:off x="5703887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2" name="Text 13">
              <a:extLst>
                <a:ext uri="{FF2B5EF4-FFF2-40B4-BE49-F238E27FC236}">
                  <a16:creationId xmlns:a16="http://schemas.microsoft.com/office/drawing/2014/main" id="{8DCD8EBB-3565-4EA9-B232-547E567E1115}"/>
                </a:ext>
              </a:extLst>
            </p:cNvPr>
            <p:cNvSpPr/>
            <p:nvPr/>
          </p:nvSpPr>
          <p:spPr>
            <a:xfrm>
              <a:off x="5938203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123" name="Text 14">
              <a:extLst>
                <a:ext uri="{FF2B5EF4-FFF2-40B4-BE49-F238E27FC236}">
                  <a16:creationId xmlns:a16="http://schemas.microsoft.com/office/drawing/2014/main" id="{B9C23F1C-A0E9-4FA0-A0F2-2D0494BEC528}"/>
                </a:ext>
              </a:extLst>
            </p:cNvPr>
            <p:cNvSpPr/>
            <p:nvPr/>
          </p:nvSpPr>
          <p:spPr>
            <a:xfrm>
              <a:off x="5684996" y="2571750"/>
              <a:ext cx="714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Проверка</a:t>
              </a:r>
              <a:endParaRPr lang="en-US" sz="2000" dirty="0"/>
            </a:p>
          </p:txBody>
        </p:sp>
      </p:grpSp>
      <p:grpSp>
        <p:nvGrpSpPr>
          <p:cNvPr id="124" name="Группа 123">
            <a:extLst>
              <a:ext uri="{FF2B5EF4-FFF2-40B4-BE49-F238E27FC236}">
                <a16:creationId xmlns:a16="http://schemas.microsoft.com/office/drawing/2014/main" id="{77C67F94-F654-42D5-99F8-2790A2519547}"/>
              </a:ext>
            </a:extLst>
          </p:cNvPr>
          <p:cNvGrpSpPr/>
          <p:nvPr/>
        </p:nvGrpSpPr>
        <p:grpSpPr>
          <a:xfrm>
            <a:off x="21497406" y="1885950"/>
            <a:ext cx="714375" cy="876300"/>
            <a:chOff x="8341836" y="1885950"/>
            <a:chExt cx="714375" cy="876300"/>
          </a:xfrm>
        </p:grpSpPr>
        <p:sp>
          <p:nvSpPr>
            <p:cNvPr id="125" name="Shape 16">
              <a:extLst>
                <a:ext uri="{FF2B5EF4-FFF2-40B4-BE49-F238E27FC236}">
                  <a16:creationId xmlns:a16="http://schemas.microsoft.com/office/drawing/2014/main" id="{E8810C3D-7DA7-45A7-9FBE-FCAF4C4446C3}"/>
                </a:ext>
              </a:extLst>
            </p:cNvPr>
            <p:cNvSpPr/>
            <p:nvPr/>
          </p:nvSpPr>
          <p:spPr>
            <a:xfrm>
              <a:off x="836168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6" name="Text 17">
              <a:extLst>
                <a:ext uri="{FF2B5EF4-FFF2-40B4-BE49-F238E27FC236}">
                  <a16:creationId xmlns:a16="http://schemas.microsoft.com/office/drawing/2014/main" id="{BD1C438A-EA8E-4DDF-9480-FBE5FD8E974B}"/>
                </a:ext>
              </a:extLst>
            </p:cNvPr>
            <p:cNvSpPr/>
            <p:nvPr/>
          </p:nvSpPr>
          <p:spPr>
            <a:xfrm>
              <a:off x="859599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4</a:t>
              </a:r>
              <a:endParaRPr lang="en-US" sz="2000" dirty="0"/>
            </a:p>
          </p:txBody>
        </p:sp>
        <p:sp>
          <p:nvSpPr>
            <p:cNvPr id="127" name="Text 18">
              <a:extLst>
                <a:ext uri="{FF2B5EF4-FFF2-40B4-BE49-F238E27FC236}">
                  <a16:creationId xmlns:a16="http://schemas.microsoft.com/office/drawing/2014/main" id="{279F6542-71A4-47D0-8559-F6E1BA415BEF}"/>
                </a:ext>
              </a:extLst>
            </p:cNvPr>
            <p:cNvSpPr/>
            <p:nvPr/>
          </p:nvSpPr>
          <p:spPr>
            <a:xfrm>
              <a:off x="8341836" y="2571750"/>
              <a:ext cx="714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Черновик</a:t>
              </a:r>
              <a:endParaRPr lang="en-US" sz="2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25B4C771-31C6-4C4A-8924-35C56F103F62}"/>
              </a:ext>
            </a:extLst>
          </p:cNvPr>
          <p:cNvGrpSpPr/>
          <p:nvPr/>
        </p:nvGrpSpPr>
        <p:grpSpPr>
          <a:xfrm>
            <a:off x="14222370" y="2305050"/>
            <a:ext cx="9858058" cy="38100"/>
            <a:chOff x="1066800" y="2305050"/>
            <a:chExt cx="9858058" cy="38100"/>
          </a:xfrm>
        </p:grpSpPr>
        <p:sp>
          <p:nvSpPr>
            <p:cNvPr id="129" name="Shape 7">
              <a:extLst>
                <a:ext uri="{FF2B5EF4-FFF2-40B4-BE49-F238E27FC236}">
                  <a16:creationId xmlns:a16="http://schemas.microsoft.com/office/drawing/2014/main" id="{C3231CEA-E823-4BF5-A5B7-C5A03F4CD036}"/>
                </a:ext>
              </a:extLst>
            </p:cNvPr>
            <p:cNvSpPr/>
            <p:nvPr/>
          </p:nvSpPr>
          <p:spPr>
            <a:xfrm>
              <a:off x="1066800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0" name="Shape 11">
              <a:extLst>
                <a:ext uri="{FF2B5EF4-FFF2-40B4-BE49-F238E27FC236}">
                  <a16:creationId xmlns:a16="http://schemas.microsoft.com/office/drawing/2014/main" id="{796F47D0-770D-42DA-89F3-FDA8B567EAF7}"/>
                </a:ext>
              </a:extLst>
            </p:cNvPr>
            <p:cNvSpPr/>
            <p:nvPr/>
          </p:nvSpPr>
          <p:spPr>
            <a:xfrm>
              <a:off x="3751739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1" name="Shape 15">
              <a:extLst>
                <a:ext uri="{FF2B5EF4-FFF2-40B4-BE49-F238E27FC236}">
                  <a16:creationId xmlns:a16="http://schemas.microsoft.com/office/drawing/2014/main" id="{8B8CE257-13AA-407D-8505-76CFF8394F48}"/>
                </a:ext>
              </a:extLst>
            </p:cNvPr>
            <p:cNvSpPr/>
            <p:nvPr/>
          </p:nvSpPr>
          <p:spPr>
            <a:xfrm>
              <a:off x="6408579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32" name="Shape 19">
              <a:extLst>
                <a:ext uri="{FF2B5EF4-FFF2-40B4-BE49-F238E27FC236}">
                  <a16:creationId xmlns:a16="http://schemas.microsoft.com/office/drawing/2014/main" id="{AB0FFDEE-040B-423D-8FA5-A5C2912A40D2}"/>
                </a:ext>
              </a:extLst>
            </p:cNvPr>
            <p:cNvSpPr/>
            <p:nvPr/>
          </p:nvSpPr>
          <p:spPr>
            <a:xfrm>
              <a:off x="9067483" y="2305050"/>
              <a:ext cx="1857375" cy="38100"/>
            </a:xfrm>
            <a:custGeom>
              <a:avLst/>
              <a:gdLst/>
              <a:ahLst/>
              <a:cxnLst/>
              <a:rect l="l" t="t" r="r" b="b"/>
              <a:pathLst>
                <a:path w="1857375" h="38100">
                  <a:moveTo>
                    <a:pt x="0" y="0"/>
                  </a:moveTo>
                  <a:lnTo>
                    <a:pt x="1857375" y="0"/>
                  </a:lnTo>
                  <a:lnTo>
                    <a:pt x="185737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</p:grpSp>
      <p:grpSp>
        <p:nvGrpSpPr>
          <p:cNvPr id="133" name="Группа 132">
            <a:extLst>
              <a:ext uri="{FF2B5EF4-FFF2-40B4-BE49-F238E27FC236}">
                <a16:creationId xmlns:a16="http://schemas.microsoft.com/office/drawing/2014/main" id="{17E70CAD-614E-4A98-A51E-00783DF3BDAD}"/>
              </a:ext>
            </a:extLst>
          </p:cNvPr>
          <p:cNvGrpSpPr/>
          <p:nvPr/>
        </p:nvGrpSpPr>
        <p:grpSpPr>
          <a:xfrm>
            <a:off x="24083285" y="1885950"/>
            <a:ext cx="956310" cy="864705"/>
            <a:chOff x="10927715" y="1885950"/>
            <a:chExt cx="956310" cy="864705"/>
          </a:xfrm>
        </p:grpSpPr>
        <p:sp>
          <p:nvSpPr>
            <p:cNvPr id="134" name="Shape 20">
              <a:extLst>
                <a:ext uri="{FF2B5EF4-FFF2-40B4-BE49-F238E27FC236}">
                  <a16:creationId xmlns:a16="http://schemas.microsoft.com/office/drawing/2014/main" id="{07E803AF-73CD-4273-912B-9B813EA0EE23}"/>
                </a:ext>
              </a:extLst>
            </p:cNvPr>
            <p:cNvSpPr/>
            <p:nvPr/>
          </p:nvSpPr>
          <p:spPr>
            <a:xfrm>
              <a:off x="11101070" y="18859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5" name="Text 21">
              <a:extLst>
                <a:ext uri="{FF2B5EF4-FFF2-40B4-BE49-F238E27FC236}">
                  <a16:creationId xmlns:a16="http://schemas.microsoft.com/office/drawing/2014/main" id="{2A823246-F12C-4F05-AF9C-8FC845226D1C}"/>
                </a:ext>
              </a:extLst>
            </p:cNvPr>
            <p:cNvSpPr/>
            <p:nvPr/>
          </p:nvSpPr>
          <p:spPr>
            <a:xfrm>
              <a:off x="11335385" y="2038350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5</a:t>
              </a:r>
              <a:endParaRPr lang="en-US" sz="2000" dirty="0"/>
            </a:p>
          </p:txBody>
        </p:sp>
        <p:sp>
          <p:nvSpPr>
            <p:cNvPr id="136" name="Text 22">
              <a:extLst>
                <a:ext uri="{FF2B5EF4-FFF2-40B4-BE49-F238E27FC236}">
                  <a16:creationId xmlns:a16="http://schemas.microsoft.com/office/drawing/2014/main" id="{26088E9D-9D3C-440C-9D5B-4A6093821125}"/>
                </a:ext>
              </a:extLst>
            </p:cNvPr>
            <p:cNvSpPr/>
            <p:nvPr/>
          </p:nvSpPr>
          <p:spPr>
            <a:xfrm>
              <a:off x="10927715" y="2560155"/>
              <a:ext cx="95631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Сохранение</a:t>
              </a:r>
              <a:endParaRPr lang="en-US" sz="2000" dirty="0"/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D1D3E79D-8684-45ED-B1E3-44D81E9BBB31}"/>
              </a:ext>
            </a:extLst>
          </p:cNvPr>
          <p:cNvGrpSpPr/>
          <p:nvPr/>
        </p:nvGrpSpPr>
        <p:grpSpPr>
          <a:xfrm>
            <a:off x="-6545830" y="385915"/>
            <a:ext cx="5962650" cy="533400"/>
            <a:chOff x="381000" y="381000"/>
            <a:chExt cx="5962650" cy="533400"/>
          </a:xfrm>
        </p:grpSpPr>
        <p:sp>
          <p:nvSpPr>
            <p:cNvPr id="138" name="Shape 0">
              <a:extLst>
                <a:ext uri="{FF2B5EF4-FFF2-40B4-BE49-F238E27FC236}">
                  <a16:creationId xmlns:a16="http://schemas.microsoft.com/office/drawing/2014/main" id="{6B2A80AF-2210-4E2A-8242-E7E00AC8E4F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9" name="Shape 1">
              <a:extLst>
                <a:ext uri="{FF2B5EF4-FFF2-40B4-BE49-F238E27FC236}">
                  <a16:creationId xmlns:a16="http://schemas.microsoft.com/office/drawing/2014/main" id="{333D44C4-A635-4073-8262-21E7C0DA775D}"/>
                </a:ext>
              </a:extLst>
            </p:cNvPr>
            <p:cNvSpPr/>
            <p:nvPr/>
          </p:nvSpPr>
          <p:spPr>
            <a:xfrm>
              <a:off x="504825" y="533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28620" y="28575"/>
                  </a:moveTo>
                  <a:cubicBezTo>
                    <a:pt x="28620" y="12814"/>
                    <a:pt x="41434" y="0"/>
                    <a:pt x="57195" y="0"/>
                  </a:cubicBezTo>
                  <a:lnTo>
                    <a:pt x="123944" y="0"/>
                  </a:lnTo>
                  <a:cubicBezTo>
                    <a:pt x="131534" y="0"/>
                    <a:pt x="138812" y="2991"/>
                    <a:pt x="144170" y="8349"/>
                  </a:cubicBezTo>
                  <a:lnTo>
                    <a:pt x="191676" y="55944"/>
                  </a:lnTo>
                  <a:cubicBezTo>
                    <a:pt x="197034" y="61302"/>
                    <a:pt x="200025" y="68580"/>
                    <a:pt x="200025" y="76170"/>
                  </a:cubicBezTo>
                  <a:lnTo>
                    <a:pt x="200025" y="119702"/>
                  </a:lnTo>
                  <a:lnTo>
                    <a:pt x="141089" y="178638"/>
                  </a:lnTo>
                  <a:lnTo>
                    <a:pt x="122292" y="178638"/>
                  </a:lnTo>
                  <a:lnTo>
                    <a:pt x="115104" y="154707"/>
                  </a:lnTo>
                  <a:cubicBezTo>
                    <a:pt x="113005" y="147697"/>
                    <a:pt x="106576" y="142920"/>
                    <a:pt x="99253" y="142920"/>
                  </a:cubicBezTo>
                  <a:cubicBezTo>
                    <a:pt x="94208" y="142920"/>
                    <a:pt x="89475" y="145197"/>
                    <a:pt x="86350" y="149126"/>
                  </a:cubicBezTo>
                  <a:lnTo>
                    <a:pt x="59516" y="182612"/>
                  </a:lnTo>
                  <a:cubicBezTo>
                    <a:pt x="55811" y="187211"/>
                    <a:pt x="56570" y="193997"/>
                    <a:pt x="61168" y="197659"/>
                  </a:cubicBezTo>
                  <a:cubicBezTo>
                    <a:pt x="65767" y="201320"/>
                    <a:pt x="72554" y="200605"/>
                    <a:pt x="76215" y="195962"/>
                  </a:cubicBezTo>
                  <a:lnTo>
                    <a:pt x="97244" y="169709"/>
                  </a:lnTo>
                  <a:lnTo>
                    <a:pt x="104031" y="192345"/>
                  </a:lnTo>
                  <a:cubicBezTo>
                    <a:pt x="105370" y="196900"/>
                    <a:pt x="109567" y="199980"/>
                    <a:pt x="114300" y="199980"/>
                  </a:cubicBezTo>
                  <a:lnTo>
                    <a:pt x="128364" y="199980"/>
                  </a:lnTo>
                  <a:cubicBezTo>
                    <a:pt x="127962" y="201364"/>
                    <a:pt x="127605" y="202793"/>
                    <a:pt x="127337" y="204222"/>
                  </a:cubicBezTo>
                  <a:lnTo>
                    <a:pt x="122471" y="228555"/>
                  </a:lnTo>
                  <a:lnTo>
                    <a:pt x="57195" y="228555"/>
                  </a:lnTo>
                  <a:cubicBezTo>
                    <a:pt x="41434" y="228555"/>
                    <a:pt x="28620" y="215741"/>
                    <a:pt x="28620" y="199980"/>
                  </a:cubicBezTo>
                  <a:lnTo>
                    <a:pt x="28620" y="28530"/>
                  </a:lnTo>
                  <a:close/>
                  <a:moveTo>
                    <a:pt x="121488" y="26119"/>
                  </a:moveTo>
                  <a:lnTo>
                    <a:pt x="121488" y="67866"/>
                  </a:lnTo>
                  <a:cubicBezTo>
                    <a:pt x="121488" y="73804"/>
                    <a:pt x="126266" y="78581"/>
                    <a:pt x="132204" y="78581"/>
                  </a:cubicBezTo>
                  <a:lnTo>
                    <a:pt x="173950" y="78581"/>
                  </a:lnTo>
                  <a:lnTo>
                    <a:pt x="121488" y="26119"/>
                  </a:lnTo>
                  <a:close/>
                  <a:moveTo>
                    <a:pt x="148367" y="208464"/>
                  </a:moveTo>
                  <a:cubicBezTo>
                    <a:pt x="149483" y="202927"/>
                    <a:pt x="152207" y="197837"/>
                    <a:pt x="156180" y="193864"/>
                  </a:cubicBezTo>
                  <a:lnTo>
                    <a:pt x="209267" y="140777"/>
                  </a:lnTo>
                  <a:lnTo>
                    <a:pt x="244986" y="176495"/>
                  </a:lnTo>
                  <a:lnTo>
                    <a:pt x="191899" y="229582"/>
                  </a:lnTo>
                  <a:cubicBezTo>
                    <a:pt x="187925" y="233556"/>
                    <a:pt x="182835" y="236280"/>
                    <a:pt x="177299" y="237396"/>
                  </a:cubicBezTo>
                  <a:lnTo>
                    <a:pt x="150688" y="242709"/>
                  </a:lnTo>
                  <a:cubicBezTo>
                    <a:pt x="150287" y="242798"/>
                    <a:pt x="149840" y="242843"/>
                    <a:pt x="149394" y="242843"/>
                  </a:cubicBezTo>
                  <a:cubicBezTo>
                    <a:pt x="145822" y="242843"/>
                    <a:pt x="142875" y="239941"/>
                    <a:pt x="142875" y="236324"/>
                  </a:cubicBezTo>
                  <a:cubicBezTo>
                    <a:pt x="142875" y="235878"/>
                    <a:pt x="142920" y="235476"/>
                    <a:pt x="143009" y="235029"/>
                  </a:cubicBezTo>
                  <a:lnTo>
                    <a:pt x="148322" y="208419"/>
                  </a:lnTo>
                  <a:close/>
                  <a:moveTo>
                    <a:pt x="267935" y="153546"/>
                  </a:moveTo>
                  <a:lnTo>
                    <a:pt x="255077" y="166405"/>
                  </a:lnTo>
                  <a:lnTo>
                    <a:pt x="219358" y="130686"/>
                  </a:lnTo>
                  <a:lnTo>
                    <a:pt x="232217" y="117827"/>
                  </a:lnTo>
                  <a:cubicBezTo>
                    <a:pt x="242084" y="107960"/>
                    <a:pt x="258068" y="107960"/>
                    <a:pt x="267935" y="117827"/>
                  </a:cubicBezTo>
                  <a:cubicBezTo>
                    <a:pt x="277803" y="127695"/>
                    <a:pt x="277803" y="143679"/>
                    <a:pt x="267935" y="15354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0" name="Text 2">
              <a:extLst>
                <a:ext uri="{FF2B5EF4-FFF2-40B4-BE49-F238E27FC236}">
                  <a16:creationId xmlns:a16="http://schemas.microsoft.com/office/drawing/2014/main" id="{C5528932-F74E-438A-AAC0-1134A433A955}"/>
                </a:ext>
              </a:extLst>
            </p:cNvPr>
            <p:cNvSpPr/>
            <p:nvPr/>
          </p:nvSpPr>
          <p:spPr>
            <a:xfrm>
              <a:off x="1066800" y="400050"/>
              <a:ext cx="52768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Сценарий создания документа</a:t>
              </a:r>
              <a:endParaRPr lang="en-US" sz="1600" dirty="0"/>
            </a:p>
          </p:txBody>
        </p:sp>
        <p:sp>
          <p:nvSpPr>
            <p:cNvPr id="141" name="Shape 3">
              <a:extLst>
                <a:ext uri="{FF2B5EF4-FFF2-40B4-BE49-F238E27FC236}">
                  <a16:creationId xmlns:a16="http://schemas.microsoft.com/office/drawing/2014/main" id="{C24E80A0-3358-4CC3-A6F8-2193A79290DC}"/>
                </a:ext>
              </a:extLst>
            </p:cNvPr>
            <p:cNvSpPr/>
            <p:nvPr/>
          </p:nvSpPr>
          <p:spPr>
            <a:xfrm>
              <a:off x="743902" y="866774"/>
              <a:ext cx="5451476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42" name="Text 7">
            <a:extLst>
              <a:ext uri="{FF2B5EF4-FFF2-40B4-BE49-F238E27FC236}">
                <a16:creationId xmlns:a16="http://schemas.microsoft.com/office/drawing/2014/main" id="{6D213EA0-A26B-43FA-8783-1913DD2EE786}"/>
              </a:ext>
            </a:extLst>
          </p:cNvPr>
          <p:cNvSpPr/>
          <p:nvPr/>
        </p:nvSpPr>
        <p:spPr>
          <a:xfrm>
            <a:off x="12695509" y="269233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9</a:t>
            </a:r>
            <a:endParaRPr lang="en-US" sz="1600" dirty="0"/>
          </a:p>
        </p:txBody>
      </p:sp>
      <p:grpSp>
        <p:nvGrpSpPr>
          <p:cNvPr id="149" name="Группа 148">
            <a:extLst>
              <a:ext uri="{FF2B5EF4-FFF2-40B4-BE49-F238E27FC236}">
                <a16:creationId xmlns:a16="http://schemas.microsoft.com/office/drawing/2014/main" id="{B756A7F4-5145-4FAA-B25D-950C3B2DD24D}"/>
              </a:ext>
            </a:extLst>
          </p:cNvPr>
          <p:cNvGrpSpPr/>
          <p:nvPr/>
        </p:nvGrpSpPr>
        <p:grpSpPr>
          <a:xfrm>
            <a:off x="-11156161" y="1055191"/>
            <a:ext cx="10291011" cy="4333577"/>
            <a:chOff x="1114505" y="1055191"/>
            <a:chExt cx="10291011" cy="4333577"/>
          </a:xfrm>
        </p:grpSpPr>
        <p:sp>
          <p:nvSpPr>
            <p:cNvPr id="150" name="Прямоугольник: скругленные углы 149">
              <a:extLst>
                <a:ext uri="{FF2B5EF4-FFF2-40B4-BE49-F238E27FC236}">
                  <a16:creationId xmlns:a16="http://schemas.microsoft.com/office/drawing/2014/main" id="{B57A9E4A-0BC7-4BFD-9FC4-C23E92589049}"/>
                </a:ext>
              </a:extLst>
            </p:cNvPr>
            <p:cNvSpPr/>
            <p:nvPr/>
          </p:nvSpPr>
          <p:spPr>
            <a:xfrm>
              <a:off x="1114505" y="1055191"/>
              <a:ext cx="10291011" cy="4333577"/>
            </a:xfrm>
            <a:prstGeom prst="roundRect">
              <a:avLst/>
            </a:prstGeom>
            <a:solidFill>
              <a:schemeClr val="accent4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Shape 4">
              <a:extLst>
                <a:ext uri="{FF2B5EF4-FFF2-40B4-BE49-F238E27FC236}">
                  <a16:creationId xmlns:a16="http://schemas.microsoft.com/office/drawing/2014/main" id="{EE21A6A7-F910-4A5E-AD8D-88C8E20DBBDF}"/>
                </a:ext>
              </a:extLst>
            </p:cNvPr>
            <p:cNvSpPr/>
            <p:nvPr/>
          </p:nvSpPr>
          <p:spPr>
            <a:xfrm>
              <a:off x="2048822" y="127494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2" name="Shape 5">
              <a:extLst>
                <a:ext uri="{FF2B5EF4-FFF2-40B4-BE49-F238E27FC236}">
                  <a16:creationId xmlns:a16="http://schemas.microsoft.com/office/drawing/2014/main" id="{956ECB25-ECFB-43AC-8B95-EED7597AF9AB}"/>
                </a:ext>
              </a:extLst>
            </p:cNvPr>
            <p:cNvSpPr/>
            <p:nvPr/>
          </p:nvSpPr>
          <p:spPr>
            <a:xfrm>
              <a:off x="2220272" y="144639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89297"/>
                  </a:moveTo>
                  <a:cubicBezTo>
                    <a:pt x="190500" y="138596"/>
                    <a:pt x="147861" y="178594"/>
                    <a:pt x="95250" y="178594"/>
                  </a:cubicBezTo>
                  <a:cubicBezTo>
                    <a:pt x="81446" y="178594"/>
                    <a:pt x="68349" y="175840"/>
                    <a:pt x="56517" y="170892"/>
                  </a:cubicBezTo>
                  <a:lnTo>
                    <a:pt x="12464" y="189793"/>
                  </a:lnTo>
                  <a:cubicBezTo>
                    <a:pt x="8967" y="191281"/>
                    <a:pt x="4949" y="190426"/>
                    <a:pt x="2381" y="187635"/>
                  </a:cubicBezTo>
                  <a:cubicBezTo>
                    <a:pt x="-186" y="184845"/>
                    <a:pt x="-744" y="180752"/>
                    <a:pt x="1042" y="177403"/>
                  </a:cubicBezTo>
                  <a:lnTo>
                    <a:pt x="19199" y="143098"/>
                  </a:lnTo>
                  <a:cubicBezTo>
                    <a:pt x="7144" y="128104"/>
                    <a:pt x="0" y="109500"/>
                    <a:pt x="0" y="89297"/>
                  </a:cubicBezTo>
                  <a:cubicBezTo>
                    <a:pt x="0" y="39998"/>
                    <a:pt x="42639" y="0"/>
                    <a:pt x="95250" y="0"/>
                  </a:cubicBezTo>
                  <a:cubicBezTo>
                    <a:pt x="147861" y="0"/>
                    <a:pt x="190500" y="39998"/>
                    <a:pt x="190500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53" name="Text 6">
              <a:extLst>
                <a:ext uri="{FF2B5EF4-FFF2-40B4-BE49-F238E27FC236}">
                  <a16:creationId xmlns:a16="http://schemas.microsoft.com/office/drawing/2014/main" id="{44A28434-1D6B-4ED7-AE1A-56452775A63E}"/>
                </a:ext>
              </a:extLst>
            </p:cNvPr>
            <p:cNvSpPr/>
            <p:nvPr/>
          </p:nvSpPr>
          <p:spPr>
            <a:xfrm>
              <a:off x="1954609" y="1897415"/>
              <a:ext cx="870634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3200" dirty="0"/>
            </a:p>
          </p:txBody>
        </p:sp>
        <p:sp>
          <p:nvSpPr>
            <p:cNvPr id="154" name="Shape 7">
              <a:extLst>
                <a:ext uri="{FF2B5EF4-FFF2-40B4-BE49-F238E27FC236}">
                  <a16:creationId xmlns:a16="http://schemas.microsoft.com/office/drawing/2014/main" id="{F556ACCD-F7D7-4292-AEB2-95BAB4BD1C1A}"/>
                </a:ext>
              </a:extLst>
            </p:cNvPr>
            <p:cNvSpPr/>
            <p:nvPr/>
          </p:nvSpPr>
          <p:spPr>
            <a:xfrm>
              <a:off x="3069427" y="154164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5" name="Shape 8">
              <a:extLst>
                <a:ext uri="{FF2B5EF4-FFF2-40B4-BE49-F238E27FC236}">
                  <a16:creationId xmlns:a16="http://schemas.microsoft.com/office/drawing/2014/main" id="{162AE7AD-8551-4D0A-B4D4-A120E4C9DE9E}"/>
                </a:ext>
              </a:extLst>
            </p:cNvPr>
            <p:cNvSpPr/>
            <p:nvPr/>
          </p:nvSpPr>
          <p:spPr>
            <a:xfrm>
              <a:off x="3909532" y="127063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6" name="Shape 9">
              <a:extLst>
                <a:ext uri="{FF2B5EF4-FFF2-40B4-BE49-F238E27FC236}">
                  <a16:creationId xmlns:a16="http://schemas.microsoft.com/office/drawing/2014/main" id="{E2D59EA9-77D2-43E1-B8F3-F9ABE2A13DF2}"/>
                </a:ext>
              </a:extLst>
            </p:cNvPr>
            <p:cNvSpPr/>
            <p:nvPr/>
          </p:nvSpPr>
          <p:spPr>
            <a:xfrm>
              <a:off x="4080982" y="144208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4648" y="20836"/>
                  </a:moveTo>
                  <a:cubicBezTo>
                    <a:pt x="44648" y="9339"/>
                    <a:pt x="53987" y="0"/>
                    <a:pt x="65484" y="0"/>
                  </a:cubicBezTo>
                  <a:lnTo>
                    <a:pt x="74414" y="0"/>
                  </a:lnTo>
                  <a:cubicBezTo>
                    <a:pt x="81000" y="0"/>
                    <a:pt x="86320" y="5321"/>
                    <a:pt x="86320" y="11906"/>
                  </a:cubicBezTo>
                  <a:lnTo>
                    <a:pt x="86320" y="178594"/>
                  </a:lnTo>
                  <a:cubicBezTo>
                    <a:pt x="86320" y="185179"/>
                    <a:pt x="81000" y="190500"/>
                    <a:pt x="74414" y="190500"/>
                  </a:cubicBezTo>
                  <a:lnTo>
                    <a:pt x="62508" y="190500"/>
                  </a:lnTo>
                  <a:cubicBezTo>
                    <a:pt x="51420" y="190500"/>
                    <a:pt x="42081" y="182910"/>
                    <a:pt x="39439" y="172641"/>
                  </a:cubicBezTo>
                  <a:cubicBezTo>
                    <a:pt x="39179" y="172641"/>
                    <a:pt x="38956" y="172641"/>
                    <a:pt x="38695" y="172641"/>
                  </a:cubicBezTo>
                  <a:cubicBezTo>
                    <a:pt x="22250" y="172641"/>
                    <a:pt x="8930" y="159321"/>
                    <a:pt x="8930" y="142875"/>
                  </a:cubicBezTo>
                  <a:cubicBezTo>
                    <a:pt x="8930" y="136178"/>
                    <a:pt x="11162" y="130001"/>
                    <a:pt x="14883" y="125016"/>
                  </a:cubicBezTo>
                  <a:cubicBezTo>
                    <a:pt x="7665" y="119583"/>
                    <a:pt x="2977" y="110951"/>
                    <a:pt x="2977" y="101203"/>
                  </a:cubicBezTo>
                  <a:cubicBezTo>
                    <a:pt x="2977" y="89706"/>
                    <a:pt x="9525" y="79697"/>
                    <a:pt x="19050" y="74749"/>
                  </a:cubicBezTo>
                  <a:cubicBezTo>
                    <a:pt x="16408" y="70284"/>
                    <a:pt x="14883" y="65075"/>
                    <a:pt x="14883" y="59531"/>
                  </a:cubicBezTo>
                  <a:cubicBezTo>
                    <a:pt x="14883" y="43086"/>
                    <a:pt x="28203" y="29766"/>
                    <a:pt x="44648" y="29766"/>
                  </a:cubicBezTo>
                  <a:lnTo>
                    <a:pt x="44648" y="20836"/>
                  </a:lnTo>
                  <a:close/>
                  <a:moveTo>
                    <a:pt x="145852" y="20836"/>
                  </a:moveTo>
                  <a:lnTo>
                    <a:pt x="145852" y="29766"/>
                  </a:lnTo>
                  <a:cubicBezTo>
                    <a:pt x="162297" y="29766"/>
                    <a:pt x="175617" y="43086"/>
                    <a:pt x="175617" y="59531"/>
                  </a:cubicBezTo>
                  <a:cubicBezTo>
                    <a:pt x="175617" y="65112"/>
                    <a:pt x="174092" y="70321"/>
                    <a:pt x="171450" y="74749"/>
                  </a:cubicBezTo>
                  <a:cubicBezTo>
                    <a:pt x="181012" y="79697"/>
                    <a:pt x="187523" y="89669"/>
                    <a:pt x="187523" y="101203"/>
                  </a:cubicBezTo>
                  <a:cubicBezTo>
                    <a:pt x="187523" y="110951"/>
                    <a:pt x="182835" y="119583"/>
                    <a:pt x="175617" y="125016"/>
                  </a:cubicBezTo>
                  <a:cubicBezTo>
                    <a:pt x="179338" y="130001"/>
                    <a:pt x="181570" y="136178"/>
                    <a:pt x="181570" y="142875"/>
                  </a:cubicBezTo>
                  <a:cubicBezTo>
                    <a:pt x="181570" y="159321"/>
                    <a:pt x="168250" y="172641"/>
                    <a:pt x="151805" y="172641"/>
                  </a:cubicBezTo>
                  <a:cubicBezTo>
                    <a:pt x="151544" y="172641"/>
                    <a:pt x="151321" y="172641"/>
                    <a:pt x="151061" y="172641"/>
                  </a:cubicBezTo>
                  <a:cubicBezTo>
                    <a:pt x="148419" y="182910"/>
                    <a:pt x="139080" y="190500"/>
                    <a:pt x="127992" y="190500"/>
                  </a:cubicBezTo>
                  <a:lnTo>
                    <a:pt x="116086" y="190500"/>
                  </a:lnTo>
                  <a:cubicBezTo>
                    <a:pt x="109500" y="190500"/>
                    <a:pt x="104180" y="185179"/>
                    <a:pt x="104180" y="178594"/>
                  </a:cubicBezTo>
                  <a:lnTo>
                    <a:pt x="104180" y="11906"/>
                  </a:lnTo>
                  <a:cubicBezTo>
                    <a:pt x="104180" y="5321"/>
                    <a:pt x="109500" y="0"/>
                    <a:pt x="116086" y="0"/>
                  </a:cubicBezTo>
                  <a:lnTo>
                    <a:pt x="125016" y="0"/>
                  </a:lnTo>
                  <a:cubicBezTo>
                    <a:pt x="136513" y="0"/>
                    <a:pt x="145852" y="9339"/>
                    <a:pt x="145852" y="2083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57" name="Text 10">
              <a:extLst>
                <a:ext uri="{FF2B5EF4-FFF2-40B4-BE49-F238E27FC236}">
                  <a16:creationId xmlns:a16="http://schemas.microsoft.com/office/drawing/2014/main" id="{D1BF9C68-DC07-4055-A12A-F30896451C11}"/>
                </a:ext>
              </a:extLst>
            </p:cNvPr>
            <p:cNvSpPr/>
            <p:nvPr/>
          </p:nvSpPr>
          <p:spPr>
            <a:xfrm>
              <a:off x="3806483" y="1891498"/>
              <a:ext cx="870634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Анализ</a:t>
              </a:r>
              <a:endParaRPr lang="en-US" sz="3200" dirty="0"/>
            </a:p>
          </p:txBody>
        </p:sp>
        <p:sp>
          <p:nvSpPr>
            <p:cNvPr id="158" name="Shape 11">
              <a:extLst>
                <a:ext uri="{FF2B5EF4-FFF2-40B4-BE49-F238E27FC236}">
                  <a16:creationId xmlns:a16="http://schemas.microsoft.com/office/drawing/2014/main" id="{865C9131-13A7-4E34-8B9A-0654C7042355}"/>
                </a:ext>
              </a:extLst>
            </p:cNvPr>
            <p:cNvSpPr/>
            <p:nvPr/>
          </p:nvSpPr>
          <p:spPr>
            <a:xfrm>
              <a:off x="5069677" y="1534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9" name="Shape 12">
              <a:extLst>
                <a:ext uri="{FF2B5EF4-FFF2-40B4-BE49-F238E27FC236}">
                  <a16:creationId xmlns:a16="http://schemas.microsoft.com/office/drawing/2014/main" id="{A256BCFD-D8D7-4BB4-83BA-899F88D86EC8}"/>
                </a:ext>
              </a:extLst>
            </p:cNvPr>
            <p:cNvSpPr/>
            <p:nvPr/>
          </p:nvSpPr>
          <p:spPr>
            <a:xfrm>
              <a:off x="5883785" y="1266623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60" name="Shape 13">
              <a:extLst>
                <a:ext uri="{FF2B5EF4-FFF2-40B4-BE49-F238E27FC236}">
                  <a16:creationId xmlns:a16="http://schemas.microsoft.com/office/drawing/2014/main" id="{DCDD5E20-4CBA-4EAD-89DE-75FB1D1672A2}"/>
                </a:ext>
              </a:extLst>
            </p:cNvPr>
            <p:cNvSpPr/>
            <p:nvPr/>
          </p:nvSpPr>
          <p:spPr>
            <a:xfrm>
              <a:off x="6055235" y="143807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54781" y="77391"/>
                  </a:moveTo>
                  <a:cubicBezTo>
                    <a:pt x="154781" y="94469"/>
                    <a:pt x="149237" y="110244"/>
                    <a:pt x="139898" y="123044"/>
                  </a:cubicBezTo>
                  <a:lnTo>
                    <a:pt x="187003" y="170185"/>
                  </a:lnTo>
                  <a:cubicBezTo>
                    <a:pt x="191653" y="174836"/>
                    <a:pt x="191653" y="182389"/>
                    <a:pt x="187003" y="187040"/>
                  </a:cubicBezTo>
                  <a:cubicBezTo>
                    <a:pt x="182352" y="191691"/>
                    <a:pt x="174799" y="191691"/>
                    <a:pt x="170148" y="187040"/>
                  </a:cubicBezTo>
                  <a:lnTo>
                    <a:pt x="123044" y="139898"/>
                  </a:lnTo>
                  <a:cubicBezTo>
                    <a:pt x="110244" y="149237"/>
                    <a:pt x="94469" y="154781"/>
                    <a:pt x="77391" y="154781"/>
                  </a:cubicBezTo>
                  <a:cubicBezTo>
                    <a:pt x="34640" y="154781"/>
                    <a:pt x="0" y="120142"/>
                    <a:pt x="0" y="77391"/>
                  </a:cubicBezTo>
                  <a:cubicBezTo>
                    <a:pt x="0" y="34640"/>
                    <a:pt x="34640" y="0"/>
                    <a:pt x="77391" y="0"/>
                  </a:cubicBezTo>
                  <a:cubicBezTo>
                    <a:pt x="120142" y="0"/>
                    <a:pt x="154781" y="34640"/>
                    <a:pt x="154781" y="77391"/>
                  </a:cubicBezTo>
                  <a:close/>
                  <a:moveTo>
                    <a:pt x="77391" y="130969"/>
                  </a:moveTo>
                  <a:cubicBezTo>
                    <a:pt x="106961" y="130969"/>
                    <a:pt x="130969" y="106961"/>
                    <a:pt x="130969" y="77391"/>
                  </a:cubicBezTo>
                  <a:cubicBezTo>
                    <a:pt x="130969" y="47820"/>
                    <a:pt x="106961" y="23812"/>
                    <a:pt x="77391" y="23812"/>
                  </a:cubicBezTo>
                  <a:cubicBezTo>
                    <a:pt x="47820" y="23812"/>
                    <a:pt x="23813" y="47820"/>
                    <a:pt x="23812" y="77391"/>
                  </a:cubicBezTo>
                  <a:cubicBezTo>
                    <a:pt x="23812" y="106961"/>
                    <a:pt x="47820" y="130969"/>
                    <a:pt x="77391" y="13096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61" name="Text 14">
              <a:extLst>
                <a:ext uri="{FF2B5EF4-FFF2-40B4-BE49-F238E27FC236}">
                  <a16:creationId xmlns:a16="http://schemas.microsoft.com/office/drawing/2014/main" id="{4DC2C297-A8DE-4590-9E92-31AF4E68AFA9}"/>
                </a:ext>
              </a:extLst>
            </p:cNvPr>
            <p:cNvSpPr/>
            <p:nvPr/>
          </p:nvSpPr>
          <p:spPr>
            <a:xfrm>
              <a:off x="5818354" y="1876223"/>
              <a:ext cx="750546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</a:t>
              </a:r>
              <a:endParaRPr lang="en-US" sz="3200" dirty="0"/>
            </a:p>
          </p:txBody>
        </p:sp>
        <p:sp>
          <p:nvSpPr>
            <p:cNvPr id="162" name="Shape 15">
              <a:extLst>
                <a:ext uri="{FF2B5EF4-FFF2-40B4-BE49-F238E27FC236}">
                  <a16:creationId xmlns:a16="http://schemas.microsoft.com/office/drawing/2014/main" id="{3C5F400D-6B37-4650-932F-47F845E6F79C}"/>
                </a:ext>
              </a:extLst>
            </p:cNvPr>
            <p:cNvSpPr/>
            <p:nvPr/>
          </p:nvSpPr>
          <p:spPr>
            <a:xfrm rot="5400000">
              <a:off x="7172840" y="1534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grpSp>
          <p:nvGrpSpPr>
            <p:cNvPr id="163" name="Группа 162">
              <a:extLst>
                <a:ext uri="{FF2B5EF4-FFF2-40B4-BE49-F238E27FC236}">
                  <a16:creationId xmlns:a16="http://schemas.microsoft.com/office/drawing/2014/main" id="{06C2AEBA-ADC7-47E7-A037-02B7E80641DD}"/>
                </a:ext>
              </a:extLst>
            </p:cNvPr>
            <p:cNvGrpSpPr/>
            <p:nvPr/>
          </p:nvGrpSpPr>
          <p:grpSpPr>
            <a:xfrm>
              <a:off x="1412077" y="2261234"/>
              <a:ext cx="1809750" cy="800100"/>
              <a:chOff x="3251993" y="2273369"/>
              <a:chExt cx="1809750" cy="800100"/>
            </a:xfrm>
          </p:grpSpPr>
          <p:sp>
            <p:nvSpPr>
              <p:cNvPr id="196" name="Shape 27">
                <a:extLst>
                  <a:ext uri="{FF2B5EF4-FFF2-40B4-BE49-F238E27FC236}">
                    <a16:creationId xmlns:a16="http://schemas.microsoft.com/office/drawing/2014/main" id="{D9148F28-CC34-4D7B-B01F-EECFCD6BE17B}"/>
                  </a:ext>
                </a:extLst>
              </p:cNvPr>
              <p:cNvSpPr/>
              <p:nvPr/>
            </p:nvSpPr>
            <p:spPr>
              <a:xfrm>
                <a:off x="325199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97" name="Text 28">
                <a:extLst>
                  <a:ext uri="{FF2B5EF4-FFF2-40B4-BE49-F238E27FC236}">
                    <a16:creationId xmlns:a16="http://schemas.microsoft.com/office/drawing/2014/main" id="{9D5016E3-C811-4859-B366-A2A466AF44F5}"/>
                  </a:ext>
                </a:extLst>
              </p:cNvPr>
              <p:cNvSpPr/>
              <p:nvPr/>
            </p:nvSpPr>
            <p:spPr>
              <a:xfrm>
                <a:off x="336629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1. Запрос</a:t>
                </a:r>
                <a:endParaRPr lang="en-US" sz="1600" dirty="0"/>
              </a:p>
            </p:txBody>
          </p:sp>
          <p:sp>
            <p:nvSpPr>
              <p:cNvPr id="198" name="Text 29">
                <a:extLst>
                  <a:ext uri="{FF2B5EF4-FFF2-40B4-BE49-F238E27FC236}">
                    <a16:creationId xmlns:a16="http://schemas.microsoft.com/office/drawing/2014/main" id="{C09E891F-8B9A-47C9-B3E7-2A41B0DE0AD2}"/>
                  </a:ext>
                </a:extLst>
              </p:cNvPr>
              <p:cNvSpPr/>
              <p:nvPr/>
            </p:nvSpPr>
            <p:spPr>
              <a:xfrm>
                <a:off x="336629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Пользователь вводит текст в чат-интерфейс 1С</a:t>
                </a:r>
                <a:endParaRPr lang="en-US" sz="1600" dirty="0"/>
              </a:p>
            </p:txBody>
          </p:sp>
        </p:grpSp>
        <p:grpSp>
          <p:nvGrpSpPr>
            <p:cNvPr id="164" name="Группа 163">
              <a:extLst>
                <a:ext uri="{FF2B5EF4-FFF2-40B4-BE49-F238E27FC236}">
                  <a16:creationId xmlns:a16="http://schemas.microsoft.com/office/drawing/2014/main" id="{EEA8FA94-1700-487E-AAAF-5BABC51E481B}"/>
                </a:ext>
              </a:extLst>
            </p:cNvPr>
            <p:cNvGrpSpPr/>
            <p:nvPr/>
          </p:nvGrpSpPr>
          <p:grpSpPr>
            <a:xfrm>
              <a:off x="3336127" y="2261234"/>
              <a:ext cx="1809750" cy="800100"/>
              <a:chOff x="5176043" y="2273369"/>
              <a:chExt cx="1809750" cy="800100"/>
            </a:xfrm>
          </p:grpSpPr>
          <p:sp>
            <p:nvSpPr>
              <p:cNvPr id="193" name="Shape 30">
                <a:extLst>
                  <a:ext uri="{FF2B5EF4-FFF2-40B4-BE49-F238E27FC236}">
                    <a16:creationId xmlns:a16="http://schemas.microsoft.com/office/drawing/2014/main" id="{D03B1B34-99E2-4349-B05D-ED8E1E3FA4E8}"/>
                  </a:ext>
                </a:extLst>
              </p:cNvPr>
              <p:cNvSpPr/>
              <p:nvPr/>
            </p:nvSpPr>
            <p:spPr>
              <a:xfrm>
                <a:off x="517604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94" name="Text 31">
                <a:extLst>
                  <a:ext uri="{FF2B5EF4-FFF2-40B4-BE49-F238E27FC236}">
                    <a16:creationId xmlns:a16="http://schemas.microsoft.com/office/drawing/2014/main" id="{3656A97E-9991-4AB2-9C31-767A285563B1}"/>
                  </a:ext>
                </a:extLst>
              </p:cNvPr>
              <p:cNvSpPr/>
              <p:nvPr/>
            </p:nvSpPr>
            <p:spPr>
              <a:xfrm>
                <a:off x="529034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2. Анализ</a:t>
                </a:r>
                <a:endParaRPr lang="en-US" sz="1600" dirty="0"/>
              </a:p>
            </p:txBody>
          </p:sp>
          <p:sp>
            <p:nvSpPr>
              <p:cNvPr id="195" name="Text 32">
                <a:extLst>
                  <a:ext uri="{FF2B5EF4-FFF2-40B4-BE49-F238E27FC236}">
                    <a16:creationId xmlns:a16="http://schemas.microsoft.com/office/drawing/2014/main" id="{3D19FE9B-0E5C-4CA7-8B01-ABD2727BA6EC}"/>
                  </a:ext>
                </a:extLst>
              </p:cNvPr>
              <p:cNvSpPr/>
              <p:nvPr/>
            </p:nvSpPr>
            <p:spPr>
              <a:xfrm>
                <a:off x="529034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определяет намерение и извлекает сущности</a:t>
                </a:r>
                <a:endParaRPr lang="en-US" sz="1600" dirty="0"/>
              </a:p>
            </p:txBody>
          </p:sp>
        </p:grpSp>
        <p:grpSp>
          <p:nvGrpSpPr>
            <p:cNvPr id="165" name="Группа 164">
              <a:extLst>
                <a:ext uri="{FF2B5EF4-FFF2-40B4-BE49-F238E27FC236}">
                  <a16:creationId xmlns:a16="http://schemas.microsoft.com/office/drawing/2014/main" id="{8EC4876C-D60F-4B99-988B-FA9E2DDA2A6F}"/>
                </a:ext>
              </a:extLst>
            </p:cNvPr>
            <p:cNvGrpSpPr/>
            <p:nvPr/>
          </p:nvGrpSpPr>
          <p:grpSpPr>
            <a:xfrm>
              <a:off x="5260177" y="2261234"/>
              <a:ext cx="1809750" cy="800100"/>
              <a:chOff x="7100093" y="2273369"/>
              <a:chExt cx="1809750" cy="800100"/>
            </a:xfrm>
          </p:grpSpPr>
          <p:sp>
            <p:nvSpPr>
              <p:cNvPr id="190" name="Shape 33">
                <a:extLst>
                  <a:ext uri="{FF2B5EF4-FFF2-40B4-BE49-F238E27FC236}">
                    <a16:creationId xmlns:a16="http://schemas.microsoft.com/office/drawing/2014/main" id="{94A4D7D2-65DF-40E9-A624-E96D86166BF1}"/>
                  </a:ext>
                </a:extLst>
              </p:cNvPr>
              <p:cNvSpPr/>
              <p:nvPr/>
            </p:nvSpPr>
            <p:spPr>
              <a:xfrm>
                <a:off x="710009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91" name="Text 34">
                <a:extLst>
                  <a:ext uri="{FF2B5EF4-FFF2-40B4-BE49-F238E27FC236}">
                    <a16:creationId xmlns:a16="http://schemas.microsoft.com/office/drawing/2014/main" id="{741080D7-26B9-4D86-BFE8-C8BFE81AD8E8}"/>
                  </a:ext>
                </a:extLst>
              </p:cNvPr>
              <p:cNvSpPr/>
              <p:nvPr/>
            </p:nvSpPr>
            <p:spPr>
              <a:xfrm>
                <a:off x="721439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3. Поиск</a:t>
                </a:r>
                <a:endParaRPr lang="en-US" sz="1600" dirty="0"/>
              </a:p>
            </p:txBody>
          </p:sp>
          <p:sp>
            <p:nvSpPr>
              <p:cNvPr id="192" name="Text 35">
                <a:extLst>
                  <a:ext uri="{FF2B5EF4-FFF2-40B4-BE49-F238E27FC236}">
                    <a16:creationId xmlns:a16="http://schemas.microsoft.com/office/drawing/2014/main" id="{757369D1-94B4-4473-B103-D8B26D72F262}"/>
                  </a:ext>
                </a:extLst>
              </p:cNvPr>
              <p:cNvSpPr/>
              <p:nvPr/>
            </p:nvSpPr>
            <p:spPr>
              <a:xfrm>
                <a:off x="721439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RAG находит релевантные метаданные 1С</a:t>
                </a:r>
                <a:endParaRPr lang="en-US" sz="1600" dirty="0"/>
              </a:p>
            </p:txBody>
          </p:sp>
        </p:grpSp>
        <p:sp>
          <p:nvSpPr>
            <p:cNvPr id="166" name="Shape 16">
              <a:extLst>
                <a:ext uri="{FF2B5EF4-FFF2-40B4-BE49-F238E27FC236}">
                  <a16:creationId xmlns:a16="http://schemas.microsoft.com/office/drawing/2014/main" id="{C949DDE4-CFB5-45EC-9527-E0372DED67BE}"/>
                </a:ext>
              </a:extLst>
            </p:cNvPr>
            <p:cNvSpPr/>
            <p:nvPr/>
          </p:nvSpPr>
          <p:spPr>
            <a:xfrm>
              <a:off x="6003051" y="342498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67" name="Shape 17">
              <a:extLst>
                <a:ext uri="{FF2B5EF4-FFF2-40B4-BE49-F238E27FC236}">
                  <a16:creationId xmlns:a16="http://schemas.microsoft.com/office/drawing/2014/main" id="{FFB4AD59-EA63-47D4-B9B3-BEFF59C2C4E8}"/>
                </a:ext>
              </a:extLst>
            </p:cNvPr>
            <p:cNvSpPr/>
            <p:nvPr/>
          </p:nvSpPr>
          <p:spPr>
            <a:xfrm>
              <a:off x="6150689" y="3596439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54744" y="78321"/>
                  </a:moveTo>
                  <a:cubicBezTo>
                    <a:pt x="159283" y="77093"/>
                    <a:pt x="164046" y="79251"/>
                    <a:pt x="166092" y="83455"/>
                  </a:cubicBezTo>
                  <a:lnTo>
                    <a:pt x="173013" y="97445"/>
                  </a:lnTo>
                  <a:cubicBezTo>
                    <a:pt x="176845" y="97966"/>
                    <a:pt x="180603" y="99008"/>
                    <a:pt x="184138" y="100459"/>
                  </a:cubicBezTo>
                  <a:lnTo>
                    <a:pt x="197160" y="91790"/>
                  </a:lnTo>
                  <a:cubicBezTo>
                    <a:pt x="201067" y="89185"/>
                    <a:pt x="206239" y="89706"/>
                    <a:pt x="209550" y="93018"/>
                  </a:cubicBezTo>
                  <a:lnTo>
                    <a:pt x="216694" y="100161"/>
                  </a:lnTo>
                  <a:cubicBezTo>
                    <a:pt x="220005" y="103473"/>
                    <a:pt x="220526" y="108682"/>
                    <a:pt x="217922" y="112551"/>
                  </a:cubicBezTo>
                  <a:lnTo>
                    <a:pt x="209252" y="125537"/>
                  </a:lnTo>
                  <a:cubicBezTo>
                    <a:pt x="209959" y="127285"/>
                    <a:pt x="210592" y="129108"/>
                    <a:pt x="211113" y="131006"/>
                  </a:cubicBezTo>
                  <a:cubicBezTo>
                    <a:pt x="211634" y="132904"/>
                    <a:pt x="211968" y="134764"/>
                    <a:pt x="212229" y="136661"/>
                  </a:cubicBezTo>
                  <a:lnTo>
                    <a:pt x="226256" y="143582"/>
                  </a:lnTo>
                  <a:cubicBezTo>
                    <a:pt x="230460" y="145666"/>
                    <a:pt x="232618" y="150428"/>
                    <a:pt x="231391" y="154930"/>
                  </a:cubicBezTo>
                  <a:lnTo>
                    <a:pt x="228786" y="164678"/>
                  </a:lnTo>
                  <a:cubicBezTo>
                    <a:pt x="227558" y="169180"/>
                    <a:pt x="223354" y="172231"/>
                    <a:pt x="218666" y="171934"/>
                  </a:cubicBezTo>
                  <a:lnTo>
                    <a:pt x="203039" y="170929"/>
                  </a:lnTo>
                  <a:cubicBezTo>
                    <a:pt x="200695" y="173943"/>
                    <a:pt x="197979" y="176733"/>
                    <a:pt x="194890" y="179115"/>
                  </a:cubicBezTo>
                  <a:lnTo>
                    <a:pt x="195895" y="194704"/>
                  </a:lnTo>
                  <a:cubicBezTo>
                    <a:pt x="196193" y="199392"/>
                    <a:pt x="193142" y="203634"/>
                    <a:pt x="188640" y="204825"/>
                  </a:cubicBezTo>
                  <a:lnTo>
                    <a:pt x="178891" y="207429"/>
                  </a:lnTo>
                  <a:cubicBezTo>
                    <a:pt x="174352" y="208657"/>
                    <a:pt x="169627" y="206499"/>
                    <a:pt x="167543" y="202295"/>
                  </a:cubicBezTo>
                  <a:lnTo>
                    <a:pt x="160623" y="188305"/>
                  </a:lnTo>
                  <a:cubicBezTo>
                    <a:pt x="156790" y="187784"/>
                    <a:pt x="153033" y="186742"/>
                    <a:pt x="149498" y="185291"/>
                  </a:cubicBezTo>
                  <a:lnTo>
                    <a:pt x="136475" y="193960"/>
                  </a:lnTo>
                  <a:cubicBezTo>
                    <a:pt x="132569" y="196565"/>
                    <a:pt x="127397" y="196044"/>
                    <a:pt x="124085" y="192732"/>
                  </a:cubicBezTo>
                  <a:lnTo>
                    <a:pt x="116942" y="185589"/>
                  </a:lnTo>
                  <a:cubicBezTo>
                    <a:pt x="113630" y="182277"/>
                    <a:pt x="113109" y="177105"/>
                    <a:pt x="115714" y="173199"/>
                  </a:cubicBezTo>
                  <a:lnTo>
                    <a:pt x="124383" y="160176"/>
                  </a:lnTo>
                  <a:cubicBezTo>
                    <a:pt x="123676" y="158428"/>
                    <a:pt x="123044" y="156604"/>
                    <a:pt x="122523" y="154707"/>
                  </a:cubicBezTo>
                  <a:cubicBezTo>
                    <a:pt x="122002" y="152809"/>
                    <a:pt x="121667" y="150912"/>
                    <a:pt x="121407" y="149051"/>
                  </a:cubicBezTo>
                  <a:lnTo>
                    <a:pt x="107379" y="142131"/>
                  </a:lnTo>
                  <a:cubicBezTo>
                    <a:pt x="103175" y="140047"/>
                    <a:pt x="101054" y="135285"/>
                    <a:pt x="102245" y="130783"/>
                  </a:cubicBezTo>
                  <a:lnTo>
                    <a:pt x="104849" y="121034"/>
                  </a:lnTo>
                  <a:cubicBezTo>
                    <a:pt x="106077" y="116532"/>
                    <a:pt x="110282" y="113481"/>
                    <a:pt x="114970" y="113779"/>
                  </a:cubicBezTo>
                  <a:lnTo>
                    <a:pt x="130559" y="114784"/>
                  </a:lnTo>
                  <a:cubicBezTo>
                    <a:pt x="132904" y="111770"/>
                    <a:pt x="135620" y="108979"/>
                    <a:pt x="138708" y="106598"/>
                  </a:cubicBezTo>
                  <a:lnTo>
                    <a:pt x="137703" y="91046"/>
                  </a:lnTo>
                  <a:cubicBezTo>
                    <a:pt x="137406" y="86358"/>
                    <a:pt x="140457" y="82116"/>
                    <a:pt x="144959" y="80925"/>
                  </a:cubicBezTo>
                  <a:lnTo>
                    <a:pt x="154707" y="78321"/>
                  </a:lnTo>
                  <a:close/>
                  <a:moveTo>
                    <a:pt x="166836" y="126504"/>
                  </a:moveTo>
                  <a:cubicBezTo>
                    <a:pt x="157801" y="126514"/>
                    <a:pt x="150474" y="133858"/>
                    <a:pt x="150484" y="142894"/>
                  </a:cubicBezTo>
                  <a:cubicBezTo>
                    <a:pt x="150494" y="151929"/>
                    <a:pt x="157838" y="159256"/>
                    <a:pt x="166874" y="159246"/>
                  </a:cubicBezTo>
                  <a:cubicBezTo>
                    <a:pt x="175909" y="159236"/>
                    <a:pt x="183236" y="151892"/>
                    <a:pt x="183226" y="142856"/>
                  </a:cubicBezTo>
                  <a:cubicBezTo>
                    <a:pt x="183216" y="133821"/>
                    <a:pt x="175872" y="126494"/>
                    <a:pt x="166836" y="126504"/>
                  </a:cubicBezTo>
                  <a:close/>
                  <a:moveTo>
                    <a:pt x="83679" y="-16929"/>
                  </a:moveTo>
                  <a:lnTo>
                    <a:pt x="93427" y="-14325"/>
                  </a:lnTo>
                  <a:cubicBezTo>
                    <a:pt x="97929" y="-13097"/>
                    <a:pt x="100980" y="-8855"/>
                    <a:pt x="100682" y="-4204"/>
                  </a:cubicBezTo>
                  <a:lnTo>
                    <a:pt x="99678" y="11348"/>
                  </a:lnTo>
                  <a:cubicBezTo>
                    <a:pt x="102766" y="13729"/>
                    <a:pt x="105482" y="16483"/>
                    <a:pt x="107826" y="19534"/>
                  </a:cubicBezTo>
                  <a:lnTo>
                    <a:pt x="123453" y="18529"/>
                  </a:lnTo>
                  <a:cubicBezTo>
                    <a:pt x="128104" y="18231"/>
                    <a:pt x="132345" y="21282"/>
                    <a:pt x="133573" y="25784"/>
                  </a:cubicBezTo>
                  <a:lnTo>
                    <a:pt x="136178" y="35533"/>
                  </a:lnTo>
                  <a:cubicBezTo>
                    <a:pt x="137368" y="40035"/>
                    <a:pt x="135248" y="44797"/>
                    <a:pt x="131043" y="46881"/>
                  </a:cubicBezTo>
                  <a:lnTo>
                    <a:pt x="117016" y="53801"/>
                  </a:lnTo>
                  <a:cubicBezTo>
                    <a:pt x="116756" y="55699"/>
                    <a:pt x="116384" y="57596"/>
                    <a:pt x="115900" y="59457"/>
                  </a:cubicBezTo>
                  <a:cubicBezTo>
                    <a:pt x="115416" y="61317"/>
                    <a:pt x="114746" y="63178"/>
                    <a:pt x="114040" y="64926"/>
                  </a:cubicBezTo>
                  <a:lnTo>
                    <a:pt x="122709" y="77949"/>
                  </a:lnTo>
                  <a:cubicBezTo>
                    <a:pt x="125313" y="81855"/>
                    <a:pt x="124792" y="87027"/>
                    <a:pt x="121481" y="90339"/>
                  </a:cubicBezTo>
                  <a:lnTo>
                    <a:pt x="114337" y="97482"/>
                  </a:lnTo>
                  <a:cubicBezTo>
                    <a:pt x="111026" y="100794"/>
                    <a:pt x="105854" y="101315"/>
                    <a:pt x="101947" y="98710"/>
                  </a:cubicBezTo>
                  <a:lnTo>
                    <a:pt x="88925" y="90041"/>
                  </a:lnTo>
                  <a:cubicBezTo>
                    <a:pt x="85390" y="91492"/>
                    <a:pt x="81632" y="92534"/>
                    <a:pt x="77800" y="93055"/>
                  </a:cubicBezTo>
                  <a:lnTo>
                    <a:pt x="70879" y="107045"/>
                  </a:lnTo>
                  <a:cubicBezTo>
                    <a:pt x="68796" y="111249"/>
                    <a:pt x="64033" y="113370"/>
                    <a:pt x="59531" y="112179"/>
                  </a:cubicBezTo>
                  <a:lnTo>
                    <a:pt x="49783" y="109575"/>
                  </a:lnTo>
                  <a:cubicBezTo>
                    <a:pt x="45244" y="108347"/>
                    <a:pt x="42230" y="104105"/>
                    <a:pt x="42528" y="99454"/>
                  </a:cubicBezTo>
                  <a:lnTo>
                    <a:pt x="43532" y="83865"/>
                  </a:lnTo>
                  <a:cubicBezTo>
                    <a:pt x="40444" y="81483"/>
                    <a:pt x="37728" y="78730"/>
                    <a:pt x="35384" y="75679"/>
                  </a:cubicBezTo>
                  <a:lnTo>
                    <a:pt x="19757" y="76684"/>
                  </a:lnTo>
                  <a:cubicBezTo>
                    <a:pt x="15106" y="76981"/>
                    <a:pt x="10864" y="73930"/>
                    <a:pt x="9637" y="69428"/>
                  </a:cubicBezTo>
                  <a:lnTo>
                    <a:pt x="7032" y="59680"/>
                  </a:lnTo>
                  <a:cubicBezTo>
                    <a:pt x="5842" y="55178"/>
                    <a:pt x="7962" y="50416"/>
                    <a:pt x="12167" y="48332"/>
                  </a:cubicBezTo>
                  <a:lnTo>
                    <a:pt x="26194" y="41411"/>
                  </a:lnTo>
                  <a:cubicBezTo>
                    <a:pt x="26454" y="39514"/>
                    <a:pt x="26826" y="37654"/>
                    <a:pt x="27310" y="35756"/>
                  </a:cubicBezTo>
                  <a:cubicBezTo>
                    <a:pt x="27831" y="33858"/>
                    <a:pt x="28426" y="32035"/>
                    <a:pt x="29170" y="30287"/>
                  </a:cubicBezTo>
                  <a:lnTo>
                    <a:pt x="20501" y="17301"/>
                  </a:lnTo>
                  <a:cubicBezTo>
                    <a:pt x="17897" y="13395"/>
                    <a:pt x="18417" y="8223"/>
                    <a:pt x="21729" y="4911"/>
                  </a:cubicBezTo>
                  <a:lnTo>
                    <a:pt x="28873" y="-2232"/>
                  </a:lnTo>
                  <a:cubicBezTo>
                    <a:pt x="32184" y="-5544"/>
                    <a:pt x="37356" y="-6065"/>
                    <a:pt x="41263" y="-3460"/>
                  </a:cubicBezTo>
                  <a:lnTo>
                    <a:pt x="54285" y="5209"/>
                  </a:lnTo>
                  <a:cubicBezTo>
                    <a:pt x="57820" y="3758"/>
                    <a:pt x="61578" y="2716"/>
                    <a:pt x="65410" y="2195"/>
                  </a:cubicBezTo>
                  <a:lnTo>
                    <a:pt x="72330" y="-11795"/>
                  </a:lnTo>
                  <a:cubicBezTo>
                    <a:pt x="74414" y="-15999"/>
                    <a:pt x="79139" y="-18120"/>
                    <a:pt x="83679" y="-16929"/>
                  </a:cubicBezTo>
                  <a:close/>
                  <a:moveTo>
                    <a:pt x="71586" y="31254"/>
                  </a:moveTo>
                  <a:cubicBezTo>
                    <a:pt x="62551" y="31254"/>
                    <a:pt x="55215" y="38590"/>
                    <a:pt x="55215" y="47625"/>
                  </a:cubicBezTo>
                  <a:cubicBezTo>
                    <a:pt x="55215" y="56660"/>
                    <a:pt x="62551" y="63996"/>
                    <a:pt x="71586" y="63996"/>
                  </a:cubicBezTo>
                  <a:cubicBezTo>
                    <a:pt x="80622" y="63996"/>
                    <a:pt x="87957" y="56660"/>
                    <a:pt x="87957" y="47625"/>
                  </a:cubicBezTo>
                  <a:cubicBezTo>
                    <a:pt x="87957" y="38590"/>
                    <a:pt x="80622" y="31254"/>
                    <a:pt x="71586" y="3125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8" name="Text 18">
              <a:extLst>
                <a:ext uri="{FF2B5EF4-FFF2-40B4-BE49-F238E27FC236}">
                  <a16:creationId xmlns:a16="http://schemas.microsoft.com/office/drawing/2014/main" id="{66DB6144-61CC-4918-A99C-AED82434A218}"/>
                </a:ext>
              </a:extLst>
            </p:cNvPr>
            <p:cNvSpPr/>
            <p:nvPr/>
          </p:nvSpPr>
          <p:spPr>
            <a:xfrm>
              <a:off x="5786834" y="4061079"/>
              <a:ext cx="1203960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Команда</a:t>
              </a:r>
              <a:endParaRPr lang="en-US" sz="3200" dirty="0"/>
            </a:p>
          </p:txBody>
        </p:sp>
        <p:sp>
          <p:nvSpPr>
            <p:cNvPr id="169" name="Shape 19">
              <a:extLst>
                <a:ext uri="{FF2B5EF4-FFF2-40B4-BE49-F238E27FC236}">
                  <a16:creationId xmlns:a16="http://schemas.microsoft.com/office/drawing/2014/main" id="{5861398B-654B-4475-B0FB-92BCC5A31A32}"/>
                </a:ext>
              </a:extLst>
            </p:cNvPr>
            <p:cNvSpPr/>
            <p:nvPr/>
          </p:nvSpPr>
          <p:spPr>
            <a:xfrm>
              <a:off x="7210512" y="363112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70" name="Shape 20">
              <a:extLst>
                <a:ext uri="{FF2B5EF4-FFF2-40B4-BE49-F238E27FC236}">
                  <a16:creationId xmlns:a16="http://schemas.microsoft.com/office/drawing/2014/main" id="{11EC2F7A-71A0-4CA8-A962-EABA50367CC0}"/>
                </a:ext>
              </a:extLst>
            </p:cNvPr>
            <p:cNvSpPr/>
            <p:nvPr/>
          </p:nvSpPr>
          <p:spPr>
            <a:xfrm>
              <a:off x="7986013" y="342328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1" name="Shape 21">
              <a:extLst>
                <a:ext uri="{FF2B5EF4-FFF2-40B4-BE49-F238E27FC236}">
                  <a16:creationId xmlns:a16="http://schemas.microsoft.com/office/drawing/2014/main" id="{7A73B5A1-D34E-4302-B8F9-4E371DD015E1}"/>
                </a:ext>
              </a:extLst>
            </p:cNvPr>
            <p:cNvSpPr/>
            <p:nvPr/>
          </p:nvSpPr>
          <p:spPr>
            <a:xfrm>
              <a:off x="8181275" y="3594734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92980" y="24854"/>
                  </a:moveTo>
                  <a:cubicBezTo>
                    <a:pt x="96850" y="19534"/>
                    <a:pt x="95659" y="12092"/>
                    <a:pt x="90339" y="8223"/>
                  </a:cubicBezTo>
                  <a:cubicBezTo>
                    <a:pt x="85018" y="4353"/>
                    <a:pt x="77577" y="5544"/>
                    <a:pt x="73707" y="10864"/>
                  </a:cubicBezTo>
                  <a:lnTo>
                    <a:pt x="34268" y="65075"/>
                  </a:lnTo>
                  <a:lnTo>
                    <a:pt x="20315" y="51122"/>
                  </a:lnTo>
                  <a:cubicBezTo>
                    <a:pt x="15664" y="46472"/>
                    <a:pt x="8111" y="46472"/>
                    <a:pt x="3460" y="51122"/>
                  </a:cubicBezTo>
                  <a:cubicBezTo>
                    <a:pt x="-1191" y="55773"/>
                    <a:pt x="-1191" y="63326"/>
                    <a:pt x="3460" y="67977"/>
                  </a:cubicBezTo>
                  <a:lnTo>
                    <a:pt x="27273" y="91790"/>
                  </a:lnTo>
                  <a:cubicBezTo>
                    <a:pt x="29728" y="94245"/>
                    <a:pt x="33151" y="95510"/>
                    <a:pt x="36612" y="95250"/>
                  </a:cubicBezTo>
                  <a:cubicBezTo>
                    <a:pt x="40072" y="94990"/>
                    <a:pt x="43272" y="93204"/>
                    <a:pt x="45318" y="90376"/>
                  </a:cubicBezTo>
                  <a:lnTo>
                    <a:pt x="92943" y="24892"/>
                  </a:lnTo>
                  <a:close/>
                  <a:moveTo>
                    <a:pt x="140605" y="75456"/>
                  </a:moveTo>
                  <a:cubicBezTo>
                    <a:pt x="144475" y="70135"/>
                    <a:pt x="143284" y="62694"/>
                    <a:pt x="137964" y="58824"/>
                  </a:cubicBezTo>
                  <a:cubicBezTo>
                    <a:pt x="132643" y="54955"/>
                    <a:pt x="125202" y="56145"/>
                    <a:pt x="121332" y="61466"/>
                  </a:cubicBezTo>
                  <a:lnTo>
                    <a:pt x="58080" y="148419"/>
                  </a:lnTo>
                  <a:lnTo>
                    <a:pt x="32221" y="122560"/>
                  </a:lnTo>
                  <a:cubicBezTo>
                    <a:pt x="27570" y="117909"/>
                    <a:pt x="20017" y="117909"/>
                    <a:pt x="15367" y="122560"/>
                  </a:cubicBezTo>
                  <a:cubicBezTo>
                    <a:pt x="10716" y="127211"/>
                    <a:pt x="10716" y="134764"/>
                    <a:pt x="15367" y="139415"/>
                  </a:cubicBezTo>
                  <a:lnTo>
                    <a:pt x="51085" y="175133"/>
                  </a:lnTo>
                  <a:cubicBezTo>
                    <a:pt x="53541" y="177589"/>
                    <a:pt x="56964" y="178854"/>
                    <a:pt x="60424" y="178594"/>
                  </a:cubicBezTo>
                  <a:cubicBezTo>
                    <a:pt x="63884" y="178333"/>
                    <a:pt x="67084" y="176547"/>
                    <a:pt x="69131" y="173720"/>
                  </a:cubicBezTo>
                  <a:lnTo>
                    <a:pt x="140568" y="75493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72" name="Text 22">
              <a:extLst>
                <a:ext uri="{FF2B5EF4-FFF2-40B4-BE49-F238E27FC236}">
                  <a16:creationId xmlns:a16="http://schemas.microsoft.com/office/drawing/2014/main" id="{B4174BB7-3360-424F-9F1A-AC203F7F1C73}"/>
                </a:ext>
              </a:extLst>
            </p:cNvPr>
            <p:cNvSpPr/>
            <p:nvPr/>
          </p:nvSpPr>
          <p:spPr>
            <a:xfrm>
              <a:off x="7688463" y="4059374"/>
              <a:ext cx="1487245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Валидация</a:t>
              </a:r>
              <a:endParaRPr lang="en-US" sz="3200" dirty="0"/>
            </a:p>
          </p:txBody>
        </p:sp>
        <p:sp>
          <p:nvSpPr>
            <p:cNvPr id="173" name="Shape 23">
              <a:extLst>
                <a:ext uri="{FF2B5EF4-FFF2-40B4-BE49-F238E27FC236}">
                  <a16:creationId xmlns:a16="http://schemas.microsoft.com/office/drawing/2014/main" id="{A08BD9CC-226B-4CFF-8C23-B5035449BE31}"/>
                </a:ext>
              </a:extLst>
            </p:cNvPr>
            <p:cNvSpPr/>
            <p:nvPr/>
          </p:nvSpPr>
          <p:spPr>
            <a:xfrm>
              <a:off x="9138069" y="366120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74" name="Shape 24">
              <a:extLst>
                <a:ext uri="{FF2B5EF4-FFF2-40B4-BE49-F238E27FC236}">
                  <a16:creationId xmlns:a16="http://schemas.microsoft.com/office/drawing/2014/main" id="{3BE8CB40-DF7F-4D30-BEC9-14F218CC97A6}"/>
                </a:ext>
              </a:extLst>
            </p:cNvPr>
            <p:cNvSpPr/>
            <p:nvPr/>
          </p:nvSpPr>
          <p:spPr>
            <a:xfrm>
              <a:off x="9947226" y="342328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5" name="Shape 25">
              <a:extLst>
                <a:ext uri="{FF2B5EF4-FFF2-40B4-BE49-F238E27FC236}">
                  <a16:creationId xmlns:a16="http://schemas.microsoft.com/office/drawing/2014/main" id="{31BAF233-58CF-4EF6-90B2-2EE756828267}"/>
                </a:ext>
              </a:extLst>
            </p:cNvPr>
            <p:cNvSpPr/>
            <p:nvPr/>
          </p:nvSpPr>
          <p:spPr>
            <a:xfrm>
              <a:off x="10118676" y="359473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75977" y="6846"/>
                  </a:moveTo>
                  <a:cubicBezTo>
                    <a:pt x="80442" y="8706"/>
                    <a:pt x="83344" y="13022"/>
                    <a:pt x="83344" y="17859"/>
                  </a:cubicBezTo>
                  <a:lnTo>
                    <a:pt x="83344" y="47625"/>
                  </a:lnTo>
                  <a:lnTo>
                    <a:pt x="125016" y="47625"/>
                  </a:lnTo>
                  <a:cubicBezTo>
                    <a:pt x="161181" y="47625"/>
                    <a:pt x="190500" y="76944"/>
                    <a:pt x="190500" y="113109"/>
                  </a:cubicBezTo>
                  <a:cubicBezTo>
                    <a:pt x="190500" y="155265"/>
                    <a:pt x="160176" y="174092"/>
                    <a:pt x="153219" y="177887"/>
                  </a:cubicBezTo>
                  <a:cubicBezTo>
                    <a:pt x="152288" y="178408"/>
                    <a:pt x="151247" y="178594"/>
                    <a:pt x="150205" y="178594"/>
                  </a:cubicBezTo>
                  <a:cubicBezTo>
                    <a:pt x="146149" y="178594"/>
                    <a:pt x="142875" y="175282"/>
                    <a:pt x="142875" y="171264"/>
                  </a:cubicBezTo>
                  <a:cubicBezTo>
                    <a:pt x="142875" y="168473"/>
                    <a:pt x="144475" y="165906"/>
                    <a:pt x="146521" y="164009"/>
                  </a:cubicBezTo>
                  <a:cubicBezTo>
                    <a:pt x="150019" y="160734"/>
                    <a:pt x="154781" y="154186"/>
                    <a:pt x="154781" y="142912"/>
                  </a:cubicBezTo>
                  <a:cubicBezTo>
                    <a:pt x="154781" y="123192"/>
                    <a:pt x="138782" y="107193"/>
                    <a:pt x="119063" y="107193"/>
                  </a:cubicBezTo>
                  <a:lnTo>
                    <a:pt x="83344" y="107193"/>
                  </a:lnTo>
                  <a:lnTo>
                    <a:pt x="83344" y="136959"/>
                  </a:lnTo>
                  <a:cubicBezTo>
                    <a:pt x="83344" y="141759"/>
                    <a:pt x="80442" y="146112"/>
                    <a:pt x="75977" y="147972"/>
                  </a:cubicBezTo>
                  <a:cubicBezTo>
                    <a:pt x="71512" y="149833"/>
                    <a:pt x="66415" y="148791"/>
                    <a:pt x="62992" y="145405"/>
                  </a:cubicBezTo>
                  <a:lnTo>
                    <a:pt x="3460" y="85874"/>
                  </a:lnTo>
                  <a:cubicBezTo>
                    <a:pt x="-1191" y="81223"/>
                    <a:pt x="-1191" y="73670"/>
                    <a:pt x="3460" y="69019"/>
                  </a:cubicBezTo>
                  <a:lnTo>
                    <a:pt x="62992" y="9488"/>
                  </a:lnTo>
                  <a:cubicBezTo>
                    <a:pt x="66415" y="6065"/>
                    <a:pt x="71512" y="5060"/>
                    <a:pt x="75977" y="692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76" name="Text 26">
              <a:extLst>
                <a:ext uri="{FF2B5EF4-FFF2-40B4-BE49-F238E27FC236}">
                  <a16:creationId xmlns:a16="http://schemas.microsoft.com/office/drawing/2014/main" id="{FF9F7F0F-F1F2-4551-9C61-8A140E0FFBE8}"/>
                </a:ext>
              </a:extLst>
            </p:cNvPr>
            <p:cNvSpPr/>
            <p:nvPr/>
          </p:nvSpPr>
          <p:spPr>
            <a:xfrm>
              <a:off x="9880368" y="4049647"/>
              <a:ext cx="867559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Ответ</a:t>
              </a:r>
              <a:endParaRPr lang="en-US" sz="3200" dirty="0"/>
            </a:p>
          </p:txBody>
        </p:sp>
        <p:grpSp>
          <p:nvGrpSpPr>
            <p:cNvPr id="177" name="Группа 176">
              <a:extLst>
                <a:ext uri="{FF2B5EF4-FFF2-40B4-BE49-F238E27FC236}">
                  <a16:creationId xmlns:a16="http://schemas.microsoft.com/office/drawing/2014/main" id="{67A56C1D-88D8-46B3-9644-D6B13B309BD4}"/>
                </a:ext>
              </a:extLst>
            </p:cNvPr>
            <p:cNvGrpSpPr/>
            <p:nvPr/>
          </p:nvGrpSpPr>
          <p:grpSpPr>
            <a:xfrm>
              <a:off x="5419645" y="4356734"/>
              <a:ext cx="1809750" cy="800100"/>
              <a:chOff x="3264772" y="4419600"/>
              <a:chExt cx="1809750" cy="800100"/>
            </a:xfrm>
          </p:grpSpPr>
          <p:sp>
            <p:nvSpPr>
              <p:cNvPr id="187" name="Shape 36">
                <a:extLst>
                  <a:ext uri="{FF2B5EF4-FFF2-40B4-BE49-F238E27FC236}">
                    <a16:creationId xmlns:a16="http://schemas.microsoft.com/office/drawing/2014/main" id="{4C82C2BD-A99E-4E0C-ACAD-25D03671B346}"/>
                  </a:ext>
                </a:extLst>
              </p:cNvPr>
              <p:cNvSpPr/>
              <p:nvPr/>
            </p:nvSpPr>
            <p:spPr>
              <a:xfrm>
                <a:off x="326477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88" name="Text 37">
                <a:extLst>
                  <a:ext uri="{FF2B5EF4-FFF2-40B4-BE49-F238E27FC236}">
                    <a16:creationId xmlns:a16="http://schemas.microsoft.com/office/drawing/2014/main" id="{064A9432-1445-47E0-BA4A-6424F46A56BA}"/>
                  </a:ext>
                </a:extLst>
              </p:cNvPr>
              <p:cNvSpPr/>
              <p:nvPr/>
            </p:nvSpPr>
            <p:spPr>
              <a:xfrm>
                <a:off x="337907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4. Команда</a:t>
                </a:r>
                <a:endParaRPr lang="en-US" sz="1600" dirty="0"/>
              </a:p>
            </p:txBody>
          </p:sp>
          <p:sp>
            <p:nvSpPr>
              <p:cNvPr id="189" name="Text 38">
                <a:extLst>
                  <a:ext uri="{FF2B5EF4-FFF2-40B4-BE49-F238E27FC236}">
                    <a16:creationId xmlns:a16="http://schemas.microsoft.com/office/drawing/2014/main" id="{B3CDE25F-68FD-4BF2-9FD5-75D264332EEA}"/>
                  </a:ext>
                </a:extLst>
              </p:cNvPr>
              <p:cNvSpPr/>
              <p:nvPr/>
            </p:nvSpPr>
            <p:spPr>
              <a:xfrm>
                <a:off x="337907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Генерация запроса к 1С на внутреннем языке</a:t>
                </a:r>
                <a:endParaRPr lang="en-US" sz="1600" dirty="0"/>
              </a:p>
            </p:txBody>
          </p:sp>
        </p:grpSp>
        <p:grpSp>
          <p:nvGrpSpPr>
            <p:cNvPr id="178" name="Группа 177">
              <a:extLst>
                <a:ext uri="{FF2B5EF4-FFF2-40B4-BE49-F238E27FC236}">
                  <a16:creationId xmlns:a16="http://schemas.microsoft.com/office/drawing/2014/main" id="{FA1EAD37-E1AB-4F6D-B907-3345DE769FA5}"/>
                </a:ext>
              </a:extLst>
            </p:cNvPr>
            <p:cNvGrpSpPr/>
            <p:nvPr/>
          </p:nvGrpSpPr>
          <p:grpSpPr>
            <a:xfrm>
              <a:off x="7343695" y="4356734"/>
              <a:ext cx="1809750" cy="800100"/>
              <a:chOff x="5188822" y="4419600"/>
              <a:chExt cx="1809750" cy="800100"/>
            </a:xfrm>
          </p:grpSpPr>
          <p:sp>
            <p:nvSpPr>
              <p:cNvPr id="184" name="Shape 39">
                <a:extLst>
                  <a:ext uri="{FF2B5EF4-FFF2-40B4-BE49-F238E27FC236}">
                    <a16:creationId xmlns:a16="http://schemas.microsoft.com/office/drawing/2014/main" id="{7A8EF670-330A-4637-BEB5-1C9AF754003B}"/>
                  </a:ext>
                </a:extLst>
              </p:cNvPr>
              <p:cNvSpPr/>
              <p:nvPr/>
            </p:nvSpPr>
            <p:spPr>
              <a:xfrm>
                <a:off x="518882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85" name="Text 40">
                <a:extLst>
                  <a:ext uri="{FF2B5EF4-FFF2-40B4-BE49-F238E27FC236}">
                    <a16:creationId xmlns:a16="http://schemas.microsoft.com/office/drawing/2014/main" id="{E1031CA7-505C-4DC7-970C-9062CBBC539D}"/>
                  </a:ext>
                </a:extLst>
              </p:cNvPr>
              <p:cNvSpPr/>
              <p:nvPr/>
            </p:nvSpPr>
            <p:spPr>
              <a:xfrm>
                <a:off x="530312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5. Валидация</a:t>
                </a:r>
                <a:endParaRPr lang="en-US" sz="1600" dirty="0"/>
              </a:p>
            </p:txBody>
          </p:sp>
          <p:sp>
            <p:nvSpPr>
              <p:cNvPr id="186" name="Text 41">
                <a:extLst>
                  <a:ext uri="{FF2B5EF4-FFF2-40B4-BE49-F238E27FC236}">
                    <a16:creationId xmlns:a16="http://schemas.microsoft.com/office/drawing/2014/main" id="{2A9A0E5C-50BD-4FE6-B4CC-5222980DF44B}"/>
                  </a:ext>
                </a:extLst>
              </p:cNvPr>
              <p:cNvSpPr/>
              <p:nvPr/>
            </p:nvSpPr>
            <p:spPr>
              <a:xfrm>
                <a:off x="530312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Проверка прав доступа и корректности</a:t>
                </a:r>
                <a:endParaRPr lang="en-US" sz="1600" dirty="0"/>
              </a:p>
            </p:txBody>
          </p:sp>
        </p:grpSp>
        <p:grpSp>
          <p:nvGrpSpPr>
            <p:cNvPr id="179" name="Группа 178">
              <a:extLst>
                <a:ext uri="{FF2B5EF4-FFF2-40B4-BE49-F238E27FC236}">
                  <a16:creationId xmlns:a16="http://schemas.microsoft.com/office/drawing/2014/main" id="{F664353B-E6FD-4AC0-94B3-6BE12ECC54E1}"/>
                </a:ext>
              </a:extLst>
            </p:cNvPr>
            <p:cNvGrpSpPr/>
            <p:nvPr/>
          </p:nvGrpSpPr>
          <p:grpSpPr>
            <a:xfrm>
              <a:off x="9267745" y="4356734"/>
              <a:ext cx="1809750" cy="800100"/>
              <a:chOff x="7112872" y="4419600"/>
              <a:chExt cx="1809750" cy="800100"/>
            </a:xfrm>
          </p:grpSpPr>
          <p:sp>
            <p:nvSpPr>
              <p:cNvPr id="181" name="Shape 42">
                <a:extLst>
                  <a:ext uri="{FF2B5EF4-FFF2-40B4-BE49-F238E27FC236}">
                    <a16:creationId xmlns:a16="http://schemas.microsoft.com/office/drawing/2014/main" id="{9A1900F5-CF5A-42DD-8D6E-240C4AA58168}"/>
                  </a:ext>
                </a:extLst>
              </p:cNvPr>
              <p:cNvSpPr/>
              <p:nvPr/>
            </p:nvSpPr>
            <p:spPr>
              <a:xfrm>
                <a:off x="711287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82" name="Text 43">
                <a:extLst>
                  <a:ext uri="{FF2B5EF4-FFF2-40B4-BE49-F238E27FC236}">
                    <a16:creationId xmlns:a16="http://schemas.microsoft.com/office/drawing/2014/main" id="{6B263BDC-8927-48DD-BD82-32F820315FCE}"/>
                  </a:ext>
                </a:extLst>
              </p:cNvPr>
              <p:cNvSpPr/>
              <p:nvPr/>
            </p:nvSpPr>
            <p:spPr>
              <a:xfrm>
                <a:off x="722717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6. Ответ</a:t>
                </a:r>
                <a:endParaRPr lang="en-US" sz="1600" dirty="0"/>
              </a:p>
            </p:txBody>
          </p:sp>
          <p:sp>
            <p:nvSpPr>
              <p:cNvPr id="183" name="Text 44">
                <a:extLst>
                  <a:ext uri="{FF2B5EF4-FFF2-40B4-BE49-F238E27FC236}">
                    <a16:creationId xmlns:a16="http://schemas.microsoft.com/office/drawing/2014/main" id="{4E301225-7E51-4C77-A4E9-F075FDD070D3}"/>
                  </a:ext>
                </a:extLst>
              </p:cNvPr>
              <p:cNvSpPr/>
              <p:nvPr/>
            </p:nvSpPr>
            <p:spPr>
              <a:xfrm>
                <a:off x="722717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Результат: данные, форма или подтверждение</a:t>
                </a:r>
                <a:endParaRPr lang="en-US" sz="1600" dirty="0"/>
              </a:p>
            </p:txBody>
          </p:sp>
        </p:grpSp>
        <p:sp>
          <p:nvSpPr>
            <p:cNvPr id="180" name="Shape 19">
              <a:extLst>
                <a:ext uri="{FF2B5EF4-FFF2-40B4-BE49-F238E27FC236}">
                  <a16:creationId xmlns:a16="http://schemas.microsoft.com/office/drawing/2014/main" id="{822BEC25-3141-40FB-A8DA-543429B55787}"/>
                </a:ext>
              </a:extLst>
            </p:cNvPr>
            <p:cNvSpPr/>
            <p:nvPr/>
          </p:nvSpPr>
          <p:spPr>
            <a:xfrm>
              <a:off x="5289144" y="363112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</p:grpSp>
      <p:grpSp>
        <p:nvGrpSpPr>
          <p:cNvPr id="199" name="Группа 198">
            <a:extLst>
              <a:ext uri="{FF2B5EF4-FFF2-40B4-BE49-F238E27FC236}">
                <a16:creationId xmlns:a16="http://schemas.microsoft.com/office/drawing/2014/main" id="{CC64E696-DDDA-4635-8ABE-6444C35648E9}"/>
              </a:ext>
            </a:extLst>
          </p:cNvPr>
          <p:cNvGrpSpPr/>
          <p:nvPr/>
        </p:nvGrpSpPr>
        <p:grpSpPr>
          <a:xfrm>
            <a:off x="415412" y="-1590370"/>
            <a:ext cx="5734050" cy="533400"/>
            <a:chOff x="381000" y="381000"/>
            <a:chExt cx="5734050" cy="533400"/>
          </a:xfrm>
        </p:grpSpPr>
        <p:sp>
          <p:nvSpPr>
            <p:cNvPr id="200" name="Shape 0">
              <a:extLst>
                <a:ext uri="{FF2B5EF4-FFF2-40B4-BE49-F238E27FC236}">
                  <a16:creationId xmlns:a16="http://schemas.microsoft.com/office/drawing/2014/main" id="{B6A73717-3611-476C-B864-AFB9671E0FAF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01" name="Shape 1">
              <a:extLst>
                <a:ext uri="{FF2B5EF4-FFF2-40B4-BE49-F238E27FC236}">
                  <a16:creationId xmlns:a16="http://schemas.microsoft.com/office/drawing/2014/main" id="{6AFF9892-7256-4BC6-9D64-7514AC641B91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35719"/>
                  </a:moveTo>
                  <a:cubicBezTo>
                    <a:pt x="0" y="23887"/>
                    <a:pt x="9599" y="14288"/>
                    <a:pt x="21431" y="14288"/>
                  </a:cubicBezTo>
                  <a:lnTo>
                    <a:pt x="64294" y="14288"/>
                  </a:lnTo>
                  <a:cubicBezTo>
                    <a:pt x="76126" y="14288"/>
                    <a:pt x="85725" y="23887"/>
                    <a:pt x="85725" y="35719"/>
                  </a:cubicBezTo>
                  <a:lnTo>
                    <a:pt x="85725" y="42863"/>
                  </a:lnTo>
                  <a:lnTo>
                    <a:pt x="142875" y="42863"/>
                  </a:lnTo>
                  <a:lnTo>
                    <a:pt x="142875" y="35719"/>
                  </a:lnTo>
                  <a:cubicBezTo>
                    <a:pt x="142875" y="23887"/>
                    <a:pt x="152474" y="14288"/>
                    <a:pt x="164306" y="14288"/>
                  </a:cubicBezTo>
                  <a:lnTo>
                    <a:pt x="207169" y="14288"/>
                  </a:lnTo>
                  <a:cubicBezTo>
                    <a:pt x="219001" y="14288"/>
                    <a:pt x="228600" y="23887"/>
                    <a:pt x="228600" y="35719"/>
                  </a:cubicBezTo>
                  <a:lnTo>
                    <a:pt x="228600" y="78581"/>
                  </a:lnTo>
                  <a:cubicBezTo>
                    <a:pt x="228600" y="90413"/>
                    <a:pt x="219001" y="100013"/>
                    <a:pt x="207169" y="100013"/>
                  </a:cubicBezTo>
                  <a:lnTo>
                    <a:pt x="164306" y="100013"/>
                  </a:lnTo>
                  <a:cubicBezTo>
                    <a:pt x="152474" y="100013"/>
                    <a:pt x="142875" y="90413"/>
                    <a:pt x="142875" y="78581"/>
                  </a:cubicBezTo>
                  <a:lnTo>
                    <a:pt x="142875" y="71438"/>
                  </a:lnTo>
                  <a:lnTo>
                    <a:pt x="85725" y="71438"/>
                  </a:lnTo>
                  <a:lnTo>
                    <a:pt x="85725" y="78581"/>
                  </a:lnTo>
                  <a:cubicBezTo>
                    <a:pt x="85725" y="81841"/>
                    <a:pt x="84966" y="84966"/>
                    <a:pt x="83671" y="87734"/>
                  </a:cubicBezTo>
                  <a:lnTo>
                    <a:pt x="114300" y="128588"/>
                  </a:lnTo>
                  <a:lnTo>
                    <a:pt x="150019" y="128588"/>
                  </a:lnTo>
                  <a:cubicBezTo>
                    <a:pt x="161851" y="128588"/>
                    <a:pt x="171450" y="138187"/>
                    <a:pt x="171450" y="150019"/>
                  </a:cubicBezTo>
                  <a:lnTo>
                    <a:pt x="171450" y="192881"/>
                  </a:lnTo>
                  <a:cubicBezTo>
                    <a:pt x="171450" y="204713"/>
                    <a:pt x="161851" y="214313"/>
                    <a:pt x="150019" y="214313"/>
                  </a:cubicBezTo>
                  <a:lnTo>
                    <a:pt x="107156" y="214313"/>
                  </a:lnTo>
                  <a:cubicBezTo>
                    <a:pt x="95324" y="214313"/>
                    <a:pt x="85725" y="204713"/>
                    <a:pt x="85725" y="192881"/>
                  </a:cubicBezTo>
                  <a:lnTo>
                    <a:pt x="85725" y="150019"/>
                  </a:lnTo>
                  <a:cubicBezTo>
                    <a:pt x="85725" y="146759"/>
                    <a:pt x="86484" y="143634"/>
                    <a:pt x="87779" y="140866"/>
                  </a:cubicBezTo>
                  <a:lnTo>
                    <a:pt x="57150" y="100013"/>
                  </a:lnTo>
                  <a:lnTo>
                    <a:pt x="21431" y="100013"/>
                  </a:lnTo>
                  <a:cubicBezTo>
                    <a:pt x="9599" y="100013"/>
                    <a:pt x="0" y="90413"/>
                    <a:pt x="0" y="78581"/>
                  </a:cubicBezTo>
                  <a:lnTo>
                    <a:pt x="0" y="35719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02" name="Text 2">
              <a:extLst>
                <a:ext uri="{FF2B5EF4-FFF2-40B4-BE49-F238E27FC236}">
                  <a16:creationId xmlns:a16="http://schemas.microsoft.com/office/drawing/2014/main" id="{B97D6BD6-7C44-499C-BE0E-D47179A42C3F}"/>
                </a:ext>
              </a:extLst>
            </p:cNvPr>
            <p:cNvSpPr/>
            <p:nvPr/>
          </p:nvSpPr>
          <p:spPr>
            <a:xfrm>
              <a:off x="1066800" y="400050"/>
              <a:ext cx="50482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Алгоритм обработки запроса</a:t>
              </a:r>
              <a:endParaRPr lang="en-US" sz="1600" dirty="0"/>
            </a:p>
          </p:txBody>
        </p:sp>
        <p:sp>
          <p:nvSpPr>
            <p:cNvPr id="203" name="Shape 3">
              <a:extLst>
                <a:ext uri="{FF2B5EF4-FFF2-40B4-BE49-F238E27FC236}">
                  <a16:creationId xmlns:a16="http://schemas.microsoft.com/office/drawing/2014/main" id="{968BB47F-E3A6-4632-B99A-D86722734566}"/>
                </a:ext>
              </a:extLst>
            </p:cNvPr>
            <p:cNvSpPr/>
            <p:nvPr/>
          </p:nvSpPr>
          <p:spPr>
            <a:xfrm>
              <a:off x="828675" y="857249"/>
              <a:ext cx="516255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204" name="Text 7">
            <a:extLst>
              <a:ext uri="{FF2B5EF4-FFF2-40B4-BE49-F238E27FC236}">
                <a16:creationId xmlns:a16="http://schemas.microsoft.com/office/drawing/2014/main" id="{F04BBFED-5E1C-44CF-B1B0-21981BC2222C}"/>
              </a:ext>
            </a:extLst>
          </p:cNvPr>
          <p:cNvSpPr/>
          <p:nvPr/>
        </p:nvSpPr>
        <p:spPr>
          <a:xfrm>
            <a:off x="11161675" y="-170705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11</a:t>
            </a:r>
            <a:endParaRPr lang="en-US" sz="1600" dirty="0"/>
          </a:p>
        </p:txBody>
      </p:sp>
      <p:grpSp>
        <p:nvGrpSpPr>
          <p:cNvPr id="205" name="Группа 204">
            <a:extLst>
              <a:ext uri="{FF2B5EF4-FFF2-40B4-BE49-F238E27FC236}">
                <a16:creationId xmlns:a16="http://schemas.microsoft.com/office/drawing/2014/main" id="{C8369F17-515B-4C5B-A1F3-D9FE319F2FA1}"/>
              </a:ext>
            </a:extLst>
          </p:cNvPr>
          <p:cNvGrpSpPr/>
          <p:nvPr/>
        </p:nvGrpSpPr>
        <p:grpSpPr>
          <a:xfrm>
            <a:off x="381000" y="7086600"/>
            <a:ext cx="3705225" cy="876300"/>
            <a:chOff x="381000" y="5600700"/>
            <a:chExt cx="3705225" cy="876300"/>
          </a:xfrm>
        </p:grpSpPr>
        <p:sp>
          <p:nvSpPr>
            <p:cNvPr id="206" name="Shape 45">
              <a:extLst>
                <a:ext uri="{FF2B5EF4-FFF2-40B4-BE49-F238E27FC236}">
                  <a16:creationId xmlns:a16="http://schemas.microsoft.com/office/drawing/2014/main" id="{583B02F5-DA67-4125-940B-F96203F9C068}"/>
                </a:ext>
              </a:extLst>
            </p:cNvPr>
            <p:cNvSpPr/>
            <p:nvPr/>
          </p:nvSpPr>
          <p:spPr>
            <a:xfrm>
              <a:off x="3810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ru-RU" sz="2800"/>
            </a:p>
          </p:txBody>
        </p:sp>
        <p:sp>
          <p:nvSpPr>
            <p:cNvPr id="207" name="Text 46">
              <a:extLst>
                <a:ext uri="{FF2B5EF4-FFF2-40B4-BE49-F238E27FC236}">
                  <a16:creationId xmlns:a16="http://schemas.microsoft.com/office/drawing/2014/main" id="{27330B28-E1C8-4E1A-AB23-4C17DD4FAA2A}"/>
                </a:ext>
              </a:extLst>
            </p:cNvPr>
            <p:cNvSpPr/>
            <p:nvPr/>
          </p:nvSpPr>
          <p:spPr>
            <a:xfrm>
              <a:off x="461963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&lt; 3 сек</a:t>
              </a:r>
              <a:endParaRPr lang="en-US" sz="2400" dirty="0"/>
            </a:p>
          </p:txBody>
        </p:sp>
        <p:sp>
          <p:nvSpPr>
            <p:cNvPr id="208" name="Text 47">
              <a:extLst>
                <a:ext uri="{FF2B5EF4-FFF2-40B4-BE49-F238E27FC236}">
                  <a16:creationId xmlns:a16="http://schemas.microsoft.com/office/drawing/2014/main" id="{DA2814BA-219E-42CD-9FA8-19A59E2101E4}"/>
                </a:ext>
              </a:extLst>
            </p:cNvPr>
            <p:cNvSpPr/>
            <p:nvPr/>
          </p:nvSpPr>
          <p:spPr>
            <a:xfrm>
              <a:off x="500063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Время ответа</a:t>
              </a:r>
              <a:endParaRPr lang="en-US" sz="2400" dirty="0"/>
            </a:p>
          </p:txBody>
        </p:sp>
      </p:grpSp>
      <p:grpSp>
        <p:nvGrpSpPr>
          <p:cNvPr id="209" name="Группа 208">
            <a:extLst>
              <a:ext uri="{FF2B5EF4-FFF2-40B4-BE49-F238E27FC236}">
                <a16:creationId xmlns:a16="http://schemas.microsoft.com/office/drawing/2014/main" id="{56814499-6F8E-4EED-9DBB-D33CB6880EAF}"/>
              </a:ext>
            </a:extLst>
          </p:cNvPr>
          <p:cNvGrpSpPr/>
          <p:nvPr/>
        </p:nvGrpSpPr>
        <p:grpSpPr>
          <a:xfrm>
            <a:off x="4241800" y="8320314"/>
            <a:ext cx="3705225" cy="876300"/>
            <a:chOff x="4241800" y="5600700"/>
            <a:chExt cx="3705225" cy="876300"/>
          </a:xfrm>
        </p:grpSpPr>
        <p:sp>
          <p:nvSpPr>
            <p:cNvPr id="210" name="Shape 48">
              <a:extLst>
                <a:ext uri="{FF2B5EF4-FFF2-40B4-BE49-F238E27FC236}">
                  <a16:creationId xmlns:a16="http://schemas.microsoft.com/office/drawing/2014/main" id="{0316C656-F844-4C93-BEAF-689EEBFC0BC0}"/>
                </a:ext>
              </a:extLst>
            </p:cNvPr>
            <p:cNvSpPr/>
            <p:nvPr/>
          </p:nvSpPr>
          <p:spPr>
            <a:xfrm>
              <a:off x="42418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1" name="Text 49">
              <a:extLst>
                <a:ext uri="{FF2B5EF4-FFF2-40B4-BE49-F238E27FC236}">
                  <a16:creationId xmlns:a16="http://schemas.microsoft.com/office/drawing/2014/main" id="{1397458C-1340-4E66-97B2-84380420ECD7}"/>
                </a:ext>
              </a:extLst>
            </p:cNvPr>
            <p:cNvSpPr/>
            <p:nvPr/>
          </p:nvSpPr>
          <p:spPr>
            <a:xfrm>
              <a:off x="4322762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&gt; 90%</a:t>
              </a:r>
              <a:endParaRPr lang="en-US" sz="2400" dirty="0"/>
            </a:p>
          </p:txBody>
        </p:sp>
        <p:sp>
          <p:nvSpPr>
            <p:cNvPr id="212" name="Text 50">
              <a:extLst>
                <a:ext uri="{FF2B5EF4-FFF2-40B4-BE49-F238E27FC236}">
                  <a16:creationId xmlns:a16="http://schemas.microsoft.com/office/drawing/2014/main" id="{3696E6E8-FCE3-4638-99D2-2DBD7620552B}"/>
                </a:ext>
              </a:extLst>
            </p:cNvPr>
            <p:cNvSpPr/>
            <p:nvPr/>
          </p:nvSpPr>
          <p:spPr>
            <a:xfrm>
              <a:off x="4360862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Точность</a:t>
              </a:r>
              <a:endParaRPr lang="en-US" sz="2400" dirty="0"/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43D66E2A-836F-49FA-A46F-8AFE0A550B1C}"/>
              </a:ext>
            </a:extLst>
          </p:cNvPr>
          <p:cNvGrpSpPr/>
          <p:nvPr/>
        </p:nvGrpSpPr>
        <p:grpSpPr>
          <a:xfrm>
            <a:off x="8102600" y="9554028"/>
            <a:ext cx="3705225" cy="876300"/>
            <a:chOff x="8102600" y="5600700"/>
            <a:chExt cx="3705225" cy="876300"/>
          </a:xfrm>
        </p:grpSpPr>
        <p:sp>
          <p:nvSpPr>
            <p:cNvPr id="214" name="Shape 51">
              <a:extLst>
                <a:ext uri="{FF2B5EF4-FFF2-40B4-BE49-F238E27FC236}">
                  <a16:creationId xmlns:a16="http://schemas.microsoft.com/office/drawing/2014/main" id="{44CCDB09-7586-428F-8A0B-C3684200FE88}"/>
                </a:ext>
              </a:extLst>
            </p:cNvPr>
            <p:cNvSpPr/>
            <p:nvPr/>
          </p:nvSpPr>
          <p:spPr>
            <a:xfrm>
              <a:off x="81026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5" name="Text 52">
              <a:extLst>
                <a:ext uri="{FF2B5EF4-FFF2-40B4-BE49-F238E27FC236}">
                  <a16:creationId xmlns:a16="http://schemas.microsoft.com/office/drawing/2014/main" id="{A225E7E8-3517-40BD-8B0D-1C5D61942FC0}"/>
                </a:ext>
              </a:extLst>
            </p:cNvPr>
            <p:cNvSpPr/>
            <p:nvPr/>
          </p:nvSpPr>
          <p:spPr>
            <a:xfrm>
              <a:off x="8183563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</a:t>
              </a:r>
              <a:endParaRPr lang="en-US" sz="2400" dirty="0"/>
            </a:p>
          </p:txBody>
        </p:sp>
        <p:sp>
          <p:nvSpPr>
            <p:cNvPr id="216" name="Text 53">
              <a:extLst>
                <a:ext uri="{FF2B5EF4-FFF2-40B4-BE49-F238E27FC236}">
                  <a16:creationId xmlns:a16="http://schemas.microsoft.com/office/drawing/2014/main" id="{52E8C5F8-07ED-45BD-BB4D-1A2BC4278E5F}"/>
                </a:ext>
              </a:extLst>
            </p:cNvPr>
            <p:cNvSpPr/>
            <p:nvPr/>
          </p:nvSpPr>
          <p:spPr>
            <a:xfrm>
              <a:off x="8221663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Этапов обработки</a:t>
              </a:r>
              <a:endParaRPr lang="en-US" sz="24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427728E9-E509-46C2-9EEB-2C8DDD5E2AF7}"/>
              </a:ext>
            </a:extLst>
          </p:cNvPr>
          <p:cNvGrpSpPr/>
          <p:nvPr/>
        </p:nvGrpSpPr>
        <p:grpSpPr>
          <a:xfrm>
            <a:off x="381000" y="381000"/>
            <a:ext cx="5734050" cy="533400"/>
            <a:chOff x="381000" y="381000"/>
            <a:chExt cx="5734050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35719"/>
                  </a:moveTo>
                  <a:cubicBezTo>
                    <a:pt x="0" y="23887"/>
                    <a:pt x="9599" y="14288"/>
                    <a:pt x="21431" y="14288"/>
                  </a:cubicBezTo>
                  <a:lnTo>
                    <a:pt x="64294" y="14288"/>
                  </a:lnTo>
                  <a:cubicBezTo>
                    <a:pt x="76126" y="14288"/>
                    <a:pt x="85725" y="23887"/>
                    <a:pt x="85725" y="35719"/>
                  </a:cubicBezTo>
                  <a:lnTo>
                    <a:pt x="85725" y="42863"/>
                  </a:lnTo>
                  <a:lnTo>
                    <a:pt x="142875" y="42863"/>
                  </a:lnTo>
                  <a:lnTo>
                    <a:pt x="142875" y="35719"/>
                  </a:lnTo>
                  <a:cubicBezTo>
                    <a:pt x="142875" y="23887"/>
                    <a:pt x="152474" y="14288"/>
                    <a:pt x="164306" y="14288"/>
                  </a:cubicBezTo>
                  <a:lnTo>
                    <a:pt x="207169" y="14288"/>
                  </a:lnTo>
                  <a:cubicBezTo>
                    <a:pt x="219001" y="14288"/>
                    <a:pt x="228600" y="23887"/>
                    <a:pt x="228600" y="35719"/>
                  </a:cubicBezTo>
                  <a:lnTo>
                    <a:pt x="228600" y="78581"/>
                  </a:lnTo>
                  <a:cubicBezTo>
                    <a:pt x="228600" y="90413"/>
                    <a:pt x="219001" y="100013"/>
                    <a:pt x="207169" y="100013"/>
                  </a:cubicBezTo>
                  <a:lnTo>
                    <a:pt x="164306" y="100013"/>
                  </a:lnTo>
                  <a:cubicBezTo>
                    <a:pt x="152474" y="100013"/>
                    <a:pt x="142875" y="90413"/>
                    <a:pt x="142875" y="78581"/>
                  </a:cubicBezTo>
                  <a:lnTo>
                    <a:pt x="142875" y="71438"/>
                  </a:lnTo>
                  <a:lnTo>
                    <a:pt x="85725" y="71438"/>
                  </a:lnTo>
                  <a:lnTo>
                    <a:pt x="85725" y="78581"/>
                  </a:lnTo>
                  <a:cubicBezTo>
                    <a:pt x="85725" y="81841"/>
                    <a:pt x="84966" y="84966"/>
                    <a:pt x="83671" y="87734"/>
                  </a:cubicBezTo>
                  <a:lnTo>
                    <a:pt x="114300" y="128588"/>
                  </a:lnTo>
                  <a:lnTo>
                    <a:pt x="150019" y="128588"/>
                  </a:lnTo>
                  <a:cubicBezTo>
                    <a:pt x="161851" y="128588"/>
                    <a:pt x="171450" y="138187"/>
                    <a:pt x="171450" y="150019"/>
                  </a:cubicBezTo>
                  <a:lnTo>
                    <a:pt x="171450" y="192881"/>
                  </a:lnTo>
                  <a:cubicBezTo>
                    <a:pt x="171450" y="204713"/>
                    <a:pt x="161851" y="214313"/>
                    <a:pt x="150019" y="214313"/>
                  </a:cubicBezTo>
                  <a:lnTo>
                    <a:pt x="107156" y="214313"/>
                  </a:lnTo>
                  <a:cubicBezTo>
                    <a:pt x="95324" y="214313"/>
                    <a:pt x="85725" y="204713"/>
                    <a:pt x="85725" y="192881"/>
                  </a:cubicBezTo>
                  <a:lnTo>
                    <a:pt x="85725" y="150019"/>
                  </a:lnTo>
                  <a:cubicBezTo>
                    <a:pt x="85725" y="146759"/>
                    <a:pt x="86484" y="143634"/>
                    <a:pt x="87779" y="140866"/>
                  </a:cubicBezTo>
                  <a:lnTo>
                    <a:pt x="57150" y="100013"/>
                  </a:lnTo>
                  <a:lnTo>
                    <a:pt x="21431" y="100013"/>
                  </a:lnTo>
                  <a:cubicBezTo>
                    <a:pt x="9599" y="100013"/>
                    <a:pt x="0" y="90413"/>
                    <a:pt x="0" y="78581"/>
                  </a:cubicBezTo>
                  <a:lnTo>
                    <a:pt x="0" y="35719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50482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Алгоритм обработки запроса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28675" y="857249"/>
              <a:ext cx="516255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4A529AD4-E7CA-4502-A082-A289A660E308}"/>
              </a:ext>
            </a:extLst>
          </p:cNvPr>
          <p:cNvGrpSpPr/>
          <p:nvPr/>
        </p:nvGrpSpPr>
        <p:grpSpPr>
          <a:xfrm>
            <a:off x="381000" y="5600700"/>
            <a:ext cx="3705225" cy="876300"/>
            <a:chOff x="381000" y="5600700"/>
            <a:chExt cx="3705225" cy="876300"/>
          </a:xfrm>
        </p:grpSpPr>
        <p:sp>
          <p:nvSpPr>
            <p:cNvPr id="47" name="Shape 45"/>
            <p:cNvSpPr/>
            <p:nvPr/>
          </p:nvSpPr>
          <p:spPr>
            <a:xfrm>
              <a:off x="3810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ru-RU" sz="2800"/>
            </a:p>
          </p:txBody>
        </p:sp>
        <p:sp>
          <p:nvSpPr>
            <p:cNvPr id="48" name="Text 46"/>
            <p:cNvSpPr/>
            <p:nvPr/>
          </p:nvSpPr>
          <p:spPr>
            <a:xfrm>
              <a:off x="461963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&lt; 3 сек</a:t>
              </a:r>
              <a:endParaRPr lang="en-US" sz="24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00063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Время ответа</a:t>
              </a:r>
              <a:endParaRPr lang="en-US" sz="2400" dirty="0"/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8C8E025E-3F8F-478B-A0AB-ADBB4121AC0B}"/>
              </a:ext>
            </a:extLst>
          </p:cNvPr>
          <p:cNvGrpSpPr/>
          <p:nvPr/>
        </p:nvGrpSpPr>
        <p:grpSpPr>
          <a:xfrm>
            <a:off x="4241800" y="5600700"/>
            <a:ext cx="3705225" cy="876300"/>
            <a:chOff x="4241800" y="5600700"/>
            <a:chExt cx="3705225" cy="876300"/>
          </a:xfrm>
        </p:grpSpPr>
        <p:sp>
          <p:nvSpPr>
            <p:cNvPr id="50" name="Shape 48"/>
            <p:cNvSpPr/>
            <p:nvPr/>
          </p:nvSpPr>
          <p:spPr>
            <a:xfrm>
              <a:off x="42418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1" name="Text 49"/>
            <p:cNvSpPr/>
            <p:nvPr/>
          </p:nvSpPr>
          <p:spPr>
            <a:xfrm>
              <a:off x="4322762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&gt; 90%</a:t>
              </a:r>
              <a:endParaRPr lang="en-US" sz="24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4360862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Точность</a:t>
              </a:r>
              <a:endParaRPr lang="en-US" sz="2400" dirty="0"/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A1D74956-CFDA-49AF-BAD7-675379E32BBA}"/>
              </a:ext>
            </a:extLst>
          </p:cNvPr>
          <p:cNvGrpSpPr/>
          <p:nvPr/>
        </p:nvGrpSpPr>
        <p:grpSpPr>
          <a:xfrm>
            <a:off x="8102600" y="5600700"/>
            <a:ext cx="3705225" cy="876300"/>
            <a:chOff x="8102600" y="5600700"/>
            <a:chExt cx="3705225" cy="876300"/>
          </a:xfrm>
        </p:grpSpPr>
        <p:sp>
          <p:nvSpPr>
            <p:cNvPr id="53" name="Shape 51"/>
            <p:cNvSpPr/>
            <p:nvPr/>
          </p:nvSpPr>
          <p:spPr>
            <a:xfrm>
              <a:off x="81026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4" name="Text 52"/>
            <p:cNvSpPr/>
            <p:nvPr/>
          </p:nvSpPr>
          <p:spPr>
            <a:xfrm>
              <a:off x="8183563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</a:t>
              </a:r>
              <a:endParaRPr lang="en-US" sz="2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8221663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Этапов обработки</a:t>
              </a:r>
              <a:endParaRPr lang="en-US" sz="2400" dirty="0"/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D11235CF-15CE-4492-BFDC-39D733F270C8}"/>
              </a:ext>
            </a:extLst>
          </p:cNvPr>
          <p:cNvGrpSpPr/>
          <p:nvPr/>
        </p:nvGrpSpPr>
        <p:grpSpPr>
          <a:xfrm>
            <a:off x="1114505" y="1055191"/>
            <a:ext cx="10291011" cy="4333577"/>
            <a:chOff x="1114505" y="1055191"/>
            <a:chExt cx="10291011" cy="4333577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5DCE7145-7B2F-4FD1-89A3-B10005709D35}"/>
                </a:ext>
              </a:extLst>
            </p:cNvPr>
            <p:cNvSpPr/>
            <p:nvPr/>
          </p:nvSpPr>
          <p:spPr>
            <a:xfrm>
              <a:off x="1114505" y="1055191"/>
              <a:ext cx="10291011" cy="4333577"/>
            </a:xfrm>
            <a:prstGeom prst="roundRect">
              <a:avLst/>
            </a:prstGeom>
            <a:solidFill>
              <a:schemeClr val="accent4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Shape 4"/>
            <p:cNvSpPr/>
            <p:nvPr/>
          </p:nvSpPr>
          <p:spPr>
            <a:xfrm>
              <a:off x="2048822" y="127494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220272" y="144639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89297"/>
                  </a:moveTo>
                  <a:cubicBezTo>
                    <a:pt x="190500" y="138596"/>
                    <a:pt x="147861" y="178594"/>
                    <a:pt x="95250" y="178594"/>
                  </a:cubicBezTo>
                  <a:cubicBezTo>
                    <a:pt x="81446" y="178594"/>
                    <a:pt x="68349" y="175840"/>
                    <a:pt x="56517" y="170892"/>
                  </a:cubicBezTo>
                  <a:lnTo>
                    <a:pt x="12464" y="189793"/>
                  </a:lnTo>
                  <a:cubicBezTo>
                    <a:pt x="8967" y="191281"/>
                    <a:pt x="4949" y="190426"/>
                    <a:pt x="2381" y="187635"/>
                  </a:cubicBezTo>
                  <a:cubicBezTo>
                    <a:pt x="-186" y="184845"/>
                    <a:pt x="-744" y="180752"/>
                    <a:pt x="1042" y="177403"/>
                  </a:cubicBezTo>
                  <a:lnTo>
                    <a:pt x="19199" y="143098"/>
                  </a:lnTo>
                  <a:cubicBezTo>
                    <a:pt x="7144" y="128104"/>
                    <a:pt x="0" y="109500"/>
                    <a:pt x="0" y="89297"/>
                  </a:cubicBezTo>
                  <a:cubicBezTo>
                    <a:pt x="0" y="39998"/>
                    <a:pt x="42639" y="0"/>
                    <a:pt x="95250" y="0"/>
                  </a:cubicBezTo>
                  <a:cubicBezTo>
                    <a:pt x="147861" y="0"/>
                    <a:pt x="190500" y="39998"/>
                    <a:pt x="190500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954609" y="1897415"/>
              <a:ext cx="870634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3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069427" y="154164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909532" y="127063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4080982" y="144208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4648" y="20836"/>
                  </a:moveTo>
                  <a:cubicBezTo>
                    <a:pt x="44648" y="9339"/>
                    <a:pt x="53987" y="0"/>
                    <a:pt x="65484" y="0"/>
                  </a:cubicBezTo>
                  <a:lnTo>
                    <a:pt x="74414" y="0"/>
                  </a:lnTo>
                  <a:cubicBezTo>
                    <a:pt x="81000" y="0"/>
                    <a:pt x="86320" y="5321"/>
                    <a:pt x="86320" y="11906"/>
                  </a:cubicBezTo>
                  <a:lnTo>
                    <a:pt x="86320" y="178594"/>
                  </a:lnTo>
                  <a:cubicBezTo>
                    <a:pt x="86320" y="185179"/>
                    <a:pt x="81000" y="190500"/>
                    <a:pt x="74414" y="190500"/>
                  </a:cubicBezTo>
                  <a:lnTo>
                    <a:pt x="62508" y="190500"/>
                  </a:lnTo>
                  <a:cubicBezTo>
                    <a:pt x="51420" y="190500"/>
                    <a:pt x="42081" y="182910"/>
                    <a:pt x="39439" y="172641"/>
                  </a:cubicBezTo>
                  <a:cubicBezTo>
                    <a:pt x="39179" y="172641"/>
                    <a:pt x="38956" y="172641"/>
                    <a:pt x="38695" y="172641"/>
                  </a:cubicBezTo>
                  <a:cubicBezTo>
                    <a:pt x="22250" y="172641"/>
                    <a:pt x="8930" y="159321"/>
                    <a:pt x="8930" y="142875"/>
                  </a:cubicBezTo>
                  <a:cubicBezTo>
                    <a:pt x="8930" y="136178"/>
                    <a:pt x="11162" y="130001"/>
                    <a:pt x="14883" y="125016"/>
                  </a:cubicBezTo>
                  <a:cubicBezTo>
                    <a:pt x="7665" y="119583"/>
                    <a:pt x="2977" y="110951"/>
                    <a:pt x="2977" y="101203"/>
                  </a:cubicBezTo>
                  <a:cubicBezTo>
                    <a:pt x="2977" y="89706"/>
                    <a:pt x="9525" y="79697"/>
                    <a:pt x="19050" y="74749"/>
                  </a:cubicBezTo>
                  <a:cubicBezTo>
                    <a:pt x="16408" y="70284"/>
                    <a:pt x="14883" y="65075"/>
                    <a:pt x="14883" y="59531"/>
                  </a:cubicBezTo>
                  <a:cubicBezTo>
                    <a:pt x="14883" y="43086"/>
                    <a:pt x="28203" y="29766"/>
                    <a:pt x="44648" y="29766"/>
                  </a:cubicBezTo>
                  <a:lnTo>
                    <a:pt x="44648" y="20836"/>
                  </a:lnTo>
                  <a:close/>
                  <a:moveTo>
                    <a:pt x="145852" y="20836"/>
                  </a:moveTo>
                  <a:lnTo>
                    <a:pt x="145852" y="29766"/>
                  </a:lnTo>
                  <a:cubicBezTo>
                    <a:pt x="162297" y="29766"/>
                    <a:pt x="175617" y="43086"/>
                    <a:pt x="175617" y="59531"/>
                  </a:cubicBezTo>
                  <a:cubicBezTo>
                    <a:pt x="175617" y="65112"/>
                    <a:pt x="174092" y="70321"/>
                    <a:pt x="171450" y="74749"/>
                  </a:cubicBezTo>
                  <a:cubicBezTo>
                    <a:pt x="181012" y="79697"/>
                    <a:pt x="187523" y="89669"/>
                    <a:pt x="187523" y="101203"/>
                  </a:cubicBezTo>
                  <a:cubicBezTo>
                    <a:pt x="187523" y="110951"/>
                    <a:pt x="182835" y="119583"/>
                    <a:pt x="175617" y="125016"/>
                  </a:cubicBezTo>
                  <a:cubicBezTo>
                    <a:pt x="179338" y="130001"/>
                    <a:pt x="181570" y="136178"/>
                    <a:pt x="181570" y="142875"/>
                  </a:cubicBezTo>
                  <a:cubicBezTo>
                    <a:pt x="181570" y="159321"/>
                    <a:pt x="168250" y="172641"/>
                    <a:pt x="151805" y="172641"/>
                  </a:cubicBezTo>
                  <a:cubicBezTo>
                    <a:pt x="151544" y="172641"/>
                    <a:pt x="151321" y="172641"/>
                    <a:pt x="151061" y="172641"/>
                  </a:cubicBezTo>
                  <a:cubicBezTo>
                    <a:pt x="148419" y="182910"/>
                    <a:pt x="139080" y="190500"/>
                    <a:pt x="127992" y="190500"/>
                  </a:cubicBezTo>
                  <a:lnTo>
                    <a:pt x="116086" y="190500"/>
                  </a:lnTo>
                  <a:cubicBezTo>
                    <a:pt x="109500" y="190500"/>
                    <a:pt x="104180" y="185179"/>
                    <a:pt x="104180" y="178594"/>
                  </a:cubicBezTo>
                  <a:lnTo>
                    <a:pt x="104180" y="11906"/>
                  </a:lnTo>
                  <a:cubicBezTo>
                    <a:pt x="104180" y="5321"/>
                    <a:pt x="109500" y="0"/>
                    <a:pt x="116086" y="0"/>
                  </a:cubicBezTo>
                  <a:lnTo>
                    <a:pt x="125016" y="0"/>
                  </a:lnTo>
                  <a:cubicBezTo>
                    <a:pt x="136513" y="0"/>
                    <a:pt x="145852" y="9339"/>
                    <a:pt x="145852" y="2083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3806483" y="1891498"/>
              <a:ext cx="870634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Анализ</a:t>
              </a:r>
              <a:endParaRPr lang="en-US" sz="3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069677" y="1534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5883785" y="1266623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6055235" y="143807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54781" y="77391"/>
                  </a:moveTo>
                  <a:cubicBezTo>
                    <a:pt x="154781" y="94469"/>
                    <a:pt x="149237" y="110244"/>
                    <a:pt x="139898" y="123044"/>
                  </a:cubicBezTo>
                  <a:lnTo>
                    <a:pt x="187003" y="170185"/>
                  </a:lnTo>
                  <a:cubicBezTo>
                    <a:pt x="191653" y="174836"/>
                    <a:pt x="191653" y="182389"/>
                    <a:pt x="187003" y="187040"/>
                  </a:cubicBezTo>
                  <a:cubicBezTo>
                    <a:pt x="182352" y="191691"/>
                    <a:pt x="174799" y="191691"/>
                    <a:pt x="170148" y="187040"/>
                  </a:cubicBezTo>
                  <a:lnTo>
                    <a:pt x="123044" y="139898"/>
                  </a:lnTo>
                  <a:cubicBezTo>
                    <a:pt x="110244" y="149237"/>
                    <a:pt x="94469" y="154781"/>
                    <a:pt x="77391" y="154781"/>
                  </a:cubicBezTo>
                  <a:cubicBezTo>
                    <a:pt x="34640" y="154781"/>
                    <a:pt x="0" y="120142"/>
                    <a:pt x="0" y="77391"/>
                  </a:cubicBezTo>
                  <a:cubicBezTo>
                    <a:pt x="0" y="34640"/>
                    <a:pt x="34640" y="0"/>
                    <a:pt x="77391" y="0"/>
                  </a:cubicBezTo>
                  <a:cubicBezTo>
                    <a:pt x="120142" y="0"/>
                    <a:pt x="154781" y="34640"/>
                    <a:pt x="154781" y="77391"/>
                  </a:cubicBezTo>
                  <a:close/>
                  <a:moveTo>
                    <a:pt x="77391" y="130969"/>
                  </a:moveTo>
                  <a:cubicBezTo>
                    <a:pt x="106961" y="130969"/>
                    <a:pt x="130969" y="106961"/>
                    <a:pt x="130969" y="77391"/>
                  </a:cubicBezTo>
                  <a:cubicBezTo>
                    <a:pt x="130969" y="47820"/>
                    <a:pt x="106961" y="23812"/>
                    <a:pt x="77391" y="23812"/>
                  </a:cubicBezTo>
                  <a:cubicBezTo>
                    <a:pt x="47820" y="23812"/>
                    <a:pt x="23813" y="47820"/>
                    <a:pt x="23812" y="77391"/>
                  </a:cubicBezTo>
                  <a:cubicBezTo>
                    <a:pt x="23812" y="106961"/>
                    <a:pt x="47820" y="130969"/>
                    <a:pt x="77391" y="13096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818354" y="1876223"/>
              <a:ext cx="750546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</a:t>
              </a:r>
              <a:endParaRPr lang="en-US" sz="3200" dirty="0"/>
            </a:p>
          </p:txBody>
        </p:sp>
        <p:sp>
          <p:nvSpPr>
            <p:cNvPr id="17" name="Shape 15"/>
            <p:cNvSpPr/>
            <p:nvPr/>
          </p:nvSpPr>
          <p:spPr>
            <a:xfrm rot="5400000">
              <a:off x="7172840" y="1534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2E8F5D89-BD46-4719-B9A1-547F918860C4}"/>
                </a:ext>
              </a:extLst>
            </p:cNvPr>
            <p:cNvGrpSpPr/>
            <p:nvPr/>
          </p:nvGrpSpPr>
          <p:grpSpPr>
            <a:xfrm>
              <a:off x="1412077" y="2261234"/>
              <a:ext cx="1809750" cy="800100"/>
              <a:chOff x="3251993" y="2273369"/>
              <a:chExt cx="1809750" cy="800100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325199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30" name="Text 28"/>
              <p:cNvSpPr/>
              <p:nvPr/>
            </p:nvSpPr>
            <p:spPr>
              <a:xfrm>
                <a:off x="336629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1. Запрос</a:t>
                </a:r>
                <a:endParaRPr lang="en-US" sz="160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336629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Пользователь вводит текст в чат-интерфейс 1С</a:t>
                </a:r>
                <a:endParaRPr lang="en-US" sz="1600" dirty="0"/>
              </a:p>
            </p:txBody>
          </p:sp>
        </p:grpSp>
        <p:grpSp>
          <p:nvGrpSpPr>
            <p:cNvPr id="61" name="Группа 60">
              <a:extLst>
                <a:ext uri="{FF2B5EF4-FFF2-40B4-BE49-F238E27FC236}">
                  <a16:creationId xmlns:a16="http://schemas.microsoft.com/office/drawing/2014/main" id="{A64CC556-D9E0-4E2E-9F8E-F6B50FB52C80}"/>
                </a:ext>
              </a:extLst>
            </p:cNvPr>
            <p:cNvGrpSpPr/>
            <p:nvPr/>
          </p:nvGrpSpPr>
          <p:grpSpPr>
            <a:xfrm>
              <a:off x="3336127" y="2261234"/>
              <a:ext cx="1809750" cy="800100"/>
              <a:chOff x="5176043" y="2273369"/>
              <a:chExt cx="1809750" cy="80010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517604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33" name="Text 31"/>
              <p:cNvSpPr/>
              <p:nvPr/>
            </p:nvSpPr>
            <p:spPr>
              <a:xfrm>
                <a:off x="529034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2. Анализ</a:t>
                </a:r>
                <a:endParaRPr lang="en-US" sz="16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529034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определяет намерение и извлекает сущности</a:t>
                </a:r>
                <a:endParaRPr lang="en-US" sz="1600" dirty="0"/>
              </a:p>
            </p:txBody>
          </p:sp>
        </p:grpSp>
        <p:grpSp>
          <p:nvGrpSpPr>
            <p:cNvPr id="62" name="Группа 61">
              <a:extLst>
                <a:ext uri="{FF2B5EF4-FFF2-40B4-BE49-F238E27FC236}">
                  <a16:creationId xmlns:a16="http://schemas.microsoft.com/office/drawing/2014/main" id="{FDB9EBB8-184D-440C-A659-B66148580B69}"/>
                </a:ext>
              </a:extLst>
            </p:cNvPr>
            <p:cNvGrpSpPr/>
            <p:nvPr/>
          </p:nvGrpSpPr>
          <p:grpSpPr>
            <a:xfrm>
              <a:off x="5260177" y="2261234"/>
              <a:ext cx="1809750" cy="800100"/>
              <a:chOff x="7100093" y="2273369"/>
              <a:chExt cx="1809750" cy="800100"/>
            </a:xfrm>
          </p:grpSpPr>
          <p:sp>
            <p:nvSpPr>
              <p:cNvPr id="35" name="Shape 33"/>
              <p:cNvSpPr/>
              <p:nvPr/>
            </p:nvSpPr>
            <p:spPr>
              <a:xfrm>
                <a:off x="710009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36" name="Text 34"/>
              <p:cNvSpPr/>
              <p:nvPr/>
            </p:nvSpPr>
            <p:spPr>
              <a:xfrm>
                <a:off x="721439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3. Поиск</a:t>
                </a:r>
                <a:endParaRPr lang="en-US" sz="1600" dirty="0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721439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RAG находит релевантные метаданные 1С</a:t>
                </a:r>
                <a:endParaRPr lang="en-US" sz="1600" dirty="0"/>
              </a:p>
            </p:txBody>
          </p:sp>
        </p:grpSp>
        <p:sp>
          <p:nvSpPr>
            <p:cNvPr id="18" name="Shape 16"/>
            <p:cNvSpPr/>
            <p:nvPr/>
          </p:nvSpPr>
          <p:spPr>
            <a:xfrm>
              <a:off x="6003051" y="342498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6150689" y="3596439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54744" y="78321"/>
                  </a:moveTo>
                  <a:cubicBezTo>
                    <a:pt x="159283" y="77093"/>
                    <a:pt x="164046" y="79251"/>
                    <a:pt x="166092" y="83455"/>
                  </a:cubicBezTo>
                  <a:lnTo>
                    <a:pt x="173013" y="97445"/>
                  </a:lnTo>
                  <a:cubicBezTo>
                    <a:pt x="176845" y="97966"/>
                    <a:pt x="180603" y="99008"/>
                    <a:pt x="184138" y="100459"/>
                  </a:cubicBezTo>
                  <a:lnTo>
                    <a:pt x="197160" y="91790"/>
                  </a:lnTo>
                  <a:cubicBezTo>
                    <a:pt x="201067" y="89185"/>
                    <a:pt x="206239" y="89706"/>
                    <a:pt x="209550" y="93018"/>
                  </a:cubicBezTo>
                  <a:lnTo>
                    <a:pt x="216694" y="100161"/>
                  </a:lnTo>
                  <a:cubicBezTo>
                    <a:pt x="220005" y="103473"/>
                    <a:pt x="220526" y="108682"/>
                    <a:pt x="217922" y="112551"/>
                  </a:cubicBezTo>
                  <a:lnTo>
                    <a:pt x="209252" y="125537"/>
                  </a:lnTo>
                  <a:cubicBezTo>
                    <a:pt x="209959" y="127285"/>
                    <a:pt x="210592" y="129108"/>
                    <a:pt x="211113" y="131006"/>
                  </a:cubicBezTo>
                  <a:cubicBezTo>
                    <a:pt x="211634" y="132904"/>
                    <a:pt x="211968" y="134764"/>
                    <a:pt x="212229" y="136661"/>
                  </a:cubicBezTo>
                  <a:lnTo>
                    <a:pt x="226256" y="143582"/>
                  </a:lnTo>
                  <a:cubicBezTo>
                    <a:pt x="230460" y="145666"/>
                    <a:pt x="232618" y="150428"/>
                    <a:pt x="231391" y="154930"/>
                  </a:cubicBezTo>
                  <a:lnTo>
                    <a:pt x="228786" y="164678"/>
                  </a:lnTo>
                  <a:cubicBezTo>
                    <a:pt x="227558" y="169180"/>
                    <a:pt x="223354" y="172231"/>
                    <a:pt x="218666" y="171934"/>
                  </a:cubicBezTo>
                  <a:lnTo>
                    <a:pt x="203039" y="170929"/>
                  </a:lnTo>
                  <a:cubicBezTo>
                    <a:pt x="200695" y="173943"/>
                    <a:pt x="197979" y="176733"/>
                    <a:pt x="194890" y="179115"/>
                  </a:cubicBezTo>
                  <a:lnTo>
                    <a:pt x="195895" y="194704"/>
                  </a:lnTo>
                  <a:cubicBezTo>
                    <a:pt x="196193" y="199392"/>
                    <a:pt x="193142" y="203634"/>
                    <a:pt x="188640" y="204825"/>
                  </a:cubicBezTo>
                  <a:lnTo>
                    <a:pt x="178891" y="207429"/>
                  </a:lnTo>
                  <a:cubicBezTo>
                    <a:pt x="174352" y="208657"/>
                    <a:pt x="169627" y="206499"/>
                    <a:pt x="167543" y="202295"/>
                  </a:cubicBezTo>
                  <a:lnTo>
                    <a:pt x="160623" y="188305"/>
                  </a:lnTo>
                  <a:cubicBezTo>
                    <a:pt x="156790" y="187784"/>
                    <a:pt x="153033" y="186742"/>
                    <a:pt x="149498" y="185291"/>
                  </a:cubicBezTo>
                  <a:lnTo>
                    <a:pt x="136475" y="193960"/>
                  </a:lnTo>
                  <a:cubicBezTo>
                    <a:pt x="132569" y="196565"/>
                    <a:pt x="127397" y="196044"/>
                    <a:pt x="124085" y="192732"/>
                  </a:cubicBezTo>
                  <a:lnTo>
                    <a:pt x="116942" y="185589"/>
                  </a:lnTo>
                  <a:cubicBezTo>
                    <a:pt x="113630" y="182277"/>
                    <a:pt x="113109" y="177105"/>
                    <a:pt x="115714" y="173199"/>
                  </a:cubicBezTo>
                  <a:lnTo>
                    <a:pt x="124383" y="160176"/>
                  </a:lnTo>
                  <a:cubicBezTo>
                    <a:pt x="123676" y="158428"/>
                    <a:pt x="123044" y="156604"/>
                    <a:pt x="122523" y="154707"/>
                  </a:cubicBezTo>
                  <a:cubicBezTo>
                    <a:pt x="122002" y="152809"/>
                    <a:pt x="121667" y="150912"/>
                    <a:pt x="121407" y="149051"/>
                  </a:cubicBezTo>
                  <a:lnTo>
                    <a:pt x="107379" y="142131"/>
                  </a:lnTo>
                  <a:cubicBezTo>
                    <a:pt x="103175" y="140047"/>
                    <a:pt x="101054" y="135285"/>
                    <a:pt x="102245" y="130783"/>
                  </a:cubicBezTo>
                  <a:lnTo>
                    <a:pt x="104849" y="121034"/>
                  </a:lnTo>
                  <a:cubicBezTo>
                    <a:pt x="106077" y="116532"/>
                    <a:pt x="110282" y="113481"/>
                    <a:pt x="114970" y="113779"/>
                  </a:cubicBezTo>
                  <a:lnTo>
                    <a:pt x="130559" y="114784"/>
                  </a:lnTo>
                  <a:cubicBezTo>
                    <a:pt x="132904" y="111770"/>
                    <a:pt x="135620" y="108979"/>
                    <a:pt x="138708" y="106598"/>
                  </a:cubicBezTo>
                  <a:lnTo>
                    <a:pt x="137703" y="91046"/>
                  </a:lnTo>
                  <a:cubicBezTo>
                    <a:pt x="137406" y="86358"/>
                    <a:pt x="140457" y="82116"/>
                    <a:pt x="144959" y="80925"/>
                  </a:cubicBezTo>
                  <a:lnTo>
                    <a:pt x="154707" y="78321"/>
                  </a:lnTo>
                  <a:close/>
                  <a:moveTo>
                    <a:pt x="166836" y="126504"/>
                  </a:moveTo>
                  <a:cubicBezTo>
                    <a:pt x="157801" y="126514"/>
                    <a:pt x="150474" y="133858"/>
                    <a:pt x="150484" y="142894"/>
                  </a:cubicBezTo>
                  <a:cubicBezTo>
                    <a:pt x="150494" y="151929"/>
                    <a:pt x="157838" y="159256"/>
                    <a:pt x="166874" y="159246"/>
                  </a:cubicBezTo>
                  <a:cubicBezTo>
                    <a:pt x="175909" y="159236"/>
                    <a:pt x="183236" y="151892"/>
                    <a:pt x="183226" y="142856"/>
                  </a:cubicBezTo>
                  <a:cubicBezTo>
                    <a:pt x="183216" y="133821"/>
                    <a:pt x="175872" y="126494"/>
                    <a:pt x="166836" y="126504"/>
                  </a:cubicBezTo>
                  <a:close/>
                  <a:moveTo>
                    <a:pt x="83679" y="-16929"/>
                  </a:moveTo>
                  <a:lnTo>
                    <a:pt x="93427" y="-14325"/>
                  </a:lnTo>
                  <a:cubicBezTo>
                    <a:pt x="97929" y="-13097"/>
                    <a:pt x="100980" y="-8855"/>
                    <a:pt x="100682" y="-4204"/>
                  </a:cubicBezTo>
                  <a:lnTo>
                    <a:pt x="99678" y="11348"/>
                  </a:lnTo>
                  <a:cubicBezTo>
                    <a:pt x="102766" y="13729"/>
                    <a:pt x="105482" y="16483"/>
                    <a:pt x="107826" y="19534"/>
                  </a:cubicBezTo>
                  <a:lnTo>
                    <a:pt x="123453" y="18529"/>
                  </a:lnTo>
                  <a:cubicBezTo>
                    <a:pt x="128104" y="18231"/>
                    <a:pt x="132345" y="21282"/>
                    <a:pt x="133573" y="25784"/>
                  </a:cubicBezTo>
                  <a:lnTo>
                    <a:pt x="136178" y="35533"/>
                  </a:lnTo>
                  <a:cubicBezTo>
                    <a:pt x="137368" y="40035"/>
                    <a:pt x="135248" y="44797"/>
                    <a:pt x="131043" y="46881"/>
                  </a:cubicBezTo>
                  <a:lnTo>
                    <a:pt x="117016" y="53801"/>
                  </a:lnTo>
                  <a:cubicBezTo>
                    <a:pt x="116756" y="55699"/>
                    <a:pt x="116384" y="57596"/>
                    <a:pt x="115900" y="59457"/>
                  </a:cubicBezTo>
                  <a:cubicBezTo>
                    <a:pt x="115416" y="61317"/>
                    <a:pt x="114746" y="63178"/>
                    <a:pt x="114040" y="64926"/>
                  </a:cubicBezTo>
                  <a:lnTo>
                    <a:pt x="122709" y="77949"/>
                  </a:lnTo>
                  <a:cubicBezTo>
                    <a:pt x="125313" y="81855"/>
                    <a:pt x="124792" y="87027"/>
                    <a:pt x="121481" y="90339"/>
                  </a:cubicBezTo>
                  <a:lnTo>
                    <a:pt x="114337" y="97482"/>
                  </a:lnTo>
                  <a:cubicBezTo>
                    <a:pt x="111026" y="100794"/>
                    <a:pt x="105854" y="101315"/>
                    <a:pt x="101947" y="98710"/>
                  </a:cubicBezTo>
                  <a:lnTo>
                    <a:pt x="88925" y="90041"/>
                  </a:lnTo>
                  <a:cubicBezTo>
                    <a:pt x="85390" y="91492"/>
                    <a:pt x="81632" y="92534"/>
                    <a:pt x="77800" y="93055"/>
                  </a:cubicBezTo>
                  <a:lnTo>
                    <a:pt x="70879" y="107045"/>
                  </a:lnTo>
                  <a:cubicBezTo>
                    <a:pt x="68796" y="111249"/>
                    <a:pt x="64033" y="113370"/>
                    <a:pt x="59531" y="112179"/>
                  </a:cubicBezTo>
                  <a:lnTo>
                    <a:pt x="49783" y="109575"/>
                  </a:lnTo>
                  <a:cubicBezTo>
                    <a:pt x="45244" y="108347"/>
                    <a:pt x="42230" y="104105"/>
                    <a:pt x="42528" y="99454"/>
                  </a:cubicBezTo>
                  <a:lnTo>
                    <a:pt x="43532" y="83865"/>
                  </a:lnTo>
                  <a:cubicBezTo>
                    <a:pt x="40444" y="81483"/>
                    <a:pt x="37728" y="78730"/>
                    <a:pt x="35384" y="75679"/>
                  </a:cubicBezTo>
                  <a:lnTo>
                    <a:pt x="19757" y="76684"/>
                  </a:lnTo>
                  <a:cubicBezTo>
                    <a:pt x="15106" y="76981"/>
                    <a:pt x="10864" y="73930"/>
                    <a:pt x="9637" y="69428"/>
                  </a:cubicBezTo>
                  <a:lnTo>
                    <a:pt x="7032" y="59680"/>
                  </a:lnTo>
                  <a:cubicBezTo>
                    <a:pt x="5842" y="55178"/>
                    <a:pt x="7962" y="50416"/>
                    <a:pt x="12167" y="48332"/>
                  </a:cubicBezTo>
                  <a:lnTo>
                    <a:pt x="26194" y="41411"/>
                  </a:lnTo>
                  <a:cubicBezTo>
                    <a:pt x="26454" y="39514"/>
                    <a:pt x="26826" y="37654"/>
                    <a:pt x="27310" y="35756"/>
                  </a:cubicBezTo>
                  <a:cubicBezTo>
                    <a:pt x="27831" y="33858"/>
                    <a:pt x="28426" y="32035"/>
                    <a:pt x="29170" y="30287"/>
                  </a:cubicBezTo>
                  <a:lnTo>
                    <a:pt x="20501" y="17301"/>
                  </a:lnTo>
                  <a:cubicBezTo>
                    <a:pt x="17897" y="13395"/>
                    <a:pt x="18417" y="8223"/>
                    <a:pt x="21729" y="4911"/>
                  </a:cubicBezTo>
                  <a:lnTo>
                    <a:pt x="28873" y="-2232"/>
                  </a:lnTo>
                  <a:cubicBezTo>
                    <a:pt x="32184" y="-5544"/>
                    <a:pt x="37356" y="-6065"/>
                    <a:pt x="41263" y="-3460"/>
                  </a:cubicBezTo>
                  <a:lnTo>
                    <a:pt x="54285" y="5209"/>
                  </a:lnTo>
                  <a:cubicBezTo>
                    <a:pt x="57820" y="3758"/>
                    <a:pt x="61578" y="2716"/>
                    <a:pt x="65410" y="2195"/>
                  </a:cubicBezTo>
                  <a:lnTo>
                    <a:pt x="72330" y="-11795"/>
                  </a:lnTo>
                  <a:cubicBezTo>
                    <a:pt x="74414" y="-15999"/>
                    <a:pt x="79139" y="-18120"/>
                    <a:pt x="83679" y="-16929"/>
                  </a:cubicBezTo>
                  <a:close/>
                  <a:moveTo>
                    <a:pt x="71586" y="31254"/>
                  </a:moveTo>
                  <a:cubicBezTo>
                    <a:pt x="62551" y="31254"/>
                    <a:pt x="55215" y="38590"/>
                    <a:pt x="55215" y="47625"/>
                  </a:cubicBezTo>
                  <a:cubicBezTo>
                    <a:pt x="55215" y="56660"/>
                    <a:pt x="62551" y="63996"/>
                    <a:pt x="71586" y="63996"/>
                  </a:cubicBezTo>
                  <a:cubicBezTo>
                    <a:pt x="80622" y="63996"/>
                    <a:pt x="87957" y="56660"/>
                    <a:pt x="87957" y="47625"/>
                  </a:cubicBezTo>
                  <a:cubicBezTo>
                    <a:pt x="87957" y="38590"/>
                    <a:pt x="80622" y="31254"/>
                    <a:pt x="71586" y="3125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5786834" y="4061079"/>
              <a:ext cx="1203960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Команда</a:t>
              </a:r>
              <a:endParaRPr lang="en-US" sz="3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210512" y="363112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7986013" y="342328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8181275" y="3594734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92980" y="24854"/>
                  </a:moveTo>
                  <a:cubicBezTo>
                    <a:pt x="96850" y="19534"/>
                    <a:pt x="95659" y="12092"/>
                    <a:pt x="90339" y="8223"/>
                  </a:cubicBezTo>
                  <a:cubicBezTo>
                    <a:pt x="85018" y="4353"/>
                    <a:pt x="77577" y="5544"/>
                    <a:pt x="73707" y="10864"/>
                  </a:cubicBezTo>
                  <a:lnTo>
                    <a:pt x="34268" y="65075"/>
                  </a:lnTo>
                  <a:lnTo>
                    <a:pt x="20315" y="51122"/>
                  </a:lnTo>
                  <a:cubicBezTo>
                    <a:pt x="15664" y="46472"/>
                    <a:pt x="8111" y="46472"/>
                    <a:pt x="3460" y="51122"/>
                  </a:cubicBezTo>
                  <a:cubicBezTo>
                    <a:pt x="-1191" y="55773"/>
                    <a:pt x="-1191" y="63326"/>
                    <a:pt x="3460" y="67977"/>
                  </a:cubicBezTo>
                  <a:lnTo>
                    <a:pt x="27273" y="91790"/>
                  </a:lnTo>
                  <a:cubicBezTo>
                    <a:pt x="29728" y="94245"/>
                    <a:pt x="33151" y="95510"/>
                    <a:pt x="36612" y="95250"/>
                  </a:cubicBezTo>
                  <a:cubicBezTo>
                    <a:pt x="40072" y="94990"/>
                    <a:pt x="43272" y="93204"/>
                    <a:pt x="45318" y="90376"/>
                  </a:cubicBezTo>
                  <a:lnTo>
                    <a:pt x="92943" y="24892"/>
                  </a:lnTo>
                  <a:close/>
                  <a:moveTo>
                    <a:pt x="140605" y="75456"/>
                  </a:moveTo>
                  <a:cubicBezTo>
                    <a:pt x="144475" y="70135"/>
                    <a:pt x="143284" y="62694"/>
                    <a:pt x="137964" y="58824"/>
                  </a:cubicBezTo>
                  <a:cubicBezTo>
                    <a:pt x="132643" y="54955"/>
                    <a:pt x="125202" y="56145"/>
                    <a:pt x="121332" y="61466"/>
                  </a:cubicBezTo>
                  <a:lnTo>
                    <a:pt x="58080" y="148419"/>
                  </a:lnTo>
                  <a:lnTo>
                    <a:pt x="32221" y="122560"/>
                  </a:lnTo>
                  <a:cubicBezTo>
                    <a:pt x="27570" y="117909"/>
                    <a:pt x="20017" y="117909"/>
                    <a:pt x="15367" y="122560"/>
                  </a:cubicBezTo>
                  <a:cubicBezTo>
                    <a:pt x="10716" y="127211"/>
                    <a:pt x="10716" y="134764"/>
                    <a:pt x="15367" y="139415"/>
                  </a:cubicBezTo>
                  <a:lnTo>
                    <a:pt x="51085" y="175133"/>
                  </a:lnTo>
                  <a:cubicBezTo>
                    <a:pt x="53541" y="177589"/>
                    <a:pt x="56964" y="178854"/>
                    <a:pt x="60424" y="178594"/>
                  </a:cubicBezTo>
                  <a:cubicBezTo>
                    <a:pt x="63884" y="178333"/>
                    <a:pt x="67084" y="176547"/>
                    <a:pt x="69131" y="173720"/>
                  </a:cubicBezTo>
                  <a:lnTo>
                    <a:pt x="140568" y="75493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688463" y="4059374"/>
              <a:ext cx="1487245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Валидация</a:t>
              </a:r>
              <a:endParaRPr lang="en-US" sz="3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9138069" y="366120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9947226" y="342328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10118676" y="359473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75977" y="6846"/>
                  </a:moveTo>
                  <a:cubicBezTo>
                    <a:pt x="80442" y="8706"/>
                    <a:pt x="83344" y="13022"/>
                    <a:pt x="83344" y="17859"/>
                  </a:cubicBezTo>
                  <a:lnTo>
                    <a:pt x="83344" y="47625"/>
                  </a:lnTo>
                  <a:lnTo>
                    <a:pt x="125016" y="47625"/>
                  </a:lnTo>
                  <a:cubicBezTo>
                    <a:pt x="161181" y="47625"/>
                    <a:pt x="190500" y="76944"/>
                    <a:pt x="190500" y="113109"/>
                  </a:cubicBezTo>
                  <a:cubicBezTo>
                    <a:pt x="190500" y="155265"/>
                    <a:pt x="160176" y="174092"/>
                    <a:pt x="153219" y="177887"/>
                  </a:cubicBezTo>
                  <a:cubicBezTo>
                    <a:pt x="152288" y="178408"/>
                    <a:pt x="151247" y="178594"/>
                    <a:pt x="150205" y="178594"/>
                  </a:cubicBezTo>
                  <a:cubicBezTo>
                    <a:pt x="146149" y="178594"/>
                    <a:pt x="142875" y="175282"/>
                    <a:pt x="142875" y="171264"/>
                  </a:cubicBezTo>
                  <a:cubicBezTo>
                    <a:pt x="142875" y="168473"/>
                    <a:pt x="144475" y="165906"/>
                    <a:pt x="146521" y="164009"/>
                  </a:cubicBezTo>
                  <a:cubicBezTo>
                    <a:pt x="150019" y="160734"/>
                    <a:pt x="154781" y="154186"/>
                    <a:pt x="154781" y="142912"/>
                  </a:cubicBezTo>
                  <a:cubicBezTo>
                    <a:pt x="154781" y="123192"/>
                    <a:pt x="138782" y="107193"/>
                    <a:pt x="119063" y="107193"/>
                  </a:cubicBezTo>
                  <a:lnTo>
                    <a:pt x="83344" y="107193"/>
                  </a:lnTo>
                  <a:lnTo>
                    <a:pt x="83344" y="136959"/>
                  </a:lnTo>
                  <a:cubicBezTo>
                    <a:pt x="83344" y="141759"/>
                    <a:pt x="80442" y="146112"/>
                    <a:pt x="75977" y="147972"/>
                  </a:cubicBezTo>
                  <a:cubicBezTo>
                    <a:pt x="71512" y="149833"/>
                    <a:pt x="66415" y="148791"/>
                    <a:pt x="62992" y="145405"/>
                  </a:cubicBezTo>
                  <a:lnTo>
                    <a:pt x="3460" y="85874"/>
                  </a:lnTo>
                  <a:cubicBezTo>
                    <a:pt x="-1191" y="81223"/>
                    <a:pt x="-1191" y="73670"/>
                    <a:pt x="3460" y="69019"/>
                  </a:cubicBezTo>
                  <a:lnTo>
                    <a:pt x="62992" y="9488"/>
                  </a:lnTo>
                  <a:cubicBezTo>
                    <a:pt x="66415" y="6065"/>
                    <a:pt x="71512" y="5060"/>
                    <a:pt x="75977" y="692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9880368" y="4049647"/>
              <a:ext cx="867559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Ответ</a:t>
              </a:r>
              <a:endParaRPr lang="en-US" sz="3200" dirty="0"/>
            </a:p>
          </p:txBody>
        </p:sp>
        <p:grpSp>
          <p:nvGrpSpPr>
            <p:cNvPr id="65" name="Группа 64">
              <a:extLst>
                <a:ext uri="{FF2B5EF4-FFF2-40B4-BE49-F238E27FC236}">
                  <a16:creationId xmlns:a16="http://schemas.microsoft.com/office/drawing/2014/main" id="{E7014244-0175-416D-B508-E0C013665000}"/>
                </a:ext>
              </a:extLst>
            </p:cNvPr>
            <p:cNvGrpSpPr/>
            <p:nvPr/>
          </p:nvGrpSpPr>
          <p:grpSpPr>
            <a:xfrm>
              <a:off x="5419645" y="4356734"/>
              <a:ext cx="1809750" cy="800100"/>
              <a:chOff x="3264772" y="4419600"/>
              <a:chExt cx="1809750" cy="800100"/>
            </a:xfrm>
          </p:grpSpPr>
          <p:sp>
            <p:nvSpPr>
              <p:cNvPr id="38" name="Shape 36"/>
              <p:cNvSpPr/>
              <p:nvPr/>
            </p:nvSpPr>
            <p:spPr>
              <a:xfrm>
                <a:off x="326477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39" name="Text 37"/>
              <p:cNvSpPr/>
              <p:nvPr/>
            </p:nvSpPr>
            <p:spPr>
              <a:xfrm>
                <a:off x="337907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4. Команда</a:t>
                </a:r>
                <a:endParaRPr lang="en-US" sz="1600" dirty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337907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Генерация запроса к 1С на внутреннем языке</a:t>
                </a:r>
                <a:endParaRPr lang="en-US" sz="1600" dirty="0"/>
              </a:p>
            </p:txBody>
          </p:sp>
        </p:grpSp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1C0C9E46-FA38-46DA-B7A9-CD8C7ADC63A0}"/>
                </a:ext>
              </a:extLst>
            </p:cNvPr>
            <p:cNvGrpSpPr/>
            <p:nvPr/>
          </p:nvGrpSpPr>
          <p:grpSpPr>
            <a:xfrm>
              <a:off x="7343695" y="4356734"/>
              <a:ext cx="1809750" cy="800100"/>
              <a:chOff x="5188822" y="4419600"/>
              <a:chExt cx="1809750" cy="800100"/>
            </a:xfrm>
          </p:grpSpPr>
          <p:sp>
            <p:nvSpPr>
              <p:cNvPr id="41" name="Shape 39"/>
              <p:cNvSpPr/>
              <p:nvPr/>
            </p:nvSpPr>
            <p:spPr>
              <a:xfrm>
                <a:off x="518882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42" name="Text 40"/>
              <p:cNvSpPr/>
              <p:nvPr/>
            </p:nvSpPr>
            <p:spPr>
              <a:xfrm>
                <a:off x="530312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5. Валидация</a:t>
                </a:r>
                <a:endParaRPr lang="en-US" sz="160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530312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Проверка прав доступа и корректности</a:t>
                </a:r>
                <a:endParaRPr lang="en-US" sz="1600" dirty="0"/>
              </a:p>
            </p:txBody>
          </p:sp>
        </p:grpSp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5324349C-8671-4944-A4EF-A0A5327D6A46}"/>
                </a:ext>
              </a:extLst>
            </p:cNvPr>
            <p:cNvGrpSpPr/>
            <p:nvPr/>
          </p:nvGrpSpPr>
          <p:grpSpPr>
            <a:xfrm>
              <a:off x="9267745" y="4356734"/>
              <a:ext cx="1809750" cy="800100"/>
              <a:chOff x="7112872" y="4419600"/>
              <a:chExt cx="1809750" cy="800100"/>
            </a:xfrm>
          </p:grpSpPr>
          <p:sp>
            <p:nvSpPr>
              <p:cNvPr id="44" name="Shape 42"/>
              <p:cNvSpPr/>
              <p:nvPr/>
            </p:nvSpPr>
            <p:spPr>
              <a:xfrm>
                <a:off x="711287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45" name="Text 43"/>
              <p:cNvSpPr/>
              <p:nvPr/>
            </p:nvSpPr>
            <p:spPr>
              <a:xfrm>
                <a:off x="722717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6. Ответ</a:t>
                </a:r>
                <a:endParaRPr lang="en-US" sz="1600" dirty="0"/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722717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Результат: данные, форма или подтверждение</a:t>
                </a:r>
                <a:endParaRPr lang="en-US" sz="1600" dirty="0"/>
              </a:p>
            </p:txBody>
          </p:sp>
        </p:grpSp>
        <p:sp>
          <p:nvSpPr>
            <p:cNvPr id="66" name="Shape 19">
              <a:extLst>
                <a:ext uri="{FF2B5EF4-FFF2-40B4-BE49-F238E27FC236}">
                  <a16:creationId xmlns:a16="http://schemas.microsoft.com/office/drawing/2014/main" id="{AD1FD805-BEBC-4A24-8789-92C134CBCFDE}"/>
                </a:ext>
              </a:extLst>
            </p:cNvPr>
            <p:cNvSpPr/>
            <p:nvPr/>
          </p:nvSpPr>
          <p:spPr>
            <a:xfrm>
              <a:off x="5289144" y="363112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</p:grpSp>
      <p:sp>
        <p:nvSpPr>
          <p:cNvPr id="70" name="Text 7">
            <a:extLst>
              <a:ext uri="{FF2B5EF4-FFF2-40B4-BE49-F238E27FC236}">
                <a16:creationId xmlns:a16="http://schemas.microsoft.com/office/drawing/2014/main" id="{9238536E-AF0A-4ACE-BEDC-750F9BC8101F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11</a:t>
            </a:r>
            <a:endParaRPr lang="en-US" sz="1600" dirty="0"/>
          </a:p>
        </p:txBody>
      </p: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B86A5987-124A-4489-A021-DC21E778087A}"/>
              </a:ext>
            </a:extLst>
          </p:cNvPr>
          <p:cNvGrpSpPr/>
          <p:nvPr/>
        </p:nvGrpSpPr>
        <p:grpSpPr>
          <a:xfrm>
            <a:off x="-5365958" y="415412"/>
            <a:ext cx="4486275" cy="533400"/>
            <a:chOff x="381000" y="381000"/>
            <a:chExt cx="4486275" cy="533400"/>
          </a:xfrm>
        </p:grpSpPr>
        <p:sp>
          <p:nvSpPr>
            <p:cNvPr id="69" name="Shape 0">
              <a:extLst>
                <a:ext uri="{FF2B5EF4-FFF2-40B4-BE49-F238E27FC236}">
                  <a16:creationId xmlns:a16="http://schemas.microsoft.com/office/drawing/2014/main" id="{6106AE52-6CF4-4FE6-97C4-D86C4DDAC511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1" name="Shape 1">
              <a:extLst>
                <a:ext uri="{FF2B5EF4-FFF2-40B4-BE49-F238E27FC236}">
                  <a16:creationId xmlns:a16="http://schemas.microsoft.com/office/drawing/2014/main" id="{01ECD710-B0F7-4032-A59B-5E1AAFF6C8D0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85725" y="28575"/>
                  </a:moveTo>
                  <a:cubicBezTo>
                    <a:pt x="85725" y="20672"/>
                    <a:pt x="92110" y="14288"/>
                    <a:pt x="100013" y="14288"/>
                  </a:cubicBezTo>
                  <a:lnTo>
                    <a:pt x="128588" y="14288"/>
                  </a:lnTo>
                  <a:cubicBezTo>
                    <a:pt x="136490" y="14288"/>
                    <a:pt x="142875" y="20672"/>
                    <a:pt x="142875" y="28575"/>
                  </a:cubicBezTo>
                  <a:lnTo>
                    <a:pt x="142875" y="57150"/>
                  </a:lnTo>
                  <a:cubicBezTo>
                    <a:pt x="142875" y="65053"/>
                    <a:pt x="136490" y="71438"/>
                    <a:pt x="128588" y="71438"/>
                  </a:cubicBezTo>
                  <a:lnTo>
                    <a:pt x="125016" y="71438"/>
                  </a:lnTo>
                  <a:lnTo>
                    <a:pt x="125016" y="100013"/>
                  </a:lnTo>
                  <a:lnTo>
                    <a:pt x="178594" y="100013"/>
                  </a:lnTo>
                  <a:cubicBezTo>
                    <a:pt x="196364" y="100013"/>
                    <a:pt x="210741" y="114389"/>
                    <a:pt x="210741" y="132159"/>
                  </a:cubicBezTo>
                  <a:lnTo>
                    <a:pt x="210741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lnTo>
                    <a:pt x="228600" y="200025"/>
                  </a:lnTo>
                  <a:cubicBezTo>
                    <a:pt x="228600" y="207928"/>
                    <a:pt x="222215" y="214313"/>
                    <a:pt x="214313" y="214313"/>
                  </a:cubicBezTo>
                  <a:lnTo>
                    <a:pt x="185738" y="214313"/>
                  </a:lnTo>
                  <a:cubicBezTo>
                    <a:pt x="177835" y="214313"/>
                    <a:pt x="171450" y="207928"/>
                    <a:pt x="171450" y="200025"/>
                  </a:cubicBezTo>
                  <a:lnTo>
                    <a:pt x="171450" y="171450"/>
                  </a:lnTo>
                  <a:cubicBezTo>
                    <a:pt x="171450" y="163547"/>
                    <a:pt x="177835" y="157163"/>
                    <a:pt x="185738" y="157163"/>
                  </a:cubicBezTo>
                  <a:lnTo>
                    <a:pt x="189309" y="157163"/>
                  </a:lnTo>
                  <a:lnTo>
                    <a:pt x="189309" y="132159"/>
                  </a:lnTo>
                  <a:cubicBezTo>
                    <a:pt x="189309" y="126221"/>
                    <a:pt x="184532" y="121444"/>
                    <a:pt x="178594" y="121444"/>
                  </a:cubicBezTo>
                  <a:lnTo>
                    <a:pt x="125016" y="121444"/>
                  </a:lnTo>
                  <a:lnTo>
                    <a:pt x="125016" y="157163"/>
                  </a:lnTo>
                  <a:lnTo>
                    <a:pt x="128588" y="157163"/>
                  </a:lnTo>
                  <a:cubicBezTo>
                    <a:pt x="136490" y="157163"/>
                    <a:pt x="142875" y="163547"/>
                    <a:pt x="142875" y="171450"/>
                  </a:cubicBezTo>
                  <a:lnTo>
                    <a:pt x="142875" y="200025"/>
                  </a:lnTo>
                  <a:cubicBezTo>
                    <a:pt x="142875" y="207928"/>
                    <a:pt x="136490" y="214313"/>
                    <a:pt x="128588" y="214313"/>
                  </a:cubicBezTo>
                  <a:lnTo>
                    <a:pt x="100013" y="214313"/>
                  </a:lnTo>
                  <a:cubicBezTo>
                    <a:pt x="92110" y="214313"/>
                    <a:pt x="85725" y="207928"/>
                    <a:pt x="85725" y="200025"/>
                  </a:cubicBezTo>
                  <a:lnTo>
                    <a:pt x="85725" y="171450"/>
                  </a:lnTo>
                  <a:cubicBezTo>
                    <a:pt x="85725" y="163547"/>
                    <a:pt x="92110" y="157163"/>
                    <a:pt x="100013" y="157163"/>
                  </a:cubicBezTo>
                  <a:lnTo>
                    <a:pt x="103584" y="157163"/>
                  </a:lnTo>
                  <a:lnTo>
                    <a:pt x="103584" y="121444"/>
                  </a:lnTo>
                  <a:lnTo>
                    <a:pt x="50006" y="121444"/>
                  </a:lnTo>
                  <a:cubicBezTo>
                    <a:pt x="44068" y="121444"/>
                    <a:pt x="39291" y="126221"/>
                    <a:pt x="39291" y="132159"/>
                  </a:cubicBezTo>
                  <a:lnTo>
                    <a:pt x="39291" y="157163"/>
                  </a:lnTo>
                  <a:lnTo>
                    <a:pt x="42863" y="157163"/>
                  </a:lnTo>
                  <a:cubicBezTo>
                    <a:pt x="50765" y="157163"/>
                    <a:pt x="57150" y="163547"/>
                    <a:pt x="57150" y="171450"/>
                  </a:cubicBezTo>
                  <a:lnTo>
                    <a:pt x="57150" y="200025"/>
                  </a:lnTo>
                  <a:cubicBezTo>
                    <a:pt x="57150" y="207928"/>
                    <a:pt x="50765" y="214313"/>
                    <a:pt x="42863" y="214313"/>
                  </a:cubicBezTo>
                  <a:lnTo>
                    <a:pt x="14288" y="214313"/>
                  </a:lnTo>
                  <a:cubicBezTo>
                    <a:pt x="6385" y="214313"/>
                    <a:pt x="0" y="207928"/>
                    <a:pt x="0" y="200025"/>
                  </a:cubicBezTo>
                  <a:lnTo>
                    <a:pt x="0" y="171450"/>
                  </a:lnTo>
                  <a:cubicBezTo>
                    <a:pt x="0" y="163547"/>
                    <a:pt x="6385" y="157163"/>
                    <a:pt x="14288" y="157163"/>
                  </a:cubicBezTo>
                  <a:lnTo>
                    <a:pt x="17859" y="157163"/>
                  </a:lnTo>
                  <a:lnTo>
                    <a:pt x="17859" y="132159"/>
                  </a:lnTo>
                  <a:cubicBezTo>
                    <a:pt x="17859" y="114389"/>
                    <a:pt x="32236" y="100013"/>
                    <a:pt x="50006" y="100013"/>
                  </a:cubicBezTo>
                  <a:lnTo>
                    <a:pt x="103584" y="100013"/>
                  </a:lnTo>
                  <a:lnTo>
                    <a:pt x="103584" y="71438"/>
                  </a:lnTo>
                  <a:lnTo>
                    <a:pt x="100013" y="71438"/>
                  </a:lnTo>
                  <a:cubicBezTo>
                    <a:pt x="92110" y="71438"/>
                    <a:pt x="85725" y="65053"/>
                    <a:pt x="85725" y="57150"/>
                  </a:cubicBezTo>
                  <a:lnTo>
                    <a:pt x="85725" y="2857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72" name="Text 2">
              <a:extLst>
                <a:ext uri="{FF2B5EF4-FFF2-40B4-BE49-F238E27FC236}">
                  <a16:creationId xmlns:a16="http://schemas.microsoft.com/office/drawing/2014/main" id="{EF5FCAB9-F3D6-4248-8C06-32B8C77B891D}"/>
                </a:ext>
              </a:extLst>
            </p:cNvPr>
            <p:cNvSpPr/>
            <p:nvPr/>
          </p:nvSpPr>
          <p:spPr>
            <a:xfrm>
              <a:off x="1066800" y="400050"/>
              <a:ext cx="38004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Архитектура решения</a:t>
              </a:r>
              <a:endParaRPr lang="en-US" sz="1600" dirty="0"/>
            </a:p>
          </p:txBody>
        </p:sp>
        <p:sp>
          <p:nvSpPr>
            <p:cNvPr id="73" name="Shape 3">
              <a:extLst>
                <a:ext uri="{FF2B5EF4-FFF2-40B4-BE49-F238E27FC236}">
                  <a16:creationId xmlns:a16="http://schemas.microsoft.com/office/drawing/2014/main" id="{EAE648B8-30E8-4AF7-9973-C80E7EF5F844}"/>
                </a:ext>
              </a:extLst>
            </p:cNvPr>
            <p:cNvSpPr/>
            <p:nvPr/>
          </p:nvSpPr>
          <p:spPr>
            <a:xfrm>
              <a:off x="704849" y="857249"/>
              <a:ext cx="4162425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74" name="Text 7">
            <a:extLst>
              <a:ext uri="{FF2B5EF4-FFF2-40B4-BE49-F238E27FC236}">
                <a16:creationId xmlns:a16="http://schemas.microsoft.com/office/drawing/2014/main" id="{AE5A617D-A691-4194-AEDB-4E261AA21306}"/>
              </a:ext>
            </a:extLst>
          </p:cNvPr>
          <p:cNvSpPr/>
          <p:nvPr/>
        </p:nvSpPr>
        <p:spPr>
          <a:xfrm>
            <a:off x="12872490" y="298730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10</a:t>
            </a:r>
            <a:endParaRPr lang="en-US" sz="1600" dirty="0"/>
          </a:p>
        </p:txBody>
      </p: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E569A924-E970-4CDC-AD71-7E03ED396FE8}"/>
              </a:ext>
            </a:extLst>
          </p:cNvPr>
          <p:cNvGrpSpPr/>
          <p:nvPr/>
        </p:nvGrpSpPr>
        <p:grpSpPr>
          <a:xfrm>
            <a:off x="12514953" y="1450182"/>
            <a:ext cx="11430000" cy="3769518"/>
            <a:chOff x="381000" y="1450182"/>
            <a:chExt cx="11430000" cy="3769518"/>
          </a:xfrm>
        </p:grpSpPr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9882402C-F2AE-43E8-B312-D82335AF026D}"/>
                </a:ext>
              </a:extLst>
            </p:cNvPr>
            <p:cNvSpPr/>
            <p:nvPr/>
          </p:nvSpPr>
          <p:spPr>
            <a:xfrm>
              <a:off x="381000" y="1450182"/>
              <a:ext cx="11430000" cy="3769518"/>
            </a:xfrm>
            <a:custGeom>
              <a:avLst/>
              <a:gdLst/>
              <a:ahLst/>
              <a:cxnLst/>
              <a:rect l="l" t="t" r="r" b="b"/>
              <a:pathLst>
                <a:path w="11430000" h="2971800">
                  <a:moveTo>
                    <a:pt x="152394" y="0"/>
                  </a:moveTo>
                  <a:lnTo>
                    <a:pt x="11277606" y="0"/>
                  </a:lnTo>
                  <a:cubicBezTo>
                    <a:pt x="11361771" y="0"/>
                    <a:pt x="11430000" y="68229"/>
                    <a:pt x="11430000" y="152394"/>
                  </a:cubicBezTo>
                  <a:lnTo>
                    <a:pt x="11430000" y="2819406"/>
                  </a:lnTo>
                  <a:cubicBezTo>
                    <a:pt x="11430000" y="2903571"/>
                    <a:pt x="11361771" y="2971800"/>
                    <a:pt x="11277606" y="2971800"/>
                  </a:cubicBezTo>
                  <a:lnTo>
                    <a:pt x="152394" y="2971800"/>
                  </a:lnTo>
                  <a:cubicBezTo>
                    <a:pt x="68229" y="2971800"/>
                    <a:pt x="0" y="2903571"/>
                    <a:pt x="0" y="28194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8" name="Shape 5">
              <a:extLst>
                <a:ext uri="{FF2B5EF4-FFF2-40B4-BE49-F238E27FC236}">
                  <a16:creationId xmlns:a16="http://schemas.microsoft.com/office/drawing/2014/main" id="{AE32866B-39E2-421B-8956-FB03D06D0CB1}"/>
                </a:ext>
              </a:extLst>
            </p:cNvPr>
            <p:cNvSpPr/>
            <p:nvPr/>
          </p:nvSpPr>
          <p:spPr>
            <a:xfrm>
              <a:off x="619125" y="1952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D700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9" name="Shape 6">
              <a:extLst>
                <a:ext uri="{FF2B5EF4-FFF2-40B4-BE49-F238E27FC236}">
                  <a16:creationId xmlns:a16="http://schemas.microsoft.com/office/drawing/2014/main" id="{9A1AA430-3F5A-4ABE-8A99-D17F3624C6DA}"/>
                </a:ext>
              </a:extLst>
            </p:cNvPr>
            <p:cNvSpPr/>
            <p:nvPr/>
          </p:nvSpPr>
          <p:spPr>
            <a:xfrm>
              <a:off x="781050" y="2114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0" name="Shape 7">
              <a:extLst>
                <a:ext uri="{FF2B5EF4-FFF2-40B4-BE49-F238E27FC236}">
                  <a16:creationId xmlns:a16="http://schemas.microsoft.com/office/drawing/2014/main" id="{1FCC3CD9-D54C-4A1F-8A1A-D8B6DB494C77}"/>
                </a:ext>
              </a:extLst>
            </p:cNvPr>
            <p:cNvSpPr/>
            <p:nvPr/>
          </p:nvSpPr>
          <p:spPr>
            <a:xfrm>
              <a:off x="888206" y="2219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21431" y="10716"/>
                  </a:moveTo>
                  <a:cubicBezTo>
                    <a:pt x="9611" y="10716"/>
                    <a:pt x="0" y="20326"/>
                    <a:pt x="0" y="32147"/>
                  </a:cubicBezTo>
                  <a:lnTo>
                    <a:pt x="0" y="117872"/>
                  </a:lnTo>
                  <a:cubicBezTo>
                    <a:pt x="0" y="129693"/>
                    <a:pt x="9611" y="139303"/>
                    <a:pt x="21431" y="139303"/>
                  </a:cubicBezTo>
                  <a:lnTo>
                    <a:pt x="69652" y="139303"/>
                  </a:lnTo>
                  <a:lnTo>
                    <a:pt x="64294" y="155377"/>
                  </a:lnTo>
                  <a:lnTo>
                    <a:pt x="40184" y="155377"/>
                  </a:lnTo>
                  <a:cubicBezTo>
                    <a:pt x="35730" y="155377"/>
                    <a:pt x="32147" y="158960"/>
                    <a:pt x="32147" y="163413"/>
                  </a:cubicBezTo>
                  <a:cubicBezTo>
                    <a:pt x="32147" y="167867"/>
                    <a:pt x="35730" y="171450"/>
                    <a:pt x="40184" y="171450"/>
                  </a:cubicBezTo>
                  <a:lnTo>
                    <a:pt x="131266" y="171450"/>
                  </a:lnTo>
                  <a:cubicBezTo>
                    <a:pt x="135720" y="171450"/>
                    <a:pt x="139303" y="167867"/>
                    <a:pt x="139303" y="163413"/>
                  </a:cubicBezTo>
                  <a:cubicBezTo>
                    <a:pt x="139303" y="158960"/>
                    <a:pt x="135720" y="155377"/>
                    <a:pt x="131266" y="155377"/>
                  </a:cubicBezTo>
                  <a:lnTo>
                    <a:pt x="107156" y="155377"/>
                  </a:lnTo>
                  <a:lnTo>
                    <a:pt x="101798" y="139303"/>
                  </a:lnTo>
                  <a:lnTo>
                    <a:pt x="150019" y="139303"/>
                  </a:lnTo>
                  <a:cubicBezTo>
                    <a:pt x="161839" y="139303"/>
                    <a:pt x="171450" y="129693"/>
                    <a:pt x="171450" y="117872"/>
                  </a:cubicBezTo>
                  <a:lnTo>
                    <a:pt x="171450" y="32147"/>
                  </a:lnTo>
                  <a:cubicBezTo>
                    <a:pt x="171450" y="20326"/>
                    <a:pt x="161839" y="10716"/>
                    <a:pt x="150019" y="10716"/>
                  </a:cubicBezTo>
                  <a:lnTo>
                    <a:pt x="21431" y="10716"/>
                  </a:lnTo>
                  <a:close/>
                  <a:moveTo>
                    <a:pt x="32147" y="32147"/>
                  </a:moveTo>
                  <a:lnTo>
                    <a:pt x="139303" y="32147"/>
                  </a:lnTo>
                  <a:cubicBezTo>
                    <a:pt x="145230" y="32147"/>
                    <a:pt x="150019" y="36935"/>
                    <a:pt x="150019" y="42863"/>
                  </a:cubicBezTo>
                  <a:lnTo>
                    <a:pt x="150019" y="96441"/>
                  </a:lnTo>
                  <a:cubicBezTo>
                    <a:pt x="150019" y="102368"/>
                    <a:pt x="145230" y="107156"/>
                    <a:pt x="139303" y="107156"/>
                  </a:cubicBezTo>
                  <a:lnTo>
                    <a:pt x="32147" y="107156"/>
                  </a:lnTo>
                  <a:cubicBezTo>
                    <a:pt x="26220" y="107156"/>
                    <a:pt x="21431" y="102368"/>
                    <a:pt x="21431" y="96441"/>
                  </a:cubicBezTo>
                  <a:lnTo>
                    <a:pt x="21431" y="42863"/>
                  </a:lnTo>
                  <a:cubicBezTo>
                    <a:pt x="21431" y="36935"/>
                    <a:pt x="26220" y="32147"/>
                    <a:pt x="32147" y="3214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1" name="Text 8">
              <a:extLst>
                <a:ext uri="{FF2B5EF4-FFF2-40B4-BE49-F238E27FC236}">
                  <a16:creationId xmlns:a16="http://schemas.microsoft.com/office/drawing/2014/main" id="{BB00DFFF-5A75-4318-9930-91EB00EB412A}"/>
                </a:ext>
              </a:extLst>
            </p:cNvPr>
            <p:cNvSpPr/>
            <p:nvPr/>
          </p:nvSpPr>
          <p:spPr>
            <a:xfrm>
              <a:off x="1276349" y="2171700"/>
              <a:ext cx="417154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1С-клиент</a:t>
              </a:r>
              <a:endParaRPr lang="en-US" sz="2400" dirty="0"/>
            </a:p>
          </p:txBody>
        </p:sp>
        <p:sp>
          <p:nvSpPr>
            <p:cNvPr id="82" name="Text 9">
              <a:extLst>
                <a:ext uri="{FF2B5EF4-FFF2-40B4-BE49-F238E27FC236}">
                  <a16:creationId xmlns:a16="http://schemas.microsoft.com/office/drawing/2014/main" id="{538F45B3-2C30-43BC-91DB-B0C1586F733E}"/>
                </a:ext>
              </a:extLst>
            </p:cNvPr>
            <p:cNvSpPr/>
            <p:nvPr/>
          </p:nvSpPr>
          <p:spPr>
            <a:xfrm>
              <a:off x="781050" y="2571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Пользовательский интерфейс</a:t>
              </a:r>
              <a:endParaRPr lang="en-US" sz="2400" dirty="0"/>
            </a:p>
          </p:txBody>
        </p:sp>
        <p:sp>
          <p:nvSpPr>
            <p:cNvPr id="83" name="Shape 10">
              <a:extLst>
                <a:ext uri="{FF2B5EF4-FFF2-40B4-BE49-F238E27FC236}">
                  <a16:creationId xmlns:a16="http://schemas.microsoft.com/office/drawing/2014/main" id="{F48A16DC-3E20-4D6A-834B-70C5472ACBC7}"/>
                </a:ext>
              </a:extLst>
            </p:cNvPr>
            <p:cNvSpPr/>
            <p:nvPr/>
          </p:nvSpPr>
          <p:spPr>
            <a:xfrm>
              <a:off x="3101499" y="30861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4" name="Shape 11">
              <a:extLst>
                <a:ext uri="{FF2B5EF4-FFF2-40B4-BE49-F238E27FC236}">
                  <a16:creationId xmlns:a16="http://schemas.microsoft.com/office/drawing/2014/main" id="{D1C17851-4344-44F7-9EE0-D29F6EFDA931}"/>
                </a:ext>
              </a:extLst>
            </p:cNvPr>
            <p:cNvSpPr/>
            <p:nvPr/>
          </p:nvSpPr>
          <p:spPr>
            <a:xfrm>
              <a:off x="619125" y="3476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D700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5" name="Shape 12">
              <a:extLst>
                <a:ext uri="{FF2B5EF4-FFF2-40B4-BE49-F238E27FC236}">
                  <a16:creationId xmlns:a16="http://schemas.microsoft.com/office/drawing/2014/main" id="{27CDB9CC-282F-49CC-8EAE-EEBA532238E4}"/>
                </a:ext>
              </a:extLst>
            </p:cNvPr>
            <p:cNvSpPr/>
            <p:nvPr/>
          </p:nvSpPr>
          <p:spPr>
            <a:xfrm>
              <a:off x="781050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6" name="Shape 13">
              <a:extLst>
                <a:ext uri="{FF2B5EF4-FFF2-40B4-BE49-F238E27FC236}">
                  <a16:creationId xmlns:a16="http://schemas.microsoft.com/office/drawing/2014/main" id="{C7BF846A-4546-4D28-A93F-982A5C48AE82}"/>
                </a:ext>
              </a:extLst>
            </p:cNvPr>
            <p:cNvSpPr/>
            <p:nvPr/>
          </p:nvSpPr>
          <p:spPr>
            <a:xfrm>
              <a:off x="888206" y="3743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75009" y="0"/>
                  </a:moveTo>
                  <a:cubicBezTo>
                    <a:pt x="86830" y="0"/>
                    <a:pt x="96441" y="7200"/>
                    <a:pt x="96441" y="16073"/>
                  </a:cubicBezTo>
                  <a:cubicBezTo>
                    <a:pt x="96441" y="19556"/>
                    <a:pt x="94967" y="22771"/>
                    <a:pt x="92422" y="25416"/>
                  </a:cubicBezTo>
                  <a:cubicBezTo>
                    <a:pt x="90212" y="27727"/>
                    <a:pt x="88404" y="30540"/>
                    <a:pt x="88404" y="33754"/>
                  </a:cubicBezTo>
                  <a:cubicBezTo>
                    <a:pt x="88404" y="38777"/>
                    <a:pt x="92489" y="42863"/>
                    <a:pt x="97512" y="42863"/>
                  </a:cubicBezTo>
                  <a:lnTo>
                    <a:pt x="112514" y="42863"/>
                  </a:lnTo>
                  <a:cubicBezTo>
                    <a:pt x="121388" y="42863"/>
                    <a:pt x="128588" y="50062"/>
                    <a:pt x="128588" y="58936"/>
                  </a:cubicBezTo>
                  <a:lnTo>
                    <a:pt x="128588" y="73938"/>
                  </a:lnTo>
                  <a:cubicBezTo>
                    <a:pt x="128588" y="78961"/>
                    <a:pt x="132673" y="83046"/>
                    <a:pt x="137696" y="83046"/>
                  </a:cubicBezTo>
                  <a:cubicBezTo>
                    <a:pt x="140877" y="83046"/>
                    <a:pt x="143723" y="81238"/>
                    <a:pt x="146034" y="79028"/>
                  </a:cubicBezTo>
                  <a:cubicBezTo>
                    <a:pt x="148679" y="76516"/>
                    <a:pt x="151894" y="75009"/>
                    <a:pt x="155377" y="75009"/>
                  </a:cubicBezTo>
                  <a:cubicBezTo>
                    <a:pt x="164250" y="75009"/>
                    <a:pt x="171450" y="84620"/>
                    <a:pt x="171450" y="96441"/>
                  </a:cubicBezTo>
                  <a:cubicBezTo>
                    <a:pt x="171450" y="108261"/>
                    <a:pt x="164250" y="117872"/>
                    <a:pt x="155377" y="117872"/>
                  </a:cubicBezTo>
                  <a:cubicBezTo>
                    <a:pt x="151894" y="117872"/>
                    <a:pt x="148646" y="116398"/>
                    <a:pt x="146034" y="113854"/>
                  </a:cubicBezTo>
                  <a:cubicBezTo>
                    <a:pt x="143723" y="111643"/>
                    <a:pt x="140910" y="109835"/>
                    <a:pt x="137696" y="109835"/>
                  </a:cubicBezTo>
                  <a:cubicBezTo>
                    <a:pt x="132673" y="109835"/>
                    <a:pt x="128588" y="113920"/>
                    <a:pt x="128588" y="118943"/>
                  </a:cubicBezTo>
                  <a:lnTo>
                    <a:pt x="128588" y="155377"/>
                  </a:lnTo>
                  <a:cubicBezTo>
                    <a:pt x="128588" y="164250"/>
                    <a:pt x="121388" y="171450"/>
                    <a:pt x="112514" y="171450"/>
                  </a:cubicBezTo>
                  <a:lnTo>
                    <a:pt x="93494" y="171450"/>
                  </a:lnTo>
                  <a:cubicBezTo>
                    <a:pt x="89208" y="171450"/>
                    <a:pt x="85725" y="167967"/>
                    <a:pt x="85725" y="163681"/>
                  </a:cubicBezTo>
                  <a:cubicBezTo>
                    <a:pt x="85725" y="160600"/>
                    <a:pt x="87667" y="157888"/>
                    <a:pt x="90145" y="156046"/>
                  </a:cubicBezTo>
                  <a:cubicBezTo>
                    <a:pt x="94030" y="153133"/>
                    <a:pt x="96441" y="149115"/>
                    <a:pt x="96441" y="144661"/>
                  </a:cubicBezTo>
                  <a:cubicBezTo>
                    <a:pt x="96441" y="135787"/>
                    <a:pt x="86830" y="128588"/>
                    <a:pt x="75009" y="128588"/>
                  </a:cubicBezTo>
                  <a:cubicBezTo>
                    <a:pt x="63189" y="128588"/>
                    <a:pt x="53578" y="135787"/>
                    <a:pt x="53578" y="144661"/>
                  </a:cubicBezTo>
                  <a:cubicBezTo>
                    <a:pt x="53578" y="149115"/>
                    <a:pt x="55989" y="153133"/>
                    <a:pt x="59874" y="156046"/>
                  </a:cubicBezTo>
                  <a:cubicBezTo>
                    <a:pt x="62352" y="157888"/>
                    <a:pt x="64294" y="160567"/>
                    <a:pt x="64294" y="163681"/>
                  </a:cubicBezTo>
                  <a:cubicBezTo>
                    <a:pt x="64294" y="167967"/>
                    <a:pt x="60811" y="171450"/>
                    <a:pt x="56525" y="171450"/>
                  </a:cubicBezTo>
                  <a:lnTo>
                    <a:pt x="16073" y="171450"/>
                  </a:lnTo>
                  <a:cubicBezTo>
                    <a:pt x="7200" y="171450"/>
                    <a:pt x="0" y="164250"/>
                    <a:pt x="0" y="155377"/>
                  </a:cubicBezTo>
                  <a:lnTo>
                    <a:pt x="0" y="114925"/>
                  </a:lnTo>
                  <a:cubicBezTo>
                    <a:pt x="0" y="110639"/>
                    <a:pt x="3483" y="107156"/>
                    <a:pt x="7769" y="107156"/>
                  </a:cubicBezTo>
                  <a:cubicBezTo>
                    <a:pt x="10850" y="107156"/>
                    <a:pt x="13562" y="109098"/>
                    <a:pt x="15404" y="111576"/>
                  </a:cubicBezTo>
                  <a:cubicBezTo>
                    <a:pt x="18317" y="115461"/>
                    <a:pt x="22335" y="117872"/>
                    <a:pt x="26789" y="117872"/>
                  </a:cubicBezTo>
                  <a:cubicBezTo>
                    <a:pt x="35663" y="117872"/>
                    <a:pt x="42863" y="108261"/>
                    <a:pt x="42863" y="96441"/>
                  </a:cubicBezTo>
                  <a:cubicBezTo>
                    <a:pt x="42863" y="84620"/>
                    <a:pt x="35663" y="75009"/>
                    <a:pt x="26789" y="75009"/>
                  </a:cubicBezTo>
                  <a:cubicBezTo>
                    <a:pt x="22335" y="75009"/>
                    <a:pt x="18317" y="77420"/>
                    <a:pt x="15404" y="81305"/>
                  </a:cubicBezTo>
                  <a:cubicBezTo>
                    <a:pt x="13562" y="83783"/>
                    <a:pt x="10883" y="85725"/>
                    <a:pt x="7769" y="85725"/>
                  </a:cubicBezTo>
                  <a:cubicBezTo>
                    <a:pt x="3483" y="85725"/>
                    <a:pt x="0" y="82242"/>
                    <a:pt x="0" y="77956"/>
                  </a:cubicBezTo>
                  <a:lnTo>
                    <a:pt x="0" y="58936"/>
                  </a:lnTo>
                  <a:cubicBezTo>
                    <a:pt x="0" y="50062"/>
                    <a:pt x="7200" y="42863"/>
                    <a:pt x="16073" y="42863"/>
                  </a:cubicBezTo>
                  <a:lnTo>
                    <a:pt x="52507" y="42863"/>
                  </a:lnTo>
                  <a:cubicBezTo>
                    <a:pt x="57530" y="42863"/>
                    <a:pt x="61615" y="38777"/>
                    <a:pt x="61615" y="33754"/>
                  </a:cubicBezTo>
                  <a:cubicBezTo>
                    <a:pt x="61615" y="30573"/>
                    <a:pt x="59807" y="27727"/>
                    <a:pt x="57596" y="25416"/>
                  </a:cubicBezTo>
                  <a:cubicBezTo>
                    <a:pt x="55085" y="22771"/>
                    <a:pt x="53578" y="19556"/>
                    <a:pt x="53578" y="16073"/>
                  </a:cubicBezTo>
                  <a:cubicBezTo>
                    <a:pt x="53578" y="7200"/>
                    <a:pt x="63189" y="0"/>
                    <a:pt x="75009" y="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7" name="Text 14">
              <a:extLst>
                <a:ext uri="{FF2B5EF4-FFF2-40B4-BE49-F238E27FC236}">
                  <a16:creationId xmlns:a16="http://schemas.microsoft.com/office/drawing/2014/main" id="{960294D1-A2AA-4AB6-BFD1-8578A8AABCCD}"/>
                </a:ext>
              </a:extLst>
            </p:cNvPr>
            <p:cNvSpPr/>
            <p:nvPr/>
          </p:nvSpPr>
          <p:spPr>
            <a:xfrm>
              <a:off x="1276350" y="3695700"/>
              <a:ext cx="377691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Расширение 1С</a:t>
              </a:r>
              <a:endParaRPr lang="en-US" sz="2400" dirty="0"/>
            </a:p>
          </p:txBody>
        </p:sp>
        <p:sp>
          <p:nvSpPr>
            <p:cNvPr id="88" name="Text 15">
              <a:extLst>
                <a:ext uri="{FF2B5EF4-FFF2-40B4-BE49-F238E27FC236}">
                  <a16:creationId xmlns:a16="http://schemas.microsoft.com/office/drawing/2014/main" id="{B782740F-C847-4C21-B507-96D68C3F3348}"/>
                </a:ext>
              </a:extLst>
            </p:cNvPr>
            <p:cNvSpPr/>
            <p:nvPr/>
          </p:nvSpPr>
          <p:spPr>
            <a:xfrm>
              <a:off x="781050" y="4095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HTTP-сервис, чат-форма</a:t>
              </a:r>
              <a:endParaRPr lang="en-US" sz="2400" dirty="0"/>
            </a:p>
          </p:txBody>
        </p:sp>
        <p:sp>
          <p:nvSpPr>
            <p:cNvPr id="89" name="Shape 16">
              <a:extLst>
                <a:ext uri="{FF2B5EF4-FFF2-40B4-BE49-F238E27FC236}">
                  <a16:creationId xmlns:a16="http://schemas.microsoft.com/office/drawing/2014/main" id="{87031448-AA4D-4624-B695-32C4B3051980}"/>
                </a:ext>
              </a:extLst>
            </p:cNvPr>
            <p:cNvSpPr/>
            <p:nvPr/>
          </p:nvSpPr>
          <p:spPr>
            <a:xfrm>
              <a:off x="5955506" y="30575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0504" y="226926"/>
                  </a:moveTo>
                  <a:lnTo>
                    <a:pt x="226926" y="280504"/>
                  </a:lnTo>
                  <a:cubicBezTo>
                    <a:pt x="221791" y="285638"/>
                    <a:pt x="214145" y="287145"/>
                    <a:pt x="207448" y="284355"/>
                  </a:cubicBezTo>
                  <a:cubicBezTo>
                    <a:pt x="200751" y="281564"/>
                    <a:pt x="196453" y="275090"/>
                    <a:pt x="196453" y="267891"/>
                  </a:cubicBezTo>
                  <a:lnTo>
                    <a:pt x="196453" y="232172"/>
                  </a:lnTo>
                  <a:lnTo>
                    <a:pt x="17859" y="232172"/>
                  </a:lnTo>
                  <a:cubicBezTo>
                    <a:pt x="7981" y="232172"/>
                    <a:pt x="0" y="224191"/>
                    <a:pt x="0" y="214313"/>
                  </a:cubicBezTo>
                  <a:cubicBezTo>
                    <a:pt x="0" y="204434"/>
                    <a:pt x="7981" y="196453"/>
                    <a:pt x="17859" y="196453"/>
                  </a:cubicBezTo>
                  <a:lnTo>
                    <a:pt x="196453" y="196453"/>
                  </a:lnTo>
                  <a:lnTo>
                    <a:pt x="196453" y="160734"/>
                  </a:lnTo>
                  <a:cubicBezTo>
                    <a:pt x="196453" y="153535"/>
                    <a:pt x="200806" y="147005"/>
                    <a:pt x="207504" y="144214"/>
                  </a:cubicBezTo>
                  <a:cubicBezTo>
                    <a:pt x="214201" y="141424"/>
                    <a:pt x="221847" y="142987"/>
                    <a:pt x="226981" y="148065"/>
                  </a:cubicBezTo>
                  <a:lnTo>
                    <a:pt x="280560" y="201644"/>
                  </a:lnTo>
                  <a:cubicBezTo>
                    <a:pt x="287536" y="208620"/>
                    <a:pt x="287536" y="219949"/>
                    <a:pt x="280560" y="226926"/>
                  </a:cubicBezTo>
                  <a:close/>
                  <a:moveTo>
                    <a:pt x="5246" y="84051"/>
                  </a:moveTo>
                  <a:cubicBezTo>
                    <a:pt x="-1730" y="77074"/>
                    <a:pt x="-1730" y="65745"/>
                    <a:pt x="5246" y="58769"/>
                  </a:cubicBezTo>
                  <a:lnTo>
                    <a:pt x="58824" y="5190"/>
                  </a:lnTo>
                  <a:cubicBezTo>
                    <a:pt x="63959" y="56"/>
                    <a:pt x="71605" y="-1451"/>
                    <a:pt x="78302" y="1339"/>
                  </a:cubicBezTo>
                  <a:cubicBezTo>
                    <a:pt x="84999" y="4130"/>
                    <a:pt x="89297" y="10660"/>
                    <a:pt x="89297" y="17859"/>
                  </a:cubicBezTo>
                  <a:lnTo>
                    <a:pt x="89297" y="53578"/>
                  </a:lnTo>
                  <a:lnTo>
                    <a:pt x="267891" y="53578"/>
                  </a:lnTo>
                  <a:cubicBezTo>
                    <a:pt x="277769" y="53578"/>
                    <a:pt x="285750" y="61559"/>
                    <a:pt x="285750" y="71438"/>
                  </a:cubicBezTo>
                  <a:cubicBezTo>
                    <a:pt x="285750" y="81316"/>
                    <a:pt x="277769" y="89297"/>
                    <a:pt x="267891" y="89297"/>
                  </a:cubicBezTo>
                  <a:lnTo>
                    <a:pt x="89297" y="89297"/>
                  </a:lnTo>
                  <a:lnTo>
                    <a:pt x="89297" y="125016"/>
                  </a:lnTo>
                  <a:cubicBezTo>
                    <a:pt x="89297" y="132215"/>
                    <a:pt x="84944" y="138745"/>
                    <a:pt x="78246" y="141536"/>
                  </a:cubicBezTo>
                  <a:cubicBezTo>
                    <a:pt x="71549" y="144326"/>
                    <a:pt x="63903" y="142763"/>
                    <a:pt x="58769" y="137685"/>
                  </a:cubicBezTo>
                  <a:lnTo>
                    <a:pt x="5190" y="84106"/>
                  </a:lnTo>
                  <a:close/>
                </a:path>
              </a:pathLst>
            </a:custGeom>
            <a:solidFill>
              <a:srgbClr val="4A4A4A"/>
            </a:solidFill>
            <a:ln/>
          </p:spPr>
        </p:sp>
        <p:sp>
          <p:nvSpPr>
            <p:cNvPr id="90" name="Shape 17">
              <a:extLst>
                <a:ext uri="{FF2B5EF4-FFF2-40B4-BE49-F238E27FC236}">
                  <a16:creationId xmlns:a16="http://schemas.microsoft.com/office/drawing/2014/main" id="{75D289A2-2287-4429-B279-24ADE851E3E6}"/>
                </a:ext>
              </a:extLst>
            </p:cNvPr>
            <p:cNvSpPr/>
            <p:nvPr/>
          </p:nvSpPr>
          <p:spPr>
            <a:xfrm>
              <a:off x="6436519" y="1952625"/>
              <a:ext cx="5133975" cy="971550"/>
            </a:xfrm>
            <a:custGeom>
              <a:avLst/>
              <a:gdLst/>
              <a:ahLst/>
              <a:cxnLst/>
              <a:rect l="l" t="t" r="r" b="b"/>
              <a:pathLst>
                <a:path w="5133975" h="971550">
                  <a:moveTo>
                    <a:pt x="114303" y="0"/>
                  </a:moveTo>
                  <a:lnTo>
                    <a:pt x="5019672" y="0"/>
                  </a:lnTo>
                  <a:cubicBezTo>
                    <a:pt x="5082758" y="0"/>
                    <a:pt x="5133975" y="51217"/>
                    <a:pt x="5133975" y="114303"/>
                  </a:cubicBezTo>
                  <a:lnTo>
                    <a:pt x="5133975" y="857247"/>
                  </a:lnTo>
                  <a:cubicBezTo>
                    <a:pt x="5133975" y="920333"/>
                    <a:pt x="5082758" y="971550"/>
                    <a:pt x="501967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1" name="Shape 18">
              <a:extLst>
                <a:ext uri="{FF2B5EF4-FFF2-40B4-BE49-F238E27FC236}">
                  <a16:creationId xmlns:a16="http://schemas.microsoft.com/office/drawing/2014/main" id="{3408207D-FDA7-4F97-926E-6B9BB763DCFE}"/>
                </a:ext>
              </a:extLst>
            </p:cNvPr>
            <p:cNvSpPr/>
            <p:nvPr/>
          </p:nvSpPr>
          <p:spPr>
            <a:xfrm>
              <a:off x="6598444" y="2114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92" name="Shape 19">
              <a:extLst>
                <a:ext uri="{FF2B5EF4-FFF2-40B4-BE49-F238E27FC236}">
                  <a16:creationId xmlns:a16="http://schemas.microsoft.com/office/drawing/2014/main" id="{22CBD9E1-34D9-4781-A8A4-55CE4E9EC916}"/>
                </a:ext>
              </a:extLst>
            </p:cNvPr>
            <p:cNvSpPr/>
            <p:nvPr/>
          </p:nvSpPr>
          <p:spPr>
            <a:xfrm>
              <a:off x="6716316" y="2219325"/>
              <a:ext cx="150019" cy="17145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147273" y="67140"/>
                  </a:moveTo>
                  <a:cubicBezTo>
                    <a:pt x="144694" y="56793"/>
                    <a:pt x="139805" y="48990"/>
                    <a:pt x="129391" y="48990"/>
                  </a:cubicBezTo>
                  <a:lnTo>
                    <a:pt x="115963" y="48990"/>
                  </a:lnTo>
                  <a:lnTo>
                    <a:pt x="115963" y="64863"/>
                  </a:lnTo>
                  <a:cubicBezTo>
                    <a:pt x="115963" y="77186"/>
                    <a:pt x="105515" y="87567"/>
                    <a:pt x="93594" y="87567"/>
                  </a:cubicBezTo>
                  <a:lnTo>
                    <a:pt x="57831" y="87567"/>
                  </a:lnTo>
                  <a:cubicBezTo>
                    <a:pt x="48053" y="87567"/>
                    <a:pt x="39949" y="95938"/>
                    <a:pt x="39949" y="105750"/>
                  </a:cubicBezTo>
                  <a:lnTo>
                    <a:pt x="39949" y="139839"/>
                  </a:lnTo>
                  <a:cubicBezTo>
                    <a:pt x="39949" y="149550"/>
                    <a:pt x="48388" y="155243"/>
                    <a:pt x="57831" y="158022"/>
                  </a:cubicBezTo>
                  <a:cubicBezTo>
                    <a:pt x="69149" y="161337"/>
                    <a:pt x="80032" y="161940"/>
                    <a:pt x="93594" y="158022"/>
                  </a:cubicBezTo>
                  <a:cubicBezTo>
                    <a:pt x="102602" y="155410"/>
                    <a:pt x="111476" y="150153"/>
                    <a:pt x="111476" y="139839"/>
                  </a:cubicBezTo>
                  <a:lnTo>
                    <a:pt x="111476" y="126210"/>
                  </a:lnTo>
                  <a:lnTo>
                    <a:pt x="75746" y="126210"/>
                  </a:lnTo>
                  <a:lnTo>
                    <a:pt x="75746" y="121656"/>
                  </a:lnTo>
                  <a:lnTo>
                    <a:pt x="129391" y="121656"/>
                  </a:lnTo>
                  <a:cubicBezTo>
                    <a:pt x="139805" y="121656"/>
                    <a:pt x="143656" y="114389"/>
                    <a:pt x="147273" y="103506"/>
                  </a:cubicBezTo>
                  <a:cubicBezTo>
                    <a:pt x="151023" y="92288"/>
                    <a:pt x="150856" y="81506"/>
                    <a:pt x="147273" y="67140"/>
                  </a:cubicBezTo>
                  <a:close/>
                  <a:moveTo>
                    <a:pt x="95838" y="148914"/>
                  </a:moveTo>
                  <a:cubicBezTo>
                    <a:pt x="93289" y="149092"/>
                    <a:pt x="90854" y="147834"/>
                    <a:pt x="89525" y="145652"/>
                  </a:cubicBezTo>
                  <a:cubicBezTo>
                    <a:pt x="88196" y="143470"/>
                    <a:pt x="88196" y="140729"/>
                    <a:pt x="89525" y="138546"/>
                  </a:cubicBezTo>
                  <a:cubicBezTo>
                    <a:pt x="90854" y="136364"/>
                    <a:pt x="93289" y="135106"/>
                    <a:pt x="95838" y="135285"/>
                  </a:cubicBezTo>
                  <a:cubicBezTo>
                    <a:pt x="98386" y="135106"/>
                    <a:pt x="100822" y="136364"/>
                    <a:pt x="102151" y="138546"/>
                  </a:cubicBezTo>
                  <a:cubicBezTo>
                    <a:pt x="103479" y="140729"/>
                    <a:pt x="103479" y="143470"/>
                    <a:pt x="102151" y="145652"/>
                  </a:cubicBezTo>
                  <a:cubicBezTo>
                    <a:pt x="100822" y="147834"/>
                    <a:pt x="98386" y="149092"/>
                    <a:pt x="95838" y="148914"/>
                  </a:cubicBezTo>
                  <a:close/>
                  <a:moveTo>
                    <a:pt x="56190" y="83080"/>
                  </a:moveTo>
                  <a:lnTo>
                    <a:pt x="91953" y="83080"/>
                  </a:lnTo>
                  <a:cubicBezTo>
                    <a:pt x="101899" y="83080"/>
                    <a:pt x="109835" y="74875"/>
                    <a:pt x="109835" y="64897"/>
                  </a:cubicBezTo>
                  <a:lnTo>
                    <a:pt x="109835" y="30774"/>
                  </a:lnTo>
                  <a:cubicBezTo>
                    <a:pt x="109835" y="21063"/>
                    <a:pt x="101664" y="13796"/>
                    <a:pt x="91953" y="12156"/>
                  </a:cubicBezTo>
                  <a:cubicBezTo>
                    <a:pt x="79965" y="10180"/>
                    <a:pt x="66939" y="10280"/>
                    <a:pt x="56190" y="12189"/>
                  </a:cubicBezTo>
                  <a:cubicBezTo>
                    <a:pt x="41054" y="14868"/>
                    <a:pt x="38308" y="20460"/>
                    <a:pt x="38308" y="30807"/>
                  </a:cubicBezTo>
                  <a:lnTo>
                    <a:pt x="38308" y="44436"/>
                  </a:lnTo>
                  <a:lnTo>
                    <a:pt x="74105" y="44436"/>
                  </a:lnTo>
                  <a:lnTo>
                    <a:pt x="74105" y="48990"/>
                  </a:lnTo>
                  <a:lnTo>
                    <a:pt x="24880" y="48990"/>
                  </a:lnTo>
                  <a:cubicBezTo>
                    <a:pt x="14466" y="48990"/>
                    <a:pt x="5358" y="55252"/>
                    <a:pt x="2511" y="67140"/>
                  </a:cubicBezTo>
                  <a:cubicBezTo>
                    <a:pt x="-770" y="80769"/>
                    <a:pt x="-904" y="89275"/>
                    <a:pt x="2511" y="103506"/>
                  </a:cubicBezTo>
                  <a:cubicBezTo>
                    <a:pt x="5056" y="114088"/>
                    <a:pt x="11117" y="121656"/>
                    <a:pt x="21532" y="121656"/>
                  </a:cubicBezTo>
                  <a:lnTo>
                    <a:pt x="33821" y="121656"/>
                  </a:lnTo>
                  <a:lnTo>
                    <a:pt x="33821" y="105315"/>
                  </a:lnTo>
                  <a:cubicBezTo>
                    <a:pt x="33821" y="93494"/>
                    <a:pt x="44035" y="83080"/>
                    <a:pt x="56190" y="83080"/>
                  </a:cubicBezTo>
                  <a:close/>
                  <a:moveTo>
                    <a:pt x="53980" y="21666"/>
                  </a:moveTo>
                  <a:cubicBezTo>
                    <a:pt x="57750" y="21666"/>
                    <a:pt x="60811" y="24727"/>
                    <a:pt x="60811" y="28497"/>
                  </a:cubicBezTo>
                  <a:cubicBezTo>
                    <a:pt x="60811" y="32267"/>
                    <a:pt x="57750" y="35328"/>
                    <a:pt x="53980" y="35328"/>
                  </a:cubicBezTo>
                  <a:cubicBezTo>
                    <a:pt x="50210" y="35328"/>
                    <a:pt x="47149" y="32267"/>
                    <a:pt x="47149" y="28497"/>
                  </a:cubicBezTo>
                  <a:cubicBezTo>
                    <a:pt x="47149" y="24727"/>
                    <a:pt x="50210" y="21666"/>
                    <a:pt x="53980" y="21666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3" name="Text 20">
              <a:extLst>
                <a:ext uri="{FF2B5EF4-FFF2-40B4-BE49-F238E27FC236}">
                  <a16:creationId xmlns:a16="http://schemas.microsoft.com/office/drawing/2014/main" id="{C724F962-08FC-4663-92BE-03B2C99A992E}"/>
                </a:ext>
              </a:extLst>
            </p:cNvPr>
            <p:cNvSpPr/>
            <p:nvPr/>
          </p:nvSpPr>
          <p:spPr>
            <a:xfrm>
              <a:off x="7093744" y="2171700"/>
              <a:ext cx="4210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Middleware FastAPI</a:t>
              </a:r>
              <a:endParaRPr lang="en-US" sz="2400" dirty="0"/>
            </a:p>
          </p:txBody>
        </p:sp>
        <p:sp>
          <p:nvSpPr>
            <p:cNvPr id="94" name="Text 21">
              <a:extLst>
                <a:ext uri="{FF2B5EF4-FFF2-40B4-BE49-F238E27FC236}">
                  <a16:creationId xmlns:a16="http://schemas.microsoft.com/office/drawing/2014/main" id="{7CAFB15D-3E96-4994-B357-EFE2CEBCC56B}"/>
                </a:ext>
              </a:extLst>
            </p:cNvPr>
            <p:cNvSpPr/>
            <p:nvPr/>
          </p:nvSpPr>
          <p:spPr>
            <a:xfrm>
              <a:off x="6598444" y="2571750"/>
              <a:ext cx="4876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Маршрутизация, обработка</a:t>
              </a:r>
              <a:endParaRPr lang="en-US" sz="2400" dirty="0"/>
            </a:p>
          </p:txBody>
        </p:sp>
        <p:sp>
          <p:nvSpPr>
            <p:cNvPr id="95" name="Shape 22">
              <a:extLst>
                <a:ext uri="{FF2B5EF4-FFF2-40B4-BE49-F238E27FC236}">
                  <a16:creationId xmlns:a16="http://schemas.microsoft.com/office/drawing/2014/main" id="{587AA47D-7FCC-4E34-937B-1115B4A9ACA8}"/>
                </a:ext>
              </a:extLst>
            </p:cNvPr>
            <p:cNvSpPr/>
            <p:nvPr/>
          </p:nvSpPr>
          <p:spPr>
            <a:xfrm>
              <a:off x="7742237" y="31146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96" name="Shape 23">
              <a:extLst>
                <a:ext uri="{FF2B5EF4-FFF2-40B4-BE49-F238E27FC236}">
                  <a16:creationId xmlns:a16="http://schemas.microsoft.com/office/drawing/2014/main" id="{E90719E0-11A1-4279-9F00-B7A4DEEBE69A}"/>
                </a:ext>
              </a:extLst>
            </p:cNvPr>
            <p:cNvSpPr/>
            <p:nvPr/>
          </p:nvSpPr>
          <p:spPr>
            <a:xfrm>
              <a:off x="10162063" y="31242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5634" y="224403"/>
                  </a:moveTo>
                  <a:cubicBezTo>
                    <a:pt x="81216" y="229984"/>
                    <a:pt x="90279" y="229984"/>
                    <a:pt x="95860" y="224403"/>
                  </a:cubicBezTo>
                  <a:lnTo>
                    <a:pt x="167298" y="152966"/>
                  </a:lnTo>
                  <a:cubicBezTo>
                    <a:pt x="172879" y="147384"/>
                    <a:pt x="172879" y="138321"/>
                    <a:pt x="167298" y="132740"/>
                  </a:cubicBezTo>
                  <a:cubicBezTo>
                    <a:pt x="161717" y="127159"/>
                    <a:pt x="152653" y="127159"/>
                    <a:pt x="147072" y="132740"/>
                  </a:cubicBezTo>
                  <a:lnTo>
                    <a:pt x="100013" y="179799"/>
                  </a:lnTo>
                  <a:lnTo>
                    <a:pt x="100013" y="14288"/>
                  </a:lnTo>
                  <a:cubicBezTo>
                    <a:pt x="100013" y="6385"/>
                    <a:pt x="93628" y="0"/>
                    <a:pt x="85725" y="0"/>
                  </a:cubicBezTo>
                  <a:cubicBezTo>
                    <a:pt x="77822" y="0"/>
                    <a:pt x="71438" y="6385"/>
                    <a:pt x="71438" y="14288"/>
                  </a:cubicBezTo>
                  <a:lnTo>
                    <a:pt x="71438" y="179799"/>
                  </a:lnTo>
                  <a:lnTo>
                    <a:pt x="24378" y="132740"/>
                  </a:lnTo>
                  <a:cubicBezTo>
                    <a:pt x="18797" y="127159"/>
                    <a:pt x="9733" y="127159"/>
                    <a:pt x="4152" y="132740"/>
                  </a:cubicBezTo>
                  <a:cubicBezTo>
                    <a:pt x="-1429" y="138321"/>
                    <a:pt x="-1429" y="147384"/>
                    <a:pt x="4152" y="152966"/>
                  </a:cubicBezTo>
                  <a:lnTo>
                    <a:pt x="75590" y="224403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97" name="Shape 24">
              <a:extLst>
                <a:ext uri="{FF2B5EF4-FFF2-40B4-BE49-F238E27FC236}">
                  <a16:creationId xmlns:a16="http://schemas.microsoft.com/office/drawing/2014/main" id="{6CF48389-13AA-48CF-997E-8401A49F5A1B}"/>
                </a:ext>
              </a:extLst>
            </p:cNvPr>
            <p:cNvSpPr/>
            <p:nvPr/>
          </p:nvSpPr>
          <p:spPr>
            <a:xfrm>
              <a:off x="6436519" y="3476625"/>
              <a:ext cx="2486025" cy="971550"/>
            </a:xfrm>
            <a:custGeom>
              <a:avLst/>
              <a:gdLst/>
              <a:ahLst/>
              <a:cxnLst/>
              <a:rect l="l" t="t" r="r" b="b"/>
              <a:pathLst>
                <a:path w="2486025" h="971550">
                  <a:moveTo>
                    <a:pt x="114303" y="0"/>
                  </a:moveTo>
                  <a:lnTo>
                    <a:pt x="2371722" y="0"/>
                  </a:lnTo>
                  <a:cubicBezTo>
                    <a:pt x="2434808" y="0"/>
                    <a:pt x="2486025" y="51217"/>
                    <a:pt x="2486025" y="114303"/>
                  </a:cubicBezTo>
                  <a:lnTo>
                    <a:pt x="2486025" y="857247"/>
                  </a:lnTo>
                  <a:cubicBezTo>
                    <a:pt x="2486025" y="920333"/>
                    <a:pt x="2434808" y="971550"/>
                    <a:pt x="237172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8" name="Shape 25">
              <a:extLst>
                <a:ext uri="{FF2B5EF4-FFF2-40B4-BE49-F238E27FC236}">
                  <a16:creationId xmlns:a16="http://schemas.microsoft.com/office/drawing/2014/main" id="{88662568-E08A-4DA1-A8B6-6050FCC72036}"/>
                </a:ext>
              </a:extLst>
            </p:cNvPr>
            <p:cNvSpPr/>
            <p:nvPr/>
          </p:nvSpPr>
          <p:spPr>
            <a:xfrm>
              <a:off x="6598444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99" name="Shape 26">
              <a:extLst>
                <a:ext uri="{FF2B5EF4-FFF2-40B4-BE49-F238E27FC236}">
                  <a16:creationId xmlns:a16="http://schemas.microsoft.com/office/drawing/2014/main" id="{E17018B7-84D7-42A1-A51A-4337121EF09A}"/>
                </a:ext>
              </a:extLst>
            </p:cNvPr>
            <p:cNvSpPr/>
            <p:nvPr/>
          </p:nvSpPr>
          <p:spPr>
            <a:xfrm>
              <a:off x="6705600" y="37433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40184" y="18752"/>
                  </a:moveTo>
                  <a:cubicBezTo>
                    <a:pt x="40184" y="8405"/>
                    <a:pt x="48589" y="0"/>
                    <a:pt x="58936" y="0"/>
                  </a:cubicBezTo>
                  <a:lnTo>
                    <a:pt x="66973" y="0"/>
                  </a:lnTo>
                  <a:cubicBezTo>
                    <a:pt x="72900" y="0"/>
                    <a:pt x="77688" y="4789"/>
                    <a:pt x="77688" y="10716"/>
                  </a:cubicBezTo>
                  <a:lnTo>
                    <a:pt x="77688" y="160734"/>
                  </a:lnTo>
                  <a:cubicBezTo>
                    <a:pt x="77688" y="166661"/>
                    <a:pt x="72900" y="171450"/>
                    <a:pt x="66973" y="171450"/>
                  </a:cubicBezTo>
                  <a:lnTo>
                    <a:pt x="56257" y="171450"/>
                  </a:lnTo>
                  <a:cubicBezTo>
                    <a:pt x="46278" y="171450"/>
                    <a:pt x="37873" y="164619"/>
                    <a:pt x="35496" y="155377"/>
                  </a:cubicBezTo>
                  <a:cubicBezTo>
                    <a:pt x="35261" y="155377"/>
                    <a:pt x="35060" y="155377"/>
                    <a:pt x="34826" y="155377"/>
                  </a:cubicBezTo>
                  <a:cubicBezTo>
                    <a:pt x="20025" y="155377"/>
                    <a:pt x="8037" y="143388"/>
                    <a:pt x="8037" y="128588"/>
                  </a:cubicBezTo>
                  <a:cubicBezTo>
                    <a:pt x="8037" y="122560"/>
                    <a:pt x="10046" y="117001"/>
                    <a:pt x="13395" y="112514"/>
                  </a:cubicBezTo>
                  <a:cubicBezTo>
                    <a:pt x="6898" y="107625"/>
                    <a:pt x="2679" y="99856"/>
                    <a:pt x="2679" y="91083"/>
                  </a:cubicBezTo>
                  <a:cubicBezTo>
                    <a:pt x="2679" y="80736"/>
                    <a:pt x="8573" y="71728"/>
                    <a:pt x="17145" y="67274"/>
                  </a:cubicBezTo>
                  <a:cubicBezTo>
                    <a:pt x="14767" y="63256"/>
                    <a:pt x="13395" y="58568"/>
                    <a:pt x="13395" y="53578"/>
                  </a:cubicBezTo>
                  <a:cubicBezTo>
                    <a:pt x="13395" y="38777"/>
                    <a:pt x="25383" y="26789"/>
                    <a:pt x="40184" y="26789"/>
                  </a:cubicBezTo>
                  <a:lnTo>
                    <a:pt x="40184" y="18752"/>
                  </a:lnTo>
                  <a:close/>
                  <a:moveTo>
                    <a:pt x="131266" y="18752"/>
                  </a:moveTo>
                  <a:lnTo>
                    <a:pt x="131266" y="26789"/>
                  </a:lnTo>
                  <a:cubicBezTo>
                    <a:pt x="146067" y="26789"/>
                    <a:pt x="158055" y="38777"/>
                    <a:pt x="158055" y="53578"/>
                  </a:cubicBezTo>
                  <a:cubicBezTo>
                    <a:pt x="158055" y="58601"/>
                    <a:pt x="156683" y="63289"/>
                    <a:pt x="154305" y="67274"/>
                  </a:cubicBezTo>
                  <a:cubicBezTo>
                    <a:pt x="162911" y="71728"/>
                    <a:pt x="168771" y="80702"/>
                    <a:pt x="168771" y="91083"/>
                  </a:cubicBezTo>
                  <a:cubicBezTo>
                    <a:pt x="168771" y="99856"/>
                    <a:pt x="164552" y="107625"/>
                    <a:pt x="158055" y="112514"/>
                  </a:cubicBezTo>
                  <a:cubicBezTo>
                    <a:pt x="161404" y="117001"/>
                    <a:pt x="163413" y="122560"/>
                    <a:pt x="163413" y="128588"/>
                  </a:cubicBezTo>
                  <a:cubicBezTo>
                    <a:pt x="163413" y="143388"/>
                    <a:pt x="151425" y="155377"/>
                    <a:pt x="136624" y="155377"/>
                  </a:cubicBezTo>
                  <a:cubicBezTo>
                    <a:pt x="136390" y="155377"/>
                    <a:pt x="136189" y="155377"/>
                    <a:pt x="135954" y="155377"/>
                  </a:cubicBezTo>
                  <a:cubicBezTo>
                    <a:pt x="133577" y="164619"/>
                    <a:pt x="125172" y="171450"/>
                    <a:pt x="115193" y="171450"/>
                  </a:cubicBezTo>
                  <a:lnTo>
                    <a:pt x="104477" y="171450"/>
                  </a:lnTo>
                  <a:cubicBezTo>
                    <a:pt x="98550" y="171450"/>
                    <a:pt x="93762" y="166661"/>
                    <a:pt x="93762" y="160734"/>
                  </a:cubicBezTo>
                  <a:lnTo>
                    <a:pt x="93762" y="10716"/>
                  </a:lnTo>
                  <a:cubicBezTo>
                    <a:pt x="93762" y="4789"/>
                    <a:pt x="98550" y="0"/>
                    <a:pt x="104477" y="0"/>
                  </a:cubicBezTo>
                  <a:lnTo>
                    <a:pt x="112514" y="0"/>
                  </a:lnTo>
                  <a:cubicBezTo>
                    <a:pt x="122861" y="0"/>
                    <a:pt x="131266" y="8405"/>
                    <a:pt x="131266" y="18752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0" name="Text 27">
              <a:extLst>
                <a:ext uri="{FF2B5EF4-FFF2-40B4-BE49-F238E27FC236}">
                  <a16:creationId xmlns:a16="http://schemas.microsoft.com/office/drawing/2014/main" id="{B371304D-8BAE-4261-960A-24B8DE2D070D}"/>
                </a:ext>
              </a:extLst>
            </p:cNvPr>
            <p:cNvSpPr/>
            <p:nvPr/>
          </p:nvSpPr>
          <p:spPr>
            <a:xfrm>
              <a:off x="7093744" y="3714750"/>
              <a:ext cx="15930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LLM API</a:t>
              </a:r>
              <a:endParaRPr lang="en-US" sz="2400" dirty="0"/>
            </a:p>
          </p:txBody>
        </p:sp>
        <p:sp>
          <p:nvSpPr>
            <p:cNvPr id="101" name="Text 28">
              <a:extLst>
                <a:ext uri="{FF2B5EF4-FFF2-40B4-BE49-F238E27FC236}">
                  <a16:creationId xmlns:a16="http://schemas.microsoft.com/office/drawing/2014/main" id="{07578F0A-19C0-43E8-BDC3-1A9E30AD5B93}"/>
                </a:ext>
              </a:extLst>
            </p:cNvPr>
            <p:cNvSpPr/>
            <p:nvPr/>
          </p:nvSpPr>
          <p:spPr>
            <a:xfrm>
              <a:off x="6598444" y="4095750"/>
              <a:ext cx="22288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Понимание запросов</a:t>
              </a:r>
              <a:endParaRPr lang="en-US" sz="2400" dirty="0"/>
            </a:p>
          </p:txBody>
        </p:sp>
        <p:sp>
          <p:nvSpPr>
            <p:cNvPr id="102" name="Shape 29">
              <a:extLst>
                <a:ext uri="{FF2B5EF4-FFF2-40B4-BE49-F238E27FC236}">
                  <a16:creationId xmlns:a16="http://schemas.microsoft.com/office/drawing/2014/main" id="{C0B95E09-118E-48AE-A0A5-656F253ED33C}"/>
                </a:ext>
              </a:extLst>
            </p:cNvPr>
            <p:cNvSpPr/>
            <p:nvPr/>
          </p:nvSpPr>
          <p:spPr>
            <a:xfrm>
              <a:off x="9090501" y="3476625"/>
              <a:ext cx="2486025" cy="971550"/>
            </a:xfrm>
            <a:custGeom>
              <a:avLst/>
              <a:gdLst/>
              <a:ahLst/>
              <a:cxnLst/>
              <a:rect l="l" t="t" r="r" b="b"/>
              <a:pathLst>
                <a:path w="2486025" h="971550">
                  <a:moveTo>
                    <a:pt x="114303" y="0"/>
                  </a:moveTo>
                  <a:lnTo>
                    <a:pt x="2371722" y="0"/>
                  </a:lnTo>
                  <a:cubicBezTo>
                    <a:pt x="2434808" y="0"/>
                    <a:pt x="2486025" y="51217"/>
                    <a:pt x="2486025" y="114303"/>
                  </a:cubicBezTo>
                  <a:lnTo>
                    <a:pt x="2486025" y="857247"/>
                  </a:lnTo>
                  <a:cubicBezTo>
                    <a:pt x="2486025" y="920333"/>
                    <a:pt x="2434808" y="971550"/>
                    <a:pt x="2371722" y="971550"/>
                  </a:cubicBezTo>
                  <a:lnTo>
                    <a:pt x="114303" y="971550"/>
                  </a:lnTo>
                  <a:cubicBezTo>
                    <a:pt x="51217" y="971550"/>
                    <a:pt x="0" y="920333"/>
                    <a:pt x="0" y="857247"/>
                  </a:cubicBezTo>
                  <a:lnTo>
                    <a:pt x="0" y="114303"/>
                  </a:lnTo>
                  <a:cubicBezTo>
                    <a:pt x="0" y="51217"/>
                    <a:pt x="51217" y="0"/>
                    <a:pt x="114303" y="0"/>
                  </a:cubicBezTo>
                  <a:close/>
                </a:path>
              </a:pathLst>
            </a:cu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3" name="Shape 30">
              <a:extLst>
                <a:ext uri="{FF2B5EF4-FFF2-40B4-BE49-F238E27FC236}">
                  <a16:creationId xmlns:a16="http://schemas.microsoft.com/office/drawing/2014/main" id="{E07DD304-6EB1-49A5-89E6-BCD0D80A3A20}"/>
                </a:ext>
              </a:extLst>
            </p:cNvPr>
            <p:cNvSpPr/>
            <p:nvPr/>
          </p:nvSpPr>
          <p:spPr>
            <a:xfrm>
              <a:off x="9252426" y="3638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04" name="Shape 31">
              <a:extLst>
                <a:ext uri="{FF2B5EF4-FFF2-40B4-BE49-F238E27FC236}">
                  <a16:creationId xmlns:a16="http://schemas.microsoft.com/office/drawing/2014/main" id="{637796AD-7667-4C14-A8B9-C223F49D933D}"/>
                </a:ext>
              </a:extLst>
            </p:cNvPr>
            <p:cNvSpPr/>
            <p:nvPr/>
          </p:nvSpPr>
          <p:spPr>
            <a:xfrm>
              <a:off x="9370298" y="3743325"/>
              <a:ext cx="150019" cy="17145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150019" y="68915"/>
                  </a:moveTo>
                  <a:cubicBezTo>
                    <a:pt x="145063" y="72197"/>
                    <a:pt x="139370" y="74842"/>
                    <a:pt x="133443" y="76952"/>
                  </a:cubicBezTo>
                  <a:cubicBezTo>
                    <a:pt x="117704" y="82577"/>
                    <a:pt x="97043" y="85725"/>
                    <a:pt x="75009" y="85725"/>
                  </a:cubicBezTo>
                  <a:cubicBezTo>
                    <a:pt x="52975" y="85725"/>
                    <a:pt x="32281" y="82544"/>
                    <a:pt x="16576" y="76952"/>
                  </a:cubicBezTo>
                  <a:cubicBezTo>
                    <a:pt x="10682" y="74842"/>
                    <a:pt x="4956" y="72197"/>
                    <a:pt x="0" y="68915"/>
                  </a:cubicBezTo>
                  <a:lnTo>
                    <a:pt x="0" y="96441"/>
                  </a:lnTo>
                  <a:cubicBezTo>
                    <a:pt x="0" y="111242"/>
                    <a:pt x="33587" y="123230"/>
                    <a:pt x="75009" y="123230"/>
                  </a:cubicBezTo>
                  <a:cubicBezTo>
                    <a:pt x="116432" y="123230"/>
                    <a:pt x="150019" y="111242"/>
                    <a:pt x="150019" y="96441"/>
                  </a:cubicBezTo>
                  <a:lnTo>
                    <a:pt x="150019" y="68915"/>
                  </a:lnTo>
                  <a:close/>
                  <a:moveTo>
                    <a:pt x="150019" y="42863"/>
                  </a:moveTo>
                  <a:lnTo>
                    <a:pt x="150019" y="26789"/>
                  </a:lnTo>
                  <a:cubicBezTo>
                    <a:pt x="150019" y="11988"/>
                    <a:pt x="116432" y="0"/>
                    <a:pt x="75009" y="0"/>
                  </a:cubicBezTo>
                  <a:cubicBezTo>
                    <a:pt x="33587" y="0"/>
                    <a:pt x="0" y="11988"/>
                    <a:pt x="0" y="26789"/>
                  </a:cubicBezTo>
                  <a:lnTo>
                    <a:pt x="0" y="42863"/>
                  </a:lnTo>
                  <a:cubicBezTo>
                    <a:pt x="0" y="57663"/>
                    <a:pt x="33587" y="69652"/>
                    <a:pt x="75009" y="69652"/>
                  </a:cubicBezTo>
                  <a:cubicBezTo>
                    <a:pt x="116432" y="69652"/>
                    <a:pt x="150019" y="57663"/>
                    <a:pt x="150019" y="42863"/>
                  </a:cubicBezTo>
                  <a:close/>
                  <a:moveTo>
                    <a:pt x="133443" y="130530"/>
                  </a:moveTo>
                  <a:cubicBezTo>
                    <a:pt x="117738" y="136122"/>
                    <a:pt x="97077" y="139303"/>
                    <a:pt x="75009" y="139303"/>
                  </a:cubicBezTo>
                  <a:cubicBezTo>
                    <a:pt x="52942" y="139303"/>
                    <a:pt x="32281" y="136122"/>
                    <a:pt x="16576" y="130530"/>
                  </a:cubicBezTo>
                  <a:cubicBezTo>
                    <a:pt x="10682" y="128420"/>
                    <a:pt x="4956" y="125775"/>
                    <a:pt x="0" y="122493"/>
                  </a:cubicBezTo>
                  <a:lnTo>
                    <a:pt x="0" y="144661"/>
                  </a:lnTo>
                  <a:cubicBezTo>
                    <a:pt x="0" y="159462"/>
                    <a:pt x="33587" y="171450"/>
                    <a:pt x="75009" y="171450"/>
                  </a:cubicBezTo>
                  <a:cubicBezTo>
                    <a:pt x="116432" y="171450"/>
                    <a:pt x="150019" y="159462"/>
                    <a:pt x="150019" y="144661"/>
                  </a:cubicBezTo>
                  <a:lnTo>
                    <a:pt x="150019" y="122493"/>
                  </a:lnTo>
                  <a:cubicBezTo>
                    <a:pt x="145063" y="125775"/>
                    <a:pt x="139370" y="128420"/>
                    <a:pt x="133443" y="13053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5" name="Text 32">
              <a:extLst>
                <a:ext uri="{FF2B5EF4-FFF2-40B4-BE49-F238E27FC236}">
                  <a16:creationId xmlns:a16="http://schemas.microsoft.com/office/drawing/2014/main" id="{552A754E-50E0-4E19-8008-BE6600733834}"/>
                </a:ext>
              </a:extLst>
            </p:cNvPr>
            <p:cNvSpPr/>
            <p:nvPr/>
          </p:nvSpPr>
          <p:spPr>
            <a:xfrm>
              <a:off x="9747726" y="3714750"/>
              <a:ext cx="17037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Векторная БД</a:t>
              </a:r>
              <a:endParaRPr lang="en-US" sz="2400" dirty="0"/>
            </a:p>
          </p:txBody>
        </p:sp>
        <p:sp>
          <p:nvSpPr>
            <p:cNvPr id="106" name="Text 33">
              <a:extLst>
                <a:ext uri="{FF2B5EF4-FFF2-40B4-BE49-F238E27FC236}">
                  <a16:creationId xmlns:a16="http://schemas.microsoft.com/office/drawing/2014/main" id="{27A627CA-9C6A-4F11-842E-7B57B8AAE7E7}"/>
                </a:ext>
              </a:extLst>
            </p:cNvPr>
            <p:cNvSpPr/>
            <p:nvPr/>
          </p:nvSpPr>
          <p:spPr>
            <a:xfrm>
              <a:off x="9252426" y="4095750"/>
              <a:ext cx="22288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Метаданные 1С для RAG</a:t>
              </a:r>
              <a:endParaRPr lang="en-US" sz="2400" dirty="0"/>
            </a:p>
          </p:txBody>
        </p:sp>
      </p:grpSp>
      <p:grpSp>
        <p:nvGrpSpPr>
          <p:cNvPr id="107" name="Группа 106">
            <a:extLst>
              <a:ext uri="{FF2B5EF4-FFF2-40B4-BE49-F238E27FC236}">
                <a16:creationId xmlns:a16="http://schemas.microsoft.com/office/drawing/2014/main" id="{364B560A-0D6A-477F-BC03-1D984E70E988}"/>
              </a:ext>
            </a:extLst>
          </p:cNvPr>
          <p:cNvGrpSpPr/>
          <p:nvPr/>
        </p:nvGrpSpPr>
        <p:grpSpPr>
          <a:xfrm>
            <a:off x="24155418" y="5562600"/>
            <a:ext cx="11426825" cy="1028700"/>
            <a:chOff x="381000" y="4876800"/>
            <a:chExt cx="11426825" cy="1028700"/>
          </a:xfrm>
        </p:grpSpPr>
        <p:sp>
          <p:nvSpPr>
            <p:cNvPr id="108" name="Shape 34">
              <a:extLst>
                <a:ext uri="{FF2B5EF4-FFF2-40B4-BE49-F238E27FC236}">
                  <a16:creationId xmlns:a16="http://schemas.microsoft.com/office/drawing/2014/main" id="{B298AA93-F5A3-4E2C-AE4B-4FCD93CB9BAF}"/>
                </a:ext>
              </a:extLst>
            </p:cNvPr>
            <p:cNvSpPr/>
            <p:nvPr/>
          </p:nvSpPr>
          <p:spPr>
            <a:xfrm>
              <a:off x="3810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9" name="Shape 35">
              <a:extLst>
                <a:ext uri="{FF2B5EF4-FFF2-40B4-BE49-F238E27FC236}">
                  <a16:creationId xmlns:a16="http://schemas.microsoft.com/office/drawing/2014/main" id="{3BC26DF6-8C00-400C-9F2F-6B3E664FFDC7}"/>
                </a:ext>
              </a:extLst>
            </p:cNvPr>
            <p:cNvSpPr/>
            <p:nvPr/>
          </p:nvSpPr>
          <p:spPr>
            <a:xfrm>
              <a:off x="2120900" y="5029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67241"/>
                  </a:moveTo>
                  <a:lnTo>
                    <a:pt x="181541" y="110103"/>
                  </a:lnTo>
                  <a:cubicBezTo>
                    <a:pt x="177433" y="114211"/>
                    <a:pt x="171316" y="115416"/>
                    <a:pt x="165958" y="113184"/>
                  </a:cubicBezTo>
                  <a:cubicBezTo>
                    <a:pt x="160600" y="110951"/>
                    <a:pt x="157163" y="105772"/>
                    <a:pt x="157163" y="100013"/>
                  </a:cubicBezTo>
                  <a:lnTo>
                    <a:pt x="157163" y="71438"/>
                  </a:lnTo>
                  <a:lnTo>
                    <a:pt x="14288" y="71438"/>
                  </a:lnTo>
                  <a:cubicBezTo>
                    <a:pt x="6385" y="71438"/>
                    <a:pt x="0" y="65053"/>
                    <a:pt x="0" y="57150"/>
                  </a:cubicBezTo>
                  <a:cubicBezTo>
                    <a:pt x="0" y="49247"/>
                    <a:pt x="6385" y="42863"/>
                    <a:pt x="14288" y="42863"/>
                  </a:cubicBezTo>
                  <a:lnTo>
                    <a:pt x="157163" y="42863"/>
                  </a:lnTo>
                  <a:lnTo>
                    <a:pt x="157163" y="14288"/>
                  </a:lnTo>
                  <a:cubicBezTo>
                    <a:pt x="157163" y="8528"/>
                    <a:pt x="160645" y="3304"/>
                    <a:pt x="166003" y="1072"/>
                  </a:cubicBezTo>
                  <a:cubicBezTo>
                    <a:pt x="171361" y="-1161"/>
                    <a:pt x="177478" y="89"/>
                    <a:pt x="181585" y="4152"/>
                  </a:cubicBezTo>
                  <a:lnTo>
                    <a:pt x="224448" y="47015"/>
                  </a:lnTo>
                  <a:cubicBezTo>
                    <a:pt x="230029" y="52596"/>
                    <a:pt x="230029" y="61659"/>
                    <a:pt x="224448" y="67241"/>
                  </a:cubicBezTo>
                  <a:close/>
                  <a:moveTo>
                    <a:pt x="47015" y="224403"/>
                  </a:moveTo>
                  <a:lnTo>
                    <a:pt x="4152" y="181541"/>
                  </a:lnTo>
                  <a:cubicBezTo>
                    <a:pt x="-1429" y="175959"/>
                    <a:pt x="-1429" y="166896"/>
                    <a:pt x="4152" y="161315"/>
                  </a:cubicBezTo>
                  <a:lnTo>
                    <a:pt x="47015" y="118452"/>
                  </a:lnTo>
                  <a:cubicBezTo>
                    <a:pt x="51122" y="114345"/>
                    <a:pt x="57239" y="113139"/>
                    <a:pt x="62597" y="115372"/>
                  </a:cubicBezTo>
                  <a:cubicBezTo>
                    <a:pt x="67955" y="117604"/>
                    <a:pt x="71438" y="122828"/>
                    <a:pt x="71438" y="128588"/>
                  </a:cubicBezTo>
                  <a:lnTo>
                    <a:pt x="71438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cubicBezTo>
                    <a:pt x="228600" y="179353"/>
                    <a:pt x="222215" y="185738"/>
                    <a:pt x="214313" y="185738"/>
                  </a:cubicBezTo>
                  <a:lnTo>
                    <a:pt x="71438" y="185738"/>
                  </a:lnTo>
                  <a:lnTo>
                    <a:pt x="71438" y="214313"/>
                  </a:lnTo>
                  <a:cubicBezTo>
                    <a:pt x="71438" y="220072"/>
                    <a:pt x="67955" y="225296"/>
                    <a:pt x="62597" y="227528"/>
                  </a:cubicBezTo>
                  <a:cubicBezTo>
                    <a:pt x="57239" y="229761"/>
                    <a:pt x="51122" y="228511"/>
                    <a:pt x="47015" y="22444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0" name="Text 36">
              <a:extLst>
                <a:ext uri="{FF2B5EF4-FFF2-40B4-BE49-F238E27FC236}">
                  <a16:creationId xmlns:a16="http://schemas.microsoft.com/office/drawing/2014/main" id="{B88E7B5A-13FB-4003-BF9D-745966894FD8}"/>
                </a:ext>
              </a:extLst>
            </p:cNvPr>
            <p:cNvSpPr/>
            <p:nvPr/>
          </p:nvSpPr>
          <p:spPr>
            <a:xfrm>
              <a:off x="4953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REST API</a:t>
              </a:r>
              <a:endParaRPr lang="en-US" sz="2800" dirty="0"/>
            </a:p>
          </p:txBody>
        </p:sp>
        <p:sp>
          <p:nvSpPr>
            <p:cNvPr id="111" name="Text 37">
              <a:extLst>
                <a:ext uri="{FF2B5EF4-FFF2-40B4-BE49-F238E27FC236}">
                  <a16:creationId xmlns:a16="http://schemas.microsoft.com/office/drawing/2014/main" id="{6A31A30C-5C8D-4CE4-B5AA-66BAB0E500E2}"/>
                </a:ext>
              </a:extLst>
            </p:cNvPr>
            <p:cNvSpPr/>
            <p:nvPr/>
          </p:nvSpPr>
          <p:spPr>
            <a:xfrm>
              <a:off x="500063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JSON формат</a:t>
              </a:r>
              <a:endParaRPr lang="en-US" sz="2800" dirty="0"/>
            </a:p>
          </p:txBody>
        </p:sp>
        <p:sp>
          <p:nvSpPr>
            <p:cNvPr id="112" name="Shape 38">
              <a:extLst>
                <a:ext uri="{FF2B5EF4-FFF2-40B4-BE49-F238E27FC236}">
                  <a16:creationId xmlns:a16="http://schemas.microsoft.com/office/drawing/2014/main" id="{E703DF02-A218-4B35-9E5B-6D0178127950}"/>
                </a:ext>
              </a:extLst>
            </p:cNvPr>
            <p:cNvSpPr/>
            <p:nvPr/>
          </p:nvSpPr>
          <p:spPr>
            <a:xfrm>
              <a:off x="42418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3" name="Shape 39">
              <a:extLst>
                <a:ext uri="{FF2B5EF4-FFF2-40B4-BE49-F238E27FC236}">
                  <a16:creationId xmlns:a16="http://schemas.microsoft.com/office/drawing/2014/main" id="{D25B26EE-AAFF-45EC-8C4E-871EA40D0A2D}"/>
                </a:ext>
              </a:extLst>
            </p:cNvPr>
            <p:cNvSpPr/>
            <p:nvPr/>
          </p:nvSpPr>
          <p:spPr>
            <a:xfrm>
              <a:off x="5995988" y="50292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51269" y="-4420"/>
                  </a:moveTo>
                  <a:cubicBezTo>
                    <a:pt x="156582" y="-580"/>
                    <a:pt x="158547" y="6385"/>
                    <a:pt x="156136" y="12457"/>
                  </a:cubicBezTo>
                  <a:lnTo>
                    <a:pt x="121131" y="100013"/>
                  </a:lnTo>
                  <a:lnTo>
                    <a:pt x="185738" y="100013"/>
                  </a:lnTo>
                  <a:cubicBezTo>
                    <a:pt x="191765" y="100013"/>
                    <a:pt x="197123" y="103763"/>
                    <a:pt x="199177" y="109433"/>
                  </a:cubicBezTo>
                  <a:cubicBezTo>
                    <a:pt x="201231" y="115104"/>
                    <a:pt x="199489" y="121444"/>
                    <a:pt x="194890" y="125284"/>
                  </a:cubicBezTo>
                  <a:lnTo>
                    <a:pt x="66303" y="232440"/>
                  </a:lnTo>
                  <a:cubicBezTo>
                    <a:pt x="61258" y="236637"/>
                    <a:pt x="54069" y="236860"/>
                    <a:pt x="48756" y="233020"/>
                  </a:cubicBezTo>
                  <a:cubicBezTo>
                    <a:pt x="43443" y="229180"/>
                    <a:pt x="41478" y="222215"/>
                    <a:pt x="43889" y="216143"/>
                  </a:cubicBezTo>
                  <a:lnTo>
                    <a:pt x="78894" y="128588"/>
                  </a:lnTo>
                  <a:lnTo>
                    <a:pt x="14288" y="128588"/>
                  </a:lnTo>
                  <a:cubicBezTo>
                    <a:pt x="8260" y="128588"/>
                    <a:pt x="2902" y="124837"/>
                    <a:pt x="848" y="119167"/>
                  </a:cubicBezTo>
                  <a:cubicBezTo>
                    <a:pt x="-1206" y="113496"/>
                    <a:pt x="536" y="107156"/>
                    <a:pt x="5135" y="103316"/>
                  </a:cubicBezTo>
                  <a:lnTo>
                    <a:pt x="133722" y="-3840"/>
                  </a:lnTo>
                  <a:cubicBezTo>
                    <a:pt x="138767" y="-8037"/>
                    <a:pt x="145956" y="-8260"/>
                    <a:pt x="151269" y="-442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4" name="Text 40">
              <a:extLst>
                <a:ext uri="{FF2B5EF4-FFF2-40B4-BE49-F238E27FC236}">
                  <a16:creationId xmlns:a16="http://schemas.microsoft.com/office/drawing/2014/main" id="{12ACE1E9-135E-4157-A08F-FD78DA55DAD0}"/>
                </a:ext>
              </a:extLst>
            </p:cNvPr>
            <p:cNvSpPr/>
            <p:nvPr/>
          </p:nvSpPr>
          <p:spPr>
            <a:xfrm>
              <a:off x="43561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Async</a:t>
              </a:r>
              <a:endParaRPr lang="en-US" sz="2800" dirty="0"/>
            </a:p>
          </p:txBody>
        </p:sp>
        <p:sp>
          <p:nvSpPr>
            <p:cNvPr id="115" name="Text 41">
              <a:extLst>
                <a:ext uri="{FF2B5EF4-FFF2-40B4-BE49-F238E27FC236}">
                  <a16:creationId xmlns:a16="http://schemas.microsoft.com/office/drawing/2014/main" id="{DC3641AE-DBBE-4A33-B4DE-A1754BCEF61F}"/>
                </a:ext>
              </a:extLst>
            </p:cNvPr>
            <p:cNvSpPr/>
            <p:nvPr/>
          </p:nvSpPr>
          <p:spPr>
            <a:xfrm>
              <a:off x="4360862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Асинхронная обработка</a:t>
              </a:r>
              <a:endParaRPr lang="en-US" sz="2800" dirty="0"/>
            </a:p>
          </p:txBody>
        </p:sp>
        <p:sp>
          <p:nvSpPr>
            <p:cNvPr id="116" name="Shape 42">
              <a:extLst>
                <a:ext uri="{FF2B5EF4-FFF2-40B4-BE49-F238E27FC236}">
                  <a16:creationId xmlns:a16="http://schemas.microsoft.com/office/drawing/2014/main" id="{DC7C73D2-971E-40AC-9089-86B17856A022}"/>
                </a:ext>
              </a:extLst>
            </p:cNvPr>
            <p:cNvSpPr/>
            <p:nvPr/>
          </p:nvSpPr>
          <p:spPr>
            <a:xfrm>
              <a:off x="8102600" y="4876800"/>
              <a:ext cx="3705225" cy="1028700"/>
            </a:xfrm>
            <a:custGeom>
              <a:avLst/>
              <a:gdLst/>
              <a:ahLst/>
              <a:cxnLst/>
              <a:rect l="l" t="t" r="r" b="b"/>
              <a:pathLst>
                <a:path w="3705225" h="1028700">
                  <a:moveTo>
                    <a:pt x="114299" y="0"/>
                  </a:moveTo>
                  <a:lnTo>
                    <a:pt x="3590926" y="0"/>
                  </a:lnTo>
                  <a:cubicBezTo>
                    <a:pt x="3654052" y="0"/>
                    <a:pt x="3705225" y="51173"/>
                    <a:pt x="3705225" y="114299"/>
                  </a:cubicBezTo>
                  <a:lnTo>
                    <a:pt x="3705225" y="914401"/>
                  </a:lnTo>
                  <a:cubicBezTo>
                    <a:pt x="3705225" y="977527"/>
                    <a:pt x="3654052" y="1028700"/>
                    <a:pt x="3590926" y="1028700"/>
                  </a:cubicBezTo>
                  <a:lnTo>
                    <a:pt x="114299" y="1028700"/>
                  </a:lnTo>
                  <a:cubicBezTo>
                    <a:pt x="51173" y="1028700"/>
                    <a:pt x="0" y="977527"/>
                    <a:pt x="0" y="914401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7" name="Shape 43">
              <a:extLst>
                <a:ext uri="{FF2B5EF4-FFF2-40B4-BE49-F238E27FC236}">
                  <a16:creationId xmlns:a16="http://schemas.microsoft.com/office/drawing/2014/main" id="{8FC8866F-279A-4E96-9F84-F1D954DF6444}"/>
                </a:ext>
              </a:extLst>
            </p:cNvPr>
            <p:cNvSpPr/>
            <p:nvPr/>
          </p:nvSpPr>
          <p:spPr>
            <a:xfrm>
              <a:off x="9871075" y="50292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57150" y="42863"/>
                  </a:moveTo>
                  <a:lnTo>
                    <a:pt x="57150" y="71438"/>
                  </a:lnTo>
                  <a:lnTo>
                    <a:pt x="114300" y="71438"/>
                  </a:lnTo>
                  <a:lnTo>
                    <a:pt x="114300" y="42863"/>
                  </a:lnTo>
                  <a:cubicBezTo>
                    <a:pt x="114300" y="27102"/>
                    <a:pt x="101486" y="14288"/>
                    <a:pt x="85725" y="14288"/>
                  </a:cubicBezTo>
                  <a:cubicBezTo>
                    <a:pt x="69964" y="14288"/>
                    <a:pt x="57150" y="27102"/>
                    <a:pt x="57150" y="42863"/>
                  </a:cubicBezTo>
                  <a:close/>
                  <a:moveTo>
                    <a:pt x="28575" y="71438"/>
                  </a:moveTo>
                  <a:lnTo>
                    <a:pt x="28575" y="42863"/>
                  </a:lnTo>
                  <a:cubicBezTo>
                    <a:pt x="28575" y="11296"/>
                    <a:pt x="54159" y="-14287"/>
                    <a:pt x="85725" y="-14287"/>
                  </a:cubicBezTo>
                  <a:cubicBezTo>
                    <a:pt x="117291" y="-14287"/>
                    <a:pt x="142875" y="11296"/>
                    <a:pt x="142875" y="42863"/>
                  </a:cubicBezTo>
                  <a:lnTo>
                    <a:pt x="142875" y="71438"/>
                  </a:lnTo>
                  <a:cubicBezTo>
                    <a:pt x="158636" y="71438"/>
                    <a:pt x="171450" y="84252"/>
                    <a:pt x="171450" y="100013"/>
                  </a:cubicBezTo>
                  <a:lnTo>
                    <a:pt x="171450" y="200025"/>
                  </a:lnTo>
                  <a:cubicBezTo>
                    <a:pt x="171450" y="215786"/>
                    <a:pt x="158636" y="228600"/>
                    <a:pt x="14287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100013"/>
                  </a:lnTo>
                  <a:cubicBezTo>
                    <a:pt x="0" y="84252"/>
                    <a:pt x="12814" y="71438"/>
                    <a:pt x="28575" y="7143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8" name="Text 44">
              <a:extLst>
                <a:ext uri="{FF2B5EF4-FFF2-40B4-BE49-F238E27FC236}">
                  <a16:creationId xmlns:a16="http://schemas.microsoft.com/office/drawing/2014/main" id="{DDED8324-5963-4BC8-8609-14041A407048}"/>
                </a:ext>
              </a:extLst>
            </p:cNvPr>
            <p:cNvSpPr/>
            <p:nvPr/>
          </p:nvSpPr>
          <p:spPr>
            <a:xfrm>
              <a:off x="8216900" y="5334000"/>
              <a:ext cx="34766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Security</a:t>
              </a:r>
              <a:endParaRPr lang="en-US" sz="2800" dirty="0"/>
            </a:p>
          </p:txBody>
        </p:sp>
        <p:sp>
          <p:nvSpPr>
            <p:cNvPr id="119" name="Text 45">
              <a:extLst>
                <a:ext uri="{FF2B5EF4-FFF2-40B4-BE49-F238E27FC236}">
                  <a16:creationId xmlns:a16="http://schemas.microsoft.com/office/drawing/2014/main" id="{9D8A7657-8BE1-4911-8E8E-3E816BEC658B}"/>
                </a:ext>
              </a:extLst>
            </p:cNvPr>
            <p:cNvSpPr/>
            <p:nvPr/>
          </p:nvSpPr>
          <p:spPr>
            <a:xfrm>
              <a:off x="8221663" y="55626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Аутентификация</a:t>
              </a:r>
              <a:endParaRPr lang="en-US" sz="2800" dirty="0"/>
            </a:p>
          </p:txBody>
        </p:sp>
      </p:grpSp>
      <p:sp>
        <p:nvSpPr>
          <p:cNvPr id="120" name="Shape 0">
            <a:extLst>
              <a:ext uri="{FF2B5EF4-FFF2-40B4-BE49-F238E27FC236}">
                <a16:creationId xmlns:a16="http://schemas.microsoft.com/office/drawing/2014/main" id="{AA2E3ABF-C6C7-4AC4-8BAD-ED0E8EA38E05}"/>
              </a:ext>
            </a:extLst>
          </p:cNvPr>
          <p:cNvSpPr/>
          <p:nvPr/>
        </p:nvSpPr>
        <p:spPr>
          <a:xfrm>
            <a:off x="388260" y="-104865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1" name="Shape 1">
            <a:extLst>
              <a:ext uri="{FF2B5EF4-FFF2-40B4-BE49-F238E27FC236}">
                <a16:creationId xmlns:a16="http://schemas.microsoft.com/office/drawing/2014/main" id="{DF1F1358-E1D2-4BA9-B219-B463C77A6A88}"/>
              </a:ext>
            </a:extLst>
          </p:cNvPr>
          <p:cNvSpPr/>
          <p:nvPr/>
        </p:nvSpPr>
        <p:spPr>
          <a:xfrm>
            <a:off x="554948" y="-89625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22" name="Text 2">
            <a:extLst>
              <a:ext uri="{FF2B5EF4-FFF2-40B4-BE49-F238E27FC236}">
                <a16:creationId xmlns:a16="http://schemas.microsoft.com/office/drawing/2014/main" id="{FB0D173C-052F-4889-9DD1-51962A69884E}"/>
              </a:ext>
            </a:extLst>
          </p:cNvPr>
          <p:cNvSpPr/>
          <p:nvPr/>
        </p:nvSpPr>
        <p:spPr>
          <a:xfrm>
            <a:off x="1074060" y="-1029606"/>
            <a:ext cx="4124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RAG по метаданным 1С</a:t>
            </a:r>
            <a:endParaRPr lang="en-US" sz="1600" dirty="0"/>
          </a:p>
        </p:txBody>
      </p:sp>
      <p:sp>
        <p:nvSpPr>
          <p:cNvPr id="123" name="Shape 3">
            <a:extLst>
              <a:ext uri="{FF2B5EF4-FFF2-40B4-BE49-F238E27FC236}">
                <a16:creationId xmlns:a16="http://schemas.microsoft.com/office/drawing/2014/main" id="{A1B5DC0F-A23A-494E-896B-1FA1DFBA99CE}"/>
              </a:ext>
            </a:extLst>
          </p:cNvPr>
          <p:cNvSpPr/>
          <p:nvPr/>
        </p:nvSpPr>
        <p:spPr>
          <a:xfrm>
            <a:off x="817045" y="-572407"/>
            <a:ext cx="4228940" cy="45719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24" name="Text 7">
            <a:extLst>
              <a:ext uri="{FF2B5EF4-FFF2-40B4-BE49-F238E27FC236}">
                <a16:creationId xmlns:a16="http://schemas.microsoft.com/office/drawing/2014/main" id="{0F310235-34CC-46A7-909F-DD09DB4E91C9}"/>
              </a:ext>
            </a:extLst>
          </p:cNvPr>
          <p:cNvSpPr/>
          <p:nvPr/>
        </p:nvSpPr>
        <p:spPr>
          <a:xfrm>
            <a:off x="11134523" y="-116533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12</a:t>
            </a:r>
            <a:endParaRPr lang="en-US" sz="1600" dirty="0"/>
          </a:p>
        </p:txBody>
      </p:sp>
      <p:grpSp>
        <p:nvGrpSpPr>
          <p:cNvPr id="125" name="Группа 124">
            <a:extLst>
              <a:ext uri="{FF2B5EF4-FFF2-40B4-BE49-F238E27FC236}">
                <a16:creationId xmlns:a16="http://schemas.microsoft.com/office/drawing/2014/main" id="{F5C860CC-30BE-4F87-9B41-45F64DC369C3}"/>
              </a:ext>
            </a:extLst>
          </p:cNvPr>
          <p:cNvGrpSpPr/>
          <p:nvPr/>
        </p:nvGrpSpPr>
        <p:grpSpPr>
          <a:xfrm>
            <a:off x="-5831118" y="1143000"/>
            <a:ext cx="5600700" cy="4305300"/>
            <a:chOff x="381000" y="1143000"/>
            <a:chExt cx="5600700" cy="4305300"/>
          </a:xfrm>
        </p:grpSpPr>
        <p:sp>
          <p:nvSpPr>
            <p:cNvPr id="126" name="Shape 4">
              <a:extLst>
                <a:ext uri="{FF2B5EF4-FFF2-40B4-BE49-F238E27FC236}">
                  <a16:creationId xmlns:a16="http://schemas.microsoft.com/office/drawing/2014/main" id="{2952621F-9EEB-4C88-A84F-90D59F149177}"/>
                </a:ext>
              </a:extLst>
            </p:cNvPr>
            <p:cNvSpPr/>
            <p:nvPr/>
          </p:nvSpPr>
          <p:spPr>
            <a:xfrm>
              <a:off x="381000" y="1143000"/>
              <a:ext cx="5600700" cy="4305300"/>
            </a:xfrm>
            <a:custGeom>
              <a:avLst/>
              <a:gdLst/>
              <a:ahLst/>
              <a:cxnLst/>
              <a:rect l="l" t="t" r="r" b="b"/>
              <a:pathLst>
                <a:path w="5600700" h="4305300">
                  <a:moveTo>
                    <a:pt x="152408" y="0"/>
                  </a:moveTo>
                  <a:lnTo>
                    <a:pt x="5448292" y="0"/>
                  </a:lnTo>
                  <a:cubicBezTo>
                    <a:pt x="5532465" y="0"/>
                    <a:pt x="5600700" y="68235"/>
                    <a:pt x="5600700" y="152408"/>
                  </a:cubicBezTo>
                  <a:lnTo>
                    <a:pt x="5600700" y="4152892"/>
                  </a:lnTo>
                  <a:cubicBezTo>
                    <a:pt x="5600700" y="4237065"/>
                    <a:pt x="5532465" y="4305300"/>
                    <a:pt x="5448292" y="4305300"/>
                  </a:cubicBezTo>
                  <a:lnTo>
                    <a:pt x="152408" y="4305300"/>
                  </a:lnTo>
                  <a:cubicBezTo>
                    <a:pt x="68235" y="4305300"/>
                    <a:pt x="0" y="4237065"/>
                    <a:pt x="0" y="41528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27" name="Shape 5">
              <a:extLst>
                <a:ext uri="{FF2B5EF4-FFF2-40B4-BE49-F238E27FC236}">
                  <a16:creationId xmlns:a16="http://schemas.microsoft.com/office/drawing/2014/main" id="{775FBB16-D041-46B6-9B7F-B87601DD4B1B}"/>
                </a:ext>
              </a:extLst>
            </p:cNvPr>
            <p:cNvSpPr/>
            <p:nvPr/>
          </p:nvSpPr>
          <p:spPr>
            <a:xfrm>
              <a:off x="6096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8" name="Shape 6">
              <a:extLst>
                <a:ext uri="{FF2B5EF4-FFF2-40B4-BE49-F238E27FC236}">
                  <a16:creationId xmlns:a16="http://schemas.microsoft.com/office/drawing/2014/main" id="{61AE47C9-62C2-464E-B62F-D601963DE65C}"/>
                </a:ext>
              </a:extLst>
            </p:cNvPr>
            <p:cNvSpPr/>
            <p:nvPr/>
          </p:nvSpPr>
          <p:spPr>
            <a:xfrm>
              <a:off x="7429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00719" y="0"/>
                    <a:pt x="105742" y="3014"/>
                    <a:pt x="108347" y="7813"/>
                  </a:cubicBezTo>
                  <a:lnTo>
                    <a:pt x="188714" y="156642"/>
                  </a:lnTo>
                  <a:cubicBezTo>
                    <a:pt x="191207" y="161255"/>
                    <a:pt x="191095" y="166836"/>
                    <a:pt x="188416" y="171338"/>
                  </a:cubicBezTo>
                  <a:cubicBezTo>
                    <a:pt x="185737" y="175840"/>
                    <a:pt x="180863" y="178594"/>
                    <a:pt x="175617" y="178594"/>
                  </a:cubicBezTo>
                  <a:lnTo>
                    <a:pt x="14883" y="178594"/>
                  </a:lnTo>
                  <a:cubicBezTo>
                    <a:pt x="9637" y="178594"/>
                    <a:pt x="4800" y="175840"/>
                    <a:pt x="2084" y="171338"/>
                  </a:cubicBezTo>
                  <a:cubicBezTo>
                    <a:pt x="-633" y="166836"/>
                    <a:pt x="-707" y="161255"/>
                    <a:pt x="1786" y="156642"/>
                  </a:cubicBezTo>
                  <a:lnTo>
                    <a:pt x="82153" y="7813"/>
                  </a:lnTo>
                  <a:cubicBezTo>
                    <a:pt x="84758" y="3014"/>
                    <a:pt x="89781" y="0"/>
                    <a:pt x="95250" y="0"/>
                  </a:cubicBezTo>
                  <a:close/>
                  <a:moveTo>
                    <a:pt x="95250" y="62508"/>
                  </a:moveTo>
                  <a:cubicBezTo>
                    <a:pt x="90301" y="62508"/>
                    <a:pt x="86320" y="66489"/>
                    <a:pt x="86320" y="71438"/>
                  </a:cubicBezTo>
                  <a:lnTo>
                    <a:pt x="86320" y="113109"/>
                  </a:lnTo>
                  <a:cubicBezTo>
                    <a:pt x="86320" y="118058"/>
                    <a:pt x="90301" y="122039"/>
                    <a:pt x="95250" y="122039"/>
                  </a:cubicBezTo>
                  <a:cubicBezTo>
                    <a:pt x="100199" y="122039"/>
                    <a:pt x="104180" y="118058"/>
                    <a:pt x="104180" y="113109"/>
                  </a:cubicBezTo>
                  <a:lnTo>
                    <a:pt x="104180" y="71438"/>
                  </a:lnTo>
                  <a:cubicBezTo>
                    <a:pt x="104180" y="66489"/>
                    <a:pt x="100199" y="62508"/>
                    <a:pt x="95250" y="62508"/>
                  </a:cubicBezTo>
                  <a:close/>
                  <a:moveTo>
                    <a:pt x="105184" y="142875"/>
                  </a:moveTo>
                  <a:cubicBezTo>
                    <a:pt x="105410" y="139188"/>
                    <a:pt x="103571" y="135679"/>
                    <a:pt x="100410" y="133767"/>
                  </a:cubicBezTo>
                  <a:cubicBezTo>
                    <a:pt x="97249" y="131855"/>
                    <a:pt x="93288" y="131855"/>
                    <a:pt x="90127" y="133767"/>
                  </a:cubicBezTo>
                  <a:cubicBezTo>
                    <a:pt x="86966" y="135679"/>
                    <a:pt x="85127" y="139188"/>
                    <a:pt x="85353" y="142875"/>
                  </a:cubicBezTo>
                  <a:cubicBezTo>
                    <a:pt x="85127" y="146562"/>
                    <a:pt x="86966" y="150071"/>
                    <a:pt x="90127" y="151983"/>
                  </a:cubicBezTo>
                  <a:cubicBezTo>
                    <a:pt x="93288" y="153895"/>
                    <a:pt x="97249" y="153895"/>
                    <a:pt x="100410" y="151983"/>
                  </a:cubicBezTo>
                  <a:cubicBezTo>
                    <a:pt x="103571" y="150071"/>
                    <a:pt x="105410" y="146562"/>
                    <a:pt x="105184" y="14287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29" name="Text 7">
              <a:extLst>
                <a:ext uri="{FF2B5EF4-FFF2-40B4-BE49-F238E27FC236}">
                  <a16:creationId xmlns:a16="http://schemas.microsoft.com/office/drawing/2014/main" id="{AF945C27-0E11-4EF9-9A7E-FBF2569D5359}"/>
                </a:ext>
              </a:extLst>
            </p:cNvPr>
            <p:cNvSpPr/>
            <p:nvPr/>
          </p:nvSpPr>
          <p:spPr>
            <a:xfrm>
              <a:off x="1181100" y="1447800"/>
              <a:ext cx="29051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Проблема галлюцинаций</a:t>
              </a:r>
              <a:endParaRPr lang="en-US" sz="1600" dirty="0"/>
            </a:p>
          </p:txBody>
        </p:sp>
        <p:grpSp>
          <p:nvGrpSpPr>
            <p:cNvPr id="130" name="Группа 129">
              <a:extLst>
                <a:ext uri="{FF2B5EF4-FFF2-40B4-BE49-F238E27FC236}">
                  <a16:creationId xmlns:a16="http://schemas.microsoft.com/office/drawing/2014/main" id="{9827B076-EC60-449A-B273-77CF6AAE4CE2}"/>
                </a:ext>
              </a:extLst>
            </p:cNvPr>
            <p:cNvGrpSpPr/>
            <p:nvPr/>
          </p:nvGrpSpPr>
          <p:grpSpPr>
            <a:xfrm>
              <a:off x="619285" y="2106143"/>
              <a:ext cx="5143500" cy="1028700"/>
              <a:chOff x="619285" y="2307287"/>
              <a:chExt cx="5143500" cy="1028700"/>
            </a:xfrm>
          </p:grpSpPr>
          <p:sp>
            <p:nvSpPr>
              <p:cNvPr id="139" name="Shape 8">
                <a:extLst>
                  <a:ext uri="{FF2B5EF4-FFF2-40B4-BE49-F238E27FC236}">
                    <a16:creationId xmlns:a16="http://schemas.microsoft.com/office/drawing/2014/main" id="{538F6E20-318E-49AE-ADFF-A3647E6E5042}"/>
                  </a:ext>
                </a:extLst>
              </p:cNvPr>
              <p:cNvSpPr/>
              <p:nvPr/>
            </p:nvSpPr>
            <p:spPr>
              <a:xfrm>
                <a:off x="619285" y="2307287"/>
                <a:ext cx="5143500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028700">
                    <a:moveTo>
                      <a:pt x="114299" y="0"/>
                    </a:moveTo>
                    <a:lnTo>
                      <a:pt x="5029201" y="0"/>
                    </a:lnTo>
                    <a:cubicBezTo>
                      <a:pt x="5092327" y="0"/>
                      <a:pt x="5143500" y="51173"/>
                      <a:pt x="5143500" y="114299"/>
                    </a:cubicBezTo>
                    <a:lnTo>
                      <a:pt x="5143500" y="914401"/>
                    </a:lnTo>
                    <a:cubicBezTo>
                      <a:pt x="5143500" y="977527"/>
                      <a:pt x="5092327" y="1028700"/>
                      <a:pt x="5029201" y="1028700"/>
                    </a:cubicBezTo>
                    <a:lnTo>
                      <a:pt x="114299" y="1028700"/>
                    </a:lnTo>
                    <a:cubicBezTo>
                      <a:pt x="51173" y="1028700"/>
                      <a:pt x="0" y="977527"/>
                      <a:pt x="0" y="914401"/>
                    </a:cubicBezTo>
                    <a:lnTo>
                      <a:pt x="0" y="114299"/>
                    </a:lnTo>
                    <a:cubicBezTo>
                      <a:pt x="0" y="51173"/>
                      <a:pt x="51173" y="0"/>
                      <a:pt x="1142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40" name="Shape 9">
                <a:extLst>
                  <a:ext uri="{FF2B5EF4-FFF2-40B4-BE49-F238E27FC236}">
                    <a16:creationId xmlns:a16="http://schemas.microsoft.com/office/drawing/2014/main" id="{00A6AC24-38FE-454D-B80E-35524A8AA0B3}"/>
                  </a:ext>
                </a:extLst>
              </p:cNvPr>
              <p:cNvSpPr/>
              <p:nvPr/>
            </p:nvSpPr>
            <p:spPr>
              <a:xfrm>
                <a:off x="771685" y="2497787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62136" y="62136"/>
                    </a:moveTo>
                    <a:cubicBezTo>
                      <a:pt x="65633" y="58638"/>
                      <a:pt x="71289" y="58638"/>
                      <a:pt x="74749" y="62136"/>
                    </a:cubicBezTo>
                    <a:lnTo>
                      <a:pt x="95213" y="82600"/>
                    </a:lnTo>
                    <a:lnTo>
                      <a:pt x="115677" y="62136"/>
                    </a:lnTo>
                    <a:cubicBezTo>
                      <a:pt x="119174" y="58638"/>
                      <a:pt x="124830" y="58638"/>
                      <a:pt x="128290" y="62136"/>
                    </a:cubicBezTo>
                    <a:cubicBezTo>
                      <a:pt x="131750" y="65633"/>
                      <a:pt x="131787" y="71289"/>
                      <a:pt x="128290" y="74749"/>
                    </a:cubicBezTo>
                    <a:lnTo>
                      <a:pt x="107826" y="95213"/>
                    </a:lnTo>
                    <a:lnTo>
                      <a:pt x="128290" y="115677"/>
                    </a:lnTo>
                    <a:cubicBezTo>
                      <a:pt x="131787" y="119174"/>
                      <a:pt x="131787" y="124830"/>
                      <a:pt x="128290" y="128290"/>
                    </a:cubicBezTo>
                    <a:cubicBezTo>
                      <a:pt x="124792" y="131750"/>
                      <a:pt x="119137" y="131787"/>
                      <a:pt x="115677" y="128290"/>
                    </a:cubicBezTo>
                    <a:lnTo>
                      <a:pt x="95213" y="107826"/>
                    </a:lnTo>
                    <a:lnTo>
                      <a:pt x="74749" y="128290"/>
                    </a:lnTo>
                    <a:cubicBezTo>
                      <a:pt x="71251" y="131787"/>
                      <a:pt x="65596" y="131787"/>
                      <a:pt x="62136" y="128290"/>
                    </a:cubicBezTo>
                    <a:cubicBezTo>
                      <a:pt x="58675" y="124792"/>
                      <a:pt x="58638" y="119137"/>
                      <a:pt x="62136" y="115677"/>
                    </a:cubicBezTo>
                    <a:lnTo>
                      <a:pt x="82600" y="95213"/>
                    </a:lnTo>
                    <a:lnTo>
                      <a:pt x="62136" y="74749"/>
                    </a:lnTo>
                    <a:cubicBezTo>
                      <a:pt x="58638" y="71251"/>
                      <a:pt x="58638" y="65596"/>
                      <a:pt x="62136" y="62136"/>
                    </a:cubicBez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41" name="Text 10">
                <a:extLst>
                  <a:ext uri="{FF2B5EF4-FFF2-40B4-BE49-F238E27FC236}">
                    <a16:creationId xmlns:a16="http://schemas.microsoft.com/office/drawing/2014/main" id="{5165335F-32B7-4931-AAEE-8D3094DE27CD}"/>
                  </a:ext>
                </a:extLst>
              </p:cNvPr>
              <p:cNvSpPr/>
              <p:nvPr/>
            </p:nvSpPr>
            <p:spPr>
              <a:xfrm>
                <a:off x="1075215" y="2459687"/>
                <a:ext cx="46101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Без RAG</a:t>
                </a:r>
                <a:endParaRPr lang="en-US" sz="2000" dirty="0"/>
              </a:p>
            </p:txBody>
          </p:sp>
          <p:sp>
            <p:nvSpPr>
              <p:cNvPr id="142" name="Text 11">
                <a:extLst>
                  <a:ext uri="{FF2B5EF4-FFF2-40B4-BE49-F238E27FC236}">
                    <a16:creationId xmlns:a16="http://schemas.microsoft.com/office/drawing/2014/main" id="{9A8C4839-0D65-4145-AF62-0336937758DC}"/>
                  </a:ext>
                </a:extLst>
              </p:cNvPr>
              <p:cNvSpPr/>
              <p:nvPr/>
            </p:nvSpPr>
            <p:spPr>
              <a:xfrm>
                <a:off x="1075215" y="2754962"/>
                <a:ext cx="46101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может выдумывать несуществующие объекты и давать неточные ответы</a:t>
                </a:r>
                <a:endParaRPr lang="en-US" sz="2000" dirty="0"/>
              </a:p>
            </p:txBody>
          </p:sp>
        </p:grpSp>
        <p:grpSp>
          <p:nvGrpSpPr>
            <p:cNvPr id="131" name="Группа 130">
              <a:extLst>
                <a:ext uri="{FF2B5EF4-FFF2-40B4-BE49-F238E27FC236}">
                  <a16:creationId xmlns:a16="http://schemas.microsoft.com/office/drawing/2014/main" id="{317FD99D-4509-41B5-A4EE-02996D6C7882}"/>
                </a:ext>
              </a:extLst>
            </p:cNvPr>
            <p:cNvGrpSpPr/>
            <p:nvPr/>
          </p:nvGrpSpPr>
          <p:grpSpPr>
            <a:xfrm>
              <a:off x="619285" y="3488387"/>
              <a:ext cx="5143500" cy="1028700"/>
              <a:chOff x="619285" y="3488387"/>
              <a:chExt cx="5143500" cy="1028700"/>
            </a:xfrm>
          </p:grpSpPr>
          <p:sp>
            <p:nvSpPr>
              <p:cNvPr id="135" name="Shape 12">
                <a:extLst>
                  <a:ext uri="{FF2B5EF4-FFF2-40B4-BE49-F238E27FC236}">
                    <a16:creationId xmlns:a16="http://schemas.microsoft.com/office/drawing/2014/main" id="{B07C79CE-1ACA-49D6-89D2-2FD1B6351BB4}"/>
                  </a:ext>
                </a:extLst>
              </p:cNvPr>
              <p:cNvSpPr/>
              <p:nvPr/>
            </p:nvSpPr>
            <p:spPr>
              <a:xfrm>
                <a:off x="619285" y="3488387"/>
                <a:ext cx="5143500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028700">
                    <a:moveTo>
                      <a:pt x="114299" y="0"/>
                    </a:moveTo>
                    <a:lnTo>
                      <a:pt x="5029201" y="0"/>
                    </a:lnTo>
                    <a:cubicBezTo>
                      <a:pt x="5092327" y="0"/>
                      <a:pt x="5143500" y="51173"/>
                      <a:pt x="5143500" y="114299"/>
                    </a:cubicBezTo>
                    <a:lnTo>
                      <a:pt x="5143500" y="914401"/>
                    </a:lnTo>
                    <a:cubicBezTo>
                      <a:pt x="5143500" y="977527"/>
                      <a:pt x="5092327" y="1028700"/>
                      <a:pt x="5029201" y="1028700"/>
                    </a:cubicBezTo>
                    <a:lnTo>
                      <a:pt x="114299" y="1028700"/>
                    </a:lnTo>
                    <a:cubicBezTo>
                      <a:pt x="51173" y="1028700"/>
                      <a:pt x="0" y="977527"/>
                      <a:pt x="0" y="914401"/>
                    </a:cubicBezTo>
                    <a:lnTo>
                      <a:pt x="0" y="114299"/>
                    </a:lnTo>
                    <a:cubicBezTo>
                      <a:pt x="0" y="51173"/>
                      <a:pt x="51173" y="0"/>
                      <a:pt x="1142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36" name="Shape 13">
                <a:extLst>
                  <a:ext uri="{FF2B5EF4-FFF2-40B4-BE49-F238E27FC236}">
                    <a16:creationId xmlns:a16="http://schemas.microsoft.com/office/drawing/2014/main" id="{D78D40E7-8030-4398-AA33-929C5A98656C}"/>
                  </a:ext>
                </a:extLst>
              </p:cNvPr>
              <p:cNvSpPr/>
              <p:nvPr/>
            </p:nvSpPr>
            <p:spPr>
              <a:xfrm>
                <a:off x="781210" y="3678887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126653" y="79139"/>
                    </a:moveTo>
                    <a:lnTo>
                      <a:pt x="96887" y="126764"/>
                    </a:lnTo>
                    <a:cubicBezTo>
                      <a:pt x="95324" y="129257"/>
                      <a:pt x="92646" y="130820"/>
                      <a:pt x="89706" y="130969"/>
                    </a:cubicBezTo>
                    <a:cubicBezTo>
                      <a:pt x="86767" y="131118"/>
                      <a:pt x="83939" y="129778"/>
                      <a:pt x="82190" y="127397"/>
                    </a:cubicBezTo>
                    <a:lnTo>
                      <a:pt x="64331" y="103584"/>
                    </a:lnTo>
                    <a:cubicBezTo>
                      <a:pt x="61354" y="99640"/>
                      <a:pt x="62173" y="94059"/>
                      <a:pt x="66117" y="91083"/>
                    </a:cubicBezTo>
                    <a:cubicBezTo>
                      <a:pt x="70061" y="88106"/>
                      <a:pt x="75642" y="88925"/>
                      <a:pt x="78618" y="92869"/>
                    </a:cubicBezTo>
                    <a:lnTo>
                      <a:pt x="88664" y="106263"/>
                    </a:lnTo>
                    <a:lnTo>
                      <a:pt x="111509" y="69689"/>
                    </a:lnTo>
                    <a:cubicBezTo>
                      <a:pt x="114114" y="65522"/>
                      <a:pt x="119621" y="64219"/>
                      <a:pt x="123825" y="66861"/>
                    </a:cubicBezTo>
                    <a:cubicBezTo>
                      <a:pt x="128029" y="69503"/>
                      <a:pt x="129294" y="74972"/>
                      <a:pt x="126653" y="79177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37" name="Text 14">
                <a:extLst>
                  <a:ext uri="{FF2B5EF4-FFF2-40B4-BE49-F238E27FC236}">
                    <a16:creationId xmlns:a16="http://schemas.microsoft.com/office/drawing/2014/main" id="{24019310-168C-4598-BDF5-F57073A2AF5B}"/>
                  </a:ext>
                </a:extLst>
              </p:cNvPr>
              <p:cNvSpPr/>
              <p:nvPr/>
            </p:nvSpPr>
            <p:spPr>
              <a:xfrm>
                <a:off x="1096011" y="3640787"/>
                <a:ext cx="45910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 RAG</a:t>
                </a:r>
                <a:endParaRPr lang="en-US" sz="2000" dirty="0"/>
              </a:p>
            </p:txBody>
          </p:sp>
          <p:sp>
            <p:nvSpPr>
              <p:cNvPr id="138" name="Text 15">
                <a:extLst>
                  <a:ext uri="{FF2B5EF4-FFF2-40B4-BE49-F238E27FC236}">
                    <a16:creationId xmlns:a16="http://schemas.microsoft.com/office/drawing/2014/main" id="{4A320AE0-B112-4DC1-9DB9-4D210CEE0E73}"/>
                  </a:ext>
                </a:extLst>
              </p:cNvPr>
              <p:cNvSpPr/>
              <p:nvPr/>
            </p:nvSpPr>
            <p:spPr>
              <a:xfrm>
                <a:off x="1096011" y="3926537"/>
                <a:ext cx="459105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Модель получает только реальные метаданные 1С из векторной базы</a:t>
                </a:r>
                <a:endParaRPr lang="en-US" sz="2000" dirty="0"/>
              </a:p>
            </p:txBody>
          </p:sp>
        </p:grpSp>
        <p:grpSp>
          <p:nvGrpSpPr>
            <p:cNvPr id="132" name="Группа 131">
              <a:extLst>
                <a:ext uri="{FF2B5EF4-FFF2-40B4-BE49-F238E27FC236}">
                  <a16:creationId xmlns:a16="http://schemas.microsoft.com/office/drawing/2014/main" id="{7BE588B1-B468-4223-B0A3-FFC070FB542C}"/>
                </a:ext>
              </a:extLst>
            </p:cNvPr>
            <p:cNvGrpSpPr/>
            <p:nvPr/>
          </p:nvGrpSpPr>
          <p:grpSpPr>
            <a:xfrm>
              <a:off x="623899" y="4693094"/>
              <a:ext cx="5143500" cy="533400"/>
              <a:chOff x="623899" y="4693094"/>
              <a:chExt cx="5143500" cy="533400"/>
            </a:xfrm>
          </p:grpSpPr>
          <p:sp>
            <p:nvSpPr>
              <p:cNvPr id="133" name="Shape 16">
                <a:extLst>
                  <a:ext uri="{FF2B5EF4-FFF2-40B4-BE49-F238E27FC236}">
                    <a16:creationId xmlns:a16="http://schemas.microsoft.com/office/drawing/2014/main" id="{136BFD83-E599-47E1-A377-16E74305675A}"/>
                  </a:ext>
                </a:extLst>
              </p:cNvPr>
              <p:cNvSpPr/>
              <p:nvPr/>
            </p:nvSpPr>
            <p:spPr>
              <a:xfrm>
                <a:off x="623899" y="4693094"/>
                <a:ext cx="51435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34" name="Text 17">
                <a:extLst>
                  <a:ext uri="{FF2B5EF4-FFF2-40B4-BE49-F238E27FC236}">
                    <a16:creationId xmlns:a16="http://schemas.microsoft.com/office/drawing/2014/main" id="{BC02C6DA-1CF5-4141-93D4-A50080C974AA}"/>
                  </a:ext>
                </a:extLst>
              </p:cNvPr>
              <p:cNvSpPr/>
              <p:nvPr/>
            </p:nvSpPr>
            <p:spPr>
              <a:xfrm>
                <a:off x="738199" y="4845494"/>
                <a:ext cx="4914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Точность ответов повышается с 60% до 95%</a:t>
                </a:r>
                <a:endParaRPr lang="en-US" sz="2000" dirty="0"/>
              </a:p>
            </p:txBody>
          </p:sp>
        </p:grpSp>
      </p:grp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185960EE-74AB-4DF7-B4FF-8B0EAB65E376}"/>
              </a:ext>
            </a:extLst>
          </p:cNvPr>
          <p:cNvGrpSpPr/>
          <p:nvPr/>
        </p:nvGrpSpPr>
        <p:grpSpPr>
          <a:xfrm>
            <a:off x="13264248" y="1143000"/>
            <a:ext cx="5600700" cy="4305300"/>
            <a:chOff x="6210300" y="1143000"/>
            <a:chExt cx="5600700" cy="4305300"/>
          </a:xfrm>
        </p:grpSpPr>
        <p:sp>
          <p:nvSpPr>
            <p:cNvPr id="144" name="Shape 18">
              <a:extLst>
                <a:ext uri="{FF2B5EF4-FFF2-40B4-BE49-F238E27FC236}">
                  <a16:creationId xmlns:a16="http://schemas.microsoft.com/office/drawing/2014/main" id="{476EF4D9-3573-47B7-90B5-2123B3417785}"/>
                </a:ext>
              </a:extLst>
            </p:cNvPr>
            <p:cNvSpPr/>
            <p:nvPr/>
          </p:nvSpPr>
          <p:spPr>
            <a:xfrm>
              <a:off x="6210300" y="1143000"/>
              <a:ext cx="5600700" cy="4305300"/>
            </a:xfrm>
            <a:custGeom>
              <a:avLst/>
              <a:gdLst/>
              <a:ahLst/>
              <a:cxnLst/>
              <a:rect l="l" t="t" r="r" b="b"/>
              <a:pathLst>
                <a:path w="5600700" h="4305300">
                  <a:moveTo>
                    <a:pt x="152408" y="0"/>
                  </a:moveTo>
                  <a:lnTo>
                    <a:pt x="5448292" y="0"/>
                  </a:lnTo>
                  <a:cubicBezTo>
                    <a:pt x="5532465" y="0"/>
                    <a:pt x="5600700" y="68235"/>
                    <a:pt x="5600700" y="152408"/>
                  </a:cubicBezTo>
                  <a:lnTo>
                    <a:pt x="5600700" y="4152892"/>
                  </a:lnTo>
                  <a:cubicBezTo>
                    <a:pt x="5600700" y="4237065"/>
                    <a:pt x="5532465" y="4305300"/>
                    <a:pt x="5448292" y="4305300"/>
                  </a:cubicBezTo>
                  <a:lnTo>
                    <a:pt x="152408" y="4305300"/>
                  </a:lnTo>
                  <a:cubicBezTo>
                    <a:pt x="68235" y="4305300"/>
                    <a:pt x="0" y="4237065"/>
                    <a:pt x="0" y="41528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5" name="Shape 19">
              <a:extLst>
                <a:ext uri="{FF2B5EF4-FFF2-40B4-BE49-F238E27FC236}">
                  <a16:creationId xmlns:a16="http://schemas.microsoft.com/office/drawing/2014/main" id="{7A42842A-143C-4551-8698-1AA70F2ABC60}"/>
                </a:ext>
              </a:extLst>
            </p:cNvPr>
            <p:cNvSpPr/>
            <p:nvPr/>
          </p:nvSpPr>
          <p:spPr>
            <a:xfrm>
              <a:off x="64389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6" name="Shape 20">
              <a:extLst>
                <a:ext uri="{FF2B5EF4-FFF2-40B4-BE49-F238E27FC236}">
                  <a16:creationId xmlns:a16="http://schemas.microsoft.com/office/drawing/2014/main" id="{82E5732A-92C2-400D-A3E2-4D5B72CBA9C8}"/>
                </a:ext>
              </a:extLst>
            </p:cNvPr>
            <p:cNvSpPr/>
            <p:nvPr/>
          </p:nvSpPr>
          <p:spPr>
            <a:xfrm>
              <a:off x="65722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56034"/>
                  </a:moveTo>
                  <a:lnTo>
                    <a:pt x="151284" y="91753"/>
                  </a:lnTo>
                  <a:cubicBezTo>
                    <a:pt x="147861" y="95176"/>
                    <a:pt x="142763" y="96180"/>
                    <a:pt x="138299" y="94320"/>
                  </a:cubicBezTo>
                  <a:cubicBezTo>
                    <a:pt x="133834" y="92459"/>
                    <a:pt x="130969" y="88143"/>
                    <a:pt x="130969" y="83344"/>
                  </a:cubicBezTo>
                  <a:lnTo>
                    <a:pt x="130969" y="59531"/>
                  </a:lnTo>
                  <a:lnTo>
                    <a:pt x="11906" y="59531"/>
                  </a:lnTo>
                  <a:cubicBezTo>
                    <a:pt x="5321" y="59531"/>
                    <a:pt x="0" y="54211"/>
                    <a:pt x="0" y="47625"/>
                  </a:cubicBezTo>
                  <a:cubicBezTo>
                    <a:pt x="0" y="41039"/>
                    <a:pt x="5321" y="35719"/>
                    <a:pt x="11906" y="35719"/>
                  </a:cubicBezTo>
                  <a:lnTo>
                    <a:pt x="130969" y="35719"/>
                  </a:lnTo>
                  <a:lnTo>
                    <a:pt x="130969" y="11906"/>
                  </a:lnTo>
                  <a:cubicBezTo>
                    <a:pt x="130969" y="7107"/>
                    <a:pt x="133871" y="2753"/>
                    <a:pt x="138336" y="893"/>
                  </a:cubicBezTo>
                  <a:cubicBezTo>
                    <a:pt x="142801" y="-967"/>
                    <a:pt x="147898" y="74"/>
                    <a:pt x="151321" y="3460"/>
                  </a:cubicBezTo>
                  <a:lnTo>
                    <a:pt x="187040" y="39179"/>
                  </a:lnTo>
                  <a:cubicBezTo>
                    <a:pt x="191691" y="43830"/>
                    <a:pt x="191691" y="51383"/>
                    <a:pt x="187040" y="56034"/>
                  </a:cubicBezTo>
                  <a:close/>
                  <a:moveTo>
                    <a:pt x="39179" y="187003"/>
                  </a:moveTo>
                  <a:lnTo>
                    <a:pt x="3460" y="151284"/>
                  </a:lnTo>
                  <a:cubicBezTo>
                    <a:pt x="-1191" y="146633"/>
                    <a:pt x="-1191" y="139080"/>
                    <a:pt x="3460" y="134429"/>
                  </a:cubicBezTo>
                  <a:lnTo>
                    <a:pt x="39179" y="98710"/>
                  </a:lnTo>
                  <a:cubicBezTo>
                    <a:pt x="42602" y="95287"/>
                    <a:pt x="47699" y="94283"/>
                    <a:pt x="52164" y="96143"/>
                  </a:cubicBezTo>
                  <a:cubicBezTo>
                    <a:pt x="56629" y="98003"/>
                    <a:pt x="59531" y="102357"/>
                    <a:pt x="59531" y="107156"/>
                  </a:cubicBezTo>
                  <a:lnTo>
                    <a:pt x="59531" y="130969"/>
                  </a:lnTo>
                  <a:lnTo>
                    <a:pt x="178594" y="130969"/>
                  </a:lnTo>
                  <a:cubicBezTo>
                    <a:pt x="185179" y="130969"/>
                    <a:pt x="190500" y="136289"/>
                    <a:pt x="190500" y="142875"/>
                  </a:cubicBezTo>
                  <a:cubicBezTo>
                    <a:pt x="190500" y="149461"/>
                    <a:pt x="185179" y="154781"/>
                    <a:pt x="178594" y="154781"/>
                  </a:cubicBezTo>
                  <a:lnTo>
                    <a:pt x="59531" y="154781"/>
                  </a:lnTo>
                  <a:lnTo>
                    <a:pt x="59531" y="178594"/>
                  </a:lnTo>
                  <a:cubicBezTo>
                    <a:pt x="59531" y="183393"/>
                    <a:pt x="56629" y="187747"/>
                    <a:pt x="52164" y="189607"/>
                  </a:cubicBezTo>
                  <a:cubicBezTo>
                    <a:pt x="47699" y="191467"/>
                    <a:pt x="42602" y="190426"/>
                    <a:pt x="39179" y="18704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7" name="Text 21">
              <a:extLst>
                <a:ext uri="{FF2B5EF4-FFF2-40B4-BE49-F238E27FC236}">
                  <a16:creationId xmlns:a16="http://schemas.microsoft.com/office/drawing/2014/main" id="{D0B8A13F-D982-4BE1-B4AC-53727EA92B25}"/>
                </a:ext>
              </a:extLst>
            </p:cNvPr>
            <p:cNvSpPr/>
            <p:nvPr/>
          </p:nvSpPr>
          <p:spPr>
            <a:xfrm>
              <a:off x="7010400" y="1447800"/>
              <a:ext cx="29432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Сопоставление терминов</a:t>
              </a:r>
              <a:endParaRPr lang="en-US" sz="1600" dirty="0"/>
            </a:p>
          </p:txBody>
        </p:sp>
        <p:grpSp>
          <p:nvGrpSpPr>
            <p:cNvPr id="148" name="Группа 147">
              <a:extLst>
                <a:ext uri="{FF2B5EF4-FFF2-40B4-BE49-F238E27FC236}">
                  <a16:creationId xmlns:a16="http://schemas.microsoft.com/office/drawing/2014/main" id="{9A992483-4593-4691-99AF-A0CB03E1C963}"/>
                </a:ext>
              </a:extLst>
            </p:cNvPr>
            <p:cNvGrpSpPr/>
            <p:nvPr/>
          </p:nvGrpSpPr>
          <p:grpSpPr>
            <a:xfrm>
              <a:off x="6434279" y="2247180"/>
              <a:ext cx="5143500" cy="821369"/>
              <a:chOff x="6434279" y="2247180"/>
              <a:chExt cx="5143500" cy="821369"/>
            </a:xfrm>
          </p:grpSpPr>
          <p:sp>
            <p:nvSpPr>
              <p:cNvPr id="163" name="Shape 22">
                <a:extLst>
                  <a:ext uri="{FF2B5EF4-FFF2-40B4-BE49-F238E27FC236}">
                    <a16:creationId xmlns:a16="http://schemas.microsoft.com/office/drawing/2014/main" id="{60E20FBD-D805-479B-9EF4-F0EC2BC6951A}"/>
                  </a:ext>
                </a:extLst>
              </p:cNvPr>
              <p:cNvSpPr/>
              <p:nvPr/>
            </p:nvSpPr>
            <p:spPr>
              <a:xfrm>
                <a:off x="6434279" y="2247180"/>
                <a:ext cx="5143500" cy="821369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64" name="Shape 23">
                <a:extLst>
                  <a:ext uri="{FF2B5EF4-FFF2-40B4-BE49-F238E27FC236}">
                    <a16:creationId xmlns:a16="http://schemas.microsoft.com/office/drawing/2014/main" id="{B494A47B-90EA-487D-9B09-3137ABB04550}"/>
                  </a:ext>
                </a:extLst>
              </p:cNvPr>
              <p:cNvSpPr/>
              <p:nvPr/>
            </p:nvSpPr>
            <p:spPr>
              <a:xfrm>
                <a:off x="6593232" y="2538367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65" name="Text 24">
                <a:extLst>
                  <a:ext uri="{FF2B5EF4-FFF2-40B4-BE49-F238E27FC236}">
                    <a16:creationId xmlns:a16="http://schemas.microsoft.com/office/drawing/2014/main" id="{801855EC-686A-4DDA-B280-90B5FF631F1F}"/>
                  </a:ext>
                </a:extLst>
              </p:cNvPr>
              <p:cNvSpPr/>
              <p:nvPr/>
            </p:nvSpPr>
            <p:spPr>
              <a:xfrm>
                <a:off x="7108507" y="2474136"/>
                <a:ext cx="1194417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«продажа»</a:t>
                </a:r>
                <a:endParaRPr lang="en-US" sz="2000" dirty="0"/>
              </a:p>
            </p:txBody>
          </p:sp>
          <p:sp>
            <p:nvSpPr>
              <p:cNvPr id="166" name="Shape 25">
                <a:extLst>
                  <a:ext uri="{FF2B5EF4-FFF2-40B4-BE49-F238E27FC236}">
                    <a16:creationId xmlns:a16="http://schemas.microsoft.com/office/drawing/2014/main" id="{D89F0916-6653-43BF-99B3-6AF020BD91C2}"/>
                  </a:ext>
                </a:extLst>
              </p:cNvPr>
              <p:cNvSpPr/>
              <p:nvPr/>
            </p:nvSpPr>
            <p:spPr>
              <a:xfrm>
                <a:off x="8417260" y="2526660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67" name="Text 26">
                <a:extLst>
                  <a:ext uri="{FF2B5EF4-FFF2-40B4-BE49-F238E27FC236}">
                    <a16:creationId xmlns:a16="http://schemas.microsoft.com/office/drawing/2014/main" id="{D2F83D06-CBF0-4E20-B106-AB55773976BB}"/>
                  </a:ext>
                </a:extLst>
              </p:cNvPr>
              <p:cNvSpPr/>
              <p:nvPr/>
            </p:nvSpPr>
            <p:spPr>
              <a:xfrm>
                <a:off x="9051748" y="2450644"/>
                <a:ext cx="2038350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РеализацияТоваровУслуг</a:t>
                </a:r>
                <a:endParaRPr lang="en-US" sz="1600" dirty="0"/>
              </a:p>
            </p:txBody>
          </p:sp>
          <p:sp>
            <p:nvSpPr>
              <p:cNvPr id="168" name="Shape 27">
                <a:extLst>
                  <a:ext uri="{FF2B5EF4-FFF2-40B4-BE49-F238E27FC236}">
                    <a16:creationId xmlns:a16="http://schemas.microsoft.com/office/drawing/2014/main" id="{8A2CFA2E-9078-4B8C-9552-9563E12AA656}"/>
                  </a:ext>
                </a:extLst>
              </p:cNvPr>
              <p:cNvSpPr/>
              <p:nvPr/>
            </p:nvSpPr>
            <p:spPr>
              <a:xfrm>
                <a:off x="11177891" y="2505315"/>
                <a:ext cx="216559" cy="28874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9050" y="0"/>
                    </a:moveTo>
                    <a:cubicBezTo>
                      <a:pt x="8543" y="0"/>
                      <a:pt x="0" y="8543"/>
                      <a:pt x="0" y="19050"/>
                    </a:cubicBezTo>
                    <a:lnTo>
                      <a:pt x="0" y="133350"/>
                    </a:lnTo>
                    <a:cubicBezTo>
                      <a:pt x="0" y="143857"/>
                      <a:pt x="8543" y="152400"/>
                      <a:pt x="19050" y="152400"/>
                    </a:cubicBezTo>
                    <a:lnTo>
                      <a:pt x="95250" y="152400"/>
                    </a:lnTo>
                    <a:cubicBezTo>
                      <a:pt x="105757" y="152400"/>
                      <a:pt x="114300" y="143857"/>
                      <a:pt x="114300" y="133350"/>
                    </a:cubicBezTo>
                    <a:lnTo>
                      <a:pt x="114300" y="50750"/>
                    </a:lnTo>
                    <a:cubicBezTo>
                      <a:pt x="114300" y="45690"/>
                      <a:pt x="112306" y="40838"/>
                      <a:pt x="108734" y="37267"/>
                    </a:cubicBezTo>
                    <a:lnTo>
                      <a:pt x="77004" y="5566"/>
                    </a:lnTo>
                    <a:cubicBezTo>
                      <a:pt x="73432" y="1994"/>
                      <a:pt x="68610" y="0"/>
                      <a:pt x="63550" y="0"/>
                    </a:cubicBezTo>
                    <a:lnTo>
                      <a:pt x="19050" y="0"/>
                    </a:lnTo>
                    <a:close/>
                    <a:moveTo>
                      <a:pt x="96887" y="52388"/>
                    </a:moveTo>
                    <a:lnTo>
                      <a:pt x="69056" y="52388"/>
                    </a:lnTo>
                    <a:cubicBezTo>
                      <a:pt x="65097" y="52388"/>
                      <a:pt x="61912" y="49203"/>
                      <a:pt x="61912" y="45244"/>
                    </a:cubicBezTo>
                    <a:lnTo>
                      <a:pt x="61912" y="17413"/>
                    </a:lnTo>
                    <a:lnTo>
                      <a:pt x="96887" y="52388"/>
                    </a:lnTo>
                    <a:close/>
                    <a:moveTo>
                      <a:pt x="19050" y="114300"/>
                    </a:moveTo>
                    <a:lnTo>
                      <a:pt x="19050" y="95250"/>
                    </a:lnTo>
                    <a:cubicBezTo>
                      <a:pt x="19050" y="89981"/>
                      <a:pt x="23306" y="85725"/>
                      <a:pt x="28575" y="85725"/>
                    </a:cubicBezTo>
                    <a:lnTo>
                      <a:pt x="85725" y="85725"/>
                    </a:lnTo>
                    <a:cubicBezTo>
                      <a:pt x="90994" y="85725"/>
                      <a:pt x="95250" y="89981"/>
                      <a:pt x="95250" y="95250"/>
                    </a:cubicBezTo>
                    <a:lnTo>
                      <a:pt x="95250" y="114300"/>
                    </a:lnTo>
                    <a:cubicBezTo>
                      <a:pt x="95250" y="119569"/>
                      <a:pt x="90994" y="123825"/>
                      <a:pt x="85725" y="123825"/>
                    </a:cubicBezTo>
                    <a:lnTo>
                      <a:pt x="28575" y="123825"/>
                    </a:lnTo>
                    <a:cubicBezTo>
                      <a:pt x="23306" y="123825"/>
                      <a:pt x="19050" y="119569"/>
                      <a:pt x="19050" y="114300"/>
                    </a:cubicBezTo>
                    <a:close/>
                    <a:moveTo>
                      <a:pt x="26194" y="19050"/>
                    </a:moveTo>
                    <a:lnTo>
                      <a:pt x="40481" y="19050"/>
                    </a:lnTo>
                    <a:cubicBezTo>
                      <a:pt x="44440" y="19050"/>
                      <a:pt x="47625" y="22235"/>
                      <a:pt x="47625" y="26194"/>
                    </a:cubicBezTo>
                    <a:cubicBezTo>
                      <a:pt x="47625" y="30153"/>
                      <a:pt x="44440" y="33338"/>
                      <a:pt x="40481" y="33338"/>
                    </a:cubicBezTo>
                    <a:lnTo>
                      <a:pt x="26194" y="33338"/>
                    </a:lnTo>
                    <a:cubicBezTo>
                      <a:pt x="22235" y="33338"/>
                      <a:pt x="19050" y="30153"/>
                      <a:pt x="19050" y="26194"/>
                    </a:cubicBezTo>
                    <a:cubicBezTo>
                      <a:pt x="19050" y="22235"/>
                      <a:pt x="22235" y="19050"/>
                      <a:pt x="26194" y="19050"/>
                    </a:cubicBezTo>
                    <a:close/>
                    <a:moveTo>
                      <a:pt x="26194" y="47625"/>
                    </a:moveTo>
                    <a:lnTo>
                      <a:pt x="40481" y="47625"/>
                    </a:lnTo>
                    <a:cubicBezTo>
                      <a:pt x="44440" y="47625"/>
                      <a:pt x="47625" y="50810"/>
                      <a:pt x="47625" y="54769"/>
                    </a:cubicBezTo>
                    <a:cubicBezTo>
                      <a:pt x="47625" y="58728"/>
                      <a:pt x="44440" y="61912"/>
                      <a:pt x="40481" y="61912"/>
                    </a:cubicBezTo>
                    <a:lnTo>
                      <a:pt x="26194" y="61912"/>
                    </a:lnTo>
                    <a:cubicBezTo>
                      <a:pt x="22235" y="61912"/>
                      <a:pt x="19050" y="58728"/>
                      <a:pt x="19050" y="54769"/>
                    </a:cubicBezTo>
                    <a:cubicBezTo>
                      <a:pt x="19050" y="50810"/>
                      <a:pt x="22235" y="47625"/>
                      <a:pt x="26194" y="4762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  <p:txBody>
              <a:bodyPr/>
              <a:lstStyle/>
              <a:p>
                <a:endParaRPr lang="ru-RU" dirty="0"/>
              </a:p>
            </p:txBody>
          </p:sp>
        </p:grpSp>
        <p:grpSp>
          <p:nvGrpSpPr>
            <p:cNvPr id="149" name="Группа 148">
              <a:extLst>
                <a:ext uri="{FF2B5EF4-FFF2-40B4-BE49-F238E27FC236}">
                  <a16:creationId xmlns:a16="http://schemas.microsoft.com/office/drawing/2014/main" id="{A26F7C19-166A-47DF-9D83-CA630B9DD491}"/>
                </a:ext>
              </a:extLst>
            </p:cNvPr>
            <p:cNvGrpSpPr/>
            <p:nvPr/>
          </p:nvGrpSpPr>
          <p:grpSpPr>
            <a:xfrm>
              <a:off x="6434279" y="3278038"/>
              <a:ext cx="5143500" cy="821370"/>
              <a:chOff x="6434279" y="3278038"/>
              <a:chExt cx="5143500" cy="821370"/>
            </a:xfrm>
          </p:grpSpPr>
          <p:sp>
            <p:nvSpPr>
              <p:cNvPr id="157" name="Shape 28">
                <a:extLst>
                  <a:ext uri="{FF2B5EF4-FFF2-40B4-BE49-F238E27FC236}">
                    <a16:creationId xmlns:a16="http://schemas.microsoft.com/office/drawing/2014/main" id="{B2D62B61-3DE1-40A1-858A-E3BC3995B0AA}"/>
                  </a:ext>
                </a:extLst>
              </p:cNvPr>
              <p:cNvSpPr/>
              <p:nvPr/>
            </p:nvSpPr>
            <p:spPr>
              <a:xfrm>
                <a:off x="6434279" y="3278038"/>
                <a:ext cx="5143500" cy="82137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58" name="Shape 29">
                <a:extLst>
                  <a:ext uri="{FF2B5EF4-FFF2-40B4-BE49-F238E27FC236}">
                    <a16:creationId xmlns:a16="http://schemas.microsoft.com/office/drawing/2014/main" id="{ABAFF5CD-9196-4C8F-847E-D735C78A5BC5}"/>
                  </a:ext>
                </a:extLst>
              </p:cNvPr>
              <p:cNvSpPr/>
              <p:nvPr/>
            </p:nvSpPr>
            <p:spPr>
              <a:xfrm>
                <a:off x="6602140" y="3519007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9" name="Text 30">
                <a:extLst>
                  <a:ext uri="{FF2B5EF4-FFF2-40B4-BE49-F238E27FC236}">
                    <a16:creationId xmlns:a16="http://schemas.microsoft.com/office/drawing/2014/main" id="{B16CDD67-92C1-40B1-BAF0-95B222DA5381}"/>
                  </a:ext>
                </a:extLst>
              </p:cNvPr>
              <p:cNvSpPr/>
              <p:nvPr/>
            </p:nvSpPr>
            <p:spPr>
              <a:xfrm>
                <a:off x="7080391" y="3507239"/>
                <a:ext cx="1299863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«клиент»</a:t>
                </a:r>
                <a:endParaRPr lang="en-US" sz="2000" dirty="0"/>
              </a:p>
            </p:txBody>
          </p:sp>
          <p:sp>
            <p:nvSpPr>
              <p:cNvPr id="160" name="Shape 31">
                <a:extLst>
                  <a:ext uri="{FF2B5EF4-FFF2-40B4-BE49-F238E27FC236}">
                    <a16:creationId xmlns:a16="http://schemas.microsoft.com/office/drawing/2014/main" id="{7FF31994-D0C4-4D34-88B0-66BFC16EDFA0}"/>
                  </a:ext>
                </a:extLst>
              </p:cNvPr>
              <p:cNvSpPr/>
              <p:nvPr/>
            </p:nvSpPr>
            <p:spPr>
              <a:xfrm>
                <a:off x="8427719" y="3632168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61" name="Text 32">
                <a:extLst>
                  <a:ext uri="{FF2B5EF4-FFF2-40B4-BE49-F238E27FC236}">
                    <a16:creationId xmlns:a16="http://schemas.microsoft.com/office/drawing/2014/main" id="{847797E5-E113-4C69-9F8F-8F9D88FC7987}"/>
                  </a:ext>
                </a:extLst>
              </p:cNvPr>
              <p:cNvSpPr/>
              <p:nvPr/>
            </p:nvSpPr>
            <p:spPr>
              <a:xfrm>
                <a:off x="9051748" y="3530704"/>
                <a:ext cx="1313515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Справочник.Контрагенты</a:t>
                </a:r>
                <a:endParaRPr lang="en-US" sz="2000" dirty="0"/>
              </a:p>
            </p:txBody>
          </p:sp>
          <p:sp>
            <p:nvSpPr>
              <p:cNvPr id="162" name="Shape 33">
                <a:extLst>
                  <a:ext uri="{FF2B5EF4-FFF2-40B4-BE49-F238E27FC236}">
                    <a16:creationId xmlns:a16="http://schemas.microsoft.com/office/drawing/2014/main" id="{4B1FEF50-B4EB-4341-8515-B7EB60F7302D}"/>
                  </a:ext>
                </a:extLst>
              </p:cNvPr>
              <p:cNvSpPr/>
              <p:nvPr/>
            </p:nvSpPr>
            <p:spPr>
              <a:xfrm>
                <a:off x="11141797" y="3537054"/>
                <a:ext cx="288745" cy="28874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28575" y="0"/>
                    </a:moveTo>
                    <a:cubicBezTo>
                      <a:pt x="18068" y="0"/>
                      <a:pt x="9525" y="8543"/>
                      <a:pt x="9525" y="19050"/>
                    </a:cubicBezTo>
                    <a:lnTo>
                      <a:pt x="9525" y="133350"/>
                    </a:lnTo>
                    <a:cubicBezTo>
                      <a:pt x="9525" y="143857"/>
                      <a:pt x="18068" y="152400"/>
                      <a:pt x="28575" y="152400"/>
                    </a:cubicBezTo>
                    <a:lnTo>
                      <a:pt x="114300" y="152400"/>
                    </a:lnTo>
                    <a:cubicBezTo>
                      <a:pt x="124807" y="152400"/>
                      <a:pt x="133350" y="143857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43"/>
                      <a:pt x="124807" y="0"/>
                      <a:pt x="114300" y="0"/>
                    </a:cubicBezTo>
                    <a:lnTo>
                      <a:pt x="28575" y="0"/>
                    </a:lnTo>
                    <a:close/>
                    <a:moveTo>
                      <a:pt x="61912" y="85725"/>
                    </a:moveTo>
                    <a:lnTo>
                      <a:pt x="80962" y="85725"/>
                    </a:lnTo>
                    <a:cubicBezTo>
                      <a:pt x="94119" y="85725"/>
                      <a:pt x="104775" y="96381"/>
                      <a:pt x="104775" y="109537"/>
                    </a:cubicBezTo>
                    <a:cubicBezTo>
                      <a:pt x="104775" y="112157"/>
                      <a:pt x="102632" y="114300"/>
                      <a:pt x="100013" y="114300"/>
                    </a:cubicBezTo>
                    <a:lnTo>
                      <a:pt x="42863" y="114300"/>
                    </a:lnTo>
                    <a:cubicBezTo>
                      <a:pt x="40243" y="114300"/>
                      <a:pt x="38100" y="112157"/>
                      <a:pt x="38100" y="109537"/>
                    </a:cubicBezTo>
                    <a:cubicBezTo>
                      <a:pt x="38100" y="96381"/>
                      <a:pt x="48756" y="85725"/>
                      <a:pt x="61912" y="85725"/>
                    </a:cubicBezTo>
                    <a:close/>
                    <a:moveTo>
                      <a:pt x="54769" y="57150"/>
                    </a:moveTo>
                    <a:cubicBezTo>
                      <a:pt x="54769" y="47950"/>
                      <a:pt x="62238" y="40481"/>
                      <a:pt x="71438" y="40481"/>
                    </a:cubicBezTo>
                    <a:cubicBezTo>
                      <a:pt x="80637" y="40481"/>
                      <a:pt x="88106" y="47950"/>
                      <a:pt x="88106" y="57150"/>
                    </a:cubicBezTo>
                    <a:cubicBezTo>
                      <a:pt x="88106" y="66350"/>
                      <a:pt x="80637" y="73819"/>
                      <a:pt x="71438" y="73819"/>
                    </a:cubicBezTo>
                    <a:cubicBezTo>
                      <a:pt x="62238" y="73819"/>
                      <a:pt x="54769" y="66350"/>
                      <a:pt x="54769" y="57150"/>
                    </a:cubicBezTo>
                    <a:close/>
                    <a:moveTo>
                      <a:pt x="152400" y="23813"/>
                    </a:moveTo>
                    <a:cubicBezTo>
                      <a:pt x="152400" y="21193"/>
                      <a:pt x="150257" y="19050"/>
                      <a:pt x="147638" y="19050"/>
                    </a:cubicBezTo>
                    <a:cubicBezTo>
                      <a:pt x="145018" y="19050"/>
                      <a:pt x="142875" y="21193"/>
                      <a:pt x="142875" y="23813"/>
                    </a:cubicBezTo>
                    <a:lnTo>
                      <a:pt x="142875" y="42863"/>
                    </a:lnTo>
                    <a:cubicBezTo>
                      <a:pt x="142875" y="45482"/>
                      <a:pt x="145018" y="47625"/>
                      <a:pt x="147638" y="47625"/>
                    </a:cubicBezTo>
                    <a:cubicBezTo>
                      <a:pt x="150257" y="47625"/>
                      <a:pt x="152400" y="45482"/>
                      <a:pt x="152400" y="42863"/>
                    </a:cubicBezTo>
                    <a:lnTo>
                      <a:pt x="152400" y="23813"/>
                    </a:lnTo>
                    <a:close/>
                    <a:moveTo>
                      <a:pt x="152400" y="61912"/>
                    </a:moveTo>
                    <a:cubicBezTo>
                      <a:pt x="152400" y="59293"/>
                      <a:pt x="150257" y="57150"/>
                      <a:pt x="147638" y="57150"/>
                    </a:cubicBezTo>
                    <a:cubicBezTo>
                      <a:pt x="145018" y="57150"/>
                      <a:pt x="142875" y="59293"/>
                      <a:pt x="142875" y="61912"/>
                    </a:cubicBezTo>
                    <a:lnTo>
                      <a:pt x="142875" y="80962"/>
                    </a:lnTo>
                    <a:cubicBezTo>
                      <a:pt x="142875" y="83582"/>
                      <a:pt x="145018" y="85725"/>
                      <a:pt x="147638" y="85725"/>
                    </a:cubicBezTo>
                    <a:cubicBezTo>
                      <a:pt x="150257" y="85725"/>
                      <a:pt x="152400" y="83582"/>
                      <a:pt x="152400" y="80962"/>
                    </a:cubicBezTo>
                    <a:lnTo>
                      <a:pt x="152400" y="61912"/>
                    </a:lnTo>
                    <a:close/>
                    <a:moveTo>
                      <a:pt x="147638" y="95250"/>
                    </a:moveTo>
                    <a:cubicBezTo>
                      <a:pt x="145018" y="95250"/>
                      <a:pt x="142875" y="97393"/>
                      <a:pt x="142875" y="100013"/>
                    </a:cubicBezTo>
                    <a:lnTo>
                      <a:pt x="142875" y="119062"/>
                    </a:lnTo>
                    <a:cubicBezTo>
                      <a:pt x="142875" y="121682"/>
                      <a:pt x="145018" y="123825"/>
                      <a:pt x="147638" y="123825"/>
                    </a:cubicBezTo>
                    <a:cubicBezTo>
                      <a:pt x="150257" y="123825"/>
                      <a:pt x="152400" y="121682"/>
                      <a:pt x="152400" y="119062"/>
                    </a:cubicBezTo>
                    <a:lnTo>
                      <a:pt x="152400" y="100013"/>
                    </a:lnTo>
                    <a:cubicBezTo>
                      <a:pt x="152400" y="97393"/>
                      <a:pt x="150257" y="95250"/>
                      <a:pt x="147638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</p:grpSp>
        <p:grpSp>
          <p:nvGrpSpPr>
            <p:cNvPr id="150" name="Группа 149">
              <a:extLst>
                <a:ext uri="{FF2B5EF4-FFF2-40B4-BE49-F238E27FC236}">
                  <a16:creationId xmlns:a16="http://schemas.microsoft.com/office/drawing/2014/main" id="{E564AE8D-8994-48B5-88A9-48E814BD07FF}"/>
                </a:ext>
              </a:extLst>
            </p:cNvPr>
            <p:cNvGrpSpPr/>
            <p:nvPr/>
          </p:nvGrpSpPr>
          <p:grpSpPr>
            <a:xfrm>
              <a:off x="6443187" y="4308895"/>
              <a:ext cx="5143500" cy="821370"/>
              <a:chOff x="6443187" y="4308895"/>
              <a:chExt cx="5143500" cy="821370"/>
            </a:xfrm>
          </p:grpSpPr>
          <p:sp>
            <p:nvSpPr>
              <p:cNvPr id="151" name="Shape 34">
                <a:extLst>
                  <a:ext uri="{FF2B5EF4-FFF2-40B4-BE49-F238E27FC236}">
                    <a16:creationId xmlns:a16="http://schemas.microsoft.com/office/drawing/2014/main" id="{962CC92E-409F-4084-BB84-DD1D638419E1}"/>
                  </a:ext>
                </a:extLst>
              </p:cNvPr>
              <p:cNvSpPr/>
              <p:nvPr/>
            </p:nvSpPr>
            <p:spPr>
              <a:xfrm>
                <a:off x="6443187" y="4308895"/>
                <a:ext cx="5143500" cy="82137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52" name="Shape 35">
                <a:extLst>
                  <a:ext uri="{FF2B5EF4-FFF2-40B4-BE49-F238E27FC236}">
                    <a16:creationId xmlns:a16="http://schemas.microsoft.com/office/drawing/2014/main" id="{F7459911-3250-4DBF-A4B2-2A1E5A5008EB}"/>
                  </a:ext>
                </a:extLst>
              </p:cNvPr>
              <p:cNvSpPr/>
              <p:nvPr/>
            </p:nvSpPr>
            <p:spPr>
              <a:xfrm>
                <a:off x="6602140" y="4600081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3" name="Text 36">
                <a:extLst>
                  <a:ext uri="{FF2B5EF4-FFF2-40B4-BE49-F238E27FC236}">
                    <a16:creationId xmlns:a16="http://schemas.microsoft.com/office/drawing/2014/main" id="{91533BFD-6838-4493-9385-172E167CEDF5}"/>
                  </a:ext>
                </a:extLst>
              </p:cNvPr>
              <p:cNvSpPr/>
              <p:nvPr/>
            </p:nvSpPr>
            <p:spPr>
              <a:xfrm>
                <a:off x="7156609" y="4577362"/>
                <a:ext cx="981870" cy="2449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</a:t>
                </a: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остатки</a:t>
                </a: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»</a:t>
                </a:r>
                <a:endParaRPr lang="en-US" sz="1600" dirty="0"/>
              </a:p>
            </p:txBody>
          </p:sp>
          <p:sp>
            <p:nvSpPr>
              <p:cNvPr id="154" name="Shape 37">
                <a:extLst>
                  <a:ext uri="{FF2B5EF4-FFF2-40B4-BE49-F238E27FC236}">
                    <a16:creationId xmlns:a16="http://schemas.microsoft.com/office/drawing/2014/main" id="{AA746EA1-89AE-4B11-89C4-B88EBCCB7EB7}"/>
                  </a:ext>
                </a:extLst>
              </p:cNvPr>
              <p:cNvSpPr/>
              <p:nvPr/>
            </p:nvSpPr>
            <p:spPr>
              <a:xfrm>
                <a:off x="8417260" y="4499395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55" name="Text 38">
                <a:extLst>
                  <a:ext uri="{FF2B5EF4-FFF2-40B4-BE49-F238E27FC236}">
                    <a16:creationId xmlns:a16="http://schemas.microsoft.com/office/drawing/2014/main" id="{4E15BA24-9608-4E3F-B676-8B298D1C006F}"/>
                  </a:ext>
                </a:extLst>
              </p:cNvPr>
              <p:cNvSpPr/>
              <p:nvPr/>
            </p:nvSpPr>
            <p:spPr>
              <a:xfrm>
                <a:off x="9051748" y="4517087"/>
                <a:ext cx="2133600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Регистр.ТоварыНаСкладах</a:t>
                </a:r>
                <a:endParaRPr lang="en-US" sz="1600" dirty="0"/>
              </a:p>
            </p:txBody>
          </p:sp>
          <p:sp>
            <p:nvSpPr>
              <p:cNvPr id="156" name="Shape 39">
                <a:extLst>
                  <a:ext uri="{FF2B5EF4-FFF2-40B4-BE49-F238E27FC236}">
                    <a16:creationId xmlns:a16="http://schemas.microsoft.com/office/drawing/2014/main" id="{896BD379-8B7D-4CAF-937D-712117B55245}"/>
                  </a:ext>
                </a:extLst>
              </p:cNvPr>
              <p:cNvSpPr/>
              <p:nvPr/>
            </p:nvSpPr>
            <p:spPr>
              <a:xfrm>
                <a:off x="11111698" y="4548722"/>
                <a:ext cx="324838" cy="28874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42297"/>
                    </a:moveTo>
                    <a:lnTo>
                      <a:pt x="0" y="142875"/>
                    </a:lnTo>
                    <a:cubicBezTo>
                      <a:pt x="0" y="148144"/>
                      <a:pt x="4256" y="152400"/>
                      <a:pt x="9525" y="152400"/>
                    </a:cubicBezTo>
                    <a:cubicBezTo>
                      <a:pt x="14794" y="152400"/>
                      <a:pt x="19050" y="148144"/>
                      <a:pt x="19050" y="142875"/>
                    </a:cubicBezTo>
                    <a:lnTo>
                      <a:pt x="19050" y="71438"/>
                    </a:lnTo>
                    <a:cubicBezTo>
                      <a:pt x="19050" y="66169"/>
                      <a:pt x="23306" y="61912"/>
                      <a:pt x="28575" y="61912"/>
                    </a:cubicBezTo>
                    <a:lnTo>
                      <a:pt x="142875" y="61912"/>
                    </a:lnTo>
                    <a:cubicBezTo>
                      <a:pt x="148144" y="61912"/>
                      <a:pt x="152400" y="66169"/>
                      <a:pt x="152400" y="71438"/>
                    </a:cubicBezTo>
                    <a:lnTo>
                      <a:pt x="152400" y="142875"/>
                    </a:lnTo>
                    <a:cubicBezTo>
                      <a:pt x="152400" y="148144"/>
                      <a:pt x="156656" y="152400"/>
                      <a:pt x="161925" y="152400"/>
                    </a:cubicBezTo>
                    <a:cubicBezTo>
                      <a:pt x="167194" y="152400"/>
                      <a:pt x="171450" y="148144"/>
                      <a:pt x="171450" y="142875"/>
                    </a:cubicBezTo>
                    <a:lnTo>
                      <a:pt x="171450" y="42297"/>
                    </a:lnTo>
                    <a:cubicBezTo>
                      <a:pt x="171450" y="34111"/>
                      <a:pt x="166211" y="26819"/>
                      <a:pt x="158413" y="24229"/>
                    </a:cubicBezTo>
                    <a:lnTo>
                      <a:pt x="90249" y="1518"/>
                    </a:lnTo>
                    <a:cubicBezTo>
                      <a:pt x="87303" y="536"/>
                      <a:pt x="84147" y="536"/>
                      <a:pt x="81201" y="1518"/>
                    </a:cubicBezTo>
                    <a:lnTo>
                      <a:pt x="13037" y="24229"/>
                    </a:lnTo>
                    <a:cubicBezTo>
                      <a:pt x="5239" y="26819"/>
                      <a:pt x="0" y="34111"/>
                      <a:pt x="0" y="42297"/>
                    </a:cubicBezTo>
                    <a:close/>
                    <a:moveTo>
                      <a:pt x="138113" y="76200"/>
                    </a:moveTo>
                    <a:lnTo>
                      <a:pt x="33338" y="76200"/>
                    </a:lnTo>
                    <a:lnTo>
                      <a:pt x="33338" y="95250"/>
                    </a:lnTo>
                    <a:lnTo>
                      <a:pt x="138113" y="95250"/>
                    </a:lnTo>
                    <a:lnTo>
                      <a:pt x="138113" y="76200"/>
                    </a:lnTo>
                    <a:close/>
                    <a:moveTo>
                      <a:pt x="33338" y="123825"/>
                    </a:moveTo>
                    <a:lnTo>
                      <a:pt x="138113" y="123825"/>
                    </a:lnTo>
                    <a:lnTo>
                      <a:pt x="138113" y="104775"/>
                    </a:lnTo>
                    <a:lnTo>
                      <a:pt x="33338" y="104775"/>
                    </a:lnTo>
                    <a:lnTo>
                      <a:pt x="33338" y="123825"/>
                    </a:lnTo>
                    <a:close/>
                    <a:moveTo>
                      <a:pt x="138113" y="133350"/>
                    </a:moveTo>
                    <a:lnTo>
                      <a:pt x="33338" y="133350"/>
                    </a:lnTo>
                    <a:lnTo>
                      <a:pt x="33338" y="152400"/>
                    </a:lnTo>
                    <a:lnTo>
                      <a:pt x="138113" y="152400"/>
                    </a:lnTo>
                    <a:lnTo>
                      <a:pt x="138113" y="133350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</p:grpSp>
      </p:grpSp>
      <p:grpSp>
        <p:nvGrpSpPr>
          <p:cNvPr id="169" name="Группа 168">
            <a:extLst>
              <a:ext uri="{FF2B5EF4-FFF2-40B4-BE49-F238E27FC236}">
                <a16:creationId xmlns:a16="http://schemas.microsoft.com/office/drawing/2014/main" id="{96AF1F2B-8C39-41FC-A431-EF75ED0F63B9}"/>
              </a:ext>
            </a:extLst>
          </p:cNvPr>
          <p:cNvGrpSpPr/>
          <p:nvPr/>
        </p:nvGrpSpPr>
        <p:grpSpPr>
          <a:xfrm>
            <a:off x="-18429531" y="5638800"/>
            <a:ext cx="11430000" cy="838200"/>
            <a:chOff x="381000" y="5638800"/>
            <a:chExt cx="11430000" cy="838200"/>
          </a:xfrm>
        </p:grpSpPr>
        <p:sp>
          <p:nvSpPr>
            <p:cNvPr id="170" name="Shape 40">
              <a:extLst>
                <a:ext uri="{FF2B5EF4-FFF2-40B4-BE49-F238E27FC236}">
                  <a16:creationId xmlns:a16="http://schemas.microsoft.com/office/drawing/2014/main" id="{55761F36-7055-4BA1-ABA8-49DC0D5C899F}"/>
                </a:ext>
              </a:extLst>
            </p:cNvPr>
            <p:cNvSpPr/>
            <p:nvPr/>
          </p:nvSpPr>
          <p:spPr>
            <a:xfrm>
              <a:off x="381000" y="5638800"/>
              <a:ext cx="11430000" cy="838200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152402" y="0"/>
                  </a:moveTo>
                  <a:lnTo>
                    <a:pt x="11277598" y="0"/>
                  </a:lnTo>
                  <a:cubicBezTo>
                    <a:pt x="11361768" y="0"/>
                    <a:pt x="11430000" y="68232"/>
                    <a:pt x="11430000" y="152402"/>
                  </a:cubicBezTo>
                  <a:lnTo>
                    <a:pt x="11430000" y="685798"/>
                  </a:lnTo>
                  <a:cubicBezTo>
                    <a:pt x="11430000" y="769968"/>
                    <a:pt x="11361768" y="838200"/>
                    <a:pt x="11277598" y="838200"/>
                  </a:cubicBezTo>
                  <a:lnTo>
                    <a:pt x="152402" y="838200"/>
                  </a:lnTo>
                  <a:cubicBezTo>
                    <a:pt x="68232" y="838200"/>
                    <a:pt x="0" y="769968"/>
                    <a:pt x="0" y="685798"/>
                  </a:cubicBezTo>
                  <a:lnTo>
                    <a:pt x="0" y="152402"/>
                  </a:lnTo>
                  <a:cubicBezTo>
                    <a:pt x="0" y="68289"/>
                    <a:pt x="68289" y="0"/>
                    <a:pt x="1524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1" name="Shape 41">
              <a:extLst>
                <a:ext uri="{FF2B5EF4-FFF2-40B4-BE49-F238E27FC236}">
                  <a16:creationId xmlns:a16="http://schemas.microsoft.com/office/drawing/2014/main" id="{9A79145A-F6B2-4C8D-9074-6C432AFCE16F}"/>
                </a:ext>
              </a:extLst>
            </p:cNvPr>
            <p:cNvSpPr/>
            <p:nvPr/>
          </p:nvSpPr>
          <p:spPr>
            <a:xfrm>
              <a:off x="2063115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2" name="Shape 42">
              <a:extLst>
                <a:ext uri="{FF2B5EF4-FFF2-40B4-BE49-F238E27FC236}">
                  <a16:creationId xmlns:a16="http://schemas.microsoft.com/office/drawing/2014/main" id="{BACB1C62-A1A1-44D1-BF7E-722F1A45D8F2}"/>
                </a:ext>
              </a:extLst>
            </p:cNvPr>
            <p:cNvSpPr/>
            <p:nvPr/>
          </p:nvSpPr>
          <p:spPr>
            <a:xfrm>
              <a:off x="2196465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78594"/>
                  </a:moveTo>
                  <a:cubicBezTo>
                    <a:pt x="147861" y="178594"/>
                    <a:pt x="190500" y="138596"/>
                    <a:pt x="190500" y="89297"/>
                  </a:cubicBezTo>
                  <a:cubicBezTo>
                    <a:pt x="190500" y="39998"/>
                    <a:pt x="147861" y="0"/>
                    <a:pt x="95250" y="0"/>
                  </a:cubicBezTo>
                  <a:cubicBezTo>
                    <a:pt x="42639" y="0"/>
                    <a:pt x="0" y="39998"/>
                    <a:pt x="0" y="89297"/>
                  </a:cubicBezTo>
                  <a:cubicBezTo>
                    <a:pt x="0" y="109500"/>
                    <a:pt x="7144" y="128104"/>
                    <a:pt x="19199" y="143061"/>
                  </a:cubicBezTo>
                  <a:lnTo>
                    <a:pt x="1042" y="177403"/>
                  </a:lnTo>
                  <a:cubicBezTo>
                    <a:pt x="-744" y="180752"/>
                    <a:pt x="-186" y="184845"/>
                    <a:pt x="2381" y="187635"/>
                  </a:cubicBezTo>
                  <a:cubicBezTo>
                    <a:pt x="4949" y="190426"/>
                    <a:pt x="9004" y="191281"/>
                    <a:pt x="12464" y="189793"/>
                  </a:cubicBezTo>
                  <a:lnTo>
                    <a:pt x="56517" y="170929"/>
                  </a:lnTo>
                  <a:cubicBezTo>
                    <a:pt x="68349" y="175840"/>
                    <a:pt x="81446" y="178594"/>
                    <a:pt x="95250" y="178594"/>
                  </a:cubicBezTo>
                  <a:close/>
                  <a:moveTo>
                    <a:pt x="47625" y="77391"/>
                  </a:moveTo>
                  <a:cubicBezTo>
                    <a:pt x="54196" y="77391"/>
                    <a:pt x="59531" y="82726"/>
                    <a:pt x="59531" y="89297"/>
                  </a:cubicBezTo>
                  <a:cubicBezTo>
                    <a:pt x="59531" y="95868"/>
                    <a:pt x="54196" y="101203"/>
                    <a:pt x="47625" y="101203"/>
                  </a:cubicBezTo>
                  <a:cubicBezTo>
                    <a:pt x="41054" y="101203"/>
                    <a:pt x="35719" y="95868"/>
                    <a:pt x="35719" y="89297"/>
                  </a:cubicBezTo>
                  <a:cubicBezTo>
                    <a:pt x="35719" y="82726"/>
                    <a:pt x="41054" y="77391"/>
                    <a:pt x="47625" y="77391"/>
                  </a:cubicBezTo>
                  <a:close/>
                  <a:moveTo>
                    <a:pt x="95250" y="77391"/>
                  </a:moveTo>
                  <a:cubicBezTo>
                    <a:pt x="101821" y="77391"/>
                    <a:pt x="107156" y="82726"/>
                    <a:pt x="107156" y="89297"/>
                  </a:cubicBezTo>
                  <a:cubicBezTo>
                    <a:pt x="107156" y="95868"/>
                    <a:pt x="101821" y="101203"/>
                    <a:pt x="95250" y="101203"/>
                  </a:cubicBezTo>
                  <a:cubicBezTo>
                    <a:pt x="88679" y="101203"/>
                    <a:pt x="83344" y="95868"/>
                    <a:pt x="83344" y="89297"/>
                  </a:cubicBezTo>
                  <a:cubicBezTo>
                    <a:pt x="83344" y="82726"/>
                    <a:pt x="88679" y="77391"/>
                    <a:pt x="95250" y="77391"/>
                  </a:cubicBezTo>
                  <a:close/>
                  <a:moveTo>
                    <a:pt x="130969" y="89297"/>
                  </a:moveTo>
                  <a:cubicBezTo>
                    <a:pt x="130969" y="82726"/>
                    <a:pt x="136304" y="77391"/>
                    <a:pt x="142875" y="77391"/>
                  </a:cubicBezTo>
                  <a:cubicBezTo>
                    <a:pt x="149446" y="77391"/>
                    <a:pt x="154781" y="82726"/>
                    <a:pt x="154781" y="89297"/>
                  </a:cubicBezTo>
                  <a:cubicBezTo>
                    <a:pt x="154781" y="95868"/>
                    <a:pt x="149446" y="101203"/>
                    <a:pt x="142875" y="101203"/>
                  </a:cubicBezTo>
                  <a:cubicBezTo>
                    <a:pt x="136304" y="101203"/>
                    <a:pt x="130969" y="95868"/>
                    <a:pt x="130969" y="8929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73" name="Text 43">
              <a:extLst>
                <a:ext uri="{FF2B5EF4-FFF2-40B4-BE49-F238E27FC236}">
                  <a16:creationId xmlns:a16="http://schemas.microsoft.com/office/drawing/2014/main" id="{38B51568-FCE5-4FB8-B8C3-DC42E961C404}"/>
                </a:ext>
              </a:extLst>
            </p:cNvPr>
            <p:cNvSpPr/>
            <p:nvPr/>
          </p:nvSpPr>
          <p:spPr>
            <a:xfrm>
              <a:off x="2634615" y="5924550"/>
              <a:ext cx="7048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1600" dirty="0"/>
            </a:p>
          </p:txBody>
        </p:sp>
        <p:sp>
          <p:nvSpPr>
            <p:cNvPr id="174" name="Shape 44">
              <a:extLst>
                <a:ext uri="{FF2B5EF4-FFF2-40B4-BE49-F238E27FC236}">
                  <a16:creationId xmlns:a16="http://schemas.microsoft.com/office/drawing/2014/main" id="{9347723F-C1FD-4513-8477-BA0ABD80FE45}"/>
                </a:ext>
              </a:extLst>
            </p:cNvPr>
            <p:cNvSpPr/>
            <p:nvPr/>
          </p:nvSpPr>
          <p:spPr>
            <a:xfrm>
              <a:off x="3583305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75" name="Shape 45">
              <a:extLst>
                <a:ext uri="{FF2B5EF4-FFF2-40B4-BE49-F238E27FC236}">
                  <a16:creationId xmlns:a16="http://schemas.microsoft.com/office/drawing/2014/main" id="{945EEC61-1A18-40AE-BECD-2266C6F484F4}"/>
                </a:ext>
              </a:extLst>
            </p:cNvPr>
            <p:cNvSpPr/>
            <p:nvPr/>
          </p:nvSpPr>
          <p:spPr>
            <a:xfrm>
              <a:off x="4145280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6" name="Shape 46">
              <a:extLst>
                <a:ext uri="{FF2B5EF4-FFF2-40B4-BE49-F238E27FC236}">
                  <a16:creationId xmlns:a16="http://schemas.microsoft.com/office/drawing/2014/main" id="{2A2655D3-9AC2-4E86-857D-F7FAFEFDC37D}"/>
                </a:ext>
              </a:extLst>
            </p:cNvPr>
            <p:cNvSpPr/>
            <p:nvPr/>
          </p:nvSpPr>
          <p:spPr>
            <a:xfrm>
              <a:off x="4278630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54781" y="77391"/>
                  </a:moveTo>
                  <a:cubicBezTo>
                    <a:pt x="154781" y="94469"/>
                    <a:pt x="149237" y="110244"/>
                    <a:pt x="139898" y="123044"/>
                  </a:cubicBezTo>
                  <a:lnTo>
                    <a:pt x="187003" y="170185"/>
                  </a:lnTo>
                  <a:cubicBezTo>
                    <a:pt x="191653" y="174836"/>
                    <a:pt x="191653" y="182389"/>
                    <a:pt x="187003" y="187040"/>
                  </a:cubicBezTo>
                  <a:cubicBezTo>
                    <a:pt x="182352" y="191691"/>
                    <a:pt x="174799" y="191691"/>
                    <a:pt x="170148" y="187040"/>
                  </a:cubicBezTo>
                  <a:lnTo>
                    <a:pt x="123044" y="139898"/>
                  </a:lnTo>
                  <a:cubicBezTo>
                    <a:pt x="110244" y="149237"/>
                    <a:pt x="94469" y="154781"/>
                    <a:pt x="77391" y="154781"/>
                  </a:cubicBezTo>
                  <a:cubicBezTo>
                    <a:pt x="34640" y="154781"/>
                    <a:pt x="0" y="120142"/>
                    <a:pt x="0" y="77391"/>
                  </a:cubicBezTo>
                  <a:cubicBezTo>
                    <a:pt x="0" y="34640"/>
                    <a:pt x="34640" y="0"/>
                    <a:pt x="77391" y="0"/>
                  </a:cubicBezTo>
                  <a:cubicBezTo>
                    <a:pt x="120142" y="0"/>
                    <a:pt x="154781" y="34640"/>
                    <a:pt x="154781" y="77391"/>
                  </a:cubicBezTo>
                  <a:close/>
                  <a:moveTo>
                    <a:pt x="77391" y="130969"/>
                  </a:moveTo>
                  <a:cubicBezTo>
                    <a:pt x="106961" y="130969"/>
                    <a:pt x="130969" y="106961"/>
                    <a:pt x="130969" y="77391"/>
                  </a:cubicBezTo>
                  <a:cubicBezTo>
                    <a:pt x="130969" y="47820"/>
                    <a:pt x="106961" y="23812"/>
                    <a:pt x="77391" y="23812"/>
                  </a:cubicBezTo>
                  <a:cubicBezTo>
                    <a:pt x="47820" y="23812"/>
                    <a:pt x="23813" y="47820"/>
                    <a:pt x="23812" y="77391"/>
                  </a:cubicBezTo>
                  <a:cubicBezTo>
                    <a:pt x="23812" y="106961"/>
                    <a:pt x="47820" y="130969"/>
                    <a:pt x="77391" y="130969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77" name="Text 47">
              <a:extLst>
                <a:ext uri="{FF2B5EF4-FFF2-40B4-BE49-F238E27FC236}">
                  <a16:creationId xmlns:a16="http://schemas.microsoft.com/office/drawing/2014/main" id="{C6A252A5-E078-41F9-B449-8B99D8BF23E6}"/>
                </a:ext>
              </a:extLst>
            </p:cNvPr>
            <p:cNvSpPr/>
            <p:nvPr/>
          </p:nvSpPr>
          <p:spPr>
            <a:xfrm>
              <a:off x="4716780" y="592455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</a:t>
              </a:r>
              <a:endParaRPr lang="en-US" sz="1600" dirty="0"/>
            </a:p>
          </p:txBody>
        </p:sp>
        <p:sp>
          <p:nvSpPr>
            <p:cNvPr id="178" name="Shape 48">
              <a:extLst>
                <a:ext uri="{FF2B5EF4-FFF2-40B4-BE49-F238E27FC236}">
                  <a16:creationId xmlns:a16="http://schemas.microsoft.com/office/drawing/2014/main" id="{3104C3C3-5465-4708-8E2D-405D89331524}"/>
                </a:ext>
              </a:extLst>
            </p:cNvPr>
            <p:cNvSpPr/>
            <p:nvPr/>
          </p:nvSpPr>
          <p:spPr>
            <a:xfrm>
              <a:off x="5569268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79" name="Shape 49">
              <a:extLst>
                <a:ext uri="{FF2B5EF4-FFF2-40B4-BE49-F238E27FC236}">
                  <a16:creationId xmlns:a16="http://schemas.microsoft.com/office/drawing/2014/main" id="{1834208E-43CE-49DE-AD45-D986943623CA}"/>
                </a:ext>
              </a:extLst>
            </p:cNvPr>
            <p:cNvSpPr/>
            <p:nvPr/>
          </p:nvSpPr>
          <p:spPr>
            <a:xfrm>
              <a:off x="6131243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0" name="Shape 50">
              <a:extLst>
                <a:ext uri="{FF2B5EF4-FFF2-40B4-BE49-F238E27FC236}">
                  <a16:creationId xmlns:a16="http://schemas.microsoft.com/office/drawing/2014/main" id="{9F40FBAD-DCD7-4049-929A-AD74EB6334B3}"/>
                </a:ext>
              </a:extLst>
            </p:cNvPr>
            <p:cNvSpPr/>
            <p:nvPr/>
          </p:nvSpPr>
          <p:spPr>
            <a:xfrm>
              <a:off x="6276499" y="59626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166688" y="76572"/>
                  </a:moveTo>
                  <a:cubicBezTo>
                    <a:pt x="161181" y="80218"/>
                    <a:pt x="154856" y="83158"/>
                    <a:pt x="148270" y="85502"/>
                  </a:cubicBezTo>
                  <a:cubicBezTo>
                    <a:pt x="130783" y="91753"/>
                    <a:pt x="107826" y="95250"/>
                    <a:pt x="83344" y="95250"/>
                  </a:cubicBezTo>
                  <a:cubicBezTo>
                    <a:pt x="58862" y="95250"/>
                    <a:pt x="35868" y="91715"/>
                    <a:pt x="18417" y="85502"/>
                  </a:cubicBezTo>
                  <a:cubicBezTo>
                    <a:pt x="11869" y="83158"/>
                    <a:pt x="5507" y="80218"/>
                    <a:pt x="0" y="76572"/>
                  </a:cubicBezTo>
                  <a:lnTo>
                    <a:pt x="0" y="107156"/>
                  </a:lnTo>
                  <a:cubicBezTo>
                    <a:pt x="0" y="123602"/>
                    <a:pt x="37319" y="136922"/>
                    <a:pt x="83344" y="136922"/>
                  </a:cubicBezTo>
                  <a:cubicBezTo>
                    <a:pt x="129369" y="136922"/>
                    <a:pt x="166688" y="123602"/>
                    <a:pt x="166688" y="107156"/>
                  </a:cubicBezTo>
                  <a:lnTo>
                    <a:pt x="166688" y="76572"/>
                  </a:lnTo>
                  <a:close/>
                  <a:moveTo>
                    <a:pt x="166688" y="47625"/>
                  </a:moveTo>
                  <a:lnTo>
                    <a:pt x="166688" y="29766"/>
                  </a:lnTo>
                  <a:cubicBezTo>
                    <a:pt x="166688" y="13320"/>
                    <a:pt x="129369" y="0"/>
                    <a:pt x="83344" y="0"/>
                  </a:cubicBezTo>
                  <a:cubicBezTo>
                    <a:pt x="37319" y="0"/>
                    <a:pt x="0" y="13320"/>
                    <a:pt x="0" y="29766"/>
                  </a:cubicBezTo>
                  <a:lnTo>
                    <a:pt x="0" y="47625"/>
                  </a:lnTo>
                  <a:cubicBezTo>
                    <a:pt x="0" y="64071"/>
                    <a:pt x="37319" y="77391"/>
                    <a:pt x="83344" y="77391"/>
                  </a:cubicBezTo>
                  <a:cubicBezTo>
                    <a:pt x="129369" y="77391"/>
                    <a:pt x="166688" y="64071"/>
                    <a:pt x="166688" y="47625"/>
                  </a:cubicBezTo>
                  <a:close/>
                  <a:moveTo>
                    <a:pt x="148270" y="145033"/>
                  </a:moveTo>
                  <a:cubicBezTo>
                    <a:pt x="130820" y="151247"/>
                    <a:pt x="107863" y="154781"/>
                    <a:pt x="83344" y="154781"/>
                  </a:cubicBezTo>
                  <a:cubicBezTo>
                    <a:pt x="58824" y="154781"/>
                    <a:pt x="35868" y="151247"/>
                    <a:pt x="18417" y="145033"/>
                  </a:cubicBezTo>
                  <a:cubicBezTo>
                    <a:pt x="11869" y="142689"/>
                    <a:pt x="5507" y="139750"/>
                    <a:pt x="0" y="136103"/>
                  </a:cubicBezTo>
                  <a:lnTo>
                    <a:pt x="0" y="160734"/>
                  </a:lnTo>
                  <a:cubicBezTo>
                    <a:pt x="0" y="177180"/>
                    <a:pt x="37319" y="190500"/>
                    <a:pt x="83344" y="190500"/>
                  </a:cubicBezTo>
                  <a:cubicBezTo>
                    <a:pt x="129369" y="190500"/>
                    <a:pt x="166688" y="177180"/>
                    <a:pt x="166688" y="160734"/>
                  </a:cubicBezTo>
                  <a:lnTo>
                    <a:pt x="166688" y="136103"/>
                  </a:lnTo>
                  <a:cubicBezTo>
                    <a:pt x="161181" y="139750"/>
                    <a:pt x="154856" y="142689"/>
                    <a:pt x="148270" y="145033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81" name="Text 51">
              <a:extLst>
                <a:ext uri="{FF2B5EF4-FFF2-40B4-BE49-F238E27FC236}">
                  <a16:creationId xmlns:a16="http://schemas.microsoft.com/office/drawing/2014/main" id="{736C7086-886D-4FD2-8E41-17D847127DA4}"/>
                </a:ext>
              </a:extLst>
            </p:cNvPr>
            <p:cNvSpPr/>
            <p:nvPr/>
          </p:nvSpPr>
          <p:spPr>
            <a:xfrm>
              <a:off x="6702743" y="5924550"/>
              <a:ext cx="8667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Контекст</a:t>
              </a:r>
              <a:endParaRPr lang="en-US" sz="1600" dirty="0"/>
            </a:p>
          </p:txBody>
        </p:sp>
        <p:sp>
          <p:nvSpPr>
            <p:cNvPr id="182" name="Shape 52">
              <a:extLst>
                <a:ext uri="{FF2B5EF4-FFF2-40B4-BE49-F238E27FC236}">
                  <a16:creationId xmlns:a16="http://schemas.microsoft.com/office/drawing/2014/main" id="{8358107D-2C04-46DF-8AB5-AC4AA6B16D0B}"/>
                </a:ext>
              </a:extLst>
            </p:cNvPr>
            <p:cNvSpPr/>
            <p:nvPr/>
          </p:nvSpPr>
          <p:spPr>
            <a:xfrm>
              <a:off x="7818279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83" name="Shape 53">
              <a:extLst>
                <a:ext uri="{FF2B5EF4-FFF2-40B4-BE49-F238E27FC236}">
                  <a16:creationId xmlns:a16="http://schemas.microsoft.com/office/drawing/2014/main" id="{8085D003-9DA2-4FE9-9CAF-FC1AEA87FEF8}"/>
                </a:ext>
              </a:extLst>
            </p:cNvPr>
            <p:cNvSpPr/>
            <p:nvPr/>
          </p:nvSpPr>
          <p:spPr>
            <a:xfrm>
              <a:off x="8380254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4" name="Shape 54">
              <a:extLst>
                <a:ext uri="{FF2B5EF4-FFF2-40B4-BE49-F238E27FC236}">
                  <a16:creationId xmlns:a16="http://schemas.microsoft.com/office/drawing/2014/main" id="{3708AA79-DB13-4CEC-A49C-80C82F7E233F}"/>
                </a:ext>
              </a:extLst>
            </p:cNvPr>
            <p:cNvSpPr/>
            <p:nvPr/>
          </p:nvSpPr>
          <p:spPr>
            <a:xfrm>
              <a:off x="8513604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85" name="Text 55">
              <a:extLst>
                <a:ext uri="{FF2B5EF4-FFF2-40B4-BE49-F238E27FC236}">
                  <a16:creationId xmlns:a16="http://schemas.microsoft.com/office/drawing/2014/main" id="{E1388FB7-F770-4393-A5D8-D0DDE9CD677A}"/>
                </a:ext>
              </a:extLst>
            </p:cNvPr>
            <p:cNvSpPr/>
            <p:nvPr/>
          </p:nvSpPr>
          <p:spPr>
            <a:xfrm>
              <a:off x="8951754" y="5924550"/>
              <a:ext cx="12668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Точный ответ</a:t>
              </a:r>
              <a:endParaRPr 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9079AAC5-406C-4565-8008-232C6BCC6C0E}"/>
              </a:ext>
            </a:extLst>
          </p:cNvPr>
          <p:cNvGrpSpPr/>
          <p:nvPr/>
        </p:nvGrpSpPr>
        <p:grpSpPr>
          <a:xfrm>
            <a:off x="-5722258" y="373746"/>
            <a:ext cx="5734050" cy="533400"/>
            <a:chOff x="381000" y="381000"/>
            <a:chExt cx="5734050" cy="533400"/>
          </a:xfrm>
        </p:grpSpPr>
        <p:sp>
          <p:nvSpPr>
            <p:cNvPr id="70" name="Shape 0">
              <a:extLst>
                <a:ext uri="{FF2B5EF4-FFF2-40B4-BE49-F238E27FC236}">
                  <a16:creationId xmlns:a16="http://schemas.microsoft.com/office/drawing/2014/main" id="{EBF338FE-3A0F-43D4-8599-66194DFDDEA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1" name="Shape 1">
              <a:extLst>
                <a:ext uri="{FF2B5EF4-FFF2-40B4-BE49-F238E27FC236}">
                  <a16:creationId xmlns:a16="http://schemas.microsoft.com/office/drawing/2014/main" id="{7BC2637C-621D-486C-B905-175F82D7D786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35719"/>
                  </a:moveTo>
                  <a:cubicBezTo>
                    <a:pt x="0" y="23887"/>
                    <a:pt x="9599" y="14288"/>
                    <a:pt x="21431" y="14288"/>
                  </a:cubicBezTo>
                  <a:lnTo>
                    <a:pt x="64294" y="14288"/>
                  </a:lnTo>
                  <a:cubicBezTo>
                    <a:pt x="76126" y="14288"/>
                    <a:pt x="85725" y="23887"/>
                    <a:pt x="85725" y="35719"/>
                  </a:cubicBezTo>
                  <a:lnTo>
                    <a:pt x="85725" y="42863"/>
                  </a:lnTo>
                  <a:lnTo>
                    <a:pt x="142875" y="42863"/>
                  </a:lnTo>
                  <a:lnTo>
                    <a:pt x="142875" y="35719"/>
                  </a:lnTo>
                  <a:cubicBezTo>
                    <a:pt x="142875" y="23887"/>
                    <a:pt x="152474" y="14288"/>
                    <a:pt x="164306" y="14288"/>
                  </a:cubicBezTo>
                  <a:lnTo>
                    <a:pt x="207169" y="14288"/>
                  </a:lnTo>
                  <a:cubicBezTo>
                    <a:pt x="219001" y="14288"/>
                    <a:pt x="228600" y="23887"/>
                    <a:pt x="228600" y="35719"/>
                  </a:cubicBezTo>
                  <a:lnTo>
                    <a:pt x="228600" y="78581"/>
                  </a:lnTo>
                  <a:cubicBezTo>
                    <a:pt x="228600" y="90413"/>
                    <a:pt x="219001" y="100013"/>
                    <a:pt x="207169" y="100013"/>
                  </a:cubicBezTo>
                  <a:lnTo>
                    <a:pt x="164306" y="100013"/>
                  </a:lnTo>
                  <a:cubicBezTo>
                    <a:pt x="152474" y="100013"/>
                    <a:pt x="142875" y="90413"/>
                    <a:pt x="142875" y="78581"/>
                  </a:cubicBezTo>
                  <a:lnTo>
                    <a:pt x="142875" y="71438"/>
                  </a:lnTo>
                  <a:lnTo>
                    <a:pt x="85725" y="71438"/>
                  </a:lnTo>
                  <a:lnTo>
                    <a:pt x="85725" y="78581"/>
                  </a:lnTo>
                  <a:cubicBezTo>
                    <a:pt x="85725" y="81841"/>
                    <a:pt x="84966" y="84966"/>
                    <a:pt x="83671" y="87734"/>
                  </a:cubicBezTo>
                  <a:lnTo>
                    <a:pt x="114300" y="128588"/>
                  </a:lnTo>
                  <a:lnTo>
                    <a:pt x="150019" y="128588"/>
                  </a:lnTo>
                  <a:cubicBezTo>
                    <a:pt x="161851" y="128588"/>
                    <a:pt x="171450" y="138187"/>
                    <a:pt x="171450" y="150019"/>
                  </a:cubicBezTo>
                  <a:lnTo>
                    <a:pt x="171450" y="192881"/>
                  </a:lnTo>
                  <a:cubicBezTo>
                    <a:pt x="171450" y="204713"/>
                    <a:pt x="161851" y="214313"/>
                    <a:pt x="150019" y="214313"/>
                  </a:cubicBezTo>
                  <a:lnTo>
                    <a:pt x="107156" y="214313"/>
                  </a:lnTo>
                  <a:cubicBezTo>
                    <a:pt x="95324" y="214313"/>
                    <a:pt x="85725" y="204713"/>
                    <a:pt x="85725" y="192881"/>
                  </a:cubicBezTo>
                  <a:lnTo>
                    <a:pt x="85725" y="150019"/>
                  </a:lnTo>
                  <a:cubicBezTo>
                    <a:pt x="85725" y="146759"/>
                    <a:pt x="86484" y="143634"/>
                    <a:pt x="87779" y="140866"/>
                  </a:cubicBezTo>
                  <a:lnTo>
                    <a:pt x="57150" y="100013"/>
                  </a:lnTo>
                  <a:lnTo>
                    <a:pt x="21431" y="100013"/>
                  </a:lnTo>
                  <a:cubicBezTo>
                    <a:pt x="9599" y="100013"/>
                    <a:pt x="0" y="90413"/>
                    <a:pt x="0" y="78581"/>
                  </a:cubicBezTo>
                  <a:lnTo>
                    <a:pt x="0" y="35719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72" name="Text 2">
              <a:extLst>
                <a:ext uri="{FF2B5EF4-FFF2-40B4-BE49-F238E27FC236}">
                  <a16:creationId xmlns:a16="http://schemas.microsoft.com/office/drawing/2014/main" id="{39F1D431-7758-49AE-8A44-9F9FBFB75F7A}"/>
                </a:ext>
              </a:extLst>
            </p:cNvPr>
            <p:cNvSpPr/>
            <p:nvPr/>
          </p:nvSpPr>
          <p:spPr>
            <a:xfrm>
              <a:off x="1066800" y="400050"/>
              <a:ext cx="50482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Алгоритм обработки запроса</a:t>
              </a:r>
              <a:endParaRPr lang="en-US" sz="1600" dirty="0"/>
            </a:p>
          </p:txBody>
        </p:sp>
        <p:sp>
          <p:nvSpPr>
            <p:cNvPr id="73" name="Shape 3">
              <a:extLst>
                <a:ext uri="{FF2B5EF4-FFF2-40B4-BE49-F238E27FC236}">
                  <a16:creationId xmlns:a16="http://schemas.microsoft.com/office/drawing/2014/main" id="{E9124710-2F41-4C94-BD86-F0525D896A32}"/>
                </a:ext>
              </a:extLst>
            </p:cNvPr>
            <p:cNvSpPr/>
            <p:nvPr/>
          </p:nvSpPr>
          <p:spPr>
            <a:xfrm>
              <a:off x="828675" y="857249"/>
              <a:ext cx="516255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74" name="Text 7">
            <a:extLst>
              <a:ext uri="{FF2B5EF4-FFF2-40B4-BE49-F238E27FC236}">
                <a16:creationId xmlns:a16="http://schemas.microsoft.com/office/drawing/2014/main" id="{3D09FD85-BA78-420F-875A-95277EDE08F0}"/>
              </a:ext>
            </a:extLst>
          </p:cNvPr>
          <p:cNvSpPr/>
          <p:nvPr/>
        </p:nvSpPr>
        <p:spPr>
          <a:xfrm>
            <a:off x="12368236" y="257064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11</a:t>
            </a:r>
            <a:endParaRPr lang="en-US" sz="1600" dirty="0"/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7168723B-40F9-4C00-8EC2-65C5124367AB}"/>
              </a:ext>
            </a:extLst>
          </p:cNvPr>
          <p:cNvGrpSpPr/>
          <p:nvPr/>
        </p:nvGrpSpPr>
        <p:grpSpPr>
          <a:xfrm>
            <a:off x="381000" y="7086600"/>
            <a:ext cx="3705225" cy="876300"/>
            <a:chOff x="381000" y="5600700"/>
            <a:chExt cx="3705225" cy="876300"/>
          </a:xfrm>
        </p:grpSpPr>
        <p:sp>
          <p:nvSpPr>
            <p:cNvPr id="76" name="Shape 45">
              <a:extLst>
                <a:ext uri="{FF2B5EF4-FFF2-40B4-BE49-F238E27FC236}">
                  <a16:creationId xmlns:a16="http://schemas.microsoft.com/office/drawing/2014/main" id="{2F0B96AA-0404-4F78-A7D2-2B85FBA5A296}"/>
                </a:ext>
              </a:extLst>
            </p:cNvPr>
            <p:cNvSpPr/>
            <p:nvPr/>
          </p:nvSpPr>
          <p:spPr>
            <a:xfrm>
              <a:off x="3810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ru-RU" sz="2800"/>
            </a:p>
          </p:txBody>
        </p:sp>
        <p:sp>
          <p:nvSpPr>
            <p:cNvPr id="77" name="Text 46">
              <a:extLst>
                <a:ext uri="{FF2B5EF4-FFF2-40B4-BE49-F238E27FC236}">
                  <a16:creationId xmlns:a16="http://schemas.microsoft.com/office/drawing/2014/main" id="{7687845D-D92A-44D6-8089-E677F69E2A41}"/>
                </a:ext>
              </a:extLst>
            </p:cNvPr>
            <p:cNvSpPr/>
            <p:nvPr/>
          </p:nvSpPr>
          <p:spPr>
            <a:xfrm>
              <a:off x="461963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&lt; 3 сек</a:t>
              </a:r>
              <a:endParaRPr lang="en-US" sz="2400" dirty="0"/>
            </a:p>
          </p:txBody>
        </p:sp>
        <p:sp>
          <p:nvSpPr>
            <p:cNvPr id="78" name="Text 47">
              <a:extLst>
                <a:ext uri="{FF2B5EF4-FFF2-40B4-BE49-F238E27FC236}">
                  <a16:creationId xmlns:a16="http://schemas.microsoft.com/office/drawing/2014/main" id="{06630192-B25E-4319-AC30-661F7FE6856D}"/>
                </a:ext>
              </a:extLst>
            </p:cNvPr>
            <p:cNvSpPr/>
            <p:nvPr/>
          </p:nvSpPr>
          <p:spPr>
            <a:xfrm>
              <a:off x="500063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Время ответа</a:t>
              </a:r>
              <a:endParaRPr lang="en-US" sz="2400" dirty="0"/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BD7FCEC7-179B-4358-BD5B-29FE4FA160A5}"/>
              </a:ext>
            </a:extLst>
          </p:cNvPr>
          <p:cNvGrpSpPr/>
          <p:nvPr/>
        </p:nvGrpSpPr>
        <p:grpSpPr>
          <a:xfrm>
            <a:off x="4241800" y="8320314"/>
            <a:ext cx="3705225" cy="876300"/>
            <a:chOff x="4241800" y="5600700"/>
            <a:chExt cx="3705225" cy="876300"/>
          </a:xfrm>
        </p:grpSpPr>
        <p:sp>
          <p:nvSpPr>
            <p:cNvPr id="80" name="Shape 48">
              <a:extLst>
                <a:ext uri="{FF2B5EF4-FFF2-40B4-BE49-F238E27FC236}">
                  <a16:creationId xmlns:a16="http://schemas.microsoft.com/office/drawing/2014/main" id="{504EFAFE-752F-4FBE-B9A3-2915C27FA3B0}"/>
                </a:ext>
              </a:extLst>
            </p:cNvPr>
            <p:cNvSpPr/>
            <p:nvPr/>
          </p:nvSpPr>
          <p:spPr>
            <a:xfrm>
              <a:off x="42418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1" name="Text 49">
              <a:extLst>
                <a:ext uri="{FF2B5EF4-FFF2-40B4-BE49-F238E27FC236}">
                  <a16:creationId xmlns:a16="http://schemas.microsoft.com/office/drawing/2014/main" id="{3C4FD72B-7C5D-4E12-847E-47B7E4C95F65}"/>
                </a:ext>
              </a:extLst>
            </p:cNvPr>
            <p:cNvSpPr/>
            <p:nvPr/>
          </p:nvSpPr>
          <p:spPr>
            <a:xfrm>
              <a:off x="4322762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&gt; 90%</a:t>
              </a:r>
              <a:endParaRPr lang="en-US" sz="2400" dirty="0"/>
            </a:p>
          </p:txBody>
        </p:sp>
        <p:sp>
          <p:nvSpPr>
            <p:cNvPr id="82" name="Text 50">
              <a:extLst>
                <a:ext uri="{FF2B5EF4-FFF2-40B4-BE49-F238E27FC236}">
                  <a16:creationId xmlns:a16="http://schemas.microsoft.com/office/drawing/2014/main" id="{4BA7C663-6B8A-4726-BEBE-57679F1830DA}"/>
                </a:ext>
              </a:extLst>
            </p:cNvPr>
            <p:cNvSpPr/>
            <p:nvPr/>
          </p:nvSpPr>
          <p:spPr>
            <a:xfrm>
              <a:off x="4360862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Точность</a:t>
              </a:r>
              <a:endParaRPr lang="en-US" sz="2400" dirty="0"/>
            </a:p>
          </p:txBody>
        </p: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66FD4B47-2981-4D97-8B55-19D2CEB80550}"/>
              </a:ext>
            </a:extLst>
          </p:cNvPr>
          <p:cNvGrpSpPr/>
          <p:nvPr/>
        </p:nvGrpSpPr>
        <p:grpSpPr>
          <a:xfrm>
            <a:off x="8102600" y="9554028"/>
            <a:ext cx="3705225" cy="876300"/>
            <a:chOff x="8102600" y="5600700"/>
            <a:chExt cx="3705225" cy="876300"/>
          </a:xfrm>
        </p:grpSpPr>
        <p:sp>
          <p:nvSpPr>
            <p:cNvPr id="84" name="Shape 51">
              <a:extLst>
                <a:ext uri="{FF2B5EF4-FFF2-40B4-BE49-F238E27FC236}">
                  <a16:creationId xmlns:a16="http://schemas.microsoft.com/office/drawing/2014/main" id="{2B6577C3-E8AC-4C34-A14F-635702F000E6}"/>
                </a:ext>
              </a:extLst>
            </p:cNvPr>
            <p:cNvSpPr/>
            <p:nvPr/>
          </p:nvSpPr>
          <p:spPr>
            <a:xfrm>
              <a:off x="8102600" y="5600700"/>
              <a:ext cx="3705225" cy="876300"/>
            </a:xfrm>
            <a:custGeom>
              <a:avLst/>
              <a:gdLst/>
              <a:ahLst/>
              <a:cxnLst/>
              <a:rect l="l" t="t" r="r" b="b"/>
              <a:pathLst>
                <a:path w="3705225" h="876300">
                  <a:moveTo>
                    <a:pt x="114296" y="0"/>
                  </a:moveTo>
                  <a:lnTo>
                    <a:pt x="3590929" y="0"/>
                  </a:lnTo>
                  <a:cubicBezTo>
                    <a:pt x="3654053" y="0"/>
                    <a:pt x="3705225" y="51172"/>
                    <a:pt x="3705225" y="114296"/>
                  </a:cubicBezTo>
                  <a:lnTo>
                    <a:pt x="3705225" y="762004"/>
                  </a:lnTo>
                  <a:cubicBezTo>
                    <a:pt x="3705225" y="825128"/>
                    <a:pt x="3654053" y="876300"/>
                    <a:pt x="359092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5" name="Text 52">
              <a:extLst>
                <a:ext uri="{FF2B5EF4-FFF2-40B4-BE49-F238E27FC236}">
                  <a16:creationId xmlns:a16="http://schemas.microsoft.com/office/drawing/2014/main" id="{B6390148-7B54-4C14-B32A-1845878DE0F2}"/>
                </a:ext>
              </a:extLst>
            </p:cNvPr>
            <p:cNvSpPr/>
            <p:nvPr/>
          </p:nvSpPr>
          <p:spPr>
            <a:xfrm>
              <a:off x="8183563" y="5753100"/>
              <a:ext cx="35433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</a:t>
              </a:r>
              <a:endParaRPr lang="en-US" sz="2400" dirty="0"/>
            </a:p>
          </p:txBody>
        </p:sp>
        <p:sp>
          <p:nvSpPr>
            <p:cNvPr id="86" name="Text 53">
              <a:extLst>
                <a:ext uri="{FF2B5EF4-FFF2-40B4-BE49-F238E27FC236}">
                  <a16:creationId xmlns:a16="http://schemas.microsoft.com/office/drawing/2014/main" id="{DE3A7CFB-46F5-485B-94E8-A63BA95ECBC5}"/>
                </a:ext>
              </a:extLst>
            </p:cNvPr>
            <p:cNvSpPr/>
            <p:nvPr/>
          </p:nvSpPr>
          <p:spPr>
            <a:xfrm>
              <a:off x="8221663" y="6134100"/>
              <a:ext cx="34671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Этапов обработки</a:t>
              </a:r>
              <a:endParaRPr lang="en-US" sz="2400" dirty="0"/>
            </a:p>
          </p:txBody>
        </p: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77C8FC70-E8E0-4AF6-94D8-4E58A6E4C3A8}"/>
              </a:ext>
            </a:extLst>
          </p:cNvPr>
          <p:cNvGrpSpPr/>
          <p:nvPr/>
        </p:nvGrpSpPr>
        <p:grpSpPr>
          <a:xfrm>
            <a:off x="12958172" y="1055191"/>
            <a:ext cx="10291011" cy="4333577"/>
            <a:chOff x="1114505" y="1055191"/>
            <a:chExt cx="10291011" cy="4333577"/>
          </a:xfrm>
        </p:grpSpPr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ADAD7909-AAE7-4252-98A4-5FED1CEC8ADE}"/>
                </a:ext>
              </a:extLst>
            </p:cNvPr>
            <p:cNvSpPr/>
            <p:nvPr/>
          </p:nvSpPr>
          <p:spPr>
            <a:xfrm>
              <a:off x="1114505" y="1055191"/>
              <a:ext cx="10291011" cy="4333577"/>
            </a:xfrm>
            <a:prstGeom prst="roundRect">
              <a:avLst/>
            </a:prstGeom>
            <a:solidFill>
              <a:schemeClr val="accent4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Shape 4">
              <a:extLst>
                <a:ext uri="{FF2B5EF4-FFF2-40B4-BE49-F238E27FC236}">
                  <a16:creationId xmlns:a16="http://schemas.microsoft.com/office/drawing/2014/main" id="{6CC554F5-690E-45B4-ADA4-78448594DCF4}"/>
                </a:ext>
              </a:extLst>
            </p:cNvPr>
            <p:cNvSpPr/>
            <p:nvPr/>
          </p:nvSpPr>
          <p:spPr>
            <a:xfrm>
              <a:off x="2048822" y="127494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0" name="Shape 5">
              <a:extLst>
                <a:ext uri="{FF2B5EF4-FFF2-40B4-BE49-F238E27FC236}">
                  <a16:creationId xmlns:a16="http://schemas.microsoft.com/office/drawing/2014/main" id="{2A55B63A-2714-4D1A-BC25-CBAD901C3685}"/>
                </a:ext>
              </a:extLst>
            </p:cNvPr>
            <p:cNvSpPr/>
            <p:nvPr/>
          </p:nvSpPr>
          <p:spPr>
            <a:xfrm>
              <a:off x="2220272" y="144639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89297"/>
                  </a:moveTo>
                  <a:cubicBezTo>
                    <a:pt x="190500" y="138596"/>
                    <a:pt x="147861" y="178594"/>
                    <a:pt x="95250" y="178594"/>
                  </a:cubicBezTo>
                  <a:cubicBezTo>
                    <a:pt x="81446" y="178594"/>
                    <a:pt x="68349" y="175840"/>
                    <a:pt x="56517" y="170892"/>
                  </a:cubicBezTo>
                  <a:lnTo>
                    <a:pt x="12464" y="189793"/>
                  </a:lnTo>
                  <a:cubicBezTo>
                    <a:pt x="8967" y="191281"/>
                    <a:pt x="4949" y="190426"/>
                    <a:pt x="2381" y="187635"/>
                  </a:cubicBezTo>
                  <a:cubicBezTo>
                    <a:pt x="-186" y="184845"/>
                    <a:pt x="-744" y="180752"/>
                    <a:pt x="1042" y="177403"/>
                  </a:cubicBezTo>
                  <a:lnTo>
                    <a:pt x="19199" y="143098"/>
                  </a:lnTo>
                  <a:cubicBezTo>
                    <a:pt x="7144" y="128104"/>
                    <a:pt x="0" y="109500"/>
                    <a:pt x="0" y="89297"/>
                  </a:cubicBezTo>
                  <a:cubicBezTo>
                    <a:pt x="0" y="39998"/>
                    <a:pt x="42639" y="0"/>
                    <a:pt x="95250" y="0"/>
                  </a:cubicBezTo>
                  <a:cubicBezTo>
                    <a:pt x="147861" y="0"/>
                    <a:pt x="190500" y="39998"/>
                    <a:pt x="190500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1" name="Text 6">
              <a:extLst>
                <a:ext uri="{FF2B5EF4-FFF2-40B4-BE49-F238E27FC236}">
                  <a16:creationId xmlns:a16="http://schemas.microsoft.com/office/drawing/2014/main" id="{4B91B5E2-4493-449D-8DB2-EFB20D583031}"/>
                </a:ext>
              </a:extLst>
            </p:cNvPr>
            <p:cNvSpPr/>
            <p:nvPr/>
          </p:nvSpPr>
          <p:spPr>
            <a:xfrm>
              <a:off x="1954609" y="1897415"/>
              <a:ext cx="870634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3200" dirty="0"/>
            </a:p>
          </p:txBody>
        </p:sp>
        <p:sp>
          <p:nvSpPr>
            <p:cNvPr id="92" name="Shape 7">
              <a:extLst>
                <a:ext uri="{FF2B5EF4-FFF2-40B4-BE49-F238E27FC236}">
                  <a16:creationId xmlns:a16="http://schemas.microsoft.com/office/drawing/2014/main" id="{4CD4CDCF-33BC-4645-94B0-59735B43A71A}"/>
                </a:ext>
              </a:extLst>
            </p:cNvPr>
            <p:cNvSpPr/>
            <p:nvPr/>
          </p:nvSpPr>
          <p:spPr>
            <a:xfrm>
              <a:off x="3069427" y="154164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3" name="Shape 8">
              <a:extLst>
                <a:ext uri="{FF2B5EF4-FFF2-40B4-BE49-F238E27FC236}">
                  <a16:creationId xmlns:a16="http://schemas.microsoft.com/office/drawing/2014/main" id="{F9D04FB9-B2F3-4339-A1DD-E66919207C3E}"/>
                </a:ext>
              </a:extLst>
            </p:cNvPr>
            <p:cNvSpPr/>
            <p:nvPr/>
          </p:nvSpPr>
          <p:spPr>
            <a:xfrm>
              <a:off x="3909532" y="127063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4" name="Shape 9">
              <a:extLst>
                <a:ext uri="{FF2B5EF4-FFF2-40B4-BE49-F238E27FC236}">
                  <a16:creationId xmlns:a16="http://schemas.microsoft.com/office/drawing/2014/main" id="{DAC67EC0-6017-43AB-9CE0-CB9B0BB49659}"/>
                </a:ext>
              </a:extLst>
            </p:cNvPr>
            <p:cNvSpPr/>
            <p:nvPr/>
          </p:nvSpPr>
          <p:spPr>
            <a:xfrm>
              <a:off x="4080982" y="144208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4648" y="20836"/>
                  </a:moveTo>
                  <a:cubicBezTo>
                    <a:pt x="44648" y="9339"/>
                    <a:pt x="53987" y="0"/>
                    <a:pt x="65484" y="0"/>
                  </a:cubicBezTo>
                  <a:lnTo>
                    <a:pt x="74414" y="0"/>
                  </a:lnTo>
                  <a:cubicBezTo>
                    <a:pt x="81000" y="0"/>
                    <a:pt x="86320" y="5321"/>
                    <a:pt x="86320" y="11906"/>
                  </a:cubicBezTo>
                  <a:lnTo>
                    <a:pt x="86320" y="178594"/>
                  </a:lnTo>
                  <a:cubicBezTo>
                    <a:pt x="86320" y="185179"/>
                    <a:pt x="81000" y="190500"/>
                    <a:pt x="74414" y="190500"/>
                  </a:cubicBezTo>
                  <a:lnTo>
                    <a:pt x="62508" y="190500"/>
                  </a:lnTo>
                  <a:cubicBezTo>
                    <a:pt x="51420" y="190500"/>
                    <a:pt x="42081" y="182910"/>
                    <a:pt x="39439" y="172641"/>
                  </a:cubicBezTo>
                  <a:cubicBezTo>
                    <a:pt x="39179" y="172641"/>
                    <a:pt x="38956" y="172641"/>
                    <a:pt x="38695" y="172641"/>
                  </a:cubicBezTo>
                  <a:cubicBezTo>
                    <a:pt x="22250" y="172641"/>
                    <a:pt x="8930" y="159321"/>
                    <a:pt x="8930" y="142875"/>
                  </a:cubicBezTo>
                  <a:cubicBezTo>
                    <a:pt x="8930" y="136178"/>
                    <a:pt x="11162" y="130001"/>
                    <a:pt x="14883" y="125016"/>
                  </a:cubicBezTo>
                  <a:cubicBezTo>
                    <a:pt x="7665" y="119583"/>
                    <a:pt x="2977" y="110951"/>
                    <a:pt x="2977" y="101203"/>
                  </a:cubicBezTo>
                  <a:cubicBezTo>
                    <a:pt x="2977" y="89706"/>
                    <a:pt x="9525" y="79697"/>
                    <a:pt x="19050" y="74749"/>
                  </a:cubicBezTo>
                  <a:cubicBezTo>
                    <a:pt x="16408" y="70284"/>
                    <a:pt x="14883" y="65075"/>
                    <a:pt x="14883" y="59531"/>
                  </a:cubicBezTo>
                  <a:cubicBezTo>
                    <a:pt x="14883" y="43086"/>
                    <a:pt x="28203" y="29766"/>
                    <a:pt x="44648" y="29766"/>
                  </a:cubicBezTo>
                  <a:lnTo>
                    <a:pt x="44648" y="20836"/>
                  </a:lnTo>
                  <a:close/>
                  <a:moveTo>
                    <a:pt x="145852" y="20836"/>
                  </a:moveTo>
                  <a:lnTo>
                    <a:pt x="145852" y="29766"/>
                  </a:lnTo>
                  <a:cubicBezTo>
                    <a:pt x="162297" y="29766"/>
                    <a:pt x="175617" y="43086"/>
                    <a:pt x="175617" y="59531"/>
                  </a:cubicBezTo>
                  <a:cubicBezTo>
                    <a:pt x="175617" y="65112"/>
                    <a:pt x="174092" y="70321"/>
                    <a:pt x="171450" y="74749"/>
                  </a:cubicBezTo>
                  <a:cubicBezTo>
                    <a:pt x="181012" y="79697"/>
                    <a:pt x="187523" y="89669"/>
                    <a:pt x="187523" y="101203"/>
                  </a:cubicBezTo>
                  <a:cubicBezTo>
                    <a:pt x="187523" y="110951"/>
                    <a:pt x="182835" y="119583"/>
                    <a:pt x="175617" y="125016"/>
                  </a:cubicBezTo>
                  <a:cubicBezTo>
                    <a:pt x="179338" y="130001"/>
                    <a:pt x="181570" y="136178"/>
                    <a:pt x="181570" y="142875"/>
                  </a:cubicBezTo>
                  <a:cubicBezTo>
                    <a:pt x="181570" y="159321"/>
                    <a:pt x="168250" y="172641"/>
                    <a:pt x="151805" y="172641"/>
                  </a:cubicBezTo>
                  <a:cubicBezTo>
                    <a:pt x="151544" y="172641"/>
                    <a:pt x="151321" y="172641"/>
                    <a:pt x="151061" y="172641"/>
                  </a:cubicBezTo>
                  <a:cubicBezTo>
                    <a:pt x="148419" y="182910"/>
                    <a:pt x="139080" y="190500"/>
                    <a:pt x="127992" y="190500"/>
                  </a:cubicBezTo>
                  <a:lnTo>
                    <a:pt x="116086" y="190500"/>
                  </a:lnTo>
                  <a:cubicBezTo>
                    <a:pt x="109500" y="190500"/>
                    <a:pt x="104180" y="185179"/>
                    <a:pt x="104180" y="178594"/>
                  </a:cubicBezTo>
                  <a:lnTo>
                    <a:pt x="104180" y="11906"/>
                  </a:lnTo>
                  <a:cubicBezTo>
                    <a:pt x="104180" y="5321"/>
                    <a:pt x="109500" y="0"/>
                    <a:pt x="116086" y="0"/>
                  </a:cubicBezTo>
                  <a:lnTo>
                    <a:pt x="125016" y="0"/>
                  </a:lnTo>
                  <a:cubicBezTo>
                    <a:pt x="136513" y="0"/>
                    <a:pt x="145852" y="9339"/>
                    <a:pt x="145852" y="2083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5" name="Text 10">
              <a:extLst>
                <a:ext uri="{FF2B5EF4-FFF2-40B4-BE49-F238E27FC236}">
                  <a16:creationId xmlns:a16="http://schemas.microsoft.com/office/drawing/2014/main" id="{CE80CBB3-52ED-4939-84D8-3C381C112355}"/>
                </a:ext>
              </a:extLst>
            </p:cNvPr>
            <p:cNvSpPr/>
            <p:nvPr/>
          </p:nvSpPr>
          <p:spPr>
            <a:xfrm>
              <a:off x="3806483" y="1891498"/>
              <a:ext cx="870634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Анализ</a:t>
              </a:r>
              <a:endParaRPr lang="en-US" sz="3200" dirty="0"/>
            </a:p>
          </p:txBody>
        </p:sp>
        <p:sp>
          <p:nvSpPr>
            <p:cNvPr id="96" name="Shape 11">
              <a:extLst>
                <a:ext uri="{FF2B5EF4-FFF2-40B4-BE49-F238E27FC236}">
                  <a16:creationId xmlns:a16="http://schemas.microsoft.com/office/drawing/2014/main" id="{86FE8C20-41CA-443A-96FF-0A0DC2F748EF}"/>
                </a:ext>
              </a:extLst>
            </p:cNvPr>
            <p:cNvSpPr/>
            <p:nvPr/>
          </p:nvSpPr>
          <p:spPr>
            <a:xfrm>
              <a:off x="5069677" y="1534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7" name="Shape 12">
              <a:extLst>
                <a:ext uri="{FF2B5EF4-FFF2-40B4-BE49-F238E27FC236}">
                  <a16:creationId xmlns:a16="http://schemas.microsoft.com/office/drawing/2014/main" id="{4FCF3C1C-2D56-47C3-A8D5-3A150F7A1B5D}"/>
                </a:ext>
              </a:extLst>
            </p:cNvPr>
            <p:cNvSpPr/>
            <p:nvPr/>
          </p:nvSpPr>
          <p:spPr>
            <a:xfrm>
              <a:off x="5883785" y="1266623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8" name="Shape 13">
              <a:extLst>
                <a:ext uri="{FF2B5EF4-FFF2-40B4-BE49-F238E27FC236}">
                  <a16:creationId xmlns:a16="http://schemas.microsoft.com/office/drawing/2014/main" id="{075A1EE1-4540-462D-9D83-B48781B69AFE}"/>
                </a:ext>
              </a:extLst>
            </p:cNvPr>
            <p:cNvSpPr/>
            <p:nvPr/>
          </p:nvSpPr>
          <p:spPr>
            <a:xfrm>
              <a:off x="6055235" y="143807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54781" y="77391"/>
                  </a:moveTo>
                  <a:cubicBezTo>
                    <a:pt x="154781" y="94469"/>
                    <a:pt x="149237" y="110244"/>
                    <a:pt x="139898" y="123044"/>
                  </a:cubicBezTo>
                  <a:lnTo>
                    <a:pt x="187003" y="170185"/>
                  </a:lnTo>
                  <a:cubicBezTo>
                    <a:pt x="191653" y="174836"/>
                    <a:pt x="191653" y="182389"/>
                    <a:pt x="187003" y="187040"/>
                  </a:cubicBezTo>
                  <a:cubicBezTo>
                    <a:pt x="182352" y="191691"/>
                    <a:pt x="174799" y="191691"/>
                    <a:pt x="170148" y="187040"/>
                  </a:cubicBezTo>
                  <a:lnTo>
                    <a:pt x="123044" y="139898"/>
                  </a:lnTo>
                  <a:cubicBezTo>
                    <a:pt x="110244" y="149237"/>
                    <a:pt x="94469" y="154781"/>
                    <a:pt x="77391" y="154781"/>
                  </a:cubicBezTo>
                  <a:cubicBezTo>
                    <a:pt x="34640" y="154781"/>
                    <a:pt x="0" y="120142"/>
                    <a:pt x="0" y="77391"/>
                  </a:cubicBezTo>
                  <a:cubicBezTo>
                    <a:pt x="0" y="34640"/>
                    <a:pt x="34640" y="0"/>
                    <a:pt x="77391" y="0"/>
                  </a:cubicBezTo>
                  <a:cubicBezTo>
                    <a:pt x="120142" y="0"/>
                    <a:pt x="154781" y="34640"/>
                    <a:pt x="154781" y="77391"/>
                  </a:cubicBezTo>
                  <a:close/>
                  <a:moveTo>
                    <a:pt x="77391" y="130969"/>
                  </a:moveTo>
                  <a:cubicBezTo>
                    <a:pt x="106961" y="130969"/>
                    <a:pt x="130969" y="106961"/>
                    <a:pt x="130969" y="77391"/>
                  </a:cubicBezTo>
                  <a:cubicBezTo>
                    <a:pt x="130969" y="47820"/>
                    <a:pt x="106961" y="23812"/>
                    <a:pt x="77391" y="23812"/>
                  </a:cubicBezTo>
                  <a:cubicBezTo>
                    <a:pt x="47820" y="23812"/>
                    <a:pt x="23813" y="47820"/>
                    <a:pt x="23812" y="77391"/>
                  </a:cubicBezTo>
                  <a:cubicBezTo>
                    <a:pt x="23812" y="106961"/>
                    <a:pt x="47820" y="130969"/>
                    <a:pt x="77391" y="13096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9" name="Text 14">
              <a:extLst>
                <a:ext uri="{FF2B5EF4-FFF2-40B4-BE49-F238E27FC236}">
                  <a16:creationId xmlns:a16="http://schemas.microsoft.com/office/drawing/2014/main" id="{39A8AB3E-E462-4029-9C0B-83B6BFAC2EA0}"/>
                </a:ext>
              </a:extLst>
            </p:cNvPr>
            <p:cNvSpPr/>
            <p:nvPr/>
          </p:nvSpPr>
          <p:spPr>
            <a:xfrm>
              <a:off x="5818354" y="1876223"/>
              <a:ext cx="750546" cy="164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</a:t>
              </a:r>
              <a:endParaRPr lang="en-US" sz="3200" dirty="0"/>
            </a:p>
          </p:txBody>
        </p:sp>
        <p:sp>
          <p:nvSpPr>
            <p:cNvPr id="100" name="Shape 15">
              <a:extLst>
                <a:ext uri="{FF2B5EF4-FFF2-40B4-BE49-F238E27FC236}">
                  <a16:creationId xmlns:a16="http://schemas.microsoft.com/office/drawing/2014/main" id="{B33CAE60-10FA-46A8-B0B6-2399881DFA92}"/>
                </a:ext>
              </a:extLst>
            </p:cNvPr>
            <p:cNvSpPr/>
            <p:nvPr/>
          </p:nvSpPr>
          <p:spPr>
            <a:xfrm rot="5400000">
              <a:off x="7172840" y="1534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grpSp>
          <p:nvGrpSpPr>
            <p:cNvPr id="101" name="Группа 100">
              <a:extLst>
                <a:ext uri="{FF2B5EF4-FFF2-40B4-BE49-F238E27FC236}">
                  <a16:creationId xmlns:a16="http://schemas.microsoft.com/office/drawing/2014/main" id="{43A3F1C1-485E-4F84-8359-77332BAA2A78}"/>
                </a:ext>
              </a:extLst>
            </p:cNvPr>
            <p:cNvGrpSpPr/>
            <p:nvPr/>
          </p:nvGrpSpPr>
          <p:grpSpPr>
            <a:xfrm>
              <a:off x="1412077" y="2261234"/>
              <a:ext cx="1809750" cy="800100"/>
              <a:chOff x="3251993" y="2273369"/>
              <a:chExt cx="1809750" cy="800100"/>
            </a:xfrm>
          </p:grpSpPr>
          <p:sp>
            <p:nvSpPr>
              <p:cNvPr id="134" name="Shape 27">
                <a:extLst>
                  <a:ext uri="{FF2B5EF4-FFF2-40B4-BE49-F238E27FC236}">
                    <a16:creationId xmlns:a16="http://schemas.microsoft.com/office/drawing/2014/main" id="{2FEE4CE6-1CBB-4290-894D-906E573589C2}"/>
                  </a:ext>
                </a:extLst>
              </p:cNvPr>
              <p:cNvSpPr/>
              <p:nvPr/>
            </p:nvSpPr>
            <p:spPr>
              <a:xfrm>
                <a:off x="325199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35" name="Text 28">
                <a:extLst>
                  <a:ext uri="{FF2B5EF4-FFF2-40B4-BE49-F238E27FC236}">
                    <a16:creationId xmlns:a16="http://schemas.microsoft.com/office/drawing/2014/main" id="{9AA3625A-5D47-4879-B77E-8B6A5DD07C06}"/>
                  </a:ext>
                </a:extLst>
              </p:cNvPr>
              <p:cNvSpPr/>
              <p:nvPr/>
            </p:nvSpPr>
            <p:spPr>
              <a:xfrm>
                <a:off x="336629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1. Запрос</a:t>
                </a:r>
                <a:endParaRPr lang="en-US" sz="1600" dirty="0"/>
              </a:p>
            </p:txBody>
          </p:sp>
          <p:sp>
            <p:nvSpPr>
              <p:cNvPr id="136" name="Text 29">
                <a:extLst>
                  <a:ext uri="{FF2B5EF4-FFF2-40B4-BE49-F238E27FC236}">
                    <a16:creationId xmlns:a16="http://schemas.microsoft.com/office/drawing/2014/main" id="{7BD9243E-1DE7-40C2-9280-E50E37BDFAB9}"/>
                  </a:ext>
                </a:extLst>
              </p:cNvPr>
              <p:cNvSpPr/>
              <p:nvPr/>
            </p:nvSpPr>
            <p:spPr>
              <a:xfrm>
                <a:off x="336629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Пользователь вводит текст в чат-интерфейс 1С</a:t>
                </a:r>
                <a:endParaRPr lang="en-US" sz="1600" dirty="0"/>
              </a:p>
            </p:txBody>
          </p:sp>
        </p:grpSp>
        <p:grpSp>
          <p:nvGrpSpPr>
            <p:cNvPr id="102" name="Группа 101">
              <a:extLst>
                <a:ext uri="{FF2B5EF4-FFF2-40B4-BE49-F238E27FC236}">
                  <a16:creationId xmlns:a16="http://schemas.microsoft.com/office/drawing/2014/main" id="{5AF839D0-D7F5-4B36-A70B-AF1093D60152}"/>
                </a:ext>
              </a:extLst>
            </p:cNvPr>
            <p:cNvGrpSpPr/>
            <p:nvPr/>
          </p:nvGrpSpPr>
          <p:grpSpPr>
            <a:xfrm>
              <a:off x="3336127" y="2261234"/>
              <a:ext cx="1809750" cy="800100"/>
              <a:chOff x="5176043" y="2273369"/>
              <a:chExt cx="1809750" cy="800100"/>
            </a:xfrm>
          </p:grpSpPr>
          <p:sp>
            <p:nvSpPr>
              <p:cNvPr id="131" name="Shape 30">
                <a:extLst>
                  <a:ext uri="{FF2B5EF4-FFF2-40B4-BE49-F238E27FC236}">
                    <a16:creationId xmlns:a16="http://schemas.microsoft.com/office/drawing/2014/main" id="{0AAC4B22-052F-45DA-9381-A92361162AF6}"/>
                  </a:ext>
                </a:extLst>
              </p:cNvPr>
              <p:cNvSpPr/>
              <p:nvPr/>
            </p:nvSpPr>
            <p:spPr>
              <a:xfrm>
                <a:off x="517604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32" name="Text 31">
                <a:extLst>
                  <a:ext uri="{FF2B5EF4-FFF2-40B4-BE49-F238E27FC236}">
                    <a16:creationId xmlns:a16="http://schemas.microsoft.com/office/drawing/2014/main" id="{AE68B6F6-1AC2-4193-A24D-17C01253D837}"/>
                  </a:ext>
                </a:extLst>
              </p:cNvPr>
              <p:cNvSpPr/>
              <p:nvPr/>
            </p:nvSpPr>
            <p:spPr>
              <a:xfrm>
                <a:off x="529034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2. Анализ</a:t>
                </a:r>
                <a:endParaRPr lang="en-US" sz="1600" dirty="0"/>
              </a:p>
            </p:txBody>
          </p:sp>
          <p:sp>
            <p:nvSpPr>
              <p:cNvPr id="133" name="Text 32">
                <a:extLst>
                  <a:ext uri="{FF2B5EF4-FFF2-40B4-BE49-F238E27FC236}">
                    <a16:creationId xmlns:a16="http://schemas.microsoft.com/office/drawing/2014/main" id="{23440D07-77A9-40C0-B13D-8F67D1DABD36}"/>
                  </a:ext>
                </a:extLst>
              </p:cNvPr>
              <p:cNvSpPr/>
              <p:nvPr/>
            </p:nvSpPr>
            <p:spPr>
              <a:xfrm>
                <a:off x="529034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определяет намерение и извлекает сущности</a:t>
                </a:r>
                <a:endParaRPr lang="en-US" sz="1600" dirty="0"/>
              </a:p>
            </p:txBody>
          </p:sp>
        </p:grpSp>
        <p:grpSp>
          <p:nvGrpSpPr>
            <p:cNvPr id="103" name="Группа 102">
              <a:extLst>
                <a:ext uri="{FF2B5EF4-FFF2-40B4-BE49-F238E27FC236}">
                  <a16:creationId xmlns:a16="http://schemas.microsoft.com/office/drawing/2014/main" id="{15A42C75-EE1E-4C1A-AEED-B8DFD4988B91}"/>
                </a:ext>
              </a:extLst>
            </p:cNvPr>
            <p:cNvGrpSpPr/>
            <p:nvPr/>
          </p:nvGrpSpPr>
          <p:grpSpPr>
            <a:xfrm>
              <a:off x="5260177" y="2261234"/>
              <a:ext cx="1809750" cy="800100"/>
              <a:chOff x="7100093" y="2273369"/>
              <a:chExt cx="1809750" cy="800100"/>
            </a:xfrm>
          </p:grpSpPr>
          <p:sp>
            <p:nvSpPr>
              <p:cNvPr id="128" name="Shape 33">
                <a:extLst>
                  <a:ext uri="{FF2B5EF4-FFF2-40B4-BE49-F238E27FC236}">
                    <a16:creationId xmlns:a16="http://schemas.microsoft.com/office/drawing/2014/main" id="{F37EE3B9-653B-47E8-9654-B0C6585F1C51}"/>
                  </a:ext>
                </a:extLst>
              </p:cNvPr>
              <p:cNvSpPr/>
              <p:nvPr/>
            </p:nvSpPr>
            <p:spPr>
              <a:xfrm>
                <a:off x="7100093" y="2273369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29" name="Text 34">
                <a:extLst>
                  <a:ext uri="{FF2B5EF4-FFF2-40B4-BE49-F238E27FC236}">
                    <a16:creationId xmlns:a16="http://schemas.microsoft.com/office/drawing/2014/main" id="{7D8AC663-4911-4FA3-98C0-E0700E948677}"/>
                  </a:ext>
                </a:extLst>
              </p:cNvPr>
              <p:cNvSpPr/>
              <p:nvPr/>
            </p:nvSpPr>
            <p:spPr>
              <a:xfrm>
                <a:off x="7214393" y="2387669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3. Поиск</a:t>
                </a:r>
                <a:endParaRPr lang="en-US" sz="1600" dirty="0"/>
              </a:p>
            </p:txBody>
          </p:sp>
          <p:sp>
            <p:nvSpPr>
              <p:cNvPr id="130" name="Text 35">
                <a:extLst>
                  <a:ext uri="{FF2B5EF4-FFF2-40B4-BE49-F238E27FC236}">
                    <a16:creationId xmlns:a16="http://schemas.microsoft.com/office/drawing/2014/main" id="{F9DA8A67-1AA1-4485-BE01-74C17B3C4585}"/>
                  </a:ext>
                </a:extLst>
              </p:cNvPr>
              <p:cNvSpPr/>
              <p:nvPr/>
            </p:nvSpPr>
            <p:spPr>
              <a:xfrm>
                <a:off x="7214393" y="2654369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RAG находит релевантные метаданные 1С</a:t>
                </a:r>
                <a:endParaRPr lang="en-US" sz="1600" dirty="0"/>
              </a:p>
            </p:txBody>
          </p:sp>
        </p:grpSp>
        <p:sp>
          <p:nvSpPr>
            <p:cNvPr id="104" name="Shape 16">
              <a:extLst>
                <a:ext uri="{FF2B5EF4-FFF2-40B4-BE49-F238E27FC236}">
                  <a16:creationId xmlns:a16="http://schemas.microsoft.com/office/drawing/2014/main" id="{8F354471-999B-4BA9-AE14-244509D362C1}"/>
                </a:ext>
              </a:extLst>
            </p:cNvPr>
            <p:cNvSpPr/>
            <p:nvPr/>
          </p:nvSpPr>
          <p:spPr>
            <a:xfrm>
              <a:off x="6003051" y="342498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5" name="Shape 17">
              <a:extLst>
                <a:ext uri="{FF2B5EF4-FFF2-40B4-BE49-F238E27FC236}">
                  <a16:creationId xmlns:a16="http://schemas.microsoft.com/office/drawing/2014/main" id="{5E368BD3-EF97-47AE-9959-3444BD8C6728}"/>
                </a:ext>
              </a:extLst>
            </p:cNvPr>
            <p:cNvSpPr/>
            <p:nvPr/>
          </p:nvSpPr>
          <p:spPr>
            <a:xfrm>
              <a:off x="6150689" y="3596439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54744" y="78321"/>
                  </a:moveTo>
                  <a:cubicBezTo>
                    <a:pt x="159283" y="77093"/>
                    <a:pt x="164046" y="79251"/>
                    <a:pt x="166092" y="83455"/>
                  </a:cubicBezTo>
                  <a:lnTo>
                    <a:pt x="173013" y="97445"/>
                  </a:lnTo>
                  <a:cubicBezTo>
                    <a:pt x="176845" y="97966"/>
                    <a:pt x="180603" y="99008"/>
                    <a:pt x="184138" y="100459"/>
                  </a:cubicBezTo>
                  <a:lnTo>
                    <a:pt x="197160" y="91790"/>
                  </a:lnTo>
                  <a:cubicBezTo>
                    <a:pt x="201067" y="89185"/>
                    <a:pt x="206239" y="89706"/>
                    <a:pt x="209550" y="93018"/>
                  </a:cubicBezTo>
                  <a:lnTo>
                    <a:pt x="216694" y="100161"/>
                  </a:lnTo>
                  <a:cubicBezTo>
                    <a:pt x="220005" y="103473"/>
                    <a:pt x="220526" y="108682"/>
                    <a:pt x="217922" y="112551"/>
                  </a:cubicBezTo>
                  <a:lnTo>
                    <a:pt x="209252" y="125537"/>
                  </a:lnTo>
                  <a:cubicBezTo>
                    <a:pt x="209959" y="127285"/>
                    <a:pt x="210592" y="129108"/>
                    <a:pt x="211113" y="131006"/>
                  </a:cubicBezTo>
                  <a:cubicBezTo>
                    <a:pt x="211634" y="132904"/>
                    <a:pt x="211968" y="134764"/>
                    <a:pt x="212229" y="136661"/>
                  </a:cubicBezTo>
                  <a:lnTo>
                    <a:pt x="226256" y="143582"/>
                  </a:lnTo>
                  <a:cubicBezTo>
                    <a:pt x="230460" y="145666"/>
                    <a:pt x="232618" y="150428"/>
                    <a:pt x="231391" y="154930"/>
                  </a:cubicBezTo>
                  <a:lnTo>
                    <a:pt x="228786" y="164678"/>
                  </a:lnTo>
                  <a:cubicBezTo>
                    <a:pt x="227558" y="169180"/>
                    <a:pt x="223354" y="172231"/>
                    <a:pt x="218666" y="171934"/>
                  </a:cubicBezTo>
                  <a:lnTo>
                    <a:pt x="203039" y="170929"/>
                  </a:lnTo>
                  <a:cubicBezTo>
                    <a:pt x="200695" y="173943"/>
                    <a:pt x="197979" y="176733"/>
                    <a:pt x="194890" y="179115"/>
                  </a:cubicBezTo>
                  <a:lnTo>
                    <a:pt x="195895" y="194704"/>
                  </a:lnTo>
                  <a:cubicBezTo>
                    <a:pt x="196193" y="199392"/>
                    <a:pt x="193142" y="203634"/>
                    <a:pt x="188640" y="204825"/>
                  </a:cubicBezTo>
                  <a:lnTo>
                    <a:pt x="178891" y="207429"/>
                  </a:lnTo>
                  <a:cubicBezTo>
                    <a:pt x="174352" y="208657"/>
                    <a:pt x="169627" y="206499"/>
                    <a:pt x="167543" y="202295"/>
                  </a:cubicBezTo>
                  <a:lnTo>
                    <a:pt x="160623" y="188305"/>
                  </a:lnTo>
                  <a:cubicBezTo>
                    <a:pt x="156790" y="187784"/>
                    <a:pt x="153033" y="186742"/>
                    <a:pt x="149498" y="185291"/>
                  </a:cubicBezTo>
                  <a:lnTo>
                    <a:pt x="136475" y="193960"/>
                  </a:lnTo>
                  <a:cubicBezTo>
                    <a:pt x="132569" y="196565"/>
                    <a:pt x="127397" y="196044"/>
                    <a:pt x="124085" y="192732"/>
                  </a:cubicBezTo>
                  <a:lnTo>
                    <a:pt x="116942" y="185589"/>
                  </a:lnTo>
                  <a:cubicBezTo>
                    <a:pt x="113630" y="182277"/>
                    <a:pt x="113109" y="177105"/>
                    <a:pt x="115714" y="173199"/>
                  </a:cubicBezTo>
                  <a:lnTo>
                    <a:pt x="124383" y="160176"/>
                  </a:lnTo>
                  <a:cubicBezTo>
                    <a:pt x="123676" y="158428"/>
                    <a:pt x="123044" y="156604"/>
                    <a:pt x="122523" y="154707"/>
                  </a:cubicBezTo>
                  <a:cubicBezTo>
                    <a:pt x="122002" y="152809"/>
                    <a:pt x="121667" y="150912"/>
                    <a:pt x="121407" y="149051"/>
                  </a:cubicBezTo>
                  <a:lnTo>
                    <a:pt x="107379" y="142131"/>
                  </a:lnTo>
                  <a:cubicBezTo>
                    <a:pt x="103175" y="140047"/>
                    <a:pt x="101054" y="135285"/>
                    <a:pt x="102245" y="130783"/>
                  </a:cubicBezTo>
                  <a:lnTo>
                    <a:pt x="104849" y="121034"/>
                  </a:lnTo>
                  <a:cubicBezTo>
                    <a:pt x="106077" y="116532"/>
                    <a:pt x="110282" y="113481"/>
                    <a:pt x="114970" y="113779"/>
                  </a:cubicBezTo>
                  <a:lnTo>
                    <a:pt x="130559" y="114784"/>
                  </a:lnTo>
                  <a:cubicBezTo>
                    <a:pt x="132904" y="111770"/>
                    <a:pt x="135620" y="108979"/>
                    <a:pt x="138708" y="106598"/>
                  </a:cubicBezTo>
                  <a:lnTo>
                    <a:pt x="137703" y="91046"/>
                  </a:lnTo>
                  <a:cubicBezTo>
                    <a:pt x="137406" y="86358"/>
                    <a:pt x="140457" y="82116"/>
                    <a:pt x="144959" y="80925"/>
                  </a:cubicBezTo>
                  <a:lnTo>
                    <a:pt x="154707" y="78321"/>
                  </a:lnTo>
                  <a:close/>
                  <a:moveTo>
                    <a:pt x="166836" y="126504"/>
                  </a:moveTo>
                  <a:cubicBezTo>
                    <a:pt x="157801" y="126514"/>
                    <a:pt x="150474" y="133858"/>
                    <a:pt x="150484" y="142894"/>
                  </a:cubicBezTo>
                  <a:cubicBezTo>
                    <a:pt x="150494" y="151929"/>
                    <a:pt x="157838" y="159256"/>
                    <a:pt x="166874" y="159246"/>
                  </a:cubicBezTo>
                  <a:cubicBezTo>
                    <a:pt x="175909" y="159236"/>
                    <a:pt x="183236" y="151892"/>
                    <a:pt x="183226" y="142856"/>
                  </a:cubicBezTo>
                  <a:cubicBezTo>
                    <a:pt x="183216" y="133821"/>
                    <a:pt x="175872" y="126494"/>
                    <a:pt x="166836" y="126504"/>
                  </a:cubicBezTo>
                  <a:close/>
                  <a:moveTo>
                    <a:pt x="83679" y="-16929"/>
                  </a:moveTo>
                  <a:lnTo>
                    <a:pt x="93427" y="-14325"/>
                  </a:lnTo>
                  <a:cubicBezTo>
                    <a:pt x="97929" y="-13097"/>
                    <a:pt x="100980" y="-8855"/>
                    <a:pt x="100682" y="-4204"/>
                  </a:cubicBezTo>
                  <a:lnTo>
                    <a:pt x="99678" y="11348"/>
                  </a:lnTo>
                  <a:cubicBezTo>
                    <a:pt x="102766" y="13729"/>
                    <a:pt x="105482" y="16483"/>
                    <a:pt x="107826" y="19534"/>
                  </a:cubicBezTo>
                  <a:lnTo>
                    <a:pt x="123453" y="18529"/>
                  </a:lnTo>
                  <a:cubicBezTo>
                    <a:pt x="128104" y="18231"/>
                    <a:pt x="132345" y="21282"/>
                    <a:pt x="133573" y="25784"/>
                  </a:cubicBezTo>
                  <a:lnTo>
                    <a:pt x="136178" y="35533"/>
                  </a:lnTo>
                  <a:cubicBezTo>
                    <a:pt x="137368" y="40035"/>
                    <a:pt x="135248" y="44797"/>
                    <a:pt x="131043" y="46881"/>
                  </a:cubicBezTo>
                  <a:lnTo>
                    <a:pt x="117016" y="53801"/>
                  </a:lnTo>
                  <a:cubicBezTo>
                    <a:pt x="116756" y="55699"/>
                    <a:pt x="116384" y="57596"/>
                    <a:pt x="115900" y="59457"/>
                  </a:cubicBezTo>
                  <a:cubicBezTo>
                    <a:pt x="115416" y="61317"/>
                    <a:pt x="114746" y="63178"/>
                    <a:pt x="114040" y="64926"/>
                  </a:cubicBezTo>
                  <a:lnTo>
                    <a:pt x="122709" y="77949"/>
                  </a:lnTo>
                  <a:cubicBezTo>
                    <a:pt x="125313" y="81855"/>
                    <a:pt x="124792" y="87027"/>
                    <a:pt x="121481" y="90339"/>
                  </a:cubicBezTo>
                  <a:lnTo>
                    <a:pt x="114337" y="97482"/>
                  </a:lnTo>
                  <a:cubicBezTo>
                    <a:pt x="111026" y="100794"/>
                    <a:pt x="105854" y="101315"/>
                    <a:pt x="101947" y="98710"/>
                  </a:cubicBezTo>
                  <a:lnTo>
                    <a:pt x="88925" y="90041"/>
                  </a:lnTo>
                  <a:cubicBezTo>
                    <a:pt x="85390" y="91492"/>
                    <a:pt x="81632" y="92534"/>
                    <a:pt x="77800" y="93055"/>
                  </a:cubicBezTo>
                  <a:lnTo>
                    <a:pt x="70879" y="107045"/>
                  </a:lnTo>
                  <a:cubicBezTo>
                    <a:pt x="68796" y="111249"/>
                    <a:pt x="64033" y="113370"/>
                    <a:pt x="59531" y="112179"/>
                  </a:cubicBezTo>
                  <a:lnTo>
                    <a:pt x="49783" y="109575"/>
                  </a:lnTo>
                  <a:cubicBezTo>
                    <a:pt x="45244" y="108347"/>
                    <a:pt x="42230" y="104105"/>
                    <a:pt x="42528" y="99454"/>
                  </a:cubicBezTo>
                  <a:lnTo>
                    <a:pt x="43532" y="83865"/>
                  </a:lnTo>
                  <a:cubicBezTo>
                    <a:pt x="40444" y="81483"/>
                    <a:pt x="37728" y="78730"/>
                    <a:pt x="35384" y="75679"/>
                  </a:cubicBezTo>
                  <a:lnTo>
                    <a:pt x="19757" y="76684"/>
                  </a:lnTo>
                  <a:cubicBezTo>
                    <a:pt x="15106" y="76981"/>
                    <a:pt x="10864" y="73930"/>
                    <a:pt x="9637" y="69428"/>
                  </a:cubicBezTo>
                  <a:lnTo>
                    <a:pt x="7032" y="59680"/>
                  </a:lnTo>
                  <a:cubicBezTo>
                    <a:pt x="5842" y="55178"/>
                    <a:pt x="7962" y="50416"/>
                    <a:pt x="12167" y="48332"/>
                  </a:cubicBezTo>
                  <a:lnTo>
                    <a:pt x="26194" y="41411"/>
                  </a:lnTo>
                  <a:cubicBezTo>
                    <a:pt x="26454" y="39514"/>
                    <a:pt x="26826" y="37654"/>
                    <a:pt x="27310" y="35756"/>
                  </a:cubicBezTo>
                  <a:cubicBezTo>
                    <a:pt x="27831" y="33858"/>
                    <a:pt x="28426" y="32035"/>
                    <a:pt x="29170" y="30287"/>
                  </a:cubicBezTo>
                  <a:lnTo>
                    <a:pt x="20501" y="17301"/>
                  </a:lnTo>
                  <a:cubicBezTo>
                    <a:pt x="17897" y="13395"/>
                    <a:pt x="18417" y="8223"/>
                    <a:pt x="21729" y="4911"/>
                  </a:cubicBezTo>
                  <a:lnTo>
                    <a:pt x="28873" y="-2232"/>
                  </a:lnTo>
                  <a:cubicBezTo>
                    <a:pt x="32184" y="-5544"/>
                    <a:pt x="37356" y="-6065"/>
                    <a:pt x="41263" y="-3460"/>
                  </a:cubicBezTo>
                  <a:lnTo>
                    <a:pt x="54285" y="5209"/>
                  </a:lnTo>
                  <a:cubicBezTo>
                    <a:pt x="57820" y="3758"/>
                    <a:pt x="61578" y="2716"/>
                    <a:pt x="65410" y="2195"/>
                  </a:cubicBezTo>
                  <a:lnTo>
                    <a:pt x="72330" y="-11795"/>
                  </a:lnTo>
                  <a:cubicBezTo>
                    <a:pt x="74414" y="-15999"/>
                    <a:pt x="79139" y="-18120"/>
                    <a:pt x="83679" y="-16929"/>
                  </a:cubicBezTo>
                  <a:close/>
                  <a:moveTo>
                    <a:pt x="71586" y="31254"/>
                  </a:moveTo>
                  <a:cubicBezTo>
                    <a:pt x="62551" y="31254"/>
                    <a:pt x="55215" y="38590"/>
                    <a:pt x="55215" y="47625"/>
                  </a:cubicBezTo>
                  <a:cubicBezTo>
                    <a:pt x="55215" y="56660"/>
                    <a:pt x="62551" y="63996"/>
                    <a:pt x="71586" y="63996"/>
                  </a:cubicBezTo>
                  <a:cubicBezTo>
                    <a:pt x="80622" y="63996"/>
                    <a:pt x="87957" y="56660"/>
                    <a:pt x="87957" y="47625"/>
                  </a:cubicBezTo>
                  <a:cubicBezTo>
                    <a:pt x="87957" y="38590"/>
                    <a:pt x="80622" y="31254"/>
                    <a:pt x="71586" y="3125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6" name="Text 18">
              <a:extLst>
                <a:ext uri="{FF2B5EF4-FFF2-40B4-BE49-F238E27FC236}">
                  <a16:creationId xmlns:a16="http://schemas.microsoft.com/office/drawing/2014/main" id="{6B025E75-9CE8-449C-A805-BABCF5F7CFD0}"/>
                </a:ext>
              </a:extLst>
            </p:cNvPr>
            <p:cNvSpPr/>
            <p:nvPr/>
          </p:nvSpPr>
          <p:spPr>
            <a:xfrm>
              <a:off x="5786834" y="4061079"/>
              <a:ext cx="1203960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Команда</a:t>
              </a:r>
              <a:endParaRPr lang="en-US" sz="3200" dirty="0"/>
            </a:p>
          </p:txBody>
        </p:sp>
        <p:sp>
          <p:nvSpPr>
            <p:cNvPr id="107" name="Shape 19">
              <a:extLst>
                <a:ext uri="{FF2B5EF4-FFF2-40B4-BE49-F238E27FC236}">
                  <a16:creationId xmlns:a16="http://schemas.microsoft.com/office/drawing/2014/main" id="{ABC41615-739C-44F3-911E-0BBFDBDB534C}"/>
                </a:ext>
              </a:extLst>
            </p:cNvPr>
            <p:cNvSpPr/>
            <p:nvPr/>
          </p:nvSpPr>
          <p:spPr>
            <a:xfrm>
              <a:off x="7210512" y="363112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08" name="Shape 20">
              <a:extLst>
                <a:ext uri="{FF2B5EF4-FFF2-40B4-BE49-F238E27FC236}">
                  <a16:creationId xmlns:a16="http://schemas.microsoft.com/office/drawing/2014/main" id="{D485CC18-9F85-4857-8080-6D749A4B3DB1}"/>
                </a:ext>
              </a:extLst>
            </p:cNvPr>
            <p:cNvSpPr/>
            <p:nvPr/>
          </p:nvSpPr>
          <p:spPr>
            <a:xfrm>
              <a:off x="7986013" y="342328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9" name="Shape 21">
              <a:extLst>
                <a:ext uri="{FF2B5EF4-FFF2-40B4-BE49-F238E27FC236}">
                  <a16:creationId xmlns:a16="http://schemas.microsoft.com/office/drawing/2014/main" id="{5C6681D0-F0E7-4831-BCE4-C11E33EDC085}"/>
                </a:ext>
              </a:extLst>
            </p:cNvPr>
            <p:cNvSpPr/>
            <p:nvPr/>
          </p:nvSpPr>
          <p:spPr>
            <a:xfrm>
              <a:off x="8181275" y="3594734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92980" y="24854"/>
                  </a:moveTo>
                  <a:cubicBezTo>
                    <a:pt x="96850" y="19534"/>
                    <a:pt x="95659" y="12092"/>
                    <a:pt x="90339" y="8223"/>
                  </a:cubicBezTo>
                  <a:cubicBezTo>
                    <a:pt x="85018" y="4353"/>
                    <a:pt x="77577" y="5544"/>
                    <a:pt x="73707" y="10864"/>
                  </a:cubicBezTo>
                  <a:lnTo>
                    <a:pt x="34268" y="65075"/>
                  </a:lnTo>
                  <a:lnTo>
                    <a:pt x="20315" y="51122"/>
                  </a:lnTo>
                  <a:cubicBezTo>
                    <a:pt x="15664" y="46472"/>
                    <a:pt x="8111" y="46472"/>
                    <a:pt x="3460" y="51122"/>
                  </a:cubicBezTo>
                  <a:cubicBezTo>
                    <a:pt x="-1191" y="55773"/>
                    <a:pt x="-1191" y="63326"/>
                    <a:pt x="3460" y="67977"/>
                  </a:cubicBezTo>
                  <a:lnTo>
                    <a:pt x="27273" y="91790"/>
                  </a:lnTo>
                  <a:cubicBezTo>
                    <a:pt x="29728" y="94245"/>
                    <a:pt x="33151" y="95510"/>
                    <a:pt x="36612" y="95250"/>
                  </a:cubicBezTo>
                  <a:cubicBezTo>
                    <a:pt x="40072" y="94990"/>
                    <a:pt x="43272" y="93204"/>
                    <a:pt x="45318" y="90376"/>
                  </a:cubicBezTo>
                  <a:lnTo>
                    <a:pt x="92943" y="24892"/>
                  </a:lnTo>
                  <a:close/>
                  <a:moveTo>
                    <a:pt x="140605" y="75456"/>
                  </a:moveTo>
                  <a:cubicBezTo>
                    <a:pt x="144475" y="70135"/>
                    <a:pt x="143284" y="62694"/>
                    <a:pt x="137964" y="58824"/>
                  </a:cubicBezTo>
                  <a:cubicBezTo>
                    <a:pt x="132643" y="54955"/>
                    <a:pt x="125202" y="56145"/>
                    <a:pt x="121332" y="61466"/>
                  </a:cubicBezTo>
                  <a:lnTo>
                    <a:pt x="58080" y="148419"/>
                  </a:lnTo>
                  <a:lnTo>
                    <a:pt x="32221" y="122560"/>
                  </a:lnTo>
                  <a:cubicBezTo>
                    <a:pt x="27570" y="117909"/>
                    <a:pt x="20017" y="117909"/>
                    <a:pt x="15367" y="122560"/>
                  </a:cubicBezTo>
                  <a:cubicBezTo>
                    <a:pt x="10716" y="127211"/>
                    <a:pt x="10716" y="134764"/>
                    <a:pt x="15367" y="139415"/>
                  </a:cubicBezTo>
                  <a:lnTo>
                    <a:pt x="51085" y="175133"/>
                  </a:lnTo>
                  <a:cubicBezTo>
                    <a:pt x="53541" y="177589"/>
                    <a:pt x="56964" y="178854"/>
                    <a:pt x="60424" y="178594"/>
                  </a:cubicBezTo>
                  <a:cubicBezTo>
                    <a:pt x="63884" y="178333"/>
                    <a:pt x="67084" y="176547"/>
                    <a:pt x="69131" y="173720"/>
                  </a:cubicBezTo>
                  <a:lnTo>
                    <a:pt x="140568" y="75493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10" name="Text 22">
              <a:extLst>
                <a:ext uri="{FF2B5EF4-FFF2-40B4-BE49-F238E27FC236}">
                  <a16:creationId xmlns:a16="http://schemas.microsoft.com/office/drawing/2014/main" id="{2599F515-9929-4D30-B2A3-2182659FEB8D}"/>
                </a:ext>
              </a:extLst>
            </p:cNvPr>
            <p:cNvSpPr/>
            <p:nvPr/>
          </p:nvSpPr>
          <p:spPr>
            <a:xfrm>
              <a:off x="7688463" y="4059374"/>
              <a:ext cx="1487245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Валидация</a:t>
              </a:r>
              <a:endParaRPr lang="en-US" sz="3200" dirty="0"/>
            </a:p>
          </p:txBody>
        </p:sp>
        <p:sp>
          <p:nvSpPr>
            <p:cNvPr id="111" name="Shape 23">
              <a:extLst>
                <a:ext uri="{FF2B5EF4-FFF2-40B4-BE49-F238E27FC236}">
                  <a16:creationId xmlns:a16="http://schemas.microsoft.com/office/drawing/2014/main" id="{8AC59E9E-46F6-4D83-B8DB-7C5340C913C2}"/>
                </a:ext>
              </a:extLst>
            </p:cNvPr>
            <p:cNvSpPr/>
            <p:nvPr/>
          </p:nvSpPr>
          <p:spPr>
            <a:xfrm>
              <a:off x="9138069" y="366120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12" name="Shape 24">
              <a:extLst>
                <a:ext uri="{FF2B5EF4-FFF2-40B4-BE49-F238E27FC236}">
                  <a16:creationId xmlns:a16="http://schemas.microsoft.com/office/drawing/2014/main" id="{8F364805-612D-4EC9-B741-2E35E198E86A}"/>
                </a:ext>
              </a:extLst>
            </p:cNvPr>
            <p:cNvSpPr/>
            <p:nvPr/>
          </p:nvSpPr>
          <p:spPr>
            <a:xfrm>
              <a:off x="9947226" y="342328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3" name="Shape 25">
              <a:extLst>
                <a:ext uri="{FF2B5EF4-FFF2-40B4-BE49-F238E27FC236}">
                  <a16:creationId xmlns:a16="http://schemas.microsoft.com/office/drawing/2014/main" id="{093DA55E-3584-447E-8BC1-7398ABB87EEE}"/>
                </a:ext>
              </a:extLst>
            </p:cNvPr>
            <p:cNvSpPr/>
            <p:nvPr/>
          </p:nvSpPr>
          <p:spPr>
            <a:xfrm>
              <a:off x="10118676" y="359473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75977" y="6846"/>
                  </a:moveTo>
                  <a:cubicBezTo>
                    <a:pt x="80442" y="8706"/>
                    <a:pt x="83344" y="13022"/>
                    <a:pt x="83344" y="17859"/>
                  </a:cubicBezTo>
                  <a:lnTo>
                    <a:pt x="83344" y="47625"/>
                  </a:lnTo>
                  <a:lnTo>
                    <a:pt x="125016" y="47625"/>
                  </a:lnTo>
                  <a:cubicBezTo>
                    <a:pt x="161181" y="47625"/>
                    <a:pt x="190500" y="76944"/>
                    <a:pt x="190500" y="113109"/>
                  </a:cubicBezTo>
                  <a:cubicBezTo>
                    <a:pt x="190500" y="155265"/>
                    <a:pt x="160176" y="174092"/>
                    <a:pt x="153219" y="177887"/>
                  </a:cubicBezTo>
                  <a:cubicBezTo>
                    <a:pt x="152288" y="178408"/>
                    <a:pt x="151247" y="178594"/>
                    <a:pt x="150205" y="178594"/>
                  </a:cubicBezTo>
                  <a:cubicBezTo>
                    <a:pt x="146149" y="178594"/>
                    <a:pt x="142875" y="175282"/>
                    <a:pt x="142875" y="171264"/>
                  </a:cubicBezTo>
                  <a:cubicBezTo>
                    <a:pt x="142875" y="168473"/>
                    <a:pt x="144475" y="165906"/>
                    <a:pt x="146521" y="164009"/>
                  </a:cubicBezTo>
                  <a:cubicBezTo>
                    <a:pt x="150019" y="160734"/>
                    <a:pt x="154781" y="154186"/>
                    <a:pt x="154781" y="142912"/>
                  </a:cubicBezTo>
                  <a:cubicBezTo>
                    <a:pt x="154781" y="123192"/>
                    <a:pt x="138782" y="107193"/>
                    <a:pt x="119063" y="107193"/>
                  </a:cubicBezTo>
                  <a:lnTo>
                    <a:pt x="83344" y="107193"/>
                  </a:lnTo>
                  <a:lnTo>
                    <a:pt x="83344" y="136959"/>
                  </a:lnTo>
                  <a:cubicBezTo>
                    <a:pt x="83344" y="141759"/>
                    <a:pt x="80442" y="146112"/>
                    <a:pt x="75977" y="147972"/>
                  </a:cubicBezTo>
                  <a:cubicBezTo>
                    <a:pt x="71512" y="149833"/>
                    <a:pt x="66415" y="148791"/>
                    <a:pt x="62992" y="145405"/>
                  </a:cubicBezTo>
                  <a:lnTo>
                    <a:pt x="3460" y="85874"/>
                  </a:lnTo>
                  <a:cubicBezTo>
                    <a:pt x="-1191" y="81223"/>
                    <a:pt x="-1191" y="73670"/>
                    <a:pt x="3460" y="69019"/>
                  </a:cubicBezTo>
                  <a:lnTo>
                    <a:pt x="62992" y="9488"/>
                  </a:lnTo>
                  <a:cubicBezTo>
                    <a:pt x="66415" y="6065"/>
                    <a:pt x="71512" y="5060"/>
                    <a:pt x="75977" y="692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14" name="Text 26">
              <a:extLst>
                <a:ext uri="{FF2B5EF4-FFF2-40B4-BE49-F238E27FC236}">
                  <a16:creationId xmlns:a16="http://schemas.microsoft.com/office/drawing/2014/main" id="{4D7CEED1-5FF5-4769-8331-23BC43FA4C63}"/>
                </a:ext>
              </a:extLst>
            </p:cNvPr>
            <p:cNvSpPr/>
            <p:nvPr/>
          </p:nvSpPr>
          <p:spPr>
            <a:xfrm>
              <a:off x="9880368" y="4049647"/>
              <a:ext cx="867559" cy="16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Ответ</a:t>
              </a:r>
              <a:endParaRPr lang="en-US" sz="3200" dirty="0"/>
            </a:p>
          </p:txBody>
        </p:sp>
        <p:grpSp>
          <p:nvGrpSpPr>
            <p:cNvPr id="115" name="Группа 114">
              <a:extLst>
                <a:ext uri="{FF2B5EF4-FFF2-40B4-BE49-F238E27FC236}">
                  <a16:creationId xmlns:a16="http://schemas.microsoft.com/office/drawing/2014/main" id="{D3E45797-0817-4756-AE2E-900011E1E3F9}"/>
                </a:ext>
              </a:extLst>
            </p:cNvPr>
            <p:cNvGrpSpPr/>
            <p:nvPr/>
          </p:nvGrpSpPr>
          <p:grpSpPr>
            <a:xfrm>
              <a:off x="5419645" y="4356734"/>
              <a:ext cx="1809750" cy="800100"/>
              <a:chOff x="3264772" y="4419600"/>
              <a:chExt cx="1809750" cy="800100"/>
            </a:xfrm>
          </p:grpSpPr>
          <p:sp>
            <p:nvSpPr>
              <p:cNvPr id="125" name="Shape 36">
                <a:extLst>
                  <a:ext uri="{FF2B5EF4-FFF2-40B4-BE49-F238E27FC236}">
                    <a16:creationId xmlns:a16="http://schemas.microsoft.com/office/drawing/2014/main" id="{4BB35654-3B94-4778-879B-B325EDF1BEE1}"/>
                  </a:ext>
                </a:extLst>
              </p:cNvPr>
              <p:cNvSpPr/>
              <p:nvPr/>
            </p:nvSpPr>
            <p:spPr>
              <a:xfrm>
                <a:off x="326477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26" name="Text 37">
                <a:extLst>
                  <a:ext uri="{FF2B5EF4-FFF2-40B4-BE49-F238E27FC236}">
                    <a16:creationId xmlns:a16="http://schemas.microsoft.com/office/drawing/2014/main" id="{6EA60FB1-A9F3-4DB8-9301-7D8629950CFD}"/>
                  </a:ext>
                </a:extLst>
              </p:cNvPr>
              <p:cNvSpPr/>
              <p:nvPr/>
            </p:nvSpPr>
            <p:spPr>
              <a:xfrm>
                <a:off x="337907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4. Команда</a:t>
                </a:r>
                <a:endParaRPr lang="en-US" sz="1600" dirty="0"/>
              </a:p>
            </p:txBody>
          </p:sp>
          <p:sp>
            <p:nvSpPr>
              <p:cNvPr id="127" name="Text 38">
                <a:extLst>
                  <a:ext uri="{FF2B5EF4-FFF2-40B4-BE49-F238E27FC236}">
                    <a16:creationId xmlns:a16="http://schemas.microsoft.com/office/drawing/2014/main" id="{1A6DA291-B548-4CF0-8208-B1448D8841C6}"/>
                  </a:ext>
                </a:extLst>
              </p:cNvPr>
              <p:cNvSpPr/>
              <p:nvPr/>
            </p:nvSpPr>
            <p:spPr>
              <a:xfrm>
                <a:off x="337907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Генерация запроса к 1С на внутреннем языке</a:t>
                </a:r>
                <a:endParaRPr lang="en-US" sz="1600" dirty="0"/>
              </a:p>
            </p:txBody>
          </p:sp>
        </p:grpSp>
        <p:grpSp>
          <p:nvGrpSpPr>
            <p:cNvPr id="116" name="Группа 115">
              <a:extLst>
                <a:ext uri="{FF2B5EF4-FFF2-40B4-BE49-F238E27FC236}">
                  <a16:creationId xmlns:a16="http://schemas.microsoft.com/office/drawing/2014/main" id="{BE6E32C5-756A-4B9C-B878-00798F49FEFE}"/>
                </a:ext>
              </a:extLst>
            </p:cNvPr>
            <p:cNvGrpSpPr/>
            <p:nvPr/>
          </p:nvGrpSpPr>
          <p:grpSpPr>
            <a:xfrm>
              <a:off x="7343695" y="4356734"/>
              <a:ext cx="1809750" cy="800100"/>
              <a:chOff x="5188822" y="4419600"/>
              <a:chExt cx="1809750" cy="800100"/>
            </a:xfrm>
          </p:grpSpPr>
          <p:sp>
            <p:nvSpPr>
              <p:cNvPr id="122" name="Shape 39">
                <a:extLst>
                  <a:ext uri="{FF2B5EF4-FFF2-40B4-BE49-F238E27FC236}">
                    <a16:creationId xmlns:a16="http://schemas.microsoft.com/office/drawing/2014/main" id="{8BBF62A4-BBF3-4C57-8B46-994FC14C14D2}"/>
                  </a:ext>
                </a:extLst>
              </p:cNvPr>
              <p:cNvSpPr/>
              <p:nvPr/>
            </p:nvSpPr>
            <p:spPr>
              <a:xfrm>
                <a:off x="518882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23" name="Text 40">
                <a:extLst>
                  <a:ext uri="{FF2B5EF4-FFF2-40B4-BE49-F238E27FC236}">
                    <a16:creationId xmlns:a16="http://schemas.microsoft.com/office/drawing/2014/main" id="{AEC571CF-AD86-48A0-B22E-8865C8398B20}"/>
                  </a:ext>
                </a:extLst>
              </p:cNvPr>
              <p:cNvSpPr/>
              <p:nvPr/>
            </p:nvSpPr>
            <p:spPr>
              <a:xfrm>
                <a:off x="530312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5. Валидация</a:t>
                </a:r>
                <a:endParaRPr lang="en-US" sz="1600" dirty="0"/>
              </a:p>
            </p:txBody>
          </p:sp>
          <p:sp>
            <p:nvSpPr>
              <p:cNvPr id="124" name="Text 41">
                <a:extLst>
                  <a:ext uri="{FF2B5EF4-FFF2-40B4-BE49-F238E27FC236}">
                    <a16:creationId xmlns:a16="http://schemas.microsoft.com/office/drawing/2014/main" id="{A35953E7-A6E6-47DB-B573-565DF710AED9}"/>
                  </a:ext>
                </a:extLst>
              </p:cNvPr>
              <p:cNvSpPr/>
              <p:nvPr/>
            </p:nvSpPr>
            <p:spPr>
              <a:xfrm>
                <a:off x="530312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Проверка прав доступа и корректности</a:t>
                </a:r>
                <a:endParaRPr lang="en-US" sz="1600" dirty="0"/>
              </a:p>
            </p:txBody>
          </p:sp>
        </p:grpSp>
        <p:grpSp>
          <p:nvGrpSpPr>
            <p:cNvPr id="117" name="Группа 116">
              <a:extLst>
                <a:ext uri="{FF2B5EF4-FFF2-40B4-BE49-F238E27FC236}">
                  <a16:creationId xmlns:a16="http://schemas.microsoft.com/office/drawing/2014/main" id="{6834034C-F4CF-4A05-81C2-1C1E000690A9}"/>
                </a:ext>
              </a:extLst>
            </p:cNvPr>
            <p:cNvGrpSpPr/>
            <p:nvPr/>
          </p:nvGrpSpPr>
          <p:grpSpPr>
            <a:xfrm>
              <a:off x="9267745" y="4356734"/>
              <a:ext cx="1809750" cy="800100"/>
              <a:chOff x="7112872" y="4419600"/>
              <a:chExt cx="1809750" cy="800100"/>
            </a:xfrm>
          </p:grpSpPr>
          <p:sp>
            <p:nvSpPr>
              <p:cNvPr id="119" name="Shape 42">
                <a:extLst>
                  <a:ext uri="{FF2B5EF4-FFF2-40B4-BE49-F238E27FC236}">
                    <a16:creationId xmlns:a16="http://schemas.microsoft.com/office/drawing/2014/main" id="{05EFB4A4-2241-4563-B4D8-D6817898D0AD}"/>
                  </a:ext>
                </a:extLst>
              </p:cNvPr>
              <p:cNvSpPr/>
              <p:nvPr/>
            </p:nvSpPr>
            <p:spPr>
              <a:xfrm>
                <a:off x="7112872" y="4419600"/>
                <a:ext cx="18097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800100">
                    <a:moveTo>
                      <a:pt x="114302" y="0"/>
                    </a:moveTo>
                    <a:lnTo>
                      <a:pt x="1695448" y="0"/>
                    </a:lnTo>
                    <a:cubicBezTo>
                      <a:pt x="1758533" y="0"/>
                      <a:pt x="1809750" y="51217"/>
                      <a:pt x="1809750" y="114302"/>
                    </a:cubicBezTo>
                    <a:lnTo>
                      <a:pt x="1809750" y="685798"/>
                    </a:lnTo>
                    <a:cubicBezTo>
                      <a:pt x="1809750" y="748883"/>
                      <a:pt x="1758533" y="800100"/>
                      <a:pt x="1695448" y="800100"/>
                    </a:cubicBezTo>
                    <a:lnTo>
                      <a:pt x="114302" y="800100"/>
                    </a:lnTo>
                    <a:cubicBezTo>
                      <a:pt x="51217" y="800100"/>
                      <a:pt x="0" y="748883"/>
                      <a:pt x="0" y="6857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/>
            </p:spPr>
          </p:sp>
          <p:sp>
            <p:nvSpPr>
              <p:cNvPr id="120" name="Text 43">
                <a:extLst>
                  <a:ext uri="{FF2B5EF4-FFF2-40B4-BE49-F238E27FC236}">
                    <a16:creationId xmlns:a16="http://schemas.microsoft.com/office/drawing/2014/main" id="{C5A862DB-35D8-4735-B0F7-CD057F7BD5E7}"/>
                  </a:ext>
                </a:extLst>
              </p:cNvPr>
              <p:cNvSpPr/>
              <p:nvPr/>
            </p:nvSpPr>
            <p:spPr>
              <a:xfrm>
                <a:off x="7227172" y="4533900"/>
                <a:ext cx="1647825" cy="19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b="1" dirty="0">
                    <a:solidFill>
                      <a:srgbClr val="1A1A1A"/>
                    </a:solidFill>
                    <a:latin typeface="Alimama ShuHeiTi" pitchFamily="34" charset="0"/>
                    <a:ea typeface="Alimama ShuHeiTi" pitchFamily="34" charset="-122"/>
                    <a:cs typeface="Alimama ShuHeiTi" pitchFamily="34" charset="-120"/>
                  </a:rPr>
                  <a:t>6. Ответ</a:t>
                </a:r>
                <a:endParaRPr lang="en-US" sz="1600" dirty="0"/>
              </a:p>
            </p:txBody>
          </p:sp>
          <p:sp>
            <p:nvSpPr>
              <p:cNvPr id="121" name="Text 44">
                <a:extLst>
                  <a:ext uri="{FF2B5EF4-FFF2-40B4-BE49-F238E27FC236}">
                    <a16:creationId xmlns:a16="http://schemas.microsoft.com/office/drawing/2014/main" id="{CF3A04B2-B82D-4AF4-9C2C-267F4A7964B3}"/>
                  </a:ext>
                </a:extLst>
              </p:cNvPr>
              <p:cNvSpPr/>
              <p:nvPr/>
            </p:nvSpPr>
            <p:spPr>
              <a:xfrm>
                <a:off x="7227172" y="4800600"/>
                <a:ext cx="16383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9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Результат: данные, форма или подтверждение</a:t>
                </a:r>
                <a:endParaRPr lang="en-US" sz="1600" dirty="0"/>
              </a:p>
            </p:txBody>
          </p:sp>
        </p:grpSp>
        <p:sp>
          <p:nvSpPr>
            <p:cNvPr id="118" name="Shape 19">
              <a:extLst>
                <a:ext uri="{FF2B5EF4-FFF2-40B4-BE49-F238E27FC236}">
                  <a16:creationId xmlns:a16="http://schemas.microsoft.com/office/drawing/2014/main" id="{301E8F3C-D470-4CAC-A8F8-3983BFA611C1}"/>
                </a:ext>
              </a:extLst>
            </p:cNvPr>
            <p:cNvSpPr/>
            <p:nvPr/>
          </p:nvSpPr>
          <p:spPr>
            <a:xfrm>
              <a:off x="5289144" y="363112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6B35"/>
            </a:solidFill>
            <a:ln/>
          </p:spPr>
        </p:sp>
      </p:grpSp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7688" y="533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00050"/>
            <a:ext cx="4124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RAG по метаданным 1С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9785" y="857249"/>
            <a:ext cx="4228940" cy="45719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  <a:ln/>
        </p:spPr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881AD52C-8269-49F3-BC87-727494AC4B41}"/>
              </a:ext>
            </a:extLst>
          </p:cNvPr>
          <p:cNvGrpSpPr/>
          <p:nvPr/>
        </p:nvGrpSpPr>
        <p:grpSpPr>
          <a:xfrm>
            <a:off x="381000" y="1143000"/>
            <a:ext cx="5600700" cy="4305300"/>
            <a:chOff x="381000" y="1143000"/>
            <a:chExt cx="5600700" cy="4305300"/>
          </a:xfrm>
        </p:grpSpPr>
        <p:sp>
          <p:nvSpPr>
            <p:cNvPr id="6" name="Shape 4"/>
            <p:cNvSpPr/>
            <p:nvPr/>
          </p:nvSpPr>
          <p:spPr>
            <a:xfrm>
              <a:off x="381000" y="1143000"/>
              <a:ext cx="5600700" cy="4305300"/>
            </a:xfrm>
            <a:custGeom>
              <a:avLst/>
              <a:gdLst/>
              <a:ahLst/>
              <a:cxnLst/>
              <a:rect l="l" t="t" r="r" b="b"/>
              <a:pathLst>
                <a:path w="5600700" h="4305300">
                  <a:moveTo>
                    <a:pt x="152408" y="0"/>
                  </a:moveTo>
                  <a:lnTo>
                    <a:pt x="5448292" y="0"/>
                  </a:lnTo>
                  <a:cubicBezTo>
                    <a:pt x="5532465" y="0"/>
                    <a:pt x="5600700" y="68235"/>
                    <a:pt x="5600700" y="152408"/>
                  </a:cubicBezTo>
                  <a:lnTo>
                    <a:pt x="5600700" y="4152892"/>
                  </a:lnTo>
                  <a:cubicBezTo>
                    <a:pt x="5600700" y="4237065"/>
                    <a:pt x="5532465" y="4305300"/>
                    <a:pt x="5448292" y="4305300"/>
                  </a:cubicBezTo>
                  <a:lnTo>
                    <a:pt x="152408" y="4305300"/>
                  </a:lnTo>
                  <a:cubicBezTo>
                    <a:pt x="68235" y="4305300"/>
                    <a:pt x="0" y="4237065"/>
                    <a:pt x="0" y="41528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096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7429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00719" y="0"/>
                    <a:pt x="105742" y="3014"/>
                    <a:pt x="108347" y="7813"/>
                  </a:cubicBezTo>
                  <a:lnTo>
                    <a:pt x="188714" y="156642"/>
                  </a:lnTo>
                  <a:cubicBezTo>
                    <a:pt x="191207" y="161255"/>
                    <a:pt x="191095" y="166836"/>
                    <a:pt x="188416" y="171338"/>
                  </a:cubicBezTo>
                  <a:cubicBezTo>
                    <a:pt x="185737" y="175840"/>
                    <a:pt x="180863" y="178594"/>
                    <a:pt x="175617" y="178594"/>
                  </a:cubicBezTo>
                  <a:lnTo>
                    <a:pt x="14883" y="178594"/>
                  </a:lnTo>
                  <a:cubicBezTo>
                    <a:pt x="9637" y="178594"/>
                    <a:pt x="4800" y="175840"/>
                    <a:pt x="2084" y="171338"/>
                  </a:cubicBezTo>
                  <a:cubicBezTo>
                    <a:pt x="-633" y="166836"/>
                    <a:pt x="-707" y="161255"/>
                    <a:pt x="1786" y="156642"/>
                  </a:cubicBezTo>
                  <a:lnTo>
                    <a:pt x="82153" y="7813"/>
                  </a:lnTo>
                  <a:cubicBezTo>
                    <a:pt x="84758" y="3014"/>
                    <a:pt x="89781" y="0"/>
                    <a:pt x="95250" y="0"/>
                  </a:cubicBezTo>
                  <a:close/>
                  <a:moveTo>
                    <a:pt x="95250" y="62508"/>
                  </a:moveTo>
                  <a:cubicBezTo>
                    <a:pt x="90301" y="62508"/>
                    <a:pt x="86320" y="66489"/>
                    <a:pt x="86320" y="71438"/>
                  </a:cubicBezTo>
                  <a:lnTo>
                    <a:pt x="86320" y="113109"/>
                  </a:lnTo>
                  <a:cubicBezTo>
                    <a:pt x="86320" y="118058"/>
                    <a:pt x="90301" y="122039"/>
                    <a:pt x="95250" y="122039"/>
                  </a:cubicBezTo>
                  <a:cubicBezTo>
                    <a:pt x="100199" y="122039"/>
                    <a:pt x="104180" y="118058"/>
                    <a:pt x="104180" y="113109"/>
                  </a:cubicBezTo>
                  <a:lnTo>
                    <a:pt x="104180" y="71438"/>
                  </a:lnTo>
                  <a:cubicBezTo>
                    <a:pt x="104180" y="66489"/>
                    <a:pt x="100199" y="62508"/>
                    <a:pt x="95250" y="62508"/>
                  </a:cubicBezTo>
                  <a:close/>
                  <a:moveTo>
                    <a:pt x="105184" y="142875"/>
                  </a:moveTo>
                  <a:cubicBezTo>
                    <a:pt x="105410" y="139188"/>
                    <a:pt x="103571" y="135679"/>
                    <a:pt x="100410" y="133767"/>
                  </a:cubicBezTo>
                  <a:cubicBezTo>
                    <a:pt x="97249" y="131855"/>
                    <a:pt x="93288" y="131855"/>
                    <a:pt x="90127" y="133767"/>
                  </a:cubicBezTo>
                  <a:cubicBezTo>
                    <a:pt x="86966" y="135679"/>
                    <a:pt x="85127" y="139188"/>
                    <a:pt x="85353" y="142875"/>
                  </a:cubicBezTo>
                  <a:cubicBezTo>
                    <a:pt x="85127" y="146562"/>
                    <a:pt x="86966" y="150071"/>
                    <a:pt x="90127" y="151983"/>
                  </a:cubicBezTo>
                  <a:cubicBezTo>
                    <a:pt x="93288" y="153895"/>
                    <a:pt x="97249" y="153895"/>
                    <a:pt x="100410" y="151983"/>
                  </a:cubicBezTo>
                  <a:cubicBezTo>
                    <a:pt x="103571" y="150071"/>
                    <a:pt x="105410" y="146562"/>
                    <a:pt x="105184" y="14287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181100" y="1447800"/>
              <a:ext cx="29051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Проблема галлюцинаций</a:t>
              </a:r>
              <a:endParaRPr lang="en-US" sz="1600" dirty="0"/>
            </a:p>
          </p:txBody>
        </p:sp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4420F158-ABEA-49E5-8E30-8C73834CF4FE}"/>
                </a:ext>
              </a:extLst>
            </p:cNvPr>
            <p:cNvGrpSpPr/>
            <p:nvPr/>
          </p:nvGrpSpPr>
          <p:grpSpPr>
            <a:xfrm>
              <a:off x="619285" y="2106143"/>
              <a:ext cx="5143500" cy="1028700"/>
              <a:chOff x="619285" y="2307287"/>
              <a:chExt cx="5143500" cy="1028700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619285" y="2307287"/>
                <a:ext cx="5143500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028700">
                    <a:moveTo>
                      <a:pt x="114299" y="0"/>
                    </a:moveTo>
                    <a:lnTo>
                      <a:pt x="5029201" y="0"/>
                    </a:lnTo>
                    <a:cubicBezTo>
                      <a:pt x="5092327" y="0"/>
                      <a:pt x="5143500" y="51173"/>
                      <a:pt x="5143500" y="114299"/>
                    </a:cubicBezTo>
                    <a:lnTo>
                      <a:pt x="5143500" y="914401"/>
                    </a:lnTo>
                    <a:cubicBezTo>
                      <a:pt x="5143500" y="977527"/>
                      <a:pt x="5092327" y="1028700"/>
                      <a:pt x="5029201" y="1028700"/>
                    </a:cubicBezTo>
                    <a:lnTo>
                      <a:pt x="114299" y="1028700"/>
                    </a:lnTo>
                    <a:cubicBezTo>
                      <a:pt x="51173" y="1028700"/>
                      <a:pt x="0" y="977527"/>
                      <a:pt x="0" y="914401"/>
                    </a:cubicBezTo>
                    <a:lnTo>
                      <a:pt x="0" y="114299"/>
                    </a:lnTo>
                    <a:cubicBezTo>
                      <a:pt x="0" y="51173"/>
                      <a:pt x="51173" y="0"/>
                      <a:pt x="1142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1" name="Shape 9"/>
              <p:cNvSpPr/>
              <p:nvPr/>
            </p:nvSpPr>
            <p:spPr>
              <a:xfrm>
                <a:off x="771685" y="2497787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62136" y="62136"/>
                    </a:moveTo>
                    <a:cubicBezTo>
                      <a:pt x="65633" y="58638"/>
                      <a:pt x="71289" y="58638"/>
                      <a:pt x="74749" y="62136"/>
                    </a:cubicBezTo>
                    <a:lnTo>
                      <a:pt x="95213" y="82600"/>
                    </a:lnTo>
                    <a:lnTo>
                      <a:pt x="115677" y="62136"/>
                    </a:lnTo>
                    <a:cubicBezTo>
                      <a:pt x="119174" y="58638"/>
                      <a:pt x="124830" y="58638"/>
                      <a:pt x="128290" y="62136"/>
                    </a:cubicBezTo>
                    <a:cubicBezTo>
                      <a:pt x="131750" y="65633"/>
                      <a:pt x="131787" y="71289"/>
                      <a:pt x="128290" y="74749"/>
                    </a:cubicBezTo>
                    <a:lnTo>
                      <a:pt x="107826" y="95213"/>
                    </a:lnTo>
                    <a:lnTo>
                      <a:pt x="128290" y="115677"/>
                    </a:lnTo>
                    <a:cubicBezTo>
                      <a:pt x="131787" y="119174"/>
                      <a:pt x="131787" y="124830"/>
                      <a:pt x="128290" y="128290"/>
                    </a:cubicBezTo>
                    <a:cubicBezTo>
                      <a:pt x="124792" y="131750"/>
                      <a:pt x="119137" y="131787"/>
                      <a:pt x="115677" y="128290"/>
                    </a:cubicBezTo>
                    <a:lnTo>
                      <a:pt x="95213" y="107826"/>
                    </a:lnTo>
                    <a:lnTo>
                      <a:pt x="74749" y="128290"/>
                    </a:lnTo>
                    <a:cubicBezTo>
                      <a:pt x="71251" y="131787"/>
                      <a:pt x="65596" y="131787"/>
                      <a:pt x="62136" y="128290"/>
                    </a:cubicBezTo>
                    <a:cubicBezTo>
                      <a:pt x="58675" y="124792"/>
                      <a:pt x="58638" y="119137"/>
                      <a:pt x="62136" y="115677"/>
                    </a:cubicBezTo>
                    <a:lnTo>
                      <a:pt x="82600" y="95213"/>
                    </a:lnTo>
                    <a:lnTo>
                      <a:pt x="62136" y="74749"/>
                    </a:lnTo>
                    <a:cubicBezTo>
                      <a:pt x="58638" y="71251"/>
                      <a:pt x="58638" y="65596"/>
                      <a:pt x="62136" y="62136"/>
                    </a:cubicBez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12" name="Text 10"/>
              <p:cNvSpPr/>
              <p:nvPr/>
            </p:nvSpPr>
            <p:spPr>
              <a:xfrm>
                <a:off x="1075215" y="2459687"/>
                <a:ext cx="46101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Без RAG</a:t>
                </a:r>
                <a:endParaRPr lang="en-US" sz="2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075215" y="2754962"/>
                <a:ext cx="46101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может выдумывать несуществующие объекты и давать неточные ответы</a:t>
                </a:r>
                <a:endParaRPr lang="en-US" sz="2000" dirty="0"/>
              </a:p>
            </p:txBody>
          </p:sp>
        </p:grpSp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83D197CB-F20B-4754-A026-F349CC035178}"/>
                </a:ext>
              </a:extLst>
            </p:cNvPr>
            <p:cNvGrpSpPr/>
            <p:nvPr/>
          </p:nvGrpSpPr>
          <p:grpSpPr>
            <a:xfrm>
              <a:off x="619285" y="3488387"/>
              <a:ext cx="5143500" cy="1028700"/>
              <a:chOff x="619285" y="3488387"/>
              <a:chExt cx="5143500" cy="102870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19285" y="3488387"/>
                <a:ext cx="5143500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028700">
                    <a:moveTo>
                      <a:pt x="114299" y="0"/>
                    </a:moveTo>
                    <a:lnTo>
                      <a:pt x="5029201" y="0"/>
                    </a:lnTo>
                    <a:cubicBezTo>
                      <a:pt x="5092327" y="0"/>
                      <a:pt x="5143500" y="51173"/>
                      <a:pt x="5143500" y="114299"/>
                    </a:cubicBezTo>
                    <a:lnTo>
                      <a:pt x="5143500" y="914401"/>
                    </a:lnTo>
                    <a:cubicBezTo>
                      <a:pt x="5143500" y="977527"/>
                      <a:pt x="5092327" y="1028700"/>
                      <a:pt x="5029201" y="1028700"/>
                    </a:cubicBezTo>
                    <a:lnTo>
                      <a:pt x="114299" y="1028700"/>
                    </a:lnTo>
                    <a:cubicBezTo>
                      <a:pt x="51173" y="1028700"/>
                      <a:pt x="0" y="977527"/>
                      <a:pt x="0" y="914401"/>
                    </a:cubicBezTo>
                    <a:lnTo>
                      <a:pt x="0" y="114299"/>
                    </a:lnTo>
                    <a:cubicBezTo>
                      <a:pt x="0" y="51173"/>
                      <a:pt x="51173" y="0"/>
                      <a:pt x="1142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5" name="Shape 13"/>
              <p:cNvSpPr/>
              <p:nvPr/>
            </p:nvSpPr>
            <p:spPr>
              <a:xfrm>
                <a:off x="781210" y="3678887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126653" y="79139"/>
                    </a:moveTo>
                    <a:lnTo>
                      <a:pt x="96887" y="126764"/>
                    </a:lnTo>
                    <a:cubicBezTo>
                      <a:pt x="95324" y="129257"/>
                      <a:pt x="92646" y="130820"/>
                      <a:pt x="89706" y="130969"/>
                    </a:cubicBezTo>
                    <a:cubicBezTo>
                      <a:pt x="86767" y="131118"/>
                      <a:pt x="83939" y="129778"/>
                      <a:pt x="82190" y="127397"/>
                    </a:cubicBezTo>
                    <a:lnTo>
                      <a:pt x="64331" y="103584"/>
                    </a:lnTo>
                    <a:cubicBezTo>
                      <a:pt x="61354" y="99640"/>
                      <a:pt x="62173" y="94059"/>
                      <a:pt x="66117" y="91083"/>
                    </a:cubicBezTo>
                    <a:cubicBezTo>
                      <a:pt x="70061" y="88106"/>
                      <a:pt x="75642" y="88925"/>
                      <a:pt x="78618" y="92869"/>
                    </a:cubicBezTo>
                    <a:lnTo>
                      <a:pt x="88664" y="106263"/>
                    </a:lnTo>
                    <a:lnTo>
                      <a:pt x="111509" y="69689"/>
                    </a:lnTo>
                    <a:cubicBezTo>
                      <a:pt x="114114" y="65522"/>
                      <a:pt x="119621" y="64219"/>
                      <a:pt x="123825" y="66861"/>
                    </a:cubicBezTo>
                    <a:cubicBezTo>
                      <a:pt x="128029" y="69503"/>
                      <a:pt x="129294" y="74972"/>
                      <a:pt x="126653" y="79177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16" name="Text 14"/>
              <p:cNvSpPr/>
              <p:nvPr/>
            </p:nvSpPr>
            <p:spPr>
              <a:xfrm>
                <a:off x="1096011" y="3640787"/>
                <a:ext cx="45910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 RAG</a:t>
                </a:r>
                <a:endParaRPr lang="en-US" sz="20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096011" y="3926537"/>
                <a:ext cx="459105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Модель получает только реальные метаданные 1С из векторной базы</a:t>
                </a:r>
                <a:endParaRPr lang="en-US" sz="2000" dirty="0"/>
              </a:p>
            </p:txBody>
          </p:sp>
        </p:grpSp>
        <p:grpSp>
          <p:nvGrpSpPr>
            <p:cNvPr id="62" name="Группа 61">
              <a:extLst>
                <a:ext uri="{FF2B5EF4-FFF2-40B4-BE49-F238E27FC236}">
                  <a16:creationId xmlns:a16="http://schemas.microsoft.com/office/drawing/2014/main" id="{E885A5E4-C667-4739-B0A5-6CD9156BA40D}"/>
                </a:ext>
              </a:extLst>
            </p:cNvPr>
            <p:cNvGrpSpPr/>
            <p:nvPr/>
          </p:nvGrpSpPr>
          <p:grpSpPr>
            <a:xfrm>
              <a:off x="623899" y="4693094"/>
              <a:ext cx="5143500" cy="533400"/>
              <a:chOff x="623899" y="4693094"/>
              <a:chExt cx="5143500" cy="53340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623899" y="4693094"/>
                <a:ext cx="51435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19" name="Text 17"/>
              <p:cNvSpPr/>
              <p:nvPr/>
            </p:nvSpPr>
            <p:spPr>
              <a:xfrm>
                <a:off x="738199" y="4845494"/>
                <a:ext cx="4914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Точность ответов повышается с 60% до 95%</a:t>
                </a:r>
                <a:endParaRPr lang="en-US" sz="2000" dirty="0"/>
              </a:p>
            </p:txBody>
          </p:sp>
        </p:grp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137D1F07-AF2B-480A-B3FC-5A573BAC5CD1}"/>
              </a:ext>
            </a:extLst>
          </p:cNvPr>
          <p:cNvGrpSpPr/>
          <p:nvPr/>
        </p:nvGrpSpPr>
        <p:grpSpPr>
          <a:xfrm>
            <a:off x="6210300" y="1143000"/>
            <a:ext cx="5600700" cy="4305300"/>
            <a:chOff x="6210300" y="1143000"/>
            <a:chExt cx="5600700" cy="4305300"/>
          </a:xfrm>
        </p:grpSpPr>
        <p:sp>
          <p:nvSpPr>
            <p:cNvPr id="20" name="Shape 18"/>
            <p:cNvSpPr/>
            <p:nvPr/>
          </p:nvSpPr>
          <p:spPr>
            <a:xfrm>
              <a:off x="6210300" y="1143000"/>
              <a:ext cx="5600700" cy="4305300"/>
            </a:xfrm>
            <a:custGeom>
              <a:avLst/>
              <a:gdLst/>
              <a:ahLst/>
              <a:cxnLst/>
              <a:rect l="l" t="t" r="r" b="b"/>
              <a:pathLst>
                <a:path w="5600700" h="4305300">
                  <a:moveTo>
                    <a:pt x="152408" y="0"/>
                  </a:moveTo>
                  <a:lnTo>
                    <a:pt x="5448292" y="0"/>
                  </a:lnTo>
                  <a:cubicBezTo>
                    <a:pt x="5532465" y="0"/>
                    <a:pt x="5600700" y="68235"/>
                    <a:pt x="5600700" y="152408"/>
                  </a:cubicBezTo>
                  <a:lnTo>
                    <a:pt x="5600700" y="4152892"/>
                  </a:lnTo>
                  <a:cubicBezTo>
                    <a:pt x="5600700" y="4237065"/>
                    <a:pt x="5532465" y="4305300"/>
                    <a:pt x="5448292" y="4305300"/>
                  </a:cubicBezTo>
                  <a:lnTo>
                    <a:pt x="152408" y="4305300"/>
                  </a:lnTo>
                  <a:cubicBezTo>
                    <a:pt x="68235" y="4305300"/>
                    <a:pt x="0" y="4237065"/>
                    <a:pt x="0" y="41528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4389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65722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56034"/>
                  </a:moveTo>
                  <a:lnTo>
                    <a:pt x="151284" y="91753"/>
                  </a:lnTo>
                  <a:cubicBezTo>
                    <a:pt x="147861" y="95176"/>
                    <a:pt x="142763" y="96180"/>
                    <a:pt x="138299" y="94320"/>
                  </a:cubicBezTo>
                  <a:cubicBezTo>
                    <a:pt x="133834" y="92459"/>
                    <a:pt x="130969" y="88143"/>
                    <a:pt x="130969" y="83344"/>
                  </a:cubicBezTo>
                  <a:lnTo>
                    <a:pt x="130969" y="59531"/>
                  </a:lnTo>
                  <a:lnTo>
                    <a:pt x="11906" y="59531"/>
                  </a:lnTo>
                  <a:cubicBezTo>
                    <a:pt x="5321" y="59531"/>
                    <a:pt x="0" y="54211"/>
                    <a:pt x="0" y="47625"/>
                  </a:cubicBezTo>
                  <a:cubicBezTo>
                    <a:pt x="0" y="41039"/>
                    <a:pt x="5321" y="35719"/>
                    <a:pt x="11906" y="35719"/>
                  </a:cubicBezTo>
                  <a:lnTo>
                    <a:pt x="130969" y="35719"/>
                  </a:lnTo>
                  <a:lnTo>
                    <a:pt x="130969" y="11906"/>
                  </a:lnTo>
                  <a:cubicBezTo>
                    <a:pt x="130969" y="7107"/>
                    <a:pt x="133871" y="2753"/>
                    <a:pt x="138336" y="893"/>
                  </a:cubicBezTo>
                  <a:cubicBezTo>
                    <a:pt x="142801" y="-967"/>
                    <a:pt x="147898" y="74"/>
                    <a:pt x="151321" y="3460"/>
                  </a:cubicBezTo>
                  <a:lnTo>
                    <a:pt x="187040" y="39179"/>
                  </a:lnTo>
                  <a:cubicBezTo>
                    <a:pt x="191691" y="43830"/>
                    <a:pt x="191691" y="51383"/>
                    <a:pt x="187040" y="56034"/>
                  </a:cubicBezTo>
                  <a:close/>
                  <a:moveTo>
                    <a:pt x="39179" y="187003"/>
                  </a:moveTo>
                  <a:lnTo>
                    <a:pt x="3460" y="151284"/>
                  </a:lnTo>
                  <a:cubicBezTo>
                    <a:pt x="-1191" y="146633"/>
                    <a:pt x="-1191" y="139080"/>
                    <a:pt x="3460" y="134429"/>
                  </a:cubicBezTo>
                  <a:lnTo>
                    <a:pt x="39179" y="98710"/>
                  </a:lnTo>
                  <a:cubicBezTo>
                    <a:pt x="42602" y="95287"/>
                    <a:pt x="47699" y="94283"/>
                    <a:pt x="52164" y="96143"/>
                  </a:cubicBezTo>
                  <a:cubicBezTo>
                    <a:pt x="56629" y="98003"/>
                    <a:pt x="59531" y="102357"/>
                    <a:pt x="59531" y="107156"/>
                  </a:cubicBezTo>
                  <a:lnTo>
                    <a:pt x="59531" y="130969"/>
                  </a:lnTo>
                  <a:lnTo>
                    <a:pt x="178594" y="130969"/>
                  </a:lnTo>
                  <a:cubicBezTo>
                    <a:pt x="185179" y="130969"/>
                    <a:pt x="190500" y="136289"/>
                    <a:pt x="190500" y="142875"/>
                  </a:cubicBezTo>
                  <a:cubicBezTo>
                    <a:pt x="190500" y="149461"/>
                    <a:pt x="185179" y="154781"/>
                    <a:pt x="178594" y="154781"/>
                  </a:cubicBezTo>
                  <a:lnTo>
                    <a:pt x="59531" y="154781"/>
                  </a:lnTo>
                  <a:lnTo>
                    <a:pt x="59531" y="178594"/>
                  </a:lnTo>
                  <a:cubicBezTo>
                    <a:pt x="59531" y="183393"/>
                    <a:pt x="56629" y="187747"/>
                    <a:pt x="52164" y="189607"/>
                  </a:cubicBezTo>
                  <a:cubicBezTo>
                    <a:pt x="47699" y="191467"/>
                    <a:pt x="42602" y="190426"/>
                    <a:pt x="39179" y="18704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010400" y="1447800"/>
              <a:ext cx="29432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Сопоставление терминов</a:t>
              </a:r>
              <a:endParaRPr lang="en-US" sz="1600" dirty="0"/>
            </a:p>
          </p:txBody>
        </p:sp>
        <p:grpSp>
          <p:nvGrpSpPr>
            <p:cNvPr id="61" name="Группа 60">
              <a:extLst>
                <a:ext uri="{FF2B5EF4-FFF2-40B4-BE49-F238E27FC236}">
                  <a16:creationId xmlns:a16="http://schemas.microsoft.com/office/drawing/2014/main" id="{00AD9208-89FF-4718-BC8E-415FD8DEBA49}"/>
                </a:ext>
              </a:extLst>
            </p:cNvPr>
            <p:cNvGrpSpPr/>
            <p:nvPr/>
          </p:nvGrpSpPr>
          <p:grpSpPr>
            <a:xfrm>
              <a:off x="6434279" y="2247180"/>
              <a:ext cx="5143500" cy="821369"/>
              <a:chOff x="6434279" y="2247180"/>
              <a:chExt cx="5143500" cy="821369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6434279" y="2247180"/>
                <a:ext cx="5143500" cy="821369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25" name="Shape 23"/>
              <p:cNvSpPr/>
              <p:nvPr/>
            </p:nvSpPr>
            <p:spPr>
              <a:xfrm>
                <a:off x="6593232" y="2538367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6" name="Text 24"/>
              <p:cNvSpPr/>
              <p:nvPr/>
            </p:nvSpPr>
            <p:spPr>
              <a:xfrm>
                <a:off x="7108507" y="2474136"/>
                <a:ext cx="1194417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«продажа»</a:t>
                </a:r>
                <a:endParaRPr lang="en-US" sz="2000" dirty="0"/>
              </a:p>
            </p:txBody>
          </p:sp>
          <p:sp>
            <p:nvSpPr>
              <p:cNvPr id="27" name="Shape 25"/>
              <p:cNvSpPr/>
              <p:nvPr/>
            </p:nvSpPr>
            <p:spPr>
              <a:xfrm>
                <a:off x="8417260" y="2526660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28" name="Text 26"/>
              <p:cNvSpPr/>
              <p:nvPr/>
            </p:nvSpPr>
            <p:spPr>
              <a:xfrm>
                <a:off x="9051748" y="2450644"/>
                <a:ext cx="2038350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РеализацияТоваровУслуг</a:t>
                </a:r>
                <a:endParaRPr lang="en-US" sz="1600" dirty="0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11177891" y="2505315"/>
                <a:ext cx="216559" cy="28874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9050" y="0"/>
                    </a:moveTo>
                    <a:cubicBezTo>
                      <a:pt x="8543" y="0"/>
                      <a:pt x="0" y="8543"/>
                      <a:pt x="0" y="19050"/>
                    </a:cubicBezTo>
                    <a:lnTo>
                      <a:pt x="0" y="133350"/>
                    </a:lnTo>
                    <a:cubicBezTo>
                      <a:pt x="0" y="143857"/>
                      <a:pt x="8543" y="152400"/>
                      <a:pt x="19050" y="152400"/>
                    </a:cubicBezTo>
                    <a:lnTo>
                      <a:pt x="95250" y="152400"/>
                    </a:lnTo>
                    <a:cubicBezTo>
                      <a:pt x="105757" y="152400"/>
                      <a:pt x="114300" y="143857"/>
                      <a:pt x="114300" y="133350"/>
                    </a:cubicBezTo>
                    <a:lnTo>
                      <a:pt x="114300" y="50750"/>
                    </a:lnTo>
                    <a:cubicBezTo>
                      <a:pt x="114300" y="45690"/>
                      <a:pt x="112306" y="40838"/>
                      <a:pt x="108734" y="37267"/>
                    </a:cubicBezTo>
                    <a:lnTo>
                      <a:pt x="77004" y="5566"/>
                    </a:lnTo>
                    <a:cubicBezTo>
                      <a:pt x="73432" y="1994"/>
                      <a:pt x="68610" y="0"/>
                      <a:pt x="63550" y="0"/>
                    </a:cubicBezTo>
                    <a:lnTo>
                      <a:pt x="19050" y="0"/>
                    </a:lnTo>
                    <a:close/>
                    <a:moveTo>
                      <a:pt x="96887" y="52388"/>
                    </a:moveTo>
                    <a:lnTo>
                      <a:pt x="69056" y="52388"/>
                    </a:lnTo>
                    <a:cubicBezTo>
                      <a:pt x="65097" y="52388"/>
                      <a:pt x="61912" y="49203"/>
                      <a:pt x="61912" y="45244"/>
                    </a:cubicBezTo>
                    <a:lnTo>
                      <a:pt x="61912" y="17413"/>
                    </a:lnTo>
                    <a:lnTo>
                      <a:pt x="96887" y="52388"/>
                    </a:lnTo>
                    <a:close/>
                    <a:moveTo>
                      <a:pt x="19050" y="114300"/>
                    </a:moveTo>
                    <a:lnTo>
                      <a:pt x="19050" y="95250"/>
                    </a:lnTo>
                    <a:cubicBezTo>
                      <a:pt x="19050" y="89981"/>
                      <a:pt x="23306" y="85725"/>
                      <a:pt x="28575" y="85725"/>
                    </a:cubicBezTo>
                    <a:lnTo>
                      <a:pt x="85725" y="85725"/>
                    </a:lnTo>
                    <a:cubicBezTo>
                      <a:pt x="90994" y="85725"/>
                      <a:pt x="95250" y="89981"/>
                      <a:pt x="95250" y="95250"/>
                    </a:cubicBezTo>
                    <a:lnTo>
                      <a:pt x="95250" y="114300"/>
                    </a:lnTo>
                    <a:cubicBezTo>
                      <a:pt x="95250" y="119569"/>
                      <a:pt x="90994" y="123825"/>
                      <a:pt x="85725" y="123825"/>
                    </a:cubicBezTo>
                    <a:lnTo>
                      <a:pt x="28575" y="123825"/>
                    </a:lnTo>
                    <a:cubicBezTo>
                      <a:pt x="23306" y="123825"/>
                      <a:pt x="19050" y="119569"/>
                      <a:pt x="19050" y="114300"/>
                    </a:cubicBezTo>
                    <a:close/>
                    <a:moveTo>
                      <a:pt x="26194" y="19050"/>
                    </a:moveTo>
                    <a:lnTo>
                      <a:pt x="40481" y="19050"/>
                    </a:lnTo>
                    <a:cubicBezTo>
                      <a:pt x="44440" y="19050"/>
                      <a:pt x="47625" y="22235"/>
                      <a:pt x="47625" y="26194"/>
                    </a:cubicBezTo>
                    <a:cubicBezTo>
                      <a:pt x="47625" y="30153"/>
                      <a:pt x="44440" y="33338"/>
                      <a:pt x="40481" y="33338"/>
                    </a:cubicBezTo>
                    <a:lnTo>
                      <a:pt x="26194" y="33338"/>
                    </a:lnTo>
                    <a:cubicBezTo>
                      <a:pt x="22235" y="33338"/>
                      <a:pt x="19050" y="30153"/>
                      <a:pt x="19050" y="26194"/>
                    </a:cubicBezTo>
                    <a:cubicBezTo>
                      <a:pt x="19050" y="22235"/>
                      <a:pt x="22235" y="19050"/>
                      <a:pt x="26194" y="19050"/>
                    </a:cubicBezTo>
                    <a:close/>
                    <a:moveTo>
                      <a:pt x="26194" y="47625"/>
                    </a:moveTo>
                    <a:lnTo>
                      <a:pt x="40481" y="47625"/>
                    </a:lnTo>
                    <a:cubicBezTo>
                      <a:pt x="44440" y="47625"/>
                      <a:pt x="47625" y="50810"/>
                      <a:pt x="47625" y="54769"/>
                    </a:cubicBezTo>
                    <a:cubicBezTo>
                      <a:pt x="47625" y="58728"/>
                      <a:pt x="44440" y="61912"/>
                      <a:pt x="40481" y="61912"/>
                    </a:cubicBezTo>
                    <a:lnTo>
                      <a:pt x="26194" y="61912"/>
                    </a:lnTo>
                    <a:cubicBezTo>
                      <a:pt x="22235" y="61912"/>
                      <a:pt x="19050" y="58728"/>
                      <a:pt x="19050" y="54769"/>
                    </a:cubicBezTo>
                    <a:cubicBezTo>
                      <a:pt x="19050" y="50810"/>
                      <a:pt x="22235" y="47625"/>
                      <a:pt x="26194" y="4762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  <p:txBody>
              <a:bodyPr/>
              <a:lstStyle/>
              <a:p>
                <a:endParaRPr lang="ru-RU" dirty="0"/>
              </a:p>
            </p:txBody>
          </p:sp>
        </p:grp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E089CEB7-C438-4E98-9979-14B4A46C62D7}"/>
                </a:ext>
              </a:extLst>
            </p:cNvPr>
            <p:cNvGrpSpPr/>
            <p:nvPr/>
          </p:nvGrpSpPr>
          <p:grpSpPr>
            <a:xfrm>
              <a:off x="6434279" y="3278038"/>
              <a:ext cx="5143500" cy="821370"/>
              <a:chOff x="6434279" y="3278038"/>
              <a:chExt cx="5143500" cy="821370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6434279" y="3278038"/>
                <a:ext cx="5143500" cy="82137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31" name="Shape 29"/>
              <p:cNvSpPr/>
              <p:nvPr/>
            </p:nvSpPr>
            <p:spPr>
              <a:xfrm>
                <a:off x="6602140" y="3519007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2" name="Text 30"/>
              <p:cNvSpPr/>
              <p:nvPr/>
            </p:nvSpPr>
            <p:spPr>
              <a:xfrm>
                <a:off x="7080391" y="3507239"/>
                <a:ext cx="1299863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«клиент»</a:t>
                </a:r>
                <a:endParaRPr lang="en-US" sz="2000" dirty="0"/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8427719" y="3632168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4" name="Text 32"/>
              <p:cNvSpPr/>
              <p:nvPr/>
            </p:nvSpPr>
            <p:spPr>
              <a:xfrm>
                <a:off x="9051748" y="3530704"/>
                <a:ext cx="1313515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Справочник.Контрагенты</a:t>
                </a:r>
                <a:endParaRPr lang="en-US" sz="2000" dirty="0"/>
              </a:p>
            </p:txBody>
          </p:sp>
          <p:sp>
            <p:nvSpPr>
              <p:cNvPr id="35" name="Shape 33"/>
              <p:cNvSpPr/>
              <p:nvPr/>
            </p:nvSpPr>
            <p:spPr>
              <a:xfrm>
                <a:off x="11141797" y="3537054"/>
                <a:ext cx="288745" cy="28874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28575" y="0"/>
                    </a:moveTo>
                    <a:cubicBezTo>
                      <a:pt x="18068" y="0"/>
                      <a:pt x="9525" y="8543"/>
                      <a:pt x="9525" y="19050"/>
                    </a:cubicBezTo>
                    <a:lnTo>
                      <a:pt x="9525" y="133350"/>
                    </a:lnTo>
                    <a:cubicBezTo>
                      <a:pt x="9525" y="143857"/>
                      <a:pt x="18068" y="152400"/>
                      <a:pt x="28575" y="152400"/>
                    </a:cubicBezTo>
                    <a:lnTo>
                      <a:pt x="114300" y="152400"/>
                    </a:lnTo>
                    <a:cubicBezTo>
                      <a:pt x="124807" y="152400"/>
                      <a:pt x="133350" y="143857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43"/>
                      <a:pt x="124807" y="0"/>
                      <a:pt x="114300" y="0"/>
                    </a:cubicBezTo>
                    <a:lnTo>
                      <a:pt x="28575" y="0"/>
                    </a:lnTo>
                    <a:close/>
                    <a:moveTo>
                      <a:pt x="61912" y="85725"/>
                    </a:moveTo>
                    <a:lnTo>
                      <a:pt x="80962" y="85725"/>
                    </a:lnTo>
                    <a:cubicBezTo>
                      <a:pt x="94119" y="85725"/>
                      <a:pt x="104775" y="96381"/>
                      <a:pt x="104775" y="109537"/>
                    </a:cubicBezTo>
                    <a:cubicBezTo>
                      <a:pt x="104775" y="112157"/>
                      <a:pt x="102632" y="114300"/>
                      <a:pt x="100013" y="114300"/>
                    </a:cubicBezTo>
                    <a:lnTo>
                      <a:pt x="42863" y="114300"/>
                    </a:lnTo>
                    <a:cubicBezTo>
                      <a:pt x="40243" y="114300"/>
                      <a:pt x="38100" y="112157"/>
                      <a:pt x="38100" y="109537"/>
                    </a:cubicBezTo>
                    <a:cubicBezTo>
                      <a:pt x="38100" y="96381"/>
                      <a:pt x="48756" y="85725"/>
                      <a:pt x="61912" y="85725"/>
                    </a:cubicBezTo>
                    <a:close/>
                    <a:moveTo>
                      <a:pt x="54769" y="57150"/>
                    </a:moveTo>
                    <a:cubicBezTo>
                      <a:pt x="54769" y="47950"/>
                      <a:pt x="62238" y="40481"/>
                      <a:pt x="71438" y="40481"/>
                    </a:cubicBezTo>
                    <a:cubicBezTo>
                      <a:pt x="80637" y="40481"/>
                      <a:pt x="88106" y="47950"/>
                      <a:pt x="88106" y="57150"/>
                    </a:cubicBezTo>
                    <a:cubicBezTo>
                      <a:pt x="88106" y="66350"/>
                      <a:pt x="80637" y="73819"/>
                      <a:pt x="71438" y="73819"/>
                    </a:cubicBezTo>
                    <a:cubicBezTo>
                      <a:pt x="62238" y="73819"/>
                      <a:pt x="54769" y="66350"/>
                      <a:pt x="54769" y="57150"/>
                    </a:cubicBezTo>
                    <a:close/>
                    <a:moveTo>
                      <a:pt x="152400" y="23813"/>
                    </a:moveTo>
                    <a:cubicBezTo>
                      <a:pt x="152400" y="21193"/>
                      <a:pt x="150257" y="19050"/>
                      <a:pt x="147638" y="19050"/>
                    </a:cubicBezTo>
                    <a:cubicBezTo>
                      <a:pt x="145018" y="19050"/>
                      <a:pt x="142875" y="21193"/>
                      <a:pt x="142875" y="23813"/>
                    </a:cubicBezTo>
                    <a:lnTo>
                      <a:pt x="142875" y="42863"/>
                    </a:lnTo>
                    <a:cubicBezTo>
                      <a:pt x="142875" y="45482"/>
                      <a:pt x="145018" y="47625"/>
                      <a:pt x="147638" y="47625"/>
                    </a:cubicBezTo>
                    <a:cubicBezTo>
                      <a:pt x="150257" y="47625"/>
                      <a:pt x="152400" y="45482"/>
                      <a:pt x="152400" y="42863"/>
                    </a:cubicBezTo>
                    <a:lnTo>
                      <a:pt x="152400" y="23813"/>
                    </a:lnTo>
                    <a:close/>
                    <a:moveTo>
                      <a:pt x="152400" y="61912"/>
                    </a:moveTo>
                    <a:cubicBezTo>
                      <a:pt x="152400" y="59293"/>
                      <a:pt x="150257" y="57150"/>
                      <a:pt x="147638" y="57150"/>
                    </a:cubicBezTo>
                    <a:cubicBezTo>
                      <a:pt x="145018" y="57150"/>
                      <a:pt x="142875" y="59293"/>
                      <a:pt x="142875" y="61912"/>
                    </a:cubicBezTo>
                    <a:lnTo>
                      <a:pt x="142875" y="80962"/>
                    </a:lnTo>
                    <a:cubicBezTo>
                      <a:pt x="142875" y="83582"/>
                      <a:pt x="145018" y="85725"/>
                      <a:pt x="147638" y="85725"/>
                    </a:cubicBezTo>
                    <a:cubicBezTo>
                      <a:pt x="150257" y="85725"/>
                      <a:pt x="152400" y="83582"/>
                      <a:pt x="152400" y="80962"/>
                    </a:cubicBezTo>
                    <a:lnTo>
                      <a:pt x="152400" y="61912"/>
                    </a:lnTo>
                    <a:close/>
                    <a:moveTo>
                      <a:pt x="147638" y="95250"/>
                    </a:moveTo>
                    <a:cubicBezTo>
                      <a:pt x="145018" y="95250"/>
                      <a:pt x="142875" y="97393"/>
                      <a:pt x="142875" y="100013"/>
                    </a:cubicBezTo>
                    <a:lnTo>
                      <a:pt x="142875" y="119062"/>
                    </a:lnTo>
                    <a:cubicBezTo>
                      <a:pt x="142875" y="121682"/>
                      <a:pt x="145018" y="123825"/>
                      <a:pt x="147638" y="123825"/>
                    </a:cubicBezTo>
                    <a:cubicBezTo>
                      <a:pt x="150257" y="123825"/>
                      <a:pt x="152400" y="121682"/>
                      <a:pt x="152400" y="119062"/>
                    </a:cubicBezTo>
                    <a:lnTo>
                      <a:pt x="152400" y="100013"/>
                    </a:lnTo>
                    <a:cubicBezTo>
                      <a:pt x="152400" y="97393"/>
                      <a:pt x="150257" y="95250"/>
                      <a:pt x="147638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</p:grpSp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CAE20484-057F-4342-949D-20EBA37E5BE6}"/>
                </a:ext>
              </a:extLst>
            </p:cNvPr>
            <p:cNvGrpSpPr/>
            <p:nvPr/>
          </p:nvGrpSpPr>
          <p:grpSpPr>
            <a:xfrm>
              <a:off x="6443187" y="4308895"/>
              <a:ext cx="5143500" cy="821370"/>
              <a:chOff x="6443187" y="4308895"/>
              <a:chExt cx="5143500" cy="821370"/>
            </a:xfrm>
          </p:grpSpPr>
          <p:sp>
            <p:nvSpPr>
              <p:cNvPr id="36" name="Shape 34"/>
              <p:cNvSpPr/>
              <p:nvPr/>
            </p:nvSpPr>
            <p:spPr>
              <a:xfrm>
                <a:off x="6443187" y="4308895"/>
                <a:ext cx="5143500" cy="82137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37" name="Shape 35"/>
              <p:cNvSpPr/>
              <p:nvPr/>
            </p:nvSpPr>
            <p:spPr>
              <a:xfrm>
                <a:off x="6602140" y="4600081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38" name="Text 36"/>
              <p:cNvSpPr/>
              <p:nvPr/>
            </p:nvSpPr>
            <p:spPr>
              <a:xfrm>
                <a:off x="7156609" y="4577362"/>
                <a:ext cx="981870" cy="2449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</a:t>
                </a: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остатки</a:t>
                </a: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»</a:t>
                </a:r>
                <a:endParaRPr lang="en-US" sz="1600" dirty="0"/>
              </a:p>
            </p:txBody>
          </p:sp>
          <p:sp>
            <p:nvSpPr>
              <p:cNvPr id="39" name="Shape 37"/>
              <p:cNvSpPr/>
              <p:nvPr/>
            </p:nvSpPr>
            <p:spPr>
              <a:xfrm>
                <a:off x="8417260" y="4499395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40" name="Text 38"/>
              <p:cNvSpPr/>
              <p:nvPr/>
            </p:nvSpPr>
            <p:spPr>
              <a:xfrm>
                <a:off x="9051748" y="4517087"/>
                <a:ext cx="2133600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Регистр.ТоварыНаСкладах</a:t>
                </a:r>
                <a:endParaRPr lang="en-US" sz="1600" dirty="0"/>
              </a:p>
            </p:txBody>
          </p:sp>
          <p:sp>
            <p:nvSpPr>
              <p:cNvPr id="41" name="Shape 39"/>
              <p:cNvSpPr/>
              <p:nvPr/>
            </p:nvSpPr>
            <p:spPr>
              <a:xfrm>
                <a:off x="11111698" y="4548722"/>
                <a:ext cx="324838" cy="28874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42297"/>
                    </a:moveTo>
                    <a:lnTo>
                      <a:pt x="0" y="142875"/>
                    </a:lnTo>
                    <a:cubicBezTo>
                      <a:pt x="0" y="148144"/>
                      <a:pt x="4256" y="152400"/>
                      <a:pt x="9525" y="152400"/>
                    </a:cubicBezTo>
                    <a:cubicBezTo>
                      <a:pt x="14794" y="152400"/>
                      <a:pt x="19050" y="148144"/>
                      <a:pt x="19050" y="142875"/>
                    </a:cubicBezTo>
                    <a:lnTo>
                      <a:pt x="19050" y="71438"/>
                    </a:lnTo>
                    <a:cubicBezTo>
                      <a:pt x="19050" y="66169"/>
                      <a:pt x="23306" y="61912"/>
                      <a:pt x="28575" y="61912"/>
                    </a:cubicBezTo>
                    <a:lnTo>
                      <a:pt x="142875" y="61912"/>
                    </a:lnTo>
                    <a:cubicBezTo>
                      <a:pt x="148144" y="61912"/>
                      <a:pt x="152400" y="66169"/>
                      <a:pt x="152400" y="71438"/>
                    </a:cubicBezTo>
                    <a:lnTo>
                      <a:pt x="152400" y="142875"/>
                    </a:lnTo>
                    <a:cubicBezTo>
                      <a:pt x="152400" y="148144"/>
                      <a:pt x="156656" y="152400"/>
                      <a:pt x="161925" y="152400"/>
                    </a:cubicBezTo>
                    <a:cubicBezTo>
                      <a:pt x="167194" y="152400"/>
                      <a:pt x="171450" y="148144"/>
                      <a:pt x="171450" y="142875"/>
                    </a:cubicBezTo>
                    <a:lnTo>
                      <a:pt x="171450" y="42297"/>
                    </a:lnTo>
                    <a:cubicBezTo>
                      <a:pt x="171450" y="34111"/>
                      <a:pt x="166211" y="26819"/>
                      <a:pt x="158413" y="24229"/>
                    </a:cubicBezTo>
                    <a:lnTo>
                      <a:pt x="90249" y="1518"/>
                    </a:lnTo>
                    <a:cubicBezTo>
                      <a:pt x="87303" y="536"/>
                      <a:pt x="84147" y="536"/>
                      <a:pt x="81201" y="1518"/>
                    </a:cubicBezTo>
                    <a:lnTo>
                      <a:pt x="13037" y="24229"/>
                    </a:lnTo>
                    <a:cubicBezTo>
                      <a:pt x="5239" y="26819"/>
                      <a:pt x="0" y="34111"/>
                      <a:pt x="0" y="42297"/>
                    </a:cubicBezTo>
                    <a:close/>
                    <a:moveTo>
                      <a:pt x="138113" y="76200"/>
                    </a:moveTo>
                    <a:lnTo>
                      <a:pt x="33338" y="76200"/>
                    </a:lnTo>
                    <a:lnTo>
                      <a:pt x="33338" y="95250"/>
                    </a:lnTo>
                    <a:lnTo>
                      <a:pt x="138113" y="95250"/>
                    </a:lnTo>
                    <a:lnTo>
                      <a:pt x="138113" y="76200"/>
                    </a:lnTo>
                    <a:close/>
                    <a:moveTo>
                      <a:pt x="33338" y="123825"/>
                    </a:moveTo>
                    <a:lnTo>
                      <a:pt x="138113" y="123825"/>
                    </a:lnTo>
                    <a:lnTo>
                      <a:pt x="138113" y="104775"/>
                    </a:lnTo>
                    <a:lnTo>
                      <a:pt x="33338" y="104775"/>
                    </a:lnTo>
                    <a:lnTo>
                      <a:pt x="33338" y="123825"/>
                    </a:lnTo>
                    <a:close/>
                    <a:moveTo>
                      <a:pt x="138113" y="133350"/>
                    </a:moveTo>
                    <a:lnTo>
                      <a:pt x="33338" y="133350"/>
                    </a:lnTo>
                    <a:lnTo>
                      <a:pt x="33338" y="152400"/>
                    </a:lnTo>
                    <a:lnTo>
                      <a:pt x="138113" y="152400"/>
                    </a:lnTo>
                    <a:lnTo>
                      <a:pt x="138113" y="133350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</p:grp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399045DC-ED19-4651-8981-2A268BC83829}"/>
              </a:ext>
            </a:extLst>
          </p:cNvPr>
          <p:cNvGrpSpPr/>
          <p:nvPr/>
        </p:nvGrpSpPr>
        <p:grpSpPr>
          <a:xfrm>
            <a:off x="381000" y="5638800"/>
            <a:ext cx="11430000" cy="838200"/>
            <a:chOff x="381000" y="5638800"/>
            <a:chExt cx="11430000" cy="838200"/>
          </a:xfrm>
        </p:grpSpPr>
        <p:sp>
          <p:nvSpPr>
            <p:cNvPr id="42" name="Shape 40"/>
            <p:cNvSpPr/>
            <p:nvPr/>
          </p:nvSpPr>
          <p:spPr>
            <a:xfrm>
              <a:off x="381000" y="5638800"/>
              <a:ext cx="11430000" cy="838200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152402" y="0"/>
                  </a:moveTo>
                  <a:lnTo>
                    <a:pt x="11277598" y="0"/>
                  </a:lnTo>
                  <a:cubicBezTo>
                    <a:pt x="11361768" y="0"/>
                    <a:pt x="11430000" y="68232"/>
                    <a:pt x="11430000" y="152402"/>
                  </a:cubicBezTo>
                  <a:lnTo>
                    <a:pt x="11430000" y="685798"/>
                  </a:lnTo>
                  <a:cubicBezTo>
                    <a:pt x="11430000" y="769968"/>
                    <a:pt x="11361768" y="838200"/>
                    <a:pt x="11277598" y="838200"/>
                  </a:cubicBezTo>
                  <a:lnTo>
                    <a:pt x="152402" y="838200"/>
                  </a:lnTo>
                  <a:cubicBezTo>
                    <a:pt x="68232" y="838200"/>
                    <a:pt x="0" y="769968"/>
                    <a:pt x="0" y="685798"/>
                  </a:cubicBezTo>
                  <a:lnTo>
                    <a:pt x="0" y="152402"/>
                  </a:lnTo>
                  <a:cubicBezTo>
                    <a:pt x="0" y="68289"/>
                    <a:pt x="68289" y="0"/>
                    <a:pt x="1524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3" name="Shape 41"/>
            <p:cNvSpPr/>
            <p:nvPr/>
          </p:nvSpPr>
          <p:spPr>
            <a:xfrm>
              <a:off x="2063115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4" name="Shape 42"/>
            <p:cNvSpPr/>
            <p:nvPr/>
          </p:nvSpPr>
          <p:spPr>
            <a:xfrm>
              <a:off x="2196465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78594"/>
                  </a:moveTo>
                  <a:cubicBezTo>
                    <a:pt x="147861" y="178594"/>
                    <a:pt x="190500" y="138596"/>
                    <a:pt x="190500" y="89297"/>
                  </a:cubicBezTo>
                  <a:cubicBezTo>
                    <a:pt x="190500" y="39998"/>
                    <a:pt x="147861" y="0"/>
                    <a:pt x="95250" y="0"/>
                  </a:cubicBezTo>
                  <a:cubicBezTo>
                    <a:pt x="42639" y="0"/>
                    <a:pt x="0" y="39998"/>
                    <a:pt x="0" y="89297"/>
                  </a:cubicBezTo>
                  <a:cubicBezTo>
                    <a:pt x="0" y="109500"/>
                    <a:pt x="7144" y="128104"/>
                    <a:pt x="19199" y="143061"/>
                  </a:cubicBezTo>
                  <a:lnTo>
                    <a:pt x="1042" y="177403"/>
                  </a:lnTo>
                  <a:cubicBezTo>
                    <a:pt x="-744" y="180752"/>
                    <a:pt x="-186" y="184845"/>
                    <a:pt x="2381" y="187635"/>
                  </a:cubicBezTo>
                  <a:cubicBezTo>
                    <a:pt x="4949" y="190426"/>
                    <a:pt x="9004" y="191281"/>
                    <a:pt x="12464" y="189793"/>
                  </a:cubicBezTo>
                  <a:lnTo>
                    <a:pt x="56517" y="170929"/>
                  </a:lnTo>
                  <a:cubicBezTo>
                    <a:pt x="68349" y="175840"/>
                    <a:pt x="81446" y="178594"/>
                    <a:pt x="95250" y="178594"/>
                  </a:cubicBezTo>
                  <a:close/>
                  <a:moveTo>
                    <a:pt x="47625" y="77391"/>
                  </a:moveTo>
                  <a:cubicBezTo>
                    <a:pt x="54196" y="77391"/>
                    <a:pt x="59531" y="82726"/>
                    <a:pt x="59531" y="89297"/>
                  </a:cubicBezTo>
                  <a:cubicBezTo>
                    <a:pt x="59531" y="95868"/>
                    <a:pt x="54196" y="101203"/>
                    <a:pt x="47625" y="101203"/>
                  </a:cubicBezTo>
                  <a:cubicBezTo>
                    <a:pt x="41054" y="101203"/>
                    <a:pt x="35719" y="95868"/>
                    <a:pt x="35719" y="89297"/>
                  </a:cubicBezTo>
                  <a:cubicBezTo>
                    <a:pt x="35719" y="82726"/>
                    <a:pt x="41054" y="77391"/>
                    <a:pt x="47625" y="77391"/>
                  </a:cubicBezTo>
                  <a:close/>
                  <a:moveTo>
                    <a:pt x="95250" y="77391"/>
                  </a:moveTo>
                  <a:cubicBezTo>
                    <a:pt x="101821" y="77391"/>
                    <a:pt x="107156" y="82726"/>
                    <a:pt x="107156" y="89297"/>
                  </a:cubicBezTo>
                  <a:cubicBezTo>
                    <a:pt x="107156" y="95868"/>
                    <a:pt x="101821" y="101203"/>
                    <a:pt x="95250" y="101203"/>
                  </a:cubicBezTo>
                  <a:cubicBezTo>
                    <a:pt x="88679" y="101203"/>
                    <a:pt x="83344" y="95868"/>
                    <a:pt x="83344" y="89297"/>
                  </a:cubicBezTo>
                  <a:cubicBezTo>
                    <a:pt x="83344" y="82726"/>
                    <a:pt x="88679" y="77391"/>
                    <a:pt x="95250" y="77391"/>
                  </a:cubicBezTo>
                  <a:close/>
                  <a:moveTo>
                    <a:pt x="130969" y="89297"/>
                  </a:moveTo>
                  <a:cubicBezTo>
                    <a:pt x="130969" y="82726"/>
                    <a:pt x="136304" y="77391"/>
                    <a:pt x="142875" y="77391"/>
                  </a:cubicBezTo>
                  <a:cubicBezTo>
                    <a:pt x="149446" y="77391"/>
                    <a:pt x="154781" y="82726"/>
                    <a:pt x="154781" y="89297"/>
                  </a:cubicBezTo>
                  <a:cubicBezTo>
                    <a:pt x="154781" y="95868"/>
                    <a:pt x="149446" y="101203"/>
                    <a:pt x="142875" y="101203"/>
                  </a:cubicBezTo>
                  <a:cubicBezTo>
                    <a:pt x="136304" y="101203"/>
                    <a:pt x="130969" y="95868"/>
                    <a:pt x="130969" y="8929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2634615" y="5924550"/>
              <a:ext cx="7048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16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583305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145280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8" name="Shape 46"/>
            <p:cNvSpPr/>
            <p:nvPr/>
          </p:nvSpPr>
          <p:spPr>
            <a:xfrm>
              <a:off x="4278630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54781" y="77391"/>
                  </a:moveTo>
                  <a:cubicBezTo>
                    <a:pt x="154781" y="94469"/>
                    <a:pt x="149237" y="110244"/>
                    <a:pt x="139898" y="123044"/>
                  </a:cubicBezTo>
                  <a:lnTo>
                    <a:pt x="187003" y="170185"/>
                  </a:lnTo>
                  <a:cubicBezTo>
                    <a:pt x="191653" y="174836"/>
                    <a:pt x="191653" y="182389"/>
                    <a:pt x="187003" y="187040"/>
                  </a:cubicBezTo>
                  <a:cubicBezTo>
                    <a:pt x="182352" y="191691"/>
                    <a:pt x="174799" y="191691"/>
                    <a:pt x="170148" y="187040"/>
                  </a:cubicBezTo>
                  <a:lnTo>
                    <a:pt x="123044" y="139898"/>
                  </a:lnTo>
                  <a:cubicBezTo>
                    <a:pt x="110244" y="149237"/>
                    <a:pt x="94469" y="154781"/>
                    <a:pt x="77391" y="154781"/>
                  </a:cubicBezTo>
                  <a:cubicBezTo>
                    <a:pt x="34640" y="154781"/>
                    <a:pt x="0" y="120142"/>
                    <a:pt x="0" y="77391"/>
                  </a:cubicBezTo>
                  <a:cubicBezTo>
                    <a:pt x="0" y="34640"/>
                    <a:pt x="34640" y="0"/>
                    <a:pt x="77391" y="0"/>
                  </a:cubicBezTo>
                  <a:cubicBezTo>
                    <a:pt x="120142" y="0"/>
                    <a:pt x="154781" y="34640"/>
                    <a:pt x="154781" y="77391"/>
                  </a:cubicBezTo>
                  <a:close/>
                  <a:moveTo>
                    <a:pt x="77391" y="130969"/>
                  </a:moveTo>
                  <a:cubicBezTo>
                    <a:pt x="106961" y="130969"/>
                    <a:pt x="130969" y="106961"/>
                    <a:pt x="130969" y="77391"/>
                  </a:cubicBezTo>
                  <a:cubicBezTo>
                    <a:pt x="130969" y="47820"/>
                    <a:pt x="106961" y="23812"/>
                    <a:pt x="77391" y="23812"/>
                  </a:cubicBezTo>
                  <a:cubicBezTo>
                    <a:pt x="47820" y="23812"/>
                    <a:pt x="23813" y="47820"/>
                    <a:pt x="23812" y="77391"/>
                  </a:cubicBezTo>
                  <a:cubicBezTo>
                    <a:pt x="23812" y="106961"/>
                    <a:pt x="47820" y="130969"/>
                    <a:pt x="77391" y="130969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4716780" y="592455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</a:t>
              </a:r>
              <a:endParaRPr lang="en-US" sz="16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569268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6131243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6276499" y="59626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166688" y="76572"/>
                  </a:moveTo>
                  <a:cubicBezTo>
                    <a:pt x="161181" y="80218"/>
                    <a:pt x="154856" y="83158"/>
                    <a:pt x="148270" y="85502"/>
                  </a:cubicBezTo>
                  <a:cubicBezTo>
                    <a:pt x="130783" y="91753"/>
                    <a:pt x="107826" y="95250"/>
                    <a:pt x="83344" y="95250"/>
                  </a:cubicBezTo>
                  <a:cubicBezTo>
                    <a:pt x="58862" y="95250"/>
                    <a:pt x="35868" y="91715"/>
                    <a:pt x="18417" y="85502"/>
                  </a:cubicBezTo>
                  <a:cubicBezTo>
                    <a:pt x="11869" y="83158"/>
                    <a:pt x="5507" y="80218"/>
                    <a:pt x="0" y="76572"/>
                  </a:cubicBezTo>
                  <a:lnTo>
                    <a:pt x="0" y="107156"/>
                  </a:lnTo>
                  <a:cubicBezTo>
                    <a:pt x="0" y="123602"/>
                    <a:pt x="37319" y="136922"/>
                    <a:pt x="83344" y="136922"/>
                  </a:cubicBezTo>
                  <a:cubicBezTo>
                    <a:pt x="129369" y="136922"/>
                    <a:pt x="166688" y="123602"/>
                    <a:pt x="166688" y="107156"/>
                  </a:cubicBezTo>
                  <a:lnTo>
                    <a:pt x="166688" y="76572"/>
                  </a:lnTo>
                  <a:close/>
                  <a:moveTo>
                    <a:pt x="166688" y="47625"/>
                  </a:moveTo>
                  <a:lnTo>
                    <a:pt x="166688" y="29766"/>
                  </a:lnTo>
                  <a:cubicBezTo>
                    <a:pt x="166688" y="13320"/>
                    <a:pt x="129369" y="0"/>
                    <a:pt x="83344" y="0"/>
                  </a:cubicBezTo>
                  <a:cubicBezTo>
                    <a:pt x="37319" y="0"/>
                    <a:pt x="0" y="13320"/>
                    <a:pt x="0" y="29766"/>
                  </a:cubicBezTo>
                  <a:lnTo>
                    <a:pt x="0" y="47625"/>
                  </a:lnTo>
                  <a:cubicBezTo>
                    <a:pt x="0" y="64071"/>
                    <a:pt x="37319" y="77391"/>
                    <a:pt x="83344" y="77391"/>
                  </a:cubicBezTo>
                  <a:cubicBezTo>
                    <a:pt x="129369" y="77391"/>
                    <a:pt x="166688" y="64071"/>
                    <a:pt x="166688" y="47625"/>
                  </a:cubicBezTo>
                  <a:close/>
                  <a:moveTo>
                    <a:pt x="148270" y="145033"/>
                  </a:moveTo>
                  <a:cubicBezTo>
                    <a:pt x="130820" y="151247"/>
                    <a:pt x="107863" y="154781"/>
                    <a:pt x="83344" y="154781"/>
                  </a:cubicBezTo>
                  <a:cubicBezTo>
                    <a:pt x="58824" y="154781"/>
                    <a:pt x="35868" y="151247"/>
                    <a:pt x="18417" y="145033"/>
                  </a:cubicBezTo>
                  <a:cubicBezTo>
                    <a:pt x="11869" y="142689"/>
                    <a:pt x="5507" y="139750"/>
                    <a:pt x="0" y="136103"/>
                  </a:cubicBezTo>
                  <a:lnTo>
                    <a:pt x="0" y="160734"/>
                  </a:lnTo>
                  <a:cubicBezTo>
                    <a:pt x="0" y="177180"/>
                    <a:pt x="37319" y="190500"/>
                    <a:pt x="83344" y="190500"/>
                  </a:cubicBezTo>
                  <a:cubicBezTo>
                    <a:pt x="129369" y="190500"/>
                    <a:pt x="166688" y="177180"/>
                    <a:pt x="166688" y="160734"/>
                  </a:cubicBezTo>
                  <a:lnTo>
                    <a:pt x="166688" y="136103"/>
                  </a:lnTo>
                  <a:cubicBezTo>
                    <a:pt x="161181" y="139750"/>
                    <a:pt x="154856" y="142689"/>
                    <a:pt x="148270" y="145033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6702743" y="5924550"/>
              <a:ext cx="8667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Контекст</a:t>
              </a:r>
              <a:endParaRPr lang="en-US" sz="16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7818279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8380254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6" name="Shape 54"/>
            <p:cNvSpPr/>
            <p:nvPr/>
          </p:nvSpPr>
          <p:spPr>
            <a:xfrm>
              <a:off x="8513604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8951754" y="5924550"/>
              <a:ext cx="12668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Точный ответ</a:t>
              </a:r>
              <a:endParaRPr lang="en-US" sz="1600" dirty="0"/>
            </a:p>
          </p:txBody>
        </p:sp>
      </p:grpSp>
      <p:sp>
        <p:nvSpPr>
          <p:cNvPr id="68" name="Text 7">
            <a:extLst>
              <a:ext uri="{FF2B5EF4-FFF2-40B4-BE49-F238E27FC236}">
                <a16:creationId xmlns:a16="http://schemas.microsoft.com/office/drawing/2014/main" id="{7EAD0222-8C72-403F-88B5-D37D1E929178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12</a:t>
            </a:r>
            <a:endParaRPr lang="en-US" sz="1600" dirty="0"/>
          </a:p>
        </p:txBody>
      </p:sp>
      <p:sp>
        <p:nvSpPr>
          <p:cNvPr id="141" name="Text 7">
            <a:extLst>
              <a:ext uri="{FF2B5EF4-FFF2-40B4-BE49-F238E27FC236}">
                <a16:creationId xmlns:a16="http://schemas.microsoft.com/office/drawing/2014/main" id="{BEB754C9-8839-4CF7-9109-E1AB1B98533C}"/>
              </a:ext>
            </a:extLst>
          </p:cNvPr>
          <p:cNvSpPr/>
          <p:nvPr/>
        </p:nvSpPr>
        <p:spPr>
          <a:xfrm>
            <a:off x="11279663" y="-150733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13</a:t>
            </a:r>
            <a:endParaRPr lang="en-US" sz="1600" dirty="0"/>
          </a:p>
        </p:txBody>
      </p:sp>
      <p:grpSp>
        <p:nvGrpSpPr>
          <p:cNvPr id="176" name="Группа 175">
            <a:extLst>
              <a:ext uri="{FF2B5EF4-FFF2-40B4-BE49-F238E27FC236}">
                <a16:creationId xmlns:a16="http://schemas.microsoft.com/office/drawing/2014/main" id="{3A164B60-9B6B-470C-81A1-F9815873AEFB}"/>
              </a:ext>
            </a:extLst>
          </p:cNvPr>
          <p:cNvGrpSpPr/>
          <p:nvPr/>
        </p:nvGrpSpPr>
        <p:grpSpPr>
          <a:xfrm>
            <a:off x="381000" y="-1104900"/>
            <a:ext cx="3124200" cy="533400"/>
            <a:chOff x="381000" y="381000"/>
            <a:chExt cx="3124200" cy="533400"/>
          </a:xfrm>
        </p:grpSpPr>
        <p:sp>
          <p:nvSpPr>
            <p:cNvPr id="177" name="Shape 0">
              <a:extLst>
                <a:ext uri="{FF2B5EF4-FFF2-40B4-BE49-F238E27FC236}">
                  <a16:creationId xmlns:a16="http://schemas.microsoft.com/office/drawing/2014/main" id="{23E28EB5-7681-43B2-9547-78033081B5B9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8" name="Shape 1">
              <a:extLst>
                <a:ext uri="{FF2B5EF4-FFF2-40B4-BE49-F238E27FC236}">
                  <a16:creationId xmlns:a16="http://schemas.microsoft.com/office/drawing/2014/main" id="{38C86C3B-E289-46DF-BF88-92AE1C92695E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79" name="Text 2">
              <a:extLst>
                <a:ext uri="{FF2B5EF4-FFF2-40B4-BE49-F238E27FC236}">
                  <a16:creationId xmlns:a16="http://schemas.microsoft.com/office/drawing/2014/main" id="{8BBE4A7D-7565-4ABC-B2E4-83DC1C612EAB}"/>
                </a:ext>
              </a:extLst>
            </p:cNvPr>
            <p:cNvSpPr/>
            <p:nvPr/>
          </p:nvSpPr>
          <p:spPr>
            <a:xfrm>
              <a:off x="1066800" y="400050"/>
              <a:ext cx="24384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Безопасность</a:t>
              </a:r>
              <a:endParaRPr lang="en-US" sz="1600" dirty="0"/>
            </a:p>
          </p:txBody>
        </p:sp>
        <p:sp>
          <p:nvSpPr>
            <p:cNvPr id="180" name="Shape 3">
              <a:extLst>
                <a:ext uri="{FF2B5EF4-FFF2-40B4-BE49-F238E27FC236}">
                  <a16:creationId xmlns:a16="http://schemas.microsoft.com/office/drawing/2014/main" id="{814896BD-491F-4B87-A295-43E0FB579E40}"/>
                </a:ext>
              </a:extLst>
            </p:cNvPr>
            <p:cNvSpPr/>
            <p:nvPr/>
          </p:nvSpPr>
          <p:spPr>
            <a:xfrm>
              <a:off x="762000" y="866774"/>
              <a:ext cx="274320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2E363E8D-FAD3-4BD2-85C1-18DB5602878E}"/>
              </a:ext>
            </a:extLst>
          </p:cNvPr>
          <p:cNvGrpSpPr/>
          <p:nvPr/>
        </p:nvGrpSpPr>
        <p:grpSpPr>
          <a:xfrm>
            <a:off x="-6019800" y="1143000"/>
            <a:ext cx="5600700" cy="4476750"/>
            <a:chOff x="381000" y="1143000"/>
            <a:chExt cx="5600700" cy="4476750"/>
          </a:xfrm>
        </p:grpSpPr>
        <p:sp>
          <p:nvSpPr>
            <p:cNvPr id="182" name="Shape 4">
              <a:extLst>
                <a:ext uri="{FF2B5EF4-FFF2-40B4-BE49-F238E27FC236}">
                  <a16:creationId xmlns:a16="http://schemas.microsoft.com/office/drawing/2014/main" id="{D34405F3-5FE9-4C2A-9B66-9C19797E0F8E}"/>
                </a:ext>
              </a:extLst>
            </p:cNvPr>
            <p:cNvSpPr/>
            <p:nvPr/>
          </p:nvSpPr>
          <p:spPr>
            <a:xfrm>
              <a:off x="381000" y="1143000"/>
              <a:ext cx="5600700" cy="4476750"/>
            </a:xfrm>
            <a:custGeom>
              <a:avLst/>
              <a:gdLst/>
              <a:ahLst/>
              <a:cxnLst/>
              <a:rect l="l" t="t" r="r" b="b"/>
              <a:pathLst>
                <a:path w="5600700" h="4476750">
                  <a:moveTo>
                    <a:pt x="152389" y="0"/>
                  </a:moveTo>
                  <a:lnTo>
                    <a:pt x="5448311" y="0"/>
                  </a:lnTo>
                  <a:cubicBezTo>
                    <a:pt x="5532417" y="0"/>
                    <a:pt x="5600700" y="68283"/>
                    <a:pt x="5600700" y="152389"/>
                  </a:cubicBezTo>
                  <a:lnTo>
                    <a:pt x="5600700" y="4324361"/>
                  </a:lnTo>
                  <a:cubicBezTo>
                    <a:pt x="5600700" y="4408523"/>
                    <a:pt x="5532473" y="4476750"/>
                    <a:pt x="5448311" y="4476750"/>
                  </a:cubicBezTo>
                  <a:lnTo>
                    <a:pt x="152389" y="4476750"/>
                  </a:lnTo>
                  <a:cubicBezTo>
                    <a:pt x="68283" y="4476750"/>
                    <a:pt x="0" y="4408467"/>
                    <a:pt x="0" y="4324361"/>
                  </a:cubicBezTo>
                  <a:lnTo>
                    <a:pt x="0" y="152389"/>
                  </a:lnTo>
                  <a:cubicBezTo>
                    <a:pt x="0" y="68283"/>
                    <a:pt x="68283" y="0"/>
                    <a:pt x="15238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83" name="Shape 5">
              <a:extLst>
                <a:ext uri="{FF2B5EF4-FFF2-40B4-BE49-F238E27FC236}">
                  <a16:creationId xmlns:a16="http://schemas.microsoft.com/office/drawing/2014/main" id="{F3FCA289-36C2-4AA5-9012-52D32677999E}"/>
                </a:ext>
              </a:extLst>
            </p:cNvPr>
            <p:cNvSpPr/>
            <p:nvPr/>
          </p:nvSpPr>
          <p:spPr>
            <a:xfrm>
              <a:off x="628650" y="1457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4" name="Shape 6">
              <a:extLst>
                <a:ext uri="{FF2B5EF4-FFF2-40B4-BE49-F238E27FC236}">
                  <a16:creationId xmlns:a16="http://schemas.microsoft.com/office/drawing/2014/main" id="{04F8EEE6-EE9A-4B85-BCB6-4BE2572CC8B1}"/>
                </a:ext>
              </a:extLst>
            </p:cNvPr>
            <p:cNvSpPr/>
            <p:nvPr/>
          </p:nvSpPr>
          <p:spPr>
            <a:xfrm>
              <a:off x="628650" y="1457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85" name="Shape 7">
              <a:extLst>
                <a:ext uri="{FF2B5EF4-FFF2-40B4-BE49-F238E27FC236}">
                  <a16:creationId xmlns:a16="http://schemas.microsoft.com/office/drawing/2014/main" id="{21F637FD-7C62-476E-B2B8-93C4AF1E153A}"/>
                </a:ext>
              </a:extLst>
            </p:cNvPr>
            <p:cNvSpPr/>
            <p:nvPr/>
          </p:nvSpPr>
          <p:spPr>
            <a:xfrm>
              <a:off x="838200" y="1647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86" name="Shape 8">
              <a:extLst>
                <a:ext uri="{FF2B5EF4-FFF2-40B4-BE49-F238E27FC236}">
                  <a16:creationId xmlns:a16="http://schemas.microsoft.com/office/drawing/2014/main" id="{78EFDDFD-434F-43AF-A17F-D04A88B2D43D}"/>
                </a:ext>
              </a:extLst>
            </p:cNvPr>
            <p:cNvSpPr/>
            <p:nvPr/>
          </p:nvSpPr>
          <p:spPr>
            <a:xfrm>
              <a:off x="971550" y="17811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36624" y="153479"/>
                  </a:moveTo>
                  <a:lnTo>
                    <a:pt x="37021" y="53876"/>
                  </a:lnTo>
                  <a:cubicBezTo>
                    <a:pt x="28687" y="65559"/>
                    <a:pt x="23812" y="79846"/>
                    <a:pt x="23812" y="95250"/>
                  </a:cubicBezTo>
                  <a:cubicBezTo>
                    <a:pt x="23812" y="134689"/>
                    <a:pt x="55811" y="166688"/>
                    <a:pt x="95250" y="166688"/>
                  </a:cubicBezTo>
                  <a:cubicBezTo>
                    <a:pt x="110691" y="166688"/>
                    <a:pt x="124978" y="161813"/>
                    <a:pt x="136624" y="153479"/>
                  </a:cubicBezTo>
                  <a:close/>
                  <a:moveTo>
                    <a:pt x="153479" y="136624"/>
                  </a:moveTo>
                  <a:cubicBezTo>
                    <a:pt x="161813" y="124941"/>
                    <a:pt x="166688" y="110654"/>
                    <a:pt x="166688" y="95250"/>
                  </a:cubicBezTo>
                  <a:cubicBezTo>
                    <a:pt x="166688" y="55811"/>
                    <a:pt x="134689" y="23812"/>
                    <a:pt x="95250" y="23812"/>
                  </a:cubicBezTo>
                  <a:cubicBezTo>
                    <a:pt x="79809" y="23812"/>
                    <a:pt x="65522" y="28687"/>
                    <a:pt x="53876" y="37021"/>
                  </a:cubicBezTo>
                  <a:lnTo>
                    <a:pt x="153479" y="136624"/>
                  </a:lnTo>
                  <a:close/>
                  <a:moveTo>
                    <a:pt x="0" y="95250"/>
                  </a:moveTo>
                  <a:cubicBezTo>
                    <a:pt x="0" y="42680"/>
                    <a:pt x="42680" y="0"/>
                    <a:pt x="95250" y="0"/>
                  </a:cubicBezTo>
                  <a:cubicBezTo>
                    <a:pt x="147820" y="0"/>
                    <a:pt x="190500" y="42680"/>
                    <a:pt x="190500" y="95250"/>
                  </a:cubicBezTo>
                  <a:cubicBezTo>
                    <a:pt x="190500" y="147820"/>
                    <a:pt x="147820" y="190500"/>
                    <a:pt x="95250" y="190500"/>
                  </a:cubicBezTo>
                  <a:cubicBezTo>
                    <a:pt x="42680" y="190500"/>
                    <a:pt x="0" y="147820"/>
                    <a:pt x="0" y="9525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87" name="Text 9">
              <a:extLst>
                <a:ext uri="{FF2B5EF4-FFF2-40B4-BE49-F238E27FC236}">
                  <a16:creationId xmlns:a16="http://schemas.microsoft.com/office/drawing/2014/main" id="{6336D808-D520-4E53-BE3E-B077CAFCB956}"/>
                </a:ext>
              </a:extLst>
            </p:cNvPr>
            <p:cNvSpPr/>
            <p:nvPr/>
          </p:nvSpPr>
          <p:spPr>
            <a:xfrm>
              <a:off x="1447800" y="1647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Нет прямого доступа</a:t>
              </a:r>
              <a:endParaRPr lang="en-US" dirty="0"/>
            </a:p>
          </p:txBody>
        </p:sp>
        <p:sp>
          <p:nvSpPr>
            <p:cNvPr id="188" name="Text 10">
              <a:extLst>
                <a:ext uri="{FF2B5EF4-FFF2-40B4-BE49-F238E27FC236}">
                  <a16:creationId xmlns:a16="http://schemas.microsoft.com/office/drawing/2014/main" id="{1D036204-1CD3-4BF9-B008-EC486B8973E1}"/>
                </a:ext>
              </a:extLst>
            </p:cNvPr>
            <p:cNvSpPr/>
            <p:nvPr/>
          </p:nvSpPr>
          <p:spPr>
            <a:xfrm>
              <a:off x="1447800" y="1990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LLM не имеет прямого доступа к базе данных — только через контролируемый API</a:t>
              </a:r>
              <a:endParaRPr lang="en-US" dirty="0"/>
            </a:p>
          </p:txBody>
        </p:sp>
        <p:sp>
          <p:nvSpPr>
            <p:cNvPr id="189" name="Shape 11">
              <a:extLst>
                <a:ext uri="{FF2B5EF4-FFF2-40B4-BE49-F238E27FC236}">
                  <a16:creationId xmlns:a16="http://schemas.microsoft.com/office/drawing/2014/main" id="{6D158ECA-E2EF-4DEC-9ED5-D58CE1EC9174}"/>
                </a:ext>
              </a:extLst>
            </p:cNvPr>
            <p:cNvSpPr/>
            <p:nvPr/>
          </p:nvSpPr>
          <p:spPr>
            <a:xfrm>
              <a:off x="628650" y="27908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0" name="Shape 12">
              <a:extLst>
                <a:ext uri="{FF2B5EF4-FFF2-40B4-BE49-F238E27FC236}">
                  <a16:creationId xmlns:a16="http://schemas.microsoft.com/office/drawing/2014/main" id="{3A9E2B8A-BD17-4BF6-AF2A-AE96430DADC7}"/>
                </a:ext>
              </a:extLst>
            </p:cNvPr>
            <p:cNvSpPr/>
            <p:nvPr/>
          </p:nvSpPr>
          <p:spPr>
            <a:xfrm>
              <a:off x="628650" y="27908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91" name="Shape 13">
              <a:extLst>
                <a:ext uri="{FF2B5EF4-FFF2-40B4-BE49-F238E27FC236}">
                  <a16:creationId xmlns:a16="http://schemas.microsoft.com/office/drawing/2014/main" id="{62E2E25B-08CE-432F-B6C1-DFA7C6717A89}"/>
                </a:ext>
              </a:extLst>
            </p:cNvPr>
            <p:cNvSpPr/>
            <p:nvPr/>
          </p:nvSpPr>
          <p:spPr>
            <a:xfrm>
              <a:off x="838200" y="29813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92" name="Shape 14">
              <a:extLst>
                <a:ext uri="{FF2B5EF4-FFF2-40B4-BE49-F238E27FC236}">
                  <a16:creationId xmlns:a16="http://schemas.microsoft.com/office/drawing/2014/main" id="{8D2CD176-17C5-45D6-B427-40FA749CFF76}"/>
                </a:ext>
              </a:extLst>
            </p:cNvPr>
            <p:cNvSpPr/>
            <p:nvPr/>
          </p:nvSpPr>
          <p:spPr>
            <a:xfrm>
              <a:off x="971550" y="31146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9783" y="13506"/>
                  </a:moveTo>
                  <a:cubicBezTo>
                    <a:pt x="53839" y="16334"/>
                    <a:pt x="54806" y="21915"/>
                    <a:pt x="51978" y="25933"/>
                  </a:cubicBezTo>
                  <a:lnTo>
                    <a:pt x="31142" y="55699"/>
                  </a:lnTo>
                  <a:cubicBezTo>
                    <a:pt x="29617" y="57857"/>
                    <a:pt x="27236" y="59234"/>
                    <a:pt x="24594" y="59457"/>
                  </a:cubicBezTo>
                  <a:cubicBezTo>
                    <a:pt x="21952" y="59680"/>
                    <a:pt x="19348" y="58787"/>
                    <a:pt x="17487" y="56927"/>
                  </a:cubicBezTo>
                  <a:lnTo>
                    <a:pt x="2604" y="42044"/>
                  </a:lnTo>
                  <a:cubicBezTo>
                    <a:pt x="-856" y="38546"/>
                    <a:pt x="-856" y="32891"/>
                    <a:pt x="2604" y="29394"/>
                  </a:cubicBezTo>
                  <a:cubicBezTo>
                    <a:pt x="6065" y="25896"/>
                    <a:pt x="11757" y="25933"/>
                    <a:pt x="15255" y="29394"/>
                  </a:cubicBezTo>
                  <a:lnTo>
                    <a:pt x="22622" y="36761"/>
                  </a:lnTo>
                  <a:lnTo>
                    <a:pt x="37356" y="15701"/>
                  </a:lnTo>
                  <a:cubicBezTo>
                    <a:pt x="40184" y="11646"/>
                    <a:pt x="45765" y="10678"/>
                    <a:pt x="49783" y="13506"/>
                  </a:cubicBezTo>
                  <a:close/>
                  <a:moveTo>
                    <a:pt x="49783" y="73037"/>
                  </a:moveTo>
                  <a:cubicBezTo>
                    <a:pt x="53839" y="75865"/>
                    <a:pt x="54806" y="81446"/>
                    <a:pt x="51978" y="85465"/>
                  </a:cubicBezTo>
                  <a:lnTo>
                    <a:pt x="31142" y="115230"/>
                  </a:lnTo>
                  <a:cubicBezTo>
                    <a:pt x="29617" y="117388"/>
                    <a:pt x="27236" y="118765"/>
                    <a:pt x="24594" y="118988"/>
                  </a:cubicBezTo>
                  <a:cubicBezTo>
                    <a:pt x="21952" y="119211"/>
                    <a:pt x="19348" y="118318"/>
                    <a:pt x="17487" y="116458"/>
                  </a:cubicBezTo>
                  <a:lnTo>
                    <a:pt x="2604" y="101575"/>
                  </a:lnTo>
                  <a:cubicBezTo>
                    <a:pt x="-893" y="98078"/>
                    <a:pt x="-893" y="92422"/>
                    <a:pt x="2604" y="88962"/>
                  </a:cubicBezTo>
                  <a:cubicBezTo>
                    <a:pt x="6102" y="85502"/>
                    <a:pt x="11757" y="85465"/>
                    <a:pt x="15218" y="88962"/>
                  </a:cubicBezTo>
                  <a:lnTo>
                    <a:pt x="22585" y="96329"/>
                  </a:lnTo>
                  <a:lnTo>
                    <a:pt x="37319" y="75270"/>
                  </a:lnTo>
                  <a:cubicBezTo>
                    <a:pt x="40146" y="71214"/>
                    <a:pt x="45727" y="70247"/>
                    <a:pt x="49746" y="73075"/>
                  </a:cubicBezTo>
                  <a:close/>
                  <a:moveTo>
                    <a:pt x="83344" y="35719"/>
                  </a:moveTo>
                  <a:cubicBezTo>
                    <a:pt x="83344" y="29133"/>
                    <a:pt x="88664" y="23812"/>
                    <a:pt x="95250" y="23812"/>
                  </a:cubicBezTo>
                  <a:lnTo>
                    <a:pt x="178594" y="23812"/>
                  </a:lnTo>
                  <a:cubicBezTo>
                    <a:pt x="185179" y="23812"/>
                    <a:pt x="190500" y="29133"/>
                    <a:pt x="190500" y="35719"/>
                  </a:cubicBezTo>
                  <a:cubicBezTo>
                    <a:pt x="190500" y="42304"/>
                    <a:pt x="185179" y="47625"/>
                    <a:pt x="178594" y="47625"/>
                  </a:cubicBezTo>
                  <a:lnTo>
                    <a:pt x="95250" y="47625"/>
                  </a:lnTo>
                  <a:cubicBezTo>
                    <a:pt x="88664" y="47625"/>
                    <a:pt x="83344" y="42304"/>
                    <a:pt x="83344" y="35719"/>
                  </a:cubicBezTo>
                  <a:close/>
                  <a:moveTo>
                    <a:pt x="83344" y="95250"/>
                  </a:moveTo>
                  <a:cubicBezTo>
                    <a:pt x="83344" y="88664"/>
                    <a:pt x="88664" y="83344"/>
                    <a:pt x="95250" y="83344"/>
                  </a:cubicBezTo>
                  <a:lnTo>
                    <a:pt x="178594" y="83344"/>
                  </a:lnTo>
                  <a:cubicBezTo>
                    <a:pt x="185179" y="83344"/>
                    <a:pt x="190500" y="88664"/>
                    <a:pt x="190500" y="95250"/>
                  </a:cubicBezTo>
                  <a:cubicBezTo>
                    <a:pt x="190500" y="101836"/>
                    <a:pt x="185179" y="107156"/>
                    <a:pt x="178594" y="107156"/>
                  </a:cubicBezTo>
                  <a:lnTo>
                    <a:pt x="95250" y="107156"/>
                  </a:lnTo>
                  <a:cubicBezTo>
                    <a:pt x="88664" y="107156"/>
                    <a:pt x="83344" y="101836"/>
                    <a:pt x="83344" y="95250"/>
                  </a:cubicBezTo>
                  <a:close/>
                  <a:moveTo>
                    <a:pt x="59531" y="154781"/>
                  </a:moveTo>
                  <a:cubicBezTo>
                    <a:pt x="59531" y="148196"/>
                    <a:pt x="64852" y="142875"/>
                    <a:pt x="71438" y="142875"/>
                  </a:cubicBezTo>
                  <a:lnTo>
                    <a:pt x="178594" y="142875"/>
                  </a:lnTo>
                  <a:cubicBezTo>
                    <a:pt x="185179" y="142875"/>
                    <a:pt x="190500" y="148196"/>
                    <a:pt x="190500" y="154781"/>
                  </a:cubicBezTo>
                  <a:cubicBezTo>
                    <a:pt x="190500" y="161367"/>
                    <a:pt x="185179" y="166688"/>
                    <a:pt x="178594" y="166688"/>
                  </a:cubicBezTo>
                  <a:lnTo>
                    <a:pt x="71438" y="166688"/>
                  </a:lnTo>
                  <a:cubicBezTo>
                    <a:pt x="64852" y="166688"/>
                    <a:pt x="59531" y="161367"/>
                    <a:pt x="59531" y="154781"/>
                  </a:cubicBezTo>
                  <a:close/>
                  <a:moveTo>
                    <a:pt x="23812" y="139898"/>
                  </a:moveTo>
                  <a:cubicBezTo>
                    <a:pt x="32027" y="139898"/>
                    <a:pt x="38695" y="146567"/>
                    <a:pt x="38695" y="154781"/>
                  </a:cubicBezTo>
                  <a:cubicBezTo>
                    <a:pt x="38695" y="162995"/>
                    <a:pt x="32027" y="169664"/>
                    <a:pt x="23812" y="169664"/>
                  </a:cubicBezTo>
                  <a:cubicBezTo>
                    <a:pt x="15598" y="169664"/>
                    <a:pt x="8930" y="162995"/>
                    <a:pt x="8930" y="154781"/>
                  </a:cubicBezTo>
                  <a:cubicBezTo>
                    <a:pt x="8930" y="146567"/>
                    <a:pt x="15598" y="139898"/>
                    <a:pt x="23812" y="13989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93" name="Text 15">
              <a:extLst>
                <a:ext uri="{FF2B5EF4-FFF2-40B4-BE49-F238E27FC236}">
                  <a16:creationId xmlns:a16="http://schemas.microsoft.com/office/drawing/2014/main" id="{C2765B13-CCE5-4136-8594-B8CC30DCF9E6}"/>
                </a:ext>
              </a:extLst>
            </p:cNvPr>
            <p:cNvSpPr/>
            <p:nvPr/>
          </p:nvSpPr>
          <p:spPr>
            <a:xfrm>
              <a:off x="1447800" y="29813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White-list команд</a:t>
              </a:r>
              <a:endParaRPr lang="en-US" dirty="0"/>
            </a:p>
          </p:txBody>
        </p:sp>
        <p:sp>
          <p:nvSpPr>
            <p:cNvPr id="194" name="Text 16">
              <a:extLst>
                <a:ext uri="{FF2B5EF4-FFF2-40B4-BE49-F238E27FC236}">
                  <a16:creationId xmlns:a16="http://schemas.microsoft.com/office/drawing/2014/main" id="{86E17AF9-1422-470F-B92A-3AD70ECB1198}"/>
                </a:ext>
              </a:extLst>
            </p:cNvPr>
            <p:cNvSpPr/>
            <p:nvPr/>
          </p:nvSpPr>
          <p:spPr>
            <a:xfrm>
              <a:off x="1447800" y="33242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Разрешены только безопасные операции чтения и создания черновиков</a:t>
              </a:r>
              <a:endParaRPr lang="en-US" dirty="0"/>
            </a:p>
          </p:txBody>
        </p:sp>
        <p:sp>
          <p:nvSpPr>
            <p:cNvPr id="195" name="Shape 17">
              <a:extLst>
                <a:ext uri="{FF2B5EF4-FFF2-40B4-BE49-F238E27FC236}">
                  <a16:creationId xmlns:a16="http://schemas.microsoft.com/office/drawing/2014/main" id="{CC7E1F44-FF9D-406F-8F26-2CB6382CB8E6}"/>
                </a:ext>
              </a:extLst>
            </p:cNvPr>
            <p:cNvSpPr/>
            <p:nvPr/>
          </p:nvSpPr>
          <p:spPr>
            <a:xfrm>
              <a:off x="628650" y="4124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96" name="Shape 18">
              <a:extLst>
                <a:ext uri="{FF2B5EF4-FFF2-40B4-BE49-F238E27FC236}">
                  <a16:creationId xmlns:a16="http://schemas.microsoft.com/office/drawing/2014/main" id="{08F8FCC2-8D49-4BAF-97B0-419A0574B0B8}"/>
                </a:ext>
              </a:extLst>
            </p:cNvPr>
            <p:cNvSpPr/>
            <p:nvPr/>
          </p:nvSpPr>
          <p:spPr>
            <a:xfrm>
              <a:off x="628650" y="4124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97" name="Shape 19">
              <a:extLst>
                <a:ext uri="{FF2B5EF4-FFF2-40B4-BE49-F238E27FC236}">
                  <a16:creationId xmlns:a16="http://schemas.microsoft.com/office/drawing/2014/main" id="{C8B74913-D2FC-4102-BD22-BB4F8936CB0B}"/>
                </a:ext>
              </a:extLst>
            </p:cNvPr>
            <p:cNvSpPr/>
            <p:nvPr/>
          </p:nvSpPr>
          <p:spPr>
            <a:xfrm>
              <a:off x="838200" y="4314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98" name="Shape 20">
              <a:extLst>
                <a:ext uri="{FF2B5EF4-FFF2-40B4-BE49-F238E27FC236}">
                  <a16:creationId xmlns:a16="http://schemas.microsoft.com/office/drawing/2014/main" id="{5824CD65-5A65-4CC4-95F1-9F97CB2A42A9}"/>
                </a:ext>
              </a:extLst>
            </p:cNvPr>
            <p:cNvSpPr/>
            <p:nvPr/>
          </p:nvSpPr>
          <p:spPr>
            <a:xfrm>
              <a:off x="995363" y="4448175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0" y="23812"/>
                  </a:moveTo>
                  <a:cubicBezTo>
                    <a:pt x="0" y="10678"/>
                    <a:pt x="10678" y="0"/>
                    <a:pt x="23812" y="0"/>
                  </a:cubicBezTo>
                  <a:lnTo>
                    <a:pt x="79437" y="0"/>
                  </a:lnTo>
                  <a:cubicBezTo>
                    <a:pt x="85762" y="0"/>
                    <a:pt x="91827" y="2493"/>
                    <a:pt x="96292" y="6958"/>
                  </a:cubicBezTo>
                  <a:lnTo>
                    <a:pt x="135917" y="46620"/>
                  </a:lnTo>
                  <a:cubicBezTo>
                    <a:pt x="140382" y="51085"/>
                    <a:pt x="142875" y="57150"/>
                    <a:pt x="142875" y="63475"/>
                  </a:cubicBezTo>
                  <a:lnTo>
                    <a:pt x="142875" y="166688"/>
                  </a:lnTo>
                  <a:cubicBezTo>
                    <a:pt x="142875" y="179822"/>
                    <a:pt x="132197" y="190500"/>
                    <a:pt x="119063" y="190500"/>
                  </a:cubicBezTo>
                  <a:lnTo>
                    <a:pt x="23812" y="190500"/>
                  </a:lnTo>
                  <a:cubicBezTo>
                    <a:pt x="10678" y="190500"/>
                    <a:pt x="0" y="179822"/>
                    <a:pt x="0" y="166688"/>
                  </a:cubicBezTo>
                  <a:lnTo>
                    <a:pt x="0" y="23812"/>
                  </a:lnTo>
                  <a:close/>
                  <a:moveTo>
                    <a:pt x="77391" y="21766"/>
                  </a:moveTo>
                  <a:lnTo>
                    <a:pt x="77391" y="56555"/>
                  </a:lnTo>
                  <a:cubicBezTo>
                    <a:pt x="77391" y="61503"/>
                    <a:pt x="81372" y="65484"/>
                    <a:pt x="86320" y="65484"/>
                  </a:cubicBezTo>
                  <a:lnTo>
                    <a:pt x="121109" y="65484"/>
                  </a:lnTo>
                  <a:lnTo>
                    <a:pt x="77391" y="21766"/>
                  </a:lnTo>
                  <a:close/>
                  <a:moveTo>
                    <a:pt x="44648" y="95250"/>
                  </a:moveTo>
                  <a:cubicBezTo>
                    <a:pt x="39700" y="95250"/>
                    <a:pt x="35719" y="99231"/>
                    <a:pt x="35719" y="104180"/>
                  </a:cubicBezTo>
                  <a:cubicBezTo>
                    <a:pt x="35719" y="109128"/>
                    <a:pt x="39700" y="113109"/>
                    <a:pt x="44648" y="113109"/>
                  </a:cubicBezTo>
                  <a:lnTo>
                    <a:pt x="98227" y="113109"/>
                  </a:lnTo>
                  <a:cubicBezTo>
                    <a:pt x="103175" y="113109"/>
                    <a:pt x="107156" y="109128"/>
                    <a:pt x="107156" y="104180"/>
                  </a:cubicBezTo>
                  <a:cubicBezTo>
                    <a:pt x="107156" y="99231"/>
                    <a:pt x="103175" y="95250"/>
                    <a:pt x="98227" y="95250"/>
                  </a:cubicBezTo>
                  <a:lnTo>
                    <a:pt x="44648" y="95250"/>
                  </a:lnTo>
                  <a:close/>
                  <a:moveTo>
                    <a:pt x="44648" y="130969"/>
                  </a:moveTo>
                  <a:cubicBezTo>
                    <a:pt x="39700" y="130969"/>
                    <a:pt x="35719" y="134950"/>
                    <a:pt x="35719" y="139898"/>
                  </a:cubicBezTo>
                  <a:cubicBezTo>
                    <a:pt x="35719" y="144847"/>
                    <a:pt x="39700" y="148828"/>
                    <a:pt x="44648" y="148828"/>
                  </a:cubicBezTo>
                  <a:lnTo>
                    <a:pt x="98227" y="148828"/>
                  </a:lnTo>
                  <a:cubicBezTo>
                    <a:pt x="103175" y="148828"/>
                    <a:pt x="107156" y="144847"/>
                    <a:pt x="107156" y="139898"/>
                  </a:cubicBezTo>
                  <a:cubicBezTo>
                    <a:pt x="107156" y="134950"/>
                    <a:pt x="103175" y="130969"/>
                    <a:pt x="98227" y="130969"/>
                  </a:cubicBezTo>
                  <a:lnTo>
                    <a:pt x="44648" y="130969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99" name="Text 21">
              <a:extLst>
                <a:ext uri="{FF2B5EF4-FFF2-40B4-BE49-F238E27FC236}">
                  <a16:creationId xmlns:a16="http://schemas.microsoft.com/office/drawing/2014/main" id="{C8E05755-27BE-486A-BA21-FC3D05EAE32F}"/>
                </a:ext>
              </a:extLst>
            </p:cNvPr>
            <p:cNvSpPr/>
            <p:nvPr/>
          </p:nvSpPr>
          <p:spPr>
            <a:xfrm>
              <a:off x="1447800" y="4314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Только черновики</a:t>
              </a:r>
              <a:endParaRPr lang="en-US" dirty="0"/>
            </a:p>
          </p:txBody>
        </p:sp>
        <p:sp>
          <p:nvSpPr>
            <p:cNvPr id="200" name="Text 22">
              <a:extLst>
                <a:ext uri="{FF2B5EF4-FFF2-40B4-BE49-F238E27FC236}">
                  <a16:creationId xmlns:a16="http://schemas.microsoft.com/office/drawing/2014/main" id="{AF6B1F0C-0F80-497D-8302-288FB00D68BB}"/>
                </a:ext>
              </a:extLst>
            </p:cNvPr>
            <p:cNvSpPr/>
            <p:nvPr/>
          </p:nvSpPr>
          <p:spPr>
            <a:xfrm>
              <a:off x="1447800" y="4657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Система создает только черновики документов, финальное сохранение — пользователь</a:t>
              </a:r>
              <a:endParaRPr lang="en-US" dirty="0"/>
            </a:p>
          </p:txBody>
        </p:sp>
      </p:grpSp>
      <p:grpSp>
        <p:nvGrpSpPr>
          <p:cNvPr id="201" name="Группа 200">
            <a:extLst>
              <a:ext uri="{FF2B5EF4-FFF2-40B4-BE49-F238E27FC236}">
                <a16:creationId xmlns:a16="http://schemas.microsoft.com/office/drawing/2014/main" id="{63FF3B7A-5154-4C75-A206-821A3A0CC4B8}"/>
              </a:ext>
            </a:extLst>
          </p:cNvPr>
          <p:cNvGrpSpPr/>
          <p:nvPr/>
        </p:nvGrpSpPr>
        <p:grpSpPr>
          <a:xfrm>
            <a:off x="12801600" y="1143000"/>
            <a:ext cx="5600700" cy="4476750"/>
            <a:chOff x="6210300" y="1143000"/>
            <a:chExt cx="5600700" cy="4476750"/>
          </a:xfrm>
        </p:grpSpPr>
        <p:sp>
          <p:nvSpPr>
            <p:cNvPr id="202" name="Shape 23">
              <a:extLst>
                <a:ext uri="{FF2B5EF4-FFF2-40B4-BE49-F238E27FC236}">
                  <a16:creationId xmlns:a16="http://schemas.microsoft.com/office/drawing/2014/main" id="{80F2FDA8-FA35-4811-BA15-EEB7E82A80C7}"/>
                </a:ext>
              </a:extLst>
            </p:cNvPr>
            <p:cNvSpPr/>
            <p:nvPr/>
          </p:nvSpPr>
          <p:spPr>
            <a:xfrm>
              <a:off x="6210300" y="1143000"/>
              <a:ext cx="5600700" cy="4476750"/>
            </a:xfrm>
            <a:custGeom>
              <a:avLst/>
              <a:gdLst/>
              <a:ahLst/>
              <a:cxnLst/>
              <a:rect l="l" t="t" r="r" b="b"/>
              <a:pathLst>
                <a:path w="5600700" h="4476750">
                  <a:moveTo>
                    <a:pt x="152389" y="0"/>
                  </a:moveTo>
                  <a:lnTo>
                    <a:pt x="5448311" y="0"/>
                  </a:lnTo>
                  <a:cubicBezTo>
                    <a:pt x="5532417" y="0"/>
                    <a:pt x="5600700" y="68283"/>
                    <a:pt x="5600700" y="152389"/>
                  </a:cubicBezTo>
                  <a:lnTo>
                    <a:pt x="5600700" y="4324361"/>
                  </a:lnTo>
                  <a:cubicBezTo>
                    <a:pt x="5600700" y="4408523"/>
                    <a:pt x="5532473" y="4476750"/>
                    <a:pt x="5448311" y="4476750"/>
                  </a:cubicBezTo>
                  <a:lnTo>
                    <a:pt x="152389" y="4476750"/>
                  </a:lnTo>
                  <a:cubicBezTo>
                    <a:pt x="68283" y="4476750"/>
                    <a:pt x="0" y="4408467"/>
                    <a:pt x="0" y="4324361"/>
                  </a:cubicBezTo>
                  <a:lnTo>
                    <a:pt x="0" y="152389"/>
                  </a:lnTo>
                  <a:cubicBezTo>
                    <a:pt x="0" y="68283"/>
                    <a:pt x="68283" y="0"/>
                    <a:pt x="15238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03" name="Shape 24">
              <a:extLst>
                <a:ext uri="{FF2B5EF4-FFF2-40B4-BE49-F238E27FC236}">
                  <a16:creationId xmlns:a16="http://schemas.microsoft.com/office/drawing/2014/main" id="{B288806E-550D-4E94-8A70-FB83D2092F9C}"/>
                </a:ext>
              </a:extLst>
            </p:cNvPr>
            <p:cNvSpPr/>
            <p:nvPr/>
          </p:nvSpPr>
          <p:spPr>
            <a:xfrm>
              <a:off x="6457950" y="1457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04" name="Shape 25">
              <a:extLst>
                <a:ext uri="{FF2B5EF4-FFF2-40B4-BE49-F238E27FC236}">
                  <a16:creationId xmlns:a16="http://schemas.microsoft.com/office/drawing/2014/main" id="{B6F921E2-941F-48E1-BEA9-36E5198E9889}"/>
                </a:ext>
              </a:extLst>
            </p:cNvPr>
            <p:cNvSpPr/>
            <p:nvPr/>
          </p:nvSpPr>
          <p:spPr>
            <a:xfrm>
              <a:off x="6457950" y="1457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05" name="Shape 26">
              <a:extLst>
                <a:ext uri="{FF2B5EF4-FFF2-40B4-BE49-F238E27FC236}">
                  <a16:creationId xmlns:a16="http://schemas.microsoft.com/office/drawing/2014/main" id="{45DE7585-4F2E-4ACF-BC1E-EB605199CE74}"/>
                </a:ext>
              </a:extLst>
            </p:cNvPr>
            <p:cNvSpPr/>
            <p:nvPr/>
          </p:nvSpPr>
          <p:spPr>
            <a:xfrm>
              <a:off x="6667500" y="1647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06" name="Shape 27">
              <a:extLst>
                <a:ext uri="{FF2B5EF4-FFF2-40B4-BE49-F238E27FC236}">
                  <a16:creationId xmlns:a16="http://schemas.microsoft.com/office/drawing/2014/main" id="{B1F3E1C2-5409-4C24-95B2-51C6546D5649}"/>
                </a:ext>
              </a:extLst>
            </p:cNvPr>
            <p:cNvSpPr/>
            <p:nvPr/>
          </p:nvSpPr>
          <p:spPr>
            <a:xfrm>
              <a:off x="6777038" y="178117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50602" y="47625"/>
                  </a:moveTo>
                  <a:cubicBezTo>
                    <a:pt x="50602" y="22983"/>
                    <a:pt x="70608" y="2977"/>
                    <a:pt x="95250" y="2977"/>
                  </a:cubicBezTo>
                  <a:cubicBezTo>
                    <a:pt x="119892" y="2977"/>
                    <a:pt x="139898" y="22983"/>
                    <a:pt x="139898" y="47625"/>
                  </a:cubicBezTo>
                  <a:cubicBezTo>
                    <a:pt x="139898" y="72267"/>
                    <a:pt x="119892" y="92273"/>
                    <a:pt x="95250" y="92273"/>
                  </a:cubicBezTo>
                  <a:cubicBezTo>
                    <a:pt x="70608" y="92273"/>
                    <a:pt x="50602" y="72267"/>
                    <a:pt x="50602" y="47625"/>
                  </a:cubicBezTo>
                  <a:close/>
                  <a:moveTo>
                    <a:pt x="17859" y="179450"/>
                  </a:moveTo>
                  <a:cubicBezTo>
                    <a:pt x="17859" y="142801"/>
                    <a:pt x="47551" y="113109"/>
                    <a:pt x="84200" y="113109"/>
                  </a:cubicBezTo>
                  <a:lnTo>
                    <a:pt x="106300" y="113109"/>
                  </a:lnTo>
                  <a:cubicBezTo>
                    <a:pt x="142949" y="113109"/>
                    <a:pt x="172641" y="142801"/>
                    <a:pt x="172641" y="179450"/>
                  </a:cubicBezTo>
                  <a:cubicBezTo>
                    <a:pt x="172641" y="185551"/>
                    <a:pt x="167692" y="190500"/>
                    <a:pt x="161590" y="190500"/>
                  </a:cubicBezTo>
                  <a:lnTo>
                    <a:pt x="28910" y="190500"/>
                  </a:lnTo>
                  <a:cubicBezTo>
                    <a:pt x="22808" y="190500"/>
                    <a:pt x="17859" y="185551"/>
                    <a:pt x="17859" y="179450"/>
                  </a:cubicBezTo>
                  <a:close/>
                  <a:moveTo>
                    <a:pt x="227856" y="49374"/>
                  </a:moveTo>
                  <a:lnTo>
                    <a:pt x="198090" y="96999"/>
                  </a:lnTo>
                  <a:cubicBezTo>
                    <a:pt x="196528" y="99492"/>
                    <a:pt x="193849" y="101054"/>
                    <a:pt x="190909" y="101203"/>
                  </a:cubicBezTo>
                  <a:cubicBezTo>
                    <a:pt x="187970" y="101352"/>
                    <a:pt x="185142" y="100013"/>
                    <a:pt x="183393" y="97631"/>
                  </a:cubicBezTo>
                  <a:lnTo>
                    <a:pt x="165534" y="73819"/>
                  </a:lnTo>
                  <a:cubicBezTo>
                    <a:pt x="162558" y="69875"/>
                    <a:pt x="163376" y="64294"/>
                    <a:pt x="167320" y="61317"/>
                  </a:cubicBezTo>
                  <a:cubicBezTo>
                    <a:pt x="171264" y="58341"/>
                    <a:pt x="176845" y="59159"/>
                    <a:pt x="179822" y="63103"/>
                  </a:cubicBezTo>
                  <a:lnTo>
                    <a:pt x="189867" y="76498"/>
                  </a:lnTo>
                  <a:lnTo>
                    <a:pt x="212713" y="39923"/>
                  </a:lnTo>
                  <a:cubicBezTo>
                    <a:pt x="215317" y="35756"/>
                    <a:pt x="220824" y="34454"/>
                    <a:pt x="225028" y="37095"/>
                  </a:cubicBezTo>
                  <a:cubicBezTo>
                    <a:pt x="229233" y="39737"/>
                    <a:pt x="230498" y="45207"/>
                    <a:pt x="227856" y="4941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07" name="Text 28">
              <a:extLst>
                <a:ext uri="{FF2B5EF4-FFF2-40B4-BE49-F238E27FC236}">
                  <a16:creationId xmlns:a16="http://schemas.microsoft.com/office/drawing/2014/main" id="{B38A7BFD-28CB-4C29-8091-AA52F7F03587}"/>
                </a:ext>
              </a:extLst>
            </p:cNvPr>
            <p:cNvSpPr/>
            <p:nvPr/>
          </p:nvSpPr>
          <p:spPr>
            <a:xfrm>
              <a:off x="7277100" y="1647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Подтверждение человеком</a:t>
              </a:r>
              <a:endParaRPr lang="en-US" dirty="0"/>
            </a:p>
          </p:txBody>
        </p:sp>
        <p:sp>
          <p:nvSpPr>
            <p:cNvPr id="208" name="Text 29">
              <a:extLst>
                <a:ext uri="{FF2B5EF4-FFF2-40B4-BE49-F238E27FC236}">
                  <a16:creationId xmlns:a16="http://schemas.microsoft.com/office/drawing/2014/main" id="{23BFBB3E-CF07-49EB-92DB-C90F74BE7E8F}"/>
                </a:ext>
              </a:extLst>
            </p:cNvPr>
            <p:cNvSpPr/>
            <p:nvPr/>
          </p:nvSpPr>
          <p:spPr>
            <a:xfrm>
              <a:off x="7277100" y="1990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Критичные операции требуют явного согласия пользователя</a:t>
              </a:r>
              <a:endParaRPr lang="en-US" dirty="0"/>
            </a:p>
          </p:txBody>
        </p:sp>
        <p:sp>
          <p:nvSpPr>
            <p:cNvPr id="209" name="Shape 30">
              <a:extLst>
                <a:ext uri="{FF2B5EF4-FFF2-40B4-BE49-F238E27FC236}">
                  <a16:creationId xmlns:a16="http://schemas.microsoft.com/office/drawing/2014/main" id="{86206E58-F722-49A3-B700-08E9451BE0C8}"/>
                </a:ext>
              </a:extLst>
            </p:cNvPr>
            <p:cNvSpPr/>
            <p:nvPr/>
          </p:nvSpPr>
          <p:spPr>
            <a:xfrm>
              <a:off x="6457950" y="27908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0" name="Shape 31">
              <a:extLst>
                <a:ext uri="{FF2B5EF4-FFF2-40B4-BE49-F238E27FC236}">
                  <a16:creationId xmlns:a16="http://schemas.microsoft.com/office/drawing/2014/main" id="{0F588124-71D3-47D7-B915-5A933D329515}"/>
                </a:ext>
              </a:extLst>
            </p:cNvPr>
            <p:cNvSpPr/>
            <p:nvPr/>
          </p:nvSpPr>
          <p:spPr>
            <a:xfrm>
              <a:off x="6457950" y="27908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11" name="Shape 32">
              <a:extLst>
                <a:ext uri="{FF2B5EF4-FFF2-40B4-BE49-F238E27FC236}">
                  <a16:creationId xmlns:a16="http://schemas.microsoft.com/office/drawing/2014/main" id="{4DD07A8A-8A91-4B2C-A084-D3D61DB4F0CE}"/>
                </a:ext>
              </a:extLst>
            </p:cNvPr>
            <p:cNvSpPr/>
            <p:nvPr/>
          </p:nvSpPr>
          <p:spPr>
            <a:xfrm>
              <a:off x="6667500" y="29813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12" name="Shape 33">
              <a:extLst>
                <a:ext uri="{FF2B5EF4-FFF2-40B4-BE49-F238E27FC236}">
                  <a16:creationId xmlns:a16="http://schemas.microsoft.com/office/drawing/2014/main" id="{B659AA1F-5ABA-4EC7-BC6D-8C1F208A4911}"/>
                </a:ext>
              </a:extLst>
            </p:cNvPr>
            <p:cNvSpPr/>
            <p:nvPr/>
          </p:nvSpPr>
          <p:spPr>
            <a:xfrm>
              <a:off x="6824663" y="3114675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115863" y="11906"/>
                  </a:moveTo>
                  <a:lnTo>
                    <a:pt x="119063" y="11906"/>
                  </a:lnTo>
                  <a:cubicBezTo>
                    <a:pt x="132197" y="11906"/>
                    <a:pt x="142875" y="22585"/>
                    <a:pt x="142875" y="35719"/>
                  </a:cubicBezTo>
                  <a:lnTo>
                    <a:pt x="142875" y="166688"/>
                  </a:lnTo>
                  <a:cubicBezTo>
                    <a:pt x="142875" y="179822"/>
                    <a:pt x="132197" y="190500"/>
                    <a:pt x="119063" y="190500"/>
                  </a:cubicBezTo>
                  <a:lnTo>
                    <a:pt x="23812" y="190500"/>
                  </a:lnTo>
                  <a:cubicBezTo>
                    <a:pt x="10678" y="190500"/>
                    <a:pt x="0" y="179822"/>
                    <a:pt x="0" y="166688"/>
                  </a:cubicBezTo>
                  <a:lnTo>
                    <a:pt x="0" y="35719"/>
                  </a:lnTo>
                  <a:cubicBezTo>
                    <a:pt x="0" y="22585"/>
                    <a:pt x="10678" y="11906"/>
                    <a:pt x="23812" y="11906"/>
                  </a:cubicBezTo>
                  <a:lnTo>
                    <a:pt x="27012" y="11906"/>
                  </a:lnTo>
                  <a:cubicBezTo>
                    <a:pt x="31105" y="4800"/>
                    <a:pt x="38807" y="0"/>
                    <a:pt x="47625" y="0"/>
                  </a:cubicBezTo>
                  <a:lnTo>
                    <a:pt x="95250" y="0"/>
                  </a:lnTo>
                  <a:cubicBezTo>
                    <a:pt x="104068" y="0"/>
                    <a:pt x="111770" y="4800"/>
                    <a:pt x="115863" y="11906"/>
                  </a:cubicBezTo>
                  <a:close/>
                  <a:moveTo>
                    <a:pt x="92273" y="41672"/>
                  </a:moveTo>
                  <a:cubicBezTo>
                    <a:pt x="97222" y="41672"/>
                    <a:pt x="101203" y="37691"/>
                    <a:pt x="101203" y="32742"/>
                  </a:cubicBezTo>
                  <a:cubicBezTo>
                    <a:pt x="101203" y="27794"/>
                    <a:pt x="97222" y="23812"/>
                    <a:pt x="92273" y="23812"/>
                  </a:cubicBezTo>
                  <a:lnTo>
                    <a:pt x="50602" y="23812"/>
                  </a:lnTo>
                  <a:cubicBezTo>
                    <a:pt x="45653" y="23812"/>
                    <a:pt x="41672" y="27794"/>
                    <a:pt x="41672" y="32742"/>
                  </a:cubicBezTo>
                  <a:cubicBezTo>
                    <a:pt x="41672" y="37691"/>
                    <a:pt x="45653" y="41672"/>
                    <a:pt x="50602" y="41672"/>
                  </a:cubicBezTo>
                  <a:lnTo>
                    <a:pt x="92273" y="41672"/>
                  </a:lnTo>
                  <a:close/>
                  <a:moveTo>
                    <a:pt x="47625" y="95250"/>
                  </a:moveTo>
                  <a:cubicBezTo>
                    <a:pt x="47625" y="88679"/>
                    <a:pt x="42290" y="83344"/>
                    <a:pt x="35719" y="83344"/>
                  </a:cubicBezTo>
                  <a:cubicBezTo>
                    <a:pt x="29148" y="83344"/>
                    <a:pt x="23812" y="88679"/>
                    <a:pt x="23812" y="95250"/>
                  </a:cubicBezTo>
                  <a:cubicBezTo>
                    <a:pt x="23812" y="101821"/>
                    <a:pt x="29148" y="107156"/>
                    <a:pt x="35719" y="107156"/>
                  </a:cubicBezTo>
                  <a:cubicBezTo>
                    <a:pt x="42290" y="107156"/>
                    <a:pt x="47625" y="101821"/>
                    <a:pt x="47625" y="95250"/>
                  </a:cubicBezTo>
                  <a:close/>
                  <a:moveTo>
                    <a:pt x="59531" y="95250"/>
                  </a:moveTo>
                  <a:cubicBezTo>
                    <a:pt x="59531" y="100199"/>
                    <a:pt x="63512" y="104180"/>
                    <a:pt x="68461" y="104180"/>
                  </a:cubicBezTo>
                  <a:lnTo>
                    <a:pt x="110133" y="104180"/>
                  </a:lnTo>
                  <a:cubicBezTo>
                    <a:pt x="115081" y="104180"/>
                    <a:pt x="119063" y="100199"/>
                    <a:pt x="119063" y="95250"/>
                  </a:cubicBezTo>
                  <a:cubicBezTo>
                    <a:pt x="119063" y="90301"/>
                    <a:pt x="115081" y="86320"/>
                    <a:pt x="110133" y="86320"/>
                  </a:cubicBezTo>
                  <a:lnTo>
                    <a:pt x="68461" y="86320"/>
                  </a:lnTo>
                  <a:cubicBezTo>
                    <a:pt x="63512" y="86320"/>
                    <a:pt x="59531" y="90301"/>
                    <a:pt x="59531" y="95250"/>
                  </a:cubicBezTo>
                  <a:close/>
                  <a:moveTo>
                    <a:pt x="59531" y="142875"/>
                  </a:moveTo>
                  <a:cubicBezTo>
                    <a:pt x="59531" y="147824"/>
                    <a:pt x="63512" y="151805"/>
                    <a:pt x="68461" y="151805"/>
                  </a:cubicBezTo>
                  <a:lnTo>
                    <a:pt x="110133" y="151805"/>
                  </a:lnTo>
                  <a:cubicBezTo>
                    <a:pt x="115081" y="151805"/>
                    <a:pt x="119063" y="147824"/>
                    <a:pt x="119063" y="142875"/>
                  </a:cubicBezTo>
                  <a:cubicBezTo>
                    <a:pt x="119063" y="137926"/>
                    <a:pt x="115081" y="133945"/>
                    <a:pt x="110133" y="133945"/>
                  </a:cubicBezTo>
                  <a:lnTo>
                    <a:pt x="68461" y="133945"/>
                  </a:lnTo>
                  <a:cubicBezTo>
                    <a:pt x="63512" y="133945"/>
                    <a:pt x="59531" y="137926"/>
                    <a:pt x="59531" y="142875"/>
                  </a:cubicBezTo>
                  <a:close/>
                  <a:moveTo>
                    <a:pt x="35719" y="154781"/>
                  </a:moveTo>
                  <a:cubicBezTo>
                    <a:pt x="42290" y="154781"/>
                    <a:pt x="47625" y="149446"/>
                    <a:pt x="47625" y="142875"/>
                  </a:cubicBezTo>
                  <a:cubicBezTo>
                    <a:pt x="47625" y="136304"/>
                    <a:pt x="42290" y="130969"/>
                    <a:pt x="35719" y="130969"/>
                  </a:cubicBezTo>
                  <a:cubicBezTo>
                    <a:pt x="29148" y="130969"/>
                    <a:pt x="23812" y="136304"/>
                    <a:pt x="23812" y="142875"/>
                  </a:cubicBezTo>
                  <a:cubicBezTo>
                    <a:pt x="23812" y="149446"/>
                    <a:pt x="29148" y="154781"/>
                    <a:pt x="35719" y="15478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13" name="Text 34">
              <a:extLst>
                <a:ext uri="{FF2B5EF4-FFF2-40B4-BE49-F238E27FC236}">
                  <a16:creationId xmlns:a16="http://schemas.microsoft.com/office/drawing/2014/main" id="{78F3C941-A60F-496E-824C-761C1FDBA8F2}"/>
                </a:ext>
              </a:extLst>
            </p:cNvPr>
            <p:cNvSpPr/>
            <p:nvPr/>
          </p:nvSpPr>
          <p:spPr>
            <a:xfrm>
              <a:off x="7277100" y="29813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Логирование действий</a:t>
              </a:r>
              <a:endParaRPr lang="en-US" dirty="0"/>
            </a:p>
          </p:txBody>
        </p:sp>
        <p:sp>
          <p:nvSpPr>
            <p:cNvPr id="214" name="Text 35">
              <a:extLst>
                <a:ext uri="{FF2B5EF4-FFF2-40B4-BE49-F238E27FC236}">
                  <a16:creationId xmlns:a16="http://schemas.microsoft.com/office/drawing/2014/main" id="{167752F7-3219-4121-BE11-8911EDD2A596}"/>
                </a:ext>
              </a:extLst>
            </p:cNvPr>
            <p:cNvSpPr/>
            <p:nvPr/>
          </p:nvSpPr>
          <p:spPr>
            <a:xfrm>
              <a:off x="7277100" y="33242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Полный аудит всех запросов и действий для анализа и контроля</a:t>
              </a:r>
              <a:endParaRPr lang="en-US" dirty="0"/>
            </a:p>
          </p:txBody>
        </p:sp>
        <p:sp>
          <p:nvSpPr>
            <p:cNvPr id="215" name="Shape 36">
              <a:extLst>
                <a:ext uri="{FF2B5EF4-FFF2-40B4-BE49-F238E27FC236}">
                  <a16:creationId xmlns:a16="http://schemas.microsoft.com/office/drawing/2014/main" id="{8A088D3C-BD96-4BBA-BD37-59D6D80E9AA7}"/>
                </a:ext>
              </a:extLst>
            </p:cNvPr>
            <p:cNvSpPr/>
            <p:nvPr/>
          </p:nvSpPr>
          <p:spPr>
            <a:xfrm>
              <a:off x="6457950" y="4124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6" name="Shape 37">
              <a:extLst>
                <a:ext uri="{FF2B5EF4-FFF2-40B4-BE49-F238E27FC236}">
                  <a16:creationId xmlns:a16="http://schemas.microsoft.com/office/drawing/2014/main" id="{2DFF6849-DEDF-4384-8DE9-91D3D69EE342}"/>
                </a:ext>
              </a:extLst>
            </p:cNvPr>
            <p:cNvSpPr/>
            <p:nvPr/>
          </p:nvSpPr>
          <p:spPr>
            <a:xfrm>
              <a:off x="6457950" y="4124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17" name="Shape 38">
              <a:extLst>
                <a:ext uri="{FF2B5EF4-FFF2-40B4-BE49-F238E27FC236}">
                  <a16:creationId xmlns:a16="http://schemas.microsoft.com/office/drawing/2014/main" id="{2218008B-8DED-4180-83CE-961BF248FF08}"/>
                </a:ext>
              </a:extLst>
            </p:cNvPr>
            <p:cNvSpPr/>
            <p:nvPr/>
          </p:nvSpPr>
          <p:spPr>
            <a:xfrm>
              <a:off x="6667500" y="4314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18" name="Shape 39">
              <a:extLst>
                <a:ext uri="{FF2B5EF4-FFF2-40B4-BE49-F238E27FC236}">
                  <a16:creationId xmlns:a16="http://schemas.microsoft.com/office/drawing/2014/main" id="{E096EDDF-8EC1-4FFE-85A4-CAB296CCB700}"/>
                </a:ext>
              </a:extLst>
            </p:cNvPr>
            <p:cNvSpPr/>
            <p:nvPr/>
          </p:nvSpPr>
          <p:spPr>
            <a:xfrm>
              <a:off x="6800850" y="44481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25016" y="130969"/>
                  </a:moveTo>
                  <a:cubicBezTo>
                    <a:pt x="161181" y="130969"/>
                    <a:pt x="190500" y="101650"/>
                    <a:pt x="190500" y="65484"/>
                  </a:cubicBezTo>
                  <a:cubicBezTo>
                    <a:pt x="190500" y="29319"/>
                    <a:pt x="161181" y="0"/>
                    <a:pt x="125016" y="0"/>
                  </a:cubicBezTo>
                  <a:cubicBezTo>
                    <a:pt x="88850" y="0"/>
                    <a:pt x="59531" y="29319"/>
                    <a:pt x="59531" y="65484"/>
                  </a:cubicBezTo>
                  <a:cubicBezTo>
                    <a:pt x="59531" y="72442"/>
                    <a:pt x="60610" y="79177"/>
                    <a:pt x="62619" y="85465"/>
                  </a:cubicBezTo>
                  <a:lnTo>
                    <a:pt x="2604" y="145479"/>
                  </a:lnTo>
                  <a:cubicBezTo>
                    <a:pt x="930" y="147154"/>
                    <a:pt x="0" y="149423"/>
                    <a:pt x="0" y="151805"/>
                  </a:cubicBezTo>
                  <a:lnTo>
                    <a:pt x="0" y="181570"/>
                  </a:lnTo>
                  <a:cubicBezTo>
                    <a:pt x="0" y="186519"/>
                    <a:pt x="3981" y="190500"/>
                    <a:pt x="8930" y="190500"/>
                  </a:cubicBezTo>
                  <a:lnTo>
                    <a:pt x="38695" y="190500"/>
                  </a:lnTo>
                  <a:cubicBezTo>
                    <a:pt x="43644" y="190500"/>
                    <a:pt x="47625" y="186519"/>
                    <a:pt x="47625" y="181570"/>
                  </a:cubicBezTo>
                  <a:lnTo>
                    <a:pt x="47625" y="166688"/>
                  </a:lnTo>
                  <a:lnTo>
                    <a:pt x="62508" y="166688"/>
                  </a:lnTo>
                  <a:cubicBezTo>
                    <a:pt x="67456" y="166688"/>
                    <a:pt x="71438" y="162706"/>
                    <a:pt x="71438" y="157758"/>
                  </a:cubicBezTo>
                  <a:lnTo>
                    <a:pt x="71438" y="142875"/>
                  </a:lnTo>
                  <a:lnTo>
                    <a:pt x="86320" y="142875"/>
                  </a:lnTo>
                  <a:cubicBezTo>
                    <a:pt x="88702" y="142875"/>
                    <a:pt x="90971" y="141945"/>
                    <a:pt x="92646" y="140271"/>
                  </a:cubicBezTo>
                  <a:lnTo>
                    <a:pt x="105035" y="127881"/>
                  </a:lnTo>
                  <a:cubicBezTo>
                    <a:pt x="111323" y="129890"/>
                    <a:pt x="118058" y="130969"/>
                    <a:pt x="125016" y="130969"/>
                  </a:cubicBezTo>
                  <a:close/>
                  <a:moveTo>
                    <a:pt x="139898" y="35719"/>
                  </a:moveTo>
                  <a:cubicBezTo>
                    <a:pt x="148112" y="35719"/>
                    <a:pt x="154781" y="42388"/>
                    <a:pt x="154781" y="50602"/>
                  </a:cubicBezTo>
                  <a:cubicBezTo>
                    <a:pt x="154781" y="58816"/>
                    <a:pt x="148112" y="65484"/>
                    <a:pt x="139898" y="65484"/>
                  </a:cubicBezTo>
                  <a:cubicBezTo>
                    <a:pt x="131684" y="65484"/>
                    <a:pt x="125016" y="58816"/>
                    <a:pt x="125016" y="50602"/>
                  </a:cubicBezTo>
                  <a:cubicBezTo>
                    <a:pt x="125016" y="42388"/>
                    <a:pt x="131684" y="35719"/>
                    <a:pt x="139898" y="35719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19" name="Text 40">
              <a:extLst>
                <a:ext uri="{FF2B5EF4-FFF2-40B4-BE49-F238E27FC236}">
                  <a16:creationId xmlns:a16="http://schemas.microsoft.com/office/drawing/2014/main" id="{C7783A9D-A0D3-4E8B-892C-DFDF0423FA9B}"/>
                </a:ext>
              </a:extLst>
            </p:cNvPr>
            <p:cNvSpPr/>
            <p:nvPr/>
          </p:nvSpPr>
          <p:spPr>
            <a:xfrm>
              <a:off x="7277100" y="4314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Права доступа</a:t>
              </a:r>
              <a:endParaRPr lang="en-US" dirty="0"/>
            </a:p>
          </p:txBody>
        </p:sp>
        <p:sp>
          <p:nvSpPr>
            <p:cNvPr id="220" name="Text 41">
              <a:extLst>
                <a:ext uri="{FF2B5EF4-FFF2-40B4-BE49-F238E27FC236}">
                  <a16:creationId xmlns:a16="http://schemas.microsoft.com/office/drawing/2014/main" id="{2A3E864C-1295-4C58-883F-2D933ACFD24C}"/>
                </a:ext>
              </a:extLst>
            </p:cNvPr>
            <p:cNvSpPr/>
            <p:nvPr/>
          </p:nvSpPr>
          <p:spPr>
            <a:xfrm>
              <a:off x="7277100" y="4657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Учет прав пользователя 1С — ассистент видит только разрешенные данные</a:t>
              </a:r>
              <a:endParaRPr lang="en-US" dirty="0"/>
            </a:p>
          </p:txBody>
        </p:sp>
      </p:grpSp>
      <p:grpSp>
        <p:nvGrpSpPr>
          <p:cNvPr id="221" name="Группа 220">
            <a:extLst>
              <a:ext uri="{FF2B5EF4-FFF2-40B4-BE49-F238E27FC236}">
                <a16:creationId xmlns:a16="http://schemas.microsoft.com/office/drawing/2014/main" id="{5CBB9F44-064E-48E5-A427-3EC87FFFCA12}"/>
              </a:ext>
            </a:extLst>
          </p:cNvPr>
          <p:cNvGrpSpPr/>
          <p:nvPr/>
        </p:nvGrpSpPr>
        <p:grpSpPr>
          <a:xfrm>
            <a:off x="381000" y="8058150"/>
            <a:ext cx="11430000" cy="666750"/>
            <a:chOff x="381000" y="5810250"/>
            <a:chExt cx="11430000" cy="666750"/>
          </a:xfrm>
        </p:grpSpPr>
        <p:sp>
          <p:nvSpPr>
            <p:cNvPr id="222" name="Shape 42">
              <a:extLst>
                <a:ext uri="{FF2B5EF4-FFF2-40B4-BE49-F238E27FC236}">
                  <a16:creationId xmlns:a16="http://schemas.microsoft.com/office/drawing/2014/main" id="{A6186550-807A-47D5-86F5-9B16D80B5D69}"/>
                </a:ext>
              </a:extLst>
            </p:cNvPr>
            <p:cNvSpPr/>
            <p:nvPr/>
          </p:nvSpPr>
          <p:spPr>
            <a:xfrm>
              <a:off x="381000" y="5810250"/>
              <a:ext cx="11430000" cy="666750"/>
            </a:xfrm>
            <a:custGeom>
              <a:avLst/>
              <a:gdLst/>
              <a:ahLst/>
              <a:cxnLst/>
              <a:rect l="l" t="t" r="r" b="b"/>
              <a:pathLst>
                <a:path w="11430000" h="666750">
                  <a:moveTo>
                    <a:pt x="152399" y="0"/>
                  </a:moveTo>
                  <a:lnTo>
                    <a:pt x="11277601" y="0"/>
                  </a:lnTo>
                  <a:cubicBezTo>
                    <a:pt x="11361769" y="0"/>
                    <a:pt x="11430000" y="68231"/>
                    <a:pt x="11430000" y="152399"/>
                  </a:cubicBezTo>
                  <a:lnTo>
                    <a:pt x="11430000" y="514351"/>
                  </a:lnTo>
                  <a:cubicBezTo>
                    <a:pt x="11430000" y="598519"/>
                    <a:pt x="11361769" y="666750"/>
                    <a:pt x="11277601" y="666750"/>
                  </a:cubicBezTo>
                  <a:lnTo>
                    <a:pt x="152399" y="666750"/>
                  </a:lnTo>
                  <a:cubicBezTo>
                    <a:pt x="68288" y="666750"/>
                    <a:pt x="0" y="598462"/>
                    <a:pt x="0" y="514351"/>
                  </a:cubicBezTo>
                  <a:lnTo>
                    <a:pt x="0" y="152399"/>
                  </a:lnTo>
                  <a:cubicBezTo>
                    <a:pt x="0" y="68288"/>
                    <a:pt x="68288" y="0"/>
                    <a:pt x="1523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3" name="Shape 43">
              <a:extLst>
                <a:ext uri="{FF2B5EF4-FFF2-40B4-BE49-F238E27FC236}">
                  <a16:creationId xmlns:a16="http://schemas.microsoft.com/office/drawing/2014/main" id="{252A0E61-CC5B-48BF-A4C1-A34C3DEBA2C1}"/>
                </a:ext>
              </a:extLst>
            </p:cNvPr>
            <p:cNvSpPr/>
            <p:nvPr/>
          </p:nvSpPr>
          <p:spPr>
            <a:xfrm>
              <a:off x="2909887" y="6000750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71438" y="53578"/>
                  </a:moveTo>
                  <a:lnTo>
                    <a:pt x="71438" y="89297"/>
                  </a:lnTo>
                  <a:lnTo>
                    <a:pt x="142875" y="89297"/>
                  </a:lnTo>
                  <a:lnTo>
                    <a:pt x="142875" y="53578"/>
                  </a:lnTo>
                  <a:cubicBezTo>
                    <a:pt x="142875" y="33877"/>
                    <a:pt x="126857" y="17859"/>
                    <a:pt x="107156" y="17859"/>
                  </a:cubicBezTo>
                  <a:cubicBezTo>
                    <a:pt x="87455" y="17859"/>
                    <a:pt x="71438" y="33877"/>
                    <a:pt x="71438" y="53578"/>
                  </a:cubicBezTo>
                  <a:close/>
                  <a:moveTo>
                    <a:pt x="35719" y="89297"/>
                  </a:moveTo>
                  <a:lnTo>
                    <a:pt x="35719" y="53578"/>
                  </a:lnTo>
                  <a:cubicBezTo>
                    <a:pt x="35719" y="14120"/>
                    <a:pt x="67698" y="-17859"/>
                    <a:pt x="107156" y="-17859"/>
                  </a:cubicBezTo>
                  <a:cubicBezTo>
                    <a:pt x="146614" y="-17859"/>
                    <a:pt x="178594" y="14120"/>
                    <a:pt x="178594" y="53578"/>
                  </a:cubicBezTo>
                  <a:lnTo>
                    <a:pt x="178594" y="89297"/>
                  </a:lnTo>
                  <a:cubicBezTo>
                    <a:pt x="198295" y="89297"/>
                    <a:pt x="214313" y="105315"/>
                    <a:pt x="214313" y="125016"/>
                  </a:cubicBezTo>
                  <a:lnTo>
                    <a:pt x="214313" y="250031"/>
                  </a:lnTo>
                  <a:cubicBezTo>
                    <a:pt x="214313" y="269732"/>
                    <a:pt x="198295" y="285750"/>
                    <a:pt x="178594" y="285750"/>
                  </a:cubicBezTo>
                  <a:lnTo>
                    <a:pt x="35719" y="285750"/>
                  </a:lnTo>
                  <a:cubicBezTo>
                    <a:pt x="16018" y="285750"/>
                    <a:pt x="0" y="269732"/>
                    <a:pt x="0" y="250031"/>
                  </a:cubicBezTo>
                  <a:lnTo>
                    <a:pt x="0" y="125016"/>
                  </a:lnTo>
                  <a:cubicBezTo>
                    <a:pt x="0" y="105315"/>
                    <a:pt x="16018" y="89297"/>
                    <a:pt x="35719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24" name="Text 44">
              <a:extLst>
                <a:ext uri="{FF2B5EF4-FFF2-40B4-BE49-F238E27FC236}">
                  <a16:creationId xmlns:a16="http://schemas.microsoft.com/office/drawing/2014/main" id="{1B5E9538-854D-4931-B71B-E9BF8A3B0464}"/>
                </a:ext>
              </a:extLst>
            </p:cNvPr>
            <p:cNvSpPr/>
            <p:nvPr/>
          </p:nvSpPr>
          <p:spPr>
            <a:xfrm>
              <a:off x="4143374" y="5991225"/>
              <a:ext cx="531495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Многоуровневая защита данных и операций</a:t>
              </a:r>
              <a:endParaRPr lang="en-US" dirty="0"/>
            </a:p>
          </p:txBody>
        </p:sp>
        <p:sp>
          <p:nvSpPr>
            <p:cNvPr id="225" name="Shape 45">
              <a:extLst>
                <a:ext uri="{FF2B5EF4-FFF2-40B4-BE49-F238E27FC236}">
                  <a16:creationId xmlns:a16="http://schemas.microsoft.com/office/drawing/2014/main" id="{E081A64E-61F6-4C28-AE0B-607FF18D4B26}"/>
                </a:ext>
              </a:extLst>
            </p:cNvPr>
            <p:cNvSpPr/>
            <p:nvPr/>
          </p:nvSpPr>
          <p:spPr>
            <a:xfrm>
              <a:off x="9265443" y="6010275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71438" y="53578"/>
                  </a:moveTo>
                  <a:lnTo>
                    <a:pt x="71438" y="89297"/>
                  </a:lnTo>
                  <a:lnTo>
                    <a:pt x="142875" y="89297"/>
                  </a:lnTo>
                  <a:lnTo>
                    <a:pt x="142875" y="53578"/>
                  </a:lnTo>
                  <a:cubicBezTo>
                    <a:pt x="142875" y="33877"/>
                    <a:pt x="126857" y="17859"/>
                    <a:pt x="107156" y="17859"/>
                  </a:cubicBezTo>
                  <a:cubicBezTo>
                    <a:pt x="87455" y="17859"/>
                    <a:pt x="71438" y="33877"/>
                    <a:pt x="71438" y="53578"/>
                  </a:cubicBezTo>
                  <a:close/>
                  <a:moveTo>
                    <a:pt x="35719" y="89297"/>
                  </a:moveTo>
                  <a:lnTo>
                    <a:pt x="35719" y="53578"/>
                  </a:lnTo>
                  <a:cubicBezTo>
                    <a:pt x="35719" y="14120"/>
                    <a:pt x="67698" y="-17859"/>
                    <a:pt x="107156" y="-17859"/>
                  </a:cubicBezTo>
                  <a:cubicBezTo>
                    <a:pt x="146614" y="-17859"/>
                    <a:pt x="178594" y="14120"/>
                    <a:pt x="178594" y="53578"/>
                  </a:cubicBezTo>
                  <a:lnTo>
                    <a:pt x="178594" y="89297"/>
                  </a:lnTo>
                  <a:cubicBezTo>
                    <a:pt x="198295" y="89297"/>
                    <a:pt x="214313" y="105315"/>
                    <a:pt x="214313" y="125016"/>
                  </a:cubicBezTo>
                  <a:lnTo>
                    <a:pt x="214313" y="250031"/>
                  </a:lnTo>
                  <a:cubicBezTo>
                    <a:pt x="214313" y="269732"/>
                    <a:pt x="198295" y="285750"/>
                    <a:pt x="178594" y="285750"/>
                  </a:cubicBezTo>
                  <a:lnTo>
                    <a:pt x="35719" y="285750"/>
                  </a:lnTo>
                  <a:cubicBezTo>
                    <a:pt x="16018" y="285750"/>
                    <a:pt x="0" y="269732"/>
                    <a:pt x="0" y="250031"/>
                  </a:cubicBezTo>
                  <a:lnTo>
                    <a:pt x="0" y="125016"/>
                  </a:lnTo>
                  <a:cubicBezTo>
                    <a:pt x="0" y="105315"/>
                    <a:pt x="16018" y="89297"/>
                    <a:pt x="35719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>
            <a:extLst>
              <a:ext uri="{FF2B5EF4-FFF2-40B4-BE49-F238E27FC236}">
                <a16:creationId xmlns:a16="http://schemas.microsoft.com/office/drawing/2014/main" id="{0A7C0E6E-CE96-48D2-B5EA-F84F8D3E354E}"/>
              </a:ext>
            </a:extLst>
          </p:cNvPr>
          <p:cNvSpPr/>
          <p:nvPr/>
        </p:nvSpPr>
        <p:spPr>
          <a:xfrm>
            <a:off x="-50673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1">
            <a:extLst>
              <a:ext uri="{FF2B5EF4-FFF2-40B4-BE49-F238E27FC236}">
                <a16:creationId xmlns:a16="http://schemas.microsoft.com/office/drawing/2014/main" id="{BEB9FE8B-88C5-4245-A139-70D119AFE930}"/>
              </a:ext>
            </a:extLst>
          </p:cNvPr>
          <p:cNvSpPr/>
          <p:nvPr/>
        </p:nvSpPr>
        <p:spPr>
          <a:xfrm>
            <a:off x="-4900612" y="533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6D01B480-C87A-4717-A579-6452F93270F4}"/>
              </a:ext>
            </a:extLst>
          </p:cNvPr>
          <p:cNvSpPr/>
          <p:nvPr/>
        </p:nvSpPr>
        <p:spPr>
          <a:xfrm>
            <a:off x="-4381500" y="400050"/>
            <a:ext cx="4124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RAG по метаданным 1С</a:t>
            </a:r>
            <a:endParaRPr lang="en-US" sz="1600" dirty="0"/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B8391173-3AE3-4A65-9699-7FBA04B1C090}"/>
              </a:ext>
            </a:extLst>
          </p:cNvPr>
          <p:cNvSpPr/>
          <p:nvPr/>
        </p:nvSpPr>
        <p:spPr>
          <a:xfrm>
            <a:off x="-4638515" y="857249"/>
            <a:ext cx="4228940" cy="45719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6CDD2F27-BC6F-4D7A-B9FD-19EDB2936DF2}"/>
              </a:ext>
            </a:extLst>
          </p:cNvPr>
          <p:cNvSpPr/>
          <p:nvPr/>
        </p:nvSpPr>
        <p:spPr>
          <a:xfrm>
            <a:off x="12670313" y="28336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12</a:t>
            </a:r>
            <a:endParaRPr lang="en-US" sz="1600" dirty="0"/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16CE2AE2-D8D2-4669-A38C-EF703B2E05B1}"/>
              </a:ext>
            </a:extLst>
          </p:cNvPr>
          <p:cNvGrpSpPr/>
          <p:nvPr/>
        </p:nvGrpSpPr>
        <p:grpSpPr>
          <a:xfrm>
            <a:off x="381000" y="7543800"/>
            <a:ext cx="5600700" cy="4305300"/>
            <a:chOff x="381000" y="1143000"/>
            <a:chExt cx="5600700" cy="4305300"/>
          </a:xfrm>
        </p:grpSpPr>
        <p:sp>
          <p:nvSpPr>
            <p:cNvPr id="60" name="Shape 4">
              <a:extLst>
                <a:ext uri="{FF2B5EF4-FFF2-40B4-BE49-F238E27FC236}">
                  <a16:creationId xmlns:a16="http://schemas.microsoft.com/office/drawing/2014/main" id="{1020814B-2E8C-4B21-A138-5E336AF0D813}"/>
                </a:ext>
              </a:extLst>
            </p:cNvPr>
            <p:cNvSpPr/>
            <p:nvPr/>
          </p:nvSpPr>
          <p:spPr>
            <a:xfrm>
              <a:off x="381000" y="1143000"/>
              <a:ext cx="5600700" cy="4305300"/>
            </a:xfrm>
            <a:custGeom>
              <a:avLst/>
              <a:gdLst/>
              <a:ahLst/>
              <a:cxnLst/>
              <a:rect l="l" t="t" r="r" b="b"/>
              <a:pathLst>
                <a:path w="5600700" h="4305300">
                  <a:moveTo>
                    <a:pt x="152408" y="0"/>
                  </a:moveTo>
                  <a:lnTo>
                    <a:pt x="5448292" y="0"/>
                  </a:lnTo>
                  <a:cubicBezTo>
                    <a:pt x="5532465" y="0"/>
                    <a:pt x="5600700" y="68235"/>
                    <a:pt x="5600700" y="152408"/>
                  </a:cubicBezTo>
                  <a:lnTo>
                    <a:pt x="5600700" y="4152892"/>
                  </a:lnTo>
                  <a:cubicBezTo>
                    <a:pt x="5600700" y="4237065"/>
                    <a:pt x="5532465" y="4305300"/>
                    <a:pt x="5448292" y="4305300"/>
                  </a:cubicBezTo>
                  <a:lnTo>
                    <a:pt x="152408" y="4305300"/>
                  </a:lnTo>
                  <a:cubicBezTo>
                    <a:pt x="68235" y="4305300"/>
                    <a:pt x="0" y="4237065"/>
                    <a:pt x="0" y="41528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5701D279-0F5E-47C1-A802-AA2D6D722957}"/>
                </a:ext>
              </a:extLst>
            </p:cNvPr>
            <p:cNvSpPr/>
            <p:nvPr/>
          </p:nvSpPr>
          <p:spPr>
            <a:xfrm>
              <a:off x="6096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2" name="Shape 6">
              <a:extLst>
                <a:ext uri="{FF2B5EF4-FFF2-40B4-BE49-F238E27FC236}">
                  <a16:creationId xmlns:a16="http://schemas.microsoft.com/office/drawing/2014/main" id="{3546BBAB-03E3-4C13-A453-1DAC82D301CF}"/>
                </a:ext>
              </a:extLst>
            </p:cNvPr>
            <p:cNvSpPr/>
            <p:nvPr/>
          </p:nvSpPr>
          <p:spPr>
            <a:xfrm>
              <a:off x="7429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00719" y="0"/>
                    <a:pt x="105742" y="3014"/>
                    <a:pt x="108347" y="7813"/>
                  </a:cubicBezTo>
                  <a:lnTo>
                    <a:pt x="188714" y="156642"/>
                  </a:lnTo>
                  <a:cubicBezTo>
                    <a:pt x="191207" y="161255"/>
                    <a:pt x="191095" y="166836"/>
                    <a:pt x="188416" y="171338"/>
                  </a:cubicBezTo>
                  <a:cubicBezTo>
                    <a:pt x="185737" y="175840"/>
                    <a:pt x="180863" y="178594"/>
                    <a:pt x="175617" y="178594"/>
                  </a:cubicBezTo>
                  <a:lnTo>
                    <a:pt x="14883" y="178594"/>
                  </a:lnTo>
                  <a:cubicBezTo>
                    <a:pt x="9637" y="178594"/>
                    <a:pt x="4800" y="175840"/>
                    <a:pt x="2084" y="171338"/>
                  </a:cubicBezTo>
                  <a:cubicBezTo>
                    <a:pt x="-633" y="166836"/>
                    <a:pt x="-707" y="161255"/>
                    <a:pt x="1786" y="156642"/>
                  </a:cubicBezTo>
                  <a:lnTo>
                    <a:pt x="82153" y="7813"/>
                  </a:lnTo>
                  <a:cubicBezTo>
                    <a:pt x="84758" y="3014"/>
                    <a:pt x="89781" y="0"/>
                    <a:pt x="95250" y="0"/>
                  </a:cubicBezTo>
                  <a:close/>
                  <a:moveTo>
                    <a:pt x="95250" y="62508"/>
                  </a:moveTo>
                  <a:cubicBezTo>
                    <a:pt x="90301" y="62508"/>
                    <a:pt x="86320" y="66489"/>
                    <a:pt x="86320" y="71438"/>
                  </a:cubicBezTo>
                  <a:lnTo>
                    <a:pt x="86320" y="113109"/>
                  </a:lnTo>
                  <a:cubicBezTo>
                    <a:pt x="86320" y="118058"/>
                    <a:pt x="90301" y="122039"/>
                    <a:pt x="95250" y="122039"/>
                  </a:cubicBezTo>
                  <a:cubicBezTo>
                    <a:pt x="100199" y="122039"/>
                    <a:pt x="104180" y="118058"/>
                    <a:pt x="104180" y="113109"/>
                  </a:cubicBezTo>
                  <a:lnTo>
                    <a:pt x="104180" y="71438"/>
                  </a:lnTo>
                  <a:cubicBezTo>
                    <a:pt x="104180" y="66489"/>
                    <a:pt x="100199" y="62508"/>
                    <a:pt x="95250" y="62508"/>
                  </a:cubicBezTo>
                  <a:close/>
                  <a:moveTo>
                    <a:pt x="105184" y="142875"/>
                  </a:moveTo>
                  <a:cubicBezTo>
                    <a:pt x="105410" y="139188"/>
                    <a:pt x="103571" y="135679"/>
                    <a:pt x="100410" y="133767"/>
                  </a:cubicBezTo>
                  <a:cubicBezTo>
                    <a:pt x="97249" y="131855"/>
                    <a:pt x="93288" y="131855"/>
                    <a:pt x="90127" y="133767"/>
                  </a:cubicBezTo>
                  <a:cubicBezTo>
                    <a:pt x="86966" y="135679"/>
                    <a:pt x="85127" y="139188"/>
                    <a:pt x="85353" y="142875"/>
                  </a:cubicBezTo>
                  <a:cubicBezTo>
                    <a:pt x="85127" y="146562"/>
                    <a:pt x="86966" y="150071"/>
                    <a:pt x="90127" y="151983"/>
                  </a:cubicBezTo>
                  <a:cubicBezTo>
                    <a:pt x="93288" y="153895"/>
                    <a:pt x="97249" y="153895"/>
                    <a:pt x="100410" y="151983"/>
                  </a:cubicBezTo>
                  <a:cubicBezTo>
                    <a:pt x="103571" y="150071"/>
                    <a:pt x="105410" y="146562"/>
                    <a:pt x="105184" y="14287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63" name="Text 7">
              <a:extLst>
                <a:ext uri="{FF2B5EF4-FFF2-40B4-BE49-F238E27FC236}">
                  <a16:creationId xmlns:a16="http://schemas.microsoft.com/office/drawing/2014/main" id="{84CA6FF8-C1D4-4503-B3F4-AE62D7BC18EC}"/>
                </a:ext>
              </a:extLst>
            </p:cNvPr>
            <p:cNvSpPr/>
            <p:nvPr/>
          </p:nvSpPr>
          <p:spPr>
            <a:xfrm>
              <a:off x="1181100" y="1447800"/>
              <a:ext cx="29051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Проблема галлюцинаций</a:t>
              </a:r>
              <a:endParaRPr lang="en-US" sz="1600" dirty="0"/>
            </a:p>
          </p:txBody>
        </p:sp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742F21A6-8B99-498B-AE3B-D8915FF07BF3}"/>
                </a:ext>
              </a:extLst>
            </p:cNvPr>
            <p:cNvGrpSpPr/>
            <p:nvPr/>
          </p:nvGrpSpPr>
          <p:grpSpPr>
            <a:xfrm>
              <a:off x="619285" y="2106143"/>
              <a:ext cx="5143500" cy="1028700"/>
              <a:chOff x="619285" y="2307287"/>
              <a:chExt cx="5143500" cy="1028700"/>
            </a:xfrm>
          </p:grpSpPr>
          <p:sp>
            <p:nvSpPr>
              <p:cNvPr id="73" name="Shape 8">
                <a:extLst>
                  <a:ext uri="{FF2B5EF4-FFF2-40B4-BE49-F238E27FC236}">
                    <a16:creationId xmlns:a16="http://schemas.microsoft.com/office/drawing/2014/main" id="{CB7E6300-3CB6-4266-B0B1-8C24B0FC3232}"/>
                  </a:ext>
                </a:extLst>
              </p:cNvPr>
              <p:cNvSpPr/>
              <p:nvPr/>
            </p:nvSpPr>
            <p:spPr>
              <a:xfrm>
                <a:off x="619285" y="2307287"/>
                <a:ext cx="5143500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028700">
                    <a:moveTo>
                      <a:pt x="114299" y="0"/>
                    </a:moveTo>
                    <a:lnTo>
                      <a:pt x="5029201" y="0"/>
                    </a:lnTo>
                    <a:cubicBezTo>
                      <a:pt x="5092327" y="0"/>
                      <a:pt x="5143500" y="51173"/>
                      <a:pt x="5143500" y="114299"/>
                    </a:cubicBezTo>
                    <a:lnTo>
                      <a:pt x="5143500" y="914401"/>
                    </a:lnTo>
                    <a:cubicBezTo>
                      <a:pt x="5143500" y="977527"/>
                      <a:pt x="5092327" y="1028700"/>
                      <a:pt x="5029201" y="1028700"/>
                    </a:cubicBezTo>
                    <a:lnTo>
                      <a:pt x="114299" y="1028700"/>
                    </a:lnTo>
                    <a:cubicBezTo>
                      <a:pt x="51173" y="1028700"/>
                      <a:pt x="0" y="977527"/>
                      <a:pt x="0" y="914401"/>
                    </a:cubicBezTo>
                    <a:lnTo>
                      <a:pt x="0" y="114299"/>
                    </a:lnTo>
                    <a:cubicBezTo>
                      <a:pt x="0" y="51173"/>
                      <a:pt x="51173" y="0"/>
                      <a:pt x="1142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74" name="Shape 9">
                <a:extLst>
                  <a:ext uri="{FF2B5EF4-FFF2-40B4-BE49-F238E27FC236}">
                    <a16:creationId xmlns:a16="http://schemas.microsoft.com/office/drawing/2014/main" id="{098D0E04-EF44-404B-A42D-E009F102D3EE}"/>
                  </a:ext>
                </a:extLst>
              </p:cNvPr>
              <p:cNvSpPr/>
              <p:nvPr/>
            </p:nvSpPr>
            <p:spPr>
              <a:xfrm>
                <a:off x="771685" y="2497787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62136" y="62136"/>
                    </a:moveTo>
                    <a:cubicBezTo>
                      <a:pt x="65633" y="58638"/>
                      <a:pt x="71289" y="58638"/>
                      <a:pt x="74749" y="62136"/>
                    </a:cubicBezTo>
                    <a:lnTo>
                      <a:pt x="95213" y="82600"/>
                    </a:lnTo>
                    <a:lnTo>
                      <a:pt x="115677" y="62136"/>
                    </a:lnTo>
                    <a:cubicBezTo>
                      <a:pt x="119174" y="58638"/>
                      <a:pt x="124830" y="58638"/>
                      <a:pt x="128290" y="62136"/>
                    </a:cubicBezTo>
                    <a:cubicBezTo>
                      <a:pt x="131750" y="65633"/>
                      <a:pt x="131787" y="71289"/>
                      <a:pt x="128290" y="74749"/>
                    </a:cubicBezTo>
                    <a:lnTo>
                      <a:pt x="107826" y="95213"/>
                    </a:lnTo>
                    <a:lnTo>
                      <a:pt x="128290" y="115677"/>
                    </a:lnTo>
                    <a:cubicBezTo>
                      <a:pt x="131787" y="119174"/>
                      <a:pt x="131787" y="124830"/>
                      <a:pt x="128290" y="128290"/>
                    </a:cubicBezTo>
                    <a:cubicBezTo>
                      <a:pt x="124792" y="131750"/>
                      <a:pt x="119137" y="131787"/>
                      <a:pt x="115677" y="128290"/>
                    </a:cubicBezTo>
                    <a:lnTo>
                      <a:pt x="95213" y="107826"/>
                    </a:lnTo>
                    <a:lnTo>
                      <a:pt x="74749" y="128290"/>
                    </a:lnTo>
                    <a:cubicBezTo>
                      <a:pt x="71251" y="131787"/>
                      <a:pt x="65596" y="131787"/>
                      <a:pt x="62136" y="128290"/>
                    </a:cubicBezTo>
                    <a:cubicBezTo>
                      <a:pt x="58675" y="124792"/>
                      <a:pt x="58638" y="119137"/>
                      <a:pt x="62136" y="115677"/>
                    </a:cubicBezTo>
                    <a:lnTo>
                      <a:pt x="82600" y="95213"/>
                    </a:lnTo>
                    <a:lnTo>
                      <a:pt x="62136" y="74749"/>
                    </a:lnTo>
                    <a:cubicBezTo>
                      <a:pt x="58638" y="71251"/>
                      <a:pt x="58638" y="65596"/>
                      <a:pt x="62136" y="62136"/>
                    </a:cubicBezTo>
                    <a:close/>
                  </a:path>
                </a:pathLst>
              </a:custGeom>
              <a:solidFill>
                <a:srgbClr val="FB2C36"/>
              </a:solidFill>
              <a:ln/>
            </p:spPr>
          </p:sp>
          <p:sp>
            <p:nvSpPr>
              <p:cNvPr id="75" name="Text 10">
                <a:extLst>
                  <a:ext uri="{FF2B5EF4-FFF2-40B4-BE49-F238E27FC236}">
                    <a16:creationId xmlns:a16="http://schemas.microsoft.com/office/drawing/2014/main" id="{11464E24-AC0E-46A1-8822-FCAD30A21A48}"/>
                  </a:ext>
                </a:extLst>
              </p:cNvPr>
              <p:cNvSpPr/>
              <p:nvPr/>
            </p:nvSpPr>
            <p:spPr>
              <a:xfrm>
                <a:off x="1075215" y="2459687"/>
                <a:ext cx="46101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Без RAG</a:t>
                </a:r>
                <a:endParaRPr lang="en-US" sz="2000" dirty="0"/>
              </a:p>
            </p:txBody>
          </p:sp>
          <p:sp>
            <p:nvSpPr>
              <p:cNvPr id="76" name="Text 11">
                <a:extLst>
                  <a:ext uri="{FF2B5EF4-FFF2-40B4-BE49-F238E27FC236}">
                    <a16:creationId xmlns:a16="http://schemas.microsoft.com/office/drawing/2014/main" id="{AF186EA7-AD22-4E39-B419-3DFC294B88DA}"/>
                  </a:ext>
                </a:extLst>
              </p:cNvPr>
              <p:cNvSpPr/>
              <p:nvPr/>
            </p:nvSpPr>
            <p:spPr>
              <a:xfrm>
                <a:off x="1075215" y="2754962"/>
                <a:ext cx="46101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LLM может выдумывать несуществующие объекты и давать неточные ответы</a:t>
                </a:r>
                <a:endParaRPr lang="en-US" sz="2000" dirty="0"/>
              </a:p>
            </p:txBody>
          </p:sp>
        </p:grpSp>
        <p:grpSp>
          <p:nvGrpSpPr>
            <p:cNvPr id="65" name="Группа 64">
              <a:extLst>
                <a:ext uri="{FF2B5EF4-FFF2-40B4-BE49-F238E27FC236}">
                  <a16:creationId xmlns:a16="http://schemas.microsoft.com/office/drawing/2014/main" id="{9D303771-4FA6-4386-857B-FE2C9934686B}"/>
                </a:ext>
              </a:extLst>
            </p:cNvPr>
            <p:cNvGrpSpPr/>
            <p:nvPr/>
          </p:nvGrpSpPr>
          <p:grpSpPr>
            <a:xfrm>
              <a:off x="619285" y="3488387"/>
              <a:ext cx="5143500" cy="1028700"/>
              <a:chOff x="619285" y="3488387"/>
              <a:chExt cx="5143500" cy="102870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A3210E67-3255-43DE-A071-532D8B238940}"/>
                  </a:ext>
                </a:extLst>
              </p:cNvPr>
              <p:cNvSpPr/>
              <p:nvPr/>
            </p:nvSpPr>
            <p:spPr>
              <a:xfrm>
                <a:off x="619285" y="3488387"/>
                <a:ext cx="5143500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028700">
                    <a:moveTo>
                      <a:pt x="114299" y="0"/>
                    </a:moveTo>
                    <a:lnTo>
                      <a:pt x="5029201" y="0"/>
                    </a:lnTo>
                    <a:cubicBezTo>
                      <a:pt x="5092327" y="0"/>
                      <a:pt x="5143500" y="51173"/>
                      <a:pt x="5143500" y="114299"/>
                    </a:cubicBezTo>
                    <a:lnTo>
                      <a:pt x="5143500" y="914401"/>
                    </a:lnTo>
                    <a:cubicBezTo>
                      <a:pt x="5143500" y="977527"/>
                      <a:pt x="5092327" y="1028700"/>
                      <a:pt x="5029201" y="1028700"/>
                    </a:cubicBezTo>
                    <a:lnTo>
                      <a:pt x="114299" y="1028700"/>
                    </a:lnTo>
                    <a:cubicBezTo>
                      <a:pt x="51173" y="1028700"/>
                      <a:pt x="0" y="977527"/>
                      <a:pt x="0" y="914401"/>
                    </a:cubicBezTo>
                    <a:lnTo>
                      <a:pt x="0" y="114299"/>
                    </a:lnTo>
                    <a:cubicBezTo>
                      <a:pt x="0" y="51173"/>
                      <a:pt x="51173" y="0"/>
                      <a:pt x="1142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70" name="Shape 13">
                <a:extLst>
                  <a:ext uri="{FF2B5EF4-FFF2-40B4-BE49-F238E27FC236}">
                    <a16:creationId xmlns:a16="http://schemas.microsoft.com/office/drawing/2014/main" id="{87EB6A53-9662-4219-89C7-38CB5DB48708}"/>
                  </a:ext>
                </a:extLst>
              </p:cNvPr>
              <p:cNvSpPr/>
              <p:nvPr/>
            </p:nvSpPr>
            <p:spPr>
              <a:xfrm>
                <a:off x="781210" y="3678887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190500"/>
                    </a:moveTo>
                    <a:cubicBezTo>
                      <a:pt x="147820" y="190500"/>
                      <a:pt x="190500" y="147820"/>
                      <a:pt x="190500" y="95250"/>
                    </a:cubicBezTo>
                    <a:cubicBezTo>
                      <a:pt x="190500" y="42680"/>
                      <a:pt x="147820" y="0"/>
                      <a:pt x="95250" y="0"/>
                    </a:cubicBezTo>
                    <a:cubicBezTo>
                      <a:pt x="42680" y="0"/>
                      <a:pt x="0" y="42680"/>
                      <a:pt x="0" y="95250"/>
                    </a:cubicBezTo>
                    <a:cubicBezTo>
                      <a:pt x="0" y="147820"/>
                      <a:pt x="42680" y="190500"/>
                      <a:pt x="95250" y="190500"/>
                    </a:cubicBezTo>
                    <a:close/>
                    <a:moveTo>
                      <a:pt x="126653" y="79139"/>
                    </a:moveTo>
                    <a:lnTo>
                      <a:pt x="96887" y="126764"/>
                    </a:lnTo>
                    <a:cubicBezTo>
                      <a:pt x="95324" y="129257"/>
                      <a:pt x="92646" y="130820"/>
                      <a:pt x="89706" y="130969"/>
                    </a:cubicBezTo>
                    <a:cubicBezTo>
                      <a:pt x="86767" y="131118"/>
                      <a:pt x="83939" y="129778"/>
                      <a:pt x="82190" y="127397"/>
                    </a:cubicBezTo>
                    <a:lnTo>
                      <a:pt x="64331" y="103584"/>
                    </a:lnTo>
                    <a:cubicBezTo>
                      <a:pt x="61354" y="99640"/>
                      <a:pt x="62173" y="94059"/>
                      <a:pt x="66117" y="91083"/>
                    </a:cubicBezTo>
                    <a:cubicBezTo>
                      <a:pt x="70061" y="88106"/>
                      <a:pt x="75642" y="88925"/>
                      <a:pt x="78618" y="92869"/>
                    </a:cubicBezTo>
                    <a:lnTo>
                      <a:pt x="88664" y="106263"/>
                    </a:lnTo>
                    <a:lnTo>
                      <a:pt x="111509" y="69689"/>
                    </a:lnTo>
                    <a:cubicBezTo>
                      <a:pt x="114114" y="65522"/>
                      <a:pt x="119621" y="64219"/>
                      <a:pt x="123825" y="66861"/>
                    </a:cubicBezTo>
                    <a:cubicBezTo>
                      <a:pt x="128029" y="69503"/>
                      <a:pt x="129294" y="74972"/>
                      <a:pt x="126653" y="79177"/>
                    </a:cubicBezTo>
                    <a:close/>
                  </a:path>
                </a:pathLst>
              </a:custGeom>
              <a:solidFill>
                <a:srgbClr val="00C950"/>
              </a:solidFill>
              <a:ln/>
            </p:spPr>
          </p:sp>
          <p:sp>
            <p:nvSpPr>
              <p:cNvPr id="71" name="Text 14">
                <a:extLst>
                  <a:ext uri="{FF2B5EF4-FFF2-40B4-BE49-F238E27FC236}">
                    <a16:creationId xmlns:a16="http://schemas.microsoft.com/office/drawing/2014/main" id="{67F6691D-68FE-4AEF-9A9C-4CA22B0E352E}"/>
                  </a:ext>
                </a:extLst>
              </p:cNvPr>
              <p:cNvSpPr/>
              <p:nvPr/>
            </p:nvSpPr>
            <p:spPr>
              <a:xfrm>
                <a:off x="1096011" y="3640787"/>
                <a:ext cx="459105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 RAG</a:t>
                </a:r>
                <a:endParaRPr lang="en-US" sz="2000" dirty="0"/>
              </a:p>
            </p:txBody>
          </p:sp>
          <p:sp>
            <p:nvSpPr>
              <p:cNvPr id="72" name="Text 15">
                <a:extLst>
                  <a:ext uri="{FF2B5EF4-FFF2-40B4-BE49-F238E27FC236}">
                    <a16:creationId xmlns:a16="http://schemas.microsoft.com/office/drawing/2014/main" id="{44925275-D40D-4892-9FC2-1282C79F6FF2}"/>
                  </a:ext>
                </a:extLst>
              </p:cNvPr>
              <p:cNvSpPr/>
              <p:nvPr/>
            </p:nvSpPr>
            <p:spPr>
              <a:xfrm>
                <a:off x="1096011" y="3926537"/>
                <a:ext cx="459105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dirty="0">
                    <a:solidFill>
                      <a:srgbClr val="4A4A4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Модель получает только реальные метаданные 1С из векторной базы</a:t>
                </a:r>
                <a:endParaRPr lang="en-US" sz="2000" dirty="0"/>
              </a:p>
            </p:txBody>
          </p:sp>
        </p:grpSp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AFC15FC8-4742-4351-B22E-F4333D109A01}"/>
                </a:ext>
              </a:extLst>
            </p:cNvPr>
            <p:cNvGrpSpPr/>
            <p:nvPr/>
          </p:nvGrpSpPr>
          <p:grpSpPr>
            <a:xfrm>
              <a:off x="623899" y="4693094"/>
              <a:ext cx="5143500" cy="533400"/>
              <a:chOff x="623899" y="4693094"/>
              <a:chExt cx="5143500" cy="533400"/>
            </a:xfrm>
          </p:grpSpPr>
          <p:sp>
            <p:nvSpPr>
              <p:cNvPr id="67" name="Shape 16">
                <a:extLst>
                  <a:ext uri="{FF2B5EF4-FFF2-40B4-BE49-F238E27FC236}">
                    <a16:creationId xmlns:a16="http://schemas.microsoft.com/office/drawing/2014/main" id="{B5A8C46B-02DA-4335-9230-E5D9C0190D04}"/>
                  </a:ext>
                </a:extLst>
              </p:cNvPr>
              <p:cNvSpPr/>
              <p:nvPr/>
            </p:nvSpPr>
            <p:spPr>
              <a:xfrm>
                <a:off x="623899" y="4693094"/>
                <a:ext cx="51435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68" name="Text 17">
                <a:extLst>
                  <a:ext uri="{FF2B5EF4-FFF2-40B4-BE49-F238E27FC236}">
                    <a16:creationId xmlns:a16="http://schemas.microsoft.com/office/drawing/2014/main" id="{2B9068AD-2A15-405F-926C-F011B2DB4D3B}"/>
                  </a:ext>
                </a:extLst>
              </p:cNvPr>
              <p:cNvSpPr/>
              <p:nvPr/>
            </p:nvSpPr>
            <p:spPr>
              <a:xfrm>
                <a:off x="738199" y="4845494"/>
                <a:ext cx="4914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Точность ответов повышается с 60% до 95%</a:t>
                </a:r>
                <a:endParaRPr lang="en-US" sz="2000" dirty="0"/>
              </a:p>
            </p:txBody>
          </p:sp>
        </p:grpSp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11B48A84-6195-42E6-9203-25E4C63D9859}"/>
              </a:ext>
            </a:extLst>
          </p:cNvPr>
          <p:cNvGrpSpPr/>
          <p:nvPr/>
        </p:nvGrpSpPr>
        <p:grpSpPr>
          <a:xfrm>
            <a:off x="6210300" y="7543800"/>
            <a:ext cx="5600700" cy="4305300"/>
            <a:chOff x="6210300" y="1143000"/>
            <a:chExt cx="5600700" cy="4305300"/>
          </a:xfrm>
        </p:grpSpPr>
        <p:sp>
          <p:nvSpPr>
            <p:cNvPr id="78" name="Shape 18">
              <a:extLst>
                <a:ext uri="{FF2B5EF4-FFF2-40B4-BE49-F238E27FC236}">
                  <a16:creationId xmlns:a16="http://schemas.microsoft.com/office/drawing/2014/main" id="{C81E1A21-91C5-4952-B046-DE0FB4845BEC}"/>
                </a:ext>
              </a:extLst>
            </p:cNvPr>
            <p:cNvSpPr/>
            <p:nvPr/>
          </p:nvSpPr>
          <p:spPr>
            <a:xfrm>
              <a:off x="6210300" y="1143000"/>
              <a:ext cx="5600700" cy="4305300"/>
            </a:xfrm>
            <a:custGeom>
              <a:avLst/>
              <a:gdLst/>
              <a:ahLst/>
              <a:cxnLst/>
              <a:rect l="l" t="t" r="r" b="b"/>
              <a:pathLst>
                <a:path w="5600700" h="4305300">
                  <a:moveTo>
                    <a:pt x="152408" y="0"/>
                  </a:moveTo>
                  <a:lnTo>
                    <a:pt x="5448292" y="0"/>
                  </a:lnTo>
                  <a:cubicBezTo>
                    <a:pt x="5532465" y="0"/>
                    <a:pt x="5600700" y="68235"/>
                    <a:pt x="5600700" y="152408"/>
                  </a:cubicBezTo>
                  <a:lnTo>
                    <a:pt x="5600700" y="4152892"/>
                  </a:lnTo>
                  <a:cubicBezTo>
                    <a:pt x="5600700" y="4237065"/>
                    <a:pt x="5532465" y="4305300"/>
                    <a:pt x="5448292" y="4305300"/>
                  </a:cubicBezTo>
                  <a:lnTo>
                    <a:pt x="152408" y="4305300"/>
                  </a:lnTo>
                  <a:cubicBezTo>
                    <a:pt x="68235" y="4305300"/>
                    <a:pt x="0" y="4237065"/>
                    <a:pt x="0" y="4152892"/>
                  </a:cubicBezTo>
                  <a:lnTo>
                    <a:pt x="0" y="152408"/>
                  </a:lnTo>
                  <a:cubicBezTo>
                    <a:pt x="0" y="68292"/>
                    <a:pt x="68292" y="0"/>
                    <a:pt x="152408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9" name="Shape 19">
              <a:extLst>
                <a:ext uri="{FF2B5EF4-FFF2-40B4-BE49-F238E27FC236}">
                  <a16:creationId xmlns:a16="http://schemas.microsoft.com/office/drawing/2014/main" id="{01ECF3F5-3630-475E-88AE-A67E7DA450EA}"/>
                </a:ext>
              </a:extLst>
            </p:cNvPr>
            <p:cNvSpPr/>
            <p:nvPr/>
          </p:nvSpPr>
          <p:spPr>
            <a:xfrm>
              <a:off x="64389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0" name="Shape 20">
              <a:extLst>
                <a:ext uri="{FF2B5EF4-FFF2-40B4-BE49-F238E27FC236}">
                  <a16:creationId xmlns:a16="http://schemas.microsoft.com/office/drawing/2014/main" id="{7A39D6A0-BAFE-4DD8-BEA1-4928EEE858FD}"/>
                </a:ext>
              </a:extLst>
            </p:cNvPr>
            <p:cNvSpPr/>
            <p:nvPr/>
          </p:nvSpPr>
          <p:spPr>
            <a:xfrm>
              <a:off x="6572250" y="1504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56034"/>
                  </a:moveTo>
                  <a:lnTo>
                    <a:pt x="151284" y="91753"/>
                  </a:lnTo>
                  <a:cubicBezTo>
                    <a:pt x="147861" y="95176"/>
                    <a:pt x="142763" y="96180"/>
                    <a:pt x="138299" y="94320"/>
                  </a:cubicBezTo>
                  <a:cubicBezTo>
                    <a:pt x="133834" y="92459"/>
                    <a:pt x="130969" y="88143"/>
                    <a:pt x="130969" y="83344"/>
                  </a:cubicBezTo>
                  <a:lnTo>
                    <a:pt x="130969" y="59531"/>
                  </a:lnTo>
                  <a:lnTo>
                    <a:pt x="11906" y="59531"/>
                  </a:lnTo>
                  <a:cubicBezTo>
                    <a:pt x="5321" y="59531"/>
                    <a:pt x="0" y="54211"/>
                    <a:pt x="0" y="47625"/>
                  </a:cubicBezTo>
                  <a:cubicBezTo>
                    <a:pt x="0" y="41039"/>
                    <a:pt x="5321" y="35719"/>
                    <a:pt x="11906" y="35719"/>
                  </a:cubicBezTo>
                  <a:lnTo>
                    <a:pt x="130969" y="35719"/>
                  </a:lnTo>
                  <a:lnTo>
                    <a:pt x="130969" y="11906"/>
                  </a:lnTo>
                  <a:cubicBezTo>
                    <a:pt x="130969" y="7107"/>
                    <a:pt x="133871" y="2753"/>
                    <a:pt x="138336" y="893"/>
                  </a:cubicBezTo>
                  <a:cubicBezTo>
                    <a:pt x="142801" y="-967"/>
                    <a:pt x="147898" y="74"/>
                    <a:pt x="151321" y="3460"/>
                  </a:cubicBezTo>
                  <a:lnTo>
                    <a:pt x="187040" y="39179"/>
                  </a:lnTo>
                  <a:cubicBezTo>
                    <a:pt x="191691" y="43830"/>
                    <a:pt x="191691" y="51383"/>
                    <a:pt x="187040" y="56034"/>
                  </a:cubicBezTo>
                  <a:close/>
                  <a:moveTo>
                    <a:pt x="39179" y="187003"/>
                  </a:moveTo>
                  <a:lnTo>
                    <a:pt x="3460" y="151284"/>
                  </a:lnTo>
                  <a:cubicBezTo>
                    <a:pt x="-1191" y="146633"/>
                    <a:pt x="-1191" y="139080"/>
                    <a:pt x="3460" y="134429"/>
                  </a:cubicBezTo>
                  <a:lnTo>
                    <a:pt x="39179" y="98710"/>
                  </a:lnTo>
                  <a:cubicBezTo>
                    <a:pt x="42602" y="95287"/>
                    <a:pt x="47699" y="94283"/>
                    <a:pt x="52164" y="96143"/>
                  </a:cubicBezTo>
                  <a:cubicBezTo>
                    <a:pt x="56629" y="98003"/>
                    <a:pt x="59531" y="102357"/>
                    <a:pt x="59531" y="107156"/>
                  </a:cubicBezTo>
                  <a:lnTo>
                    <a:pt x="59531" y="130969"/>
                  </a:lnTo>
                  <a:lnTo>
                    <a:pt x="178594" y="130969"/>
                  </a:lnTo>
                  <a:cubicBezTo>
                    <a:pt x="185179" y="130969"/>
                    <a:pt x="190500" y="136289"/>
                    <a:pt x="190500" y="142875"/>
                  </a:cubicBezTo>
                  <a:cubicBezTo>
                    <a:pt x="190500" y="149461"/>
                    <a:pt x="185179" y="154781"/>
                    <a:pt x="178594" y="154781"/>
                  </a:cubicBezTo>
                  <a:lnTo>
                    <a:pt x="59531" y="154781"/>
                  </a:lnTo>
                  <a:lnTo>
                    <a:pt x="59531" y="178594"/>
                  </a:lnTo>
                  <a:cubicBezTo>
                    <a:pt x="59531" y="183393"/>
                    <a:pt x="56629" y="187747"/>
                    <a:pt x="52164" y="189607"/>
                  </a:cubicBezTo>
                  <a:cubicBezTo>
                    <a:pt x="47699" y="191467"/>
                    <a:pt x="42602" y="190426"/>
                    <a:pt x="39179" y="18704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1" name="Text 21">
              <a:extLst>
                <a:ext uri="{FF2B5EF4-FFF2-40B4-BE49-F238E27FC236}">
                  <a16:creationId xmlns:a16="http://schemas.microsoft.com/office/drawing/2014/main" id="{903936F5-A6B3-45B1-A5EA-E078299466B8}"/>
                </a:ext>
              </a:extLst>
            </p:cNvPr>
            <p:cNvSpPr/>
            <p:nvPr/>
          </p:nvSpPr>
          <p:spPr>
            <a:xfrm>
              <a:off x="7010400" y="1447800"/>
              <a:ext cx="29432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Сопоставление терминов</a:t>
              </a:r>
              <a:endParaRPr lang="en-US" sz="1600" dirty="0"/>
            </a:p>
          </p:txBody>
        </p:sp>
        <p:grpSp>
          <p:nvGrpSpPr>
            <p:cNvPr id="82" name="Группа 81">
              <a:extLst>
                <a:ext uri="{FF2B5EF4-FFF2-40B4-BE49-F238E27FC236}">
                  <a16:creationId xmlns:a16="http://schemas.microsoft.com/office/drawing/2014/main" id="{57A89434-E41C-4BC4-B39A-5522801885D8}"/>
                </a:ext>
              </a:extLst>
            </p:cNvPr>
            <p:cNvGrpSpPr/>
            <p:nvPr/>
          </p:nvGrpSpPr>
          <p:grpSpPr>
            <a:xfrm>
              <a:off x="6434279" y="2247180"/>
              <a:ext cx="5143500" cy="821369"/>
              <a:chOff x="6434279" y="2247180"/>
              <a:chExt cx="5143500" cy="821369"/>
            </a:xfrm>
          </p:grpSpPr>
          <p:sp>
            <p:nvSpPr>
              <p:cNvPr id="97" name="Shape 22">
                <a:extLst>
                  <a:ext uri="{FF2B5EF4-FFF2-40B4-BE49-F238E27FC236}">
                    <a16:creationId xmlns:a16="http://schemas.microsoft.com/office/drawing/2014/main" id="{CD8EDA18-652D-4E37-9F43-01BADFCA1610}"/>
                  </a:ext>
                </a:extLst>
              </p:cNvPr>
              <p:cNvSpPr/>
              <p:nvPr/>
            </p:nvSpPr>
            <p:spPr>
              <a:xfrm>
                <a:off x="6434279" y="2247180"/>
                <a:ext cx="5143500" cy="821369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98" name="Shape 23">
                <a:extLst>
                  <a:ext uri="{FF2B5EF4-FFF2-40B4-BE49-F238E27FC236}">
                    <a16:creationId xmlns:a16="http://schemas.microsoft.com/office/drawing/2014/main" id="{437E5798-CCF4-4FEB-ADBF-787B3E1B455D}"/>
                  </a:ext>
                </a:extLst>
              </p:cNvPr>
              <p:cNvSpPr/>
              <p:nvPr/>
            </p:nvSpPr>
            <p:spPr>
              <a:xfrm>
                <a:off x="6593232" y="2538367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99" name="Text 24">
                <a:extLst>
                  <a:ext uri="{FF2B5EF4-FFF2-40B4-BE49-F238E27FC236}">
                    <a16:creationId xmlns:a16="http://schemas.microsoft.com/office/drawing/2014/main" id="{5AE7140E-9ABA-473D-B840-D76F208284BA}"/>
                  </a:ext>
                </a:extLst>
              </p:cNvPr>
              <p:cNvSpPr/>
              <p:nvPr/>
            </p:nvSpPr>
            <p:spPr>
              <a:xfrm>
                <a:off x="7108507" y="2474136"/>
                <a:ext cx="1194417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«продажа»</a:t>
                </a:r>
                <a:endParaRPr lang="en-US" sz="2000" dirty="0"/>
              </a:p>
            </p:txBody>
          </p:sp>
          <p:sp>
            <p:nvSpPr>
              <p:cNvPr id="100" name="Shape 25">
                <a:extLst>
                  <a:ext uri="{FF2B5EF4-FFF2-40B4-BE49-F238E27FC236}">
                    <a16:creationId xmlns:a16="http://schemas.microsoft.com/office/drawing/2014/main" id="{85846890-2E12-4B0B-8180-C5DC084ACC40}"/>
                  </a:ext>
                </a:extLst>
              </p:cNvPr>
              <p:cNvSpPr/>
              <p:nvPr/>
            </p:nvSpPr>
            <p:spPr>
              <a:xfrm>
                <a:off x="8417260" y="2526660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101" name="Text 26">
                <a:extLst>
                  <a:ext uri="{FF2B5EF4-FFF2-40B4-BE49-F238E27FC236}">
                    <a16:creationId xmlns:a16="http://schemas.microsoft.com/office/drawing/2014/main" id="{E3BFACAF-C90D-4790-97EA-F4C3CF415D33}"/>
                  </a:ext>
                </a:extLst>
              </p:cNvPr>
              <p:cNvSpPr/>
              <p:nvPr/>
            </p:nvSpPr>
            <p:spPr>
              <a:xfrm>
                <a:off x="9051748" y="2450644"/>
                <a:ext cx="2038350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РеализацияТоваровУслуг</a:t>
                </a:r>
                <a:endParaRPr lang="en-US" sz="1600" dirty="0"/>
              </a:p>
            </p:txBody>
          </p:sp>
          <p:sp>
            <p:nvSpPr>
              <p:cNvPr id="102" name="Shape 27">
                <a:extLst>
                  <a:ext uri="{FF2B5EF4-FFF2-40B4-BE49-F238E27FC236}">
                    <a16:creationId xmlns:a16="http://schemas.microsoft.com/office/drawing/2014/main" id="{7C0C2676-5C0B-4406-9395-36834AB9BB1C}"/>
                  </a:ext>
                </a:extLst>
              </p:cNvPr>
              <p:cNvSpPr/>
              <p:nvPr/>
            </p:nvSpPr>
            <p:spPr>
              <a:xfrm>
                <a:off x="11177891" y="2505315"/>
                <a:ext cx="216559" cy="28874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9050" y="0"/>
                    </a:moveTo>
                    <a:cubicBezTo>
                      <a:pt x="8543" y="0"/>
                      <a:pt x="0" y="8543"/>
                      <a:pt x="0" y="19050"/>
                    </a:cubicBezTo>
                    <a:lnTo>
                      <a:pt x="0" y="133350"/>
                    </a:lnTo>
                    <a:cubicBezTo>
                      <a:pt x="0" y="143857"/>
                      <a:pt x="8543" y="152400"/>
                      <a:pt x="19050" y="152400"/>
                    </a:cubicBezTo>
                    <a:lnTo>
                      <a:pt x="95250" y="152400"/>
                    </a:lnTo>
                    <a:cubicBezTo>
                      <a:pt x="105757" y="152400"/>
                      <a:pt x="114300" y="143857"/>
                      <a:pt x="114300" y="133350"/>
                    </a:cubicBezTo>
                    <a:lnTo>
                      <a:pt x="114300" y="50750"/>
                    </a:lnTo>
                    <a:cubicBezTo>
                      <a:pt x="114300" y="45690"/>
                      <a:pt x="112306" y="40838"/>
                      <a:pt x="108734" y="37267"/>
                    </a:cubicBezTo>
                    <a:lnTo>
                      <a:pt x="77004" y="5566"/>
                    </a:lnTo>
                    <a:cubicBezTo>
                      <a:pt x="73432" y="1994"/>
                      <a:pt x="68610" y="0"/>
                      <a:pt x="63550" y="0"/>
                    </a:cubicBezTo>
                    <a:lnTo>
                      <a:pt x="19050" y="0"/>
                    </a:lnTo>
                    <a:close/>
                    <a:moveTo>
                      <a:pt x="96887" y="52388"/>
                    </a:moveTo>
                    <a:lnTo>
                      <a:pt x="69056" y="52388"/>
                    </a:lnTo>
                    <a:cubicBezTo>
                      <a:pt x="65097" y="52388"/>
                      <a:pt x="61912" y="49203"/>
                      <a:pt x="61912" y="45244"/>
                    </a:cubicBezTo>
                    <a:lnTo>
                      <a:pt x="61912" y="17413"/>
                    </a:lnTo>
                    <a:lnTo>
                      <a:pt x="96887" y="52388"/>
                    </a:lnTo>
                    <a:close/>
                    <a:moveTo>
                      <a:pt x="19050" y="114300"/>
                    </a:moveTo>
                    <a:lnTo>
                      <a:pt x="19050" y="95250"/>
                    </a:lnTo>
                    <a:cubicBezTo>
                      <a:pt x="19050" y="89981"/>
                      <a:pt x="23306" y="85725"/>
                      <a:pt x="28575" y="85725"/>
                    </a:cubicBezTo>
                    <a:lnTo>
                      <a:pt x="85725" y="85725"/>
                    </a:lnTo>
                    <a:cubicBezTo>
                      <a:pt x="90994" y="85725"/>
                      <a:pt x="95250" y="89981"/>
                      <a:pt x="95250" y="95250"/>
                    </a:cubicBezTo>
                    <a:lnTo>
                      <a:pt x="95250" y="114300"/>
                    </a:lnTo>
                    <a:cubicBezTo>
                      <a:pt x="95250" y="119569"/>
                      <a:pt x="90994" y="123825"/>
                      <a:pt x="85725" y="123825"/>
                    </a:cubicBezTo>
                    <a:lnTo>
                      <a:pt x="28575" y="123825"/>
                    </a:lnTo>
                    <a:cubicBezTo>
                      <a:pt x="23306" y="123825"/>
                      <a:pt x="19050" y="119569"/>
                      <a:pt x="19050" y="114300"/>
                    </a:cubicBezTo>
                    <a:close/>
                    <a:moveTo>
                      <a:pt x="26194" y="19050"/>
                    </a:moveTo>
                    <a:lnTo>
                      <a:pt x="40481" y="19050"/>
                    </a:lnTo>
                    <a:cubicBezTo>
                      <a:pt x="44440" y="19050"/>
                      <a:pt x="47625" y="22235"/>
                      <a:pt x="47625" y="26194"/>
                    </a:cubicBezTo>
                    <a:cubicBezTo>
                      <a:pt x="47625" y="30153"/>
                      <a:pt x="44440" y="33338"/>
                      <a:pt x="40481" y="33338"/>
                    </a:cubicBezTo>
                    <a:lnTo>
                      <a:pt x="26194" y="33338"/>
                    </a:lnTo>
                    <a:cubicBezTo>
                      <a:pt x="22235" y="33338"/>
                      <a:pt x="19050" y="30153"/>
                      <a:pt x="19050" y="26194"/>
                    </a:cubicBezTo>
                    <a:cubicBezTo>
                      <a:pt x="19050" y="22235"/>
                      <a:pt x="22235" y="19050"/>
                      <a:pt x="26194" y="19050"/>
                    </a:cubicBezTo>
                    <a:close/>
                    <a:moveTo>
                      <a:pt x="26194" y="47625"/>
                    </a:moveTo>
                    <a:lnTo>
                      <a:pt x="40481" y="47625"/>
                    </a:lnTo>
                    <a:cubicBezTo>
                      <a:pt x="44440" y="47625"/>
                      <a:pt x="47625" y="50810"/>
                      <a:pt x="47625" y="54769"/>
                    </a:cubicBezTo>
                    <a:cubicBezTo>
                      <a:pt x="47625" y="58728"/>
                      <a:pt x="44440" y="61912"/>
                      <a:pt x="40481" y="61912"/>
                    </a:cubicBezTo>
                    <a:lnTo>
                      <a:pt x="26194" y="61912"/>
                    </a:lnTo>
                    <a:cubicBezTo>
                      <a:pt x="22235" y="61912"/>
                      <a:pt x="19050" y="58728"/>
                      <a:pt x="19050" y="54769"/>
                    </a:cubicBezTo>
                    <a:cubicBezTo>
                      <a:pt x="19050" y="50810"/>
                      <a:pt x="22235" y="47625"/>
                      <a:pt x="26194" y="47625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  <p:txBody>
              <a:bodyPr/>
              <a:lstStyle/>
              <a:p>
                <a:endParaRPr lang="ru-RU" dirty="0"/>
              </a:p>
            </p:txBody>
          </p:sp>
        </p:grpSp>
        <p:grpSp>
          <p:nvGrpSpPr>
            <p:cNvPr id="83" name="Группа 82">
              <a:extLst>
                <a:ext uri="{FF2B5EF4-FFF2-40B4-BE49-F238E27FC236}">
                  <a16:creationId xmlns:a16="http://schemas.microsoft.com/office/drawing/2014/main" id="{CE08238F-933C-4431-B4E3-9805DC635817}"/>
                </a:ext>
              </a:extLst>
            </p:cNvPr>
            <p:cNvGrpSpPr/>
            <p:nvPr/>
          </p:nvGrpSpPr>
          <p:grpSpPr>
            <a:xfrm>
              <a:off x="6434279" y="3278038"/>
              <a:ext cx="5143500" cy="821370"/>
              <a:chOff x="6434279" y="3278038"/>
              <a:chExt cx="5143500" cy="821370"/>
            </a:xfrm>
          </p:grpSpPr>
          <p:sp>
            <p:nvSpPr>
              <p:cNvPr id="91" name="Shape 28">
                <a:extLst>
                  <a:ext uri="{FF2B5EF4-FFF2-40B4-BE49-F238E27FC236}">
                    <a16:creationId xmlns:a16="http://schemas.microsoft.com/office/drawing/2014/main" id="{DA351D95-9216-4FC7-99F7-30A633F846CE}"/>
                  </a:ext>
                </a:extLst>
              </p:cNvPr>
              <p:cNvSpPr/>
              <p:nvPr/>
            </p:nvSpPr>
            <p:spPr>
              <a:xfrm>
                <a:off x="6434279" y="3278038"/>
                <a:ext cx="5143500" cy="82137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92" name="Shape 29">
                <a:extLst>
                  <a:ext uri="{FF2B5EF4-FFF2-40B4-BE49-F238E27FC236}">
                    <a16:creationId xmlns:a16="http://schemas.microsoft.com/office/drawing/2014/main" id="{77BAE751-FDF2-46B4-9EDF-BC5354968ACA}"/>
                  </a:ext>
                </a:extLst>
              </p:cNvPr>
              <p:cNvSpPr/>
              <p:nvPr/>
            </p:nvSpPr>
            <p:spPr>
              <a:xfrm>
                <a:off x="6602140" y="3519007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93" name="Text 30">
                <a:extLst>
                  <a:ext uri="{FF2B5EF4-FFF2-40B4-BE49-F238E27FC236}">
                    <a16:creationId xmlns:a16="http://schemas.microsoft.com/office/drawing/2014/main" id="{161A31C0-3ED0-4C9F-BBB7-B1912CAC35E8}"/>
                  </a:ext>
                </a:extLst>
              </p:cNvPr>
              <p:cNvSpPr/>
              <p:nvPr/>
            </p:nvSpPr>
            <p:spPr>
              <a:xfrm>
                <a:off x="7080391" y="3507239"/>
                <a:ext cx="1299863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«клиент»</a:t>
                </a:r>
                <a:endParaRPr lang="en-US" sz="2000" dirty="0"/>
              </a:p>
            </p:txBody>
          </p:sp>
          <p:sp>
            <p:nvSpPr>
              <p:cNvPr id="94" name="Shape 31">
                <a:extLst>
                  <a:ext uri="{FF2B5EF4-FFF2-40B4-BE49-F238E27FC236}">
                    <a16:creationId xmlns:a16="http://schemas.microsoft.com/office/drawing/2014/main" id="{D2495F70-21CC-490D-9AA6-83B0C56FA472}"/>
                  </a:ext>
                </a:extLst>
              </p:cNvPr>
              <p:cNvSpPr/>
              <p:nvPr/>
            </p:nvSpPr>
            <p:spPr>
              <a:xfrm>
                <a:off x="8427719" y="3632168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95" name="Text 32">
                <a:extLst>
                  <a:ext uri="{FF2B5EF4-FFF2-40B4-BE49-F238E27FC236}">
                    <a16:creationId xmlns:a16="http://schemas.microsoft.com/office/drawing/2014/main" id="{B37A04C5-21BA-43FB-A724-006849DEF5D0}"/>
                  </a:ext>
                </a:extLst>
              </p:cNvPr>
              <p:cNvSpPr/>
              <p:nvPr/>
            </p:nvSpPr>
            <p:spPr>
              <a:xfrm>
                <a:off x="9051748" y="3530704"/>
                <a:ext cx="1313515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Справочник.Контрагенты</a:t>
                </a:r>
                <a:endParaRPr lang="en-US" sz="2000" dirty="0"/>
              </a:p>
            </p:txBody>
          </p:sp>
          <p:sp>
            <p:nvSpPr>
              <p:cNvPr id="96" name="Shape 33">
                <a:extLst>
                  <a:ext uri="{FF2B5EF4-FFF2-40B4-BE49-F238E27FC236}">
                    <a16:creationId xmlns:a16="http://schemas.microsoft.com/office/drawing/2014/main" id="{B0441067-D933-4818-9B7D-4E7362D3B900}"/>
                  </a:ext>
                </a:extLst>
              </p:cNvPr>
              <p:cNvSpPr/>
              <p:nvPr/>
            </p:nvSpPr>
            <p:spPr>
              <a:xfrm>
                <a:off x="11141797" y="3537054"/>
                <a:ext cx="288745" cy="28874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28575" y="0"/>
                    </a:moveTo>
                    <a:cubicBezTo>
                      <a:pt x="18068" y="0"/>
                      <a:pt x="9525" y="8543"/>
                      <a:pt x="9525" y="19050"/>
                    </a:cubicBezTo>
                    <a:lnTo>
                      <a:pt x="9525" y="133350"/>
                    </a:lnTo>
                    <a:cubicBezTo>
                      <a:pt x="9525" y="143857"/>
                      <a:pt x="18068" y="152400"/>
                      <a:pt x="28575" y="152400"/>
                    </a:cubicBezTo>
                    <a:lnTo>
                      <a:pt x="114300" y="152400"/>
                    </a:lnTo>
                    <a:cubicBezTo>
                      <a:pt x="124807" y="152400"/>
                      <a:pt x="133350" y="143857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43"/>
                      <a:pt x="124807" y="0"/>
                      <a:pt x="114300" y="0"/>
                    </a:cubicBezTo>
                    <a:lnTo>
                      <a:pt x="28575" y="0"/>
                    </a:lnTo>
                    <a:close/>
                    <a:moveTo>
                      <a:pt x="61912" y="85725"/>
                    </a:moveTo>
                    <a:lnTo>
                      <a:pt x="80962" y="85725"/>
                    </a:lnTo>
                    <a:cubicBezTo>
                      <a:pt x="94119" y="85725"/>
                      <a:pt x="104775" y="96381"/>
                      <a:pt x="104775" y="109537"/>
                    </a:cubicBezTo>
                    <a:cubicBezTo>
                      <a:pt x="104775" y="112157"/>
                      <a:pt x="102632" y="114300"/>
                      <a:pt x="100013" y="114300"/>
                    </a:cubicBezTo>
                    <a:lnTo>
                      <a:pt x="42863" y="114300"/>
                    </a:lnTo>
                    <a:cubicBezTo>
                      <a:pt x="40243" y="114300"/>
                      <a:pt x="38100" y="112157"/>
                      <a:pt x="38100" y="109537"/>
                    </a:cubicBezTo>
                    <a:cubicBezTo>
                      <a:pt x="38100" y="96381"/>
                      <a:pt x="48756" y="85725"/>
                      <a:pt x="61912" y="85725"/>
                    </a:cubicBezTo>
                    <a:close/>
                    <a:moveTo>
                      <a:pt x="54769" y="57150"/>
                    </a:moveTo>
                    <a:cubicBezTo>
                      <a:pt x="54769" y="47950"/>
                      <a:pt x="62238" y="40481"/>
                      <a:pt x="71438" y="40481"/>
                    </a:cubicBezTo>
                    <a:cubicBezTo>
                      <a:pt x="80637" y="40481"/>
                      <a:pt x="88106" y="47950"/>
                      <a:pt x="88106" y="57150"/>
                    </a:cubicBezTo>
                    <a:cubicBezTo>
                      <a:pt x="88106" y="66350"/>
                      <a:pt x="80637" y="73819"/>
                      <a:pt x="71438" y="73819"/>
                    </a:cubicBezTo>
                    <a:cubicBezTo>
                      <a:pt x="62238" y="73819"/>
                      <a:pt x="54769" y="66350"/>
                      <a:pt x="54769" y="57150"/>
                    </a:cubicBezTo>
                    <a:close/>
                    <a:moveTo>
                      <a:pt x="152400" y="23813"/>
                    </a:moveTo>
                    <a:cubicBezTo>
                      <a:pt x="152400" y="21193"/>
                      <a:pt x="150257" y="19050"/>
                      <a:pt x="147638" y="19050"/>
                    </a:cubicBezTo>
                    <a:cubicBezTo>
                      <a:pt x="145018" y="19050"/>
                      <a:pt x="142875" y="21193"/>
                      <a:pt x="142875" y="23813"/>
                    </a:cubicBezTo>
                    <a:lnTo>
                      <a:pt x="142875" y="42863"/>
                    </a:lnTo>
                    <a:cubicBezTo>
                      <a:pt x="142875" y="45482"/>
                      <a:pt x="145018" y="47625"/>
                      <a:pt x="147638" y="47625"/>
                    </a:cubicBezTo>
                    <a:cubicBezTo>
                      <a:pt x="150257" y="47625"/>
                      <a:pt x="152400" y="45482"/>
                      <a:pt x="152400" y="42863"/>
                    </a:cubicBezTo>
                    <a:lnTo>
                      <a:pt x="152400" y="23813"/>
                    </a:lnTo>
                    <a:close/>
                    <a:moveTo>
                      <a:pt x="152400" y="61912"/>
                    </a:moveTo>
                    <a:cubicBezTo>
                      <a:pt x="152400" y="59293"/>
                      <a:pt x="150257" y="57150"/>
                      <a:pt x="147638" y="57150"/>
                    </a:cubicBezTo>
                    <a:cubicBezTo>
                      <a:pt x="145018" y="57150"/>
                      <a:pt x="142875" y="59293"/>
                      <a:pt x="142875" y="61912"/>
                    </a:cubicBezTo>
                    <a:lnTo>
                      <a:pt x="142875" y="80962"/>
                    </a:lnTo>
                    <a:cubicBezTo>
                      <a:pt x="142875" y="83582"/>
                      <a:pt x="145018" y="85725"/>
                      <a:pt x="147638" y="85725"/>
                    </a:cubicBezTo>
                    <a:cubicBezTo>
                      <a:pt x="150257" y="85725"/>
                      <a:pt x="152400" y="83582"/>
                      <a:pt x="152400" y="80962"/>
                    </a:cubicBezTo>
                    <a:lnTo>
                      <a:pt x="152400" y="61912"/>
                    </a:lnTo>
                    <a:close/>
                    <a:moveTo>
                      <a:pt x="147638" y="95250"/>
                    </a:moveTo>
                    <a:cubicBezTo>
                      <a:pt x="145018" y="95250"/>
                      <a:pt x="142875" y="97393"/>
                      <a:pt x="142875" y="100013"/>
                    </a:cubicBezTo>
                    <a:lnTo>
                      <a:pt x="142875" y="119062"/>
                    </a:lnTo>
                    <a:cubicBezTo>
                      <a:pt x="142875" y="121682"/>
                      <a:pt x="145018" y="123825"/>
                      <a:pt x="147638" y="123825"/>
                    </a:cubicBezTo>
                    <a:cubicBezTo>
                      <a:pt x="150257" y="123825"/>
                      <a:pt x="152400" y="121682"/>
                      <a:pt x="152400" y="119062"/>
                    </a:cubicBezTo>
                    <a:lnTo>
                      <a:pt x="152400" y="100013"/>
                    </a:lnTo>
                    <a:cubicBezTo>
                      <a:pt x="152400" y="97393"/>
                      <a:pt x="150257" y="95250"/>
                      <a:pt x="147638" y="95250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</p:grpSp>
        <p:grpSp>
          <p:nvGrpSpPr>
            <p:cNvPr id="84" name="Группа 83">
              <a:extLst>
                <a:ext uri="{FF2B5EF4-FFF2-40B4-BE49-F238E27FC236}">
                  <a16:creationId xmlns:a16="http://schemas.microsoft.com/office/drawing/2014/main" id="{24993387-6E5E-47AF-8FCA-98FEAEBFA20F}"/>
                </a:ext>
              </a:extLst>
            </p:cNvPr>
            <p:cNvGrpSpPr/>
            <p:nvPr/>
          </p:nvGrpSpPr>
          <p:grpSpPr>
            <a:xfrm>
              <a:off x="6443187" y="4308895"/>
              <a:ext cx="5143500" cy="821370"/>
              <a:chOff x="6443187" y="4308895"/>
              <a:chExt cx="5143500" cy="821370"/>
            </a:xfrm>
          </p:grpSpPr>
          <p:sp>
            <p:nvSpPr>
              <p:cNvPr id="85" name="Shape 34">
                <a:extLst>
                  <a:ext uri="{FF2B5EF4-FFF2-40B4-BE49-F238E27FC236}">
                    <a16:creationId xmlns:a16="http://schemas.microsoft.com/office/drawing/2014/main" id="{E41910D8-344A-4CEE-8EF1-0279EA005812}"/>
                  </a:ext>
                </a:extLst>
              </p:cNvPr>
              <p:cNvSpPr/>
              <p:nvPr/>
            </p:nvSpPr>
            <p:spPr>
              <a:xfrm>
                <a:off x="6443187" y="4308895"/>
                <a:ext cx="5143500" cy="82137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2" y="0"/>
                    </a:moveTo>
                    <a:lnTo>
                      <a:pt x="5029198" y="0"/>
                    </a:lnTo>
                    <a:cubicBezTo>
                      <a:pt x="5092283" y="0"/>
                      <a:pt x="5143500" y="51217"/>
                      <a:pt x="5143500" y="114302"/>
                    </a:cubicBezTo>
                    <a:lnTo>
                      <a:pt x="5143500" y="419098"/>
                    </a:lnTo>
                    <a:cubicBezTo>
                      <a:pt x="5143500" y="482183"/>
                      <a:pt x="5092283" y="533400"/>
                      <a:pt x="5029198" y="533400"/>
                    </a:cubicBezTo>
                    <a:lnTo>
                      <a:pt x="114302" y="533400"/>
                    </a:lnTo>
                    <a:cubicBezTo>
                      <a:pt x="51217" y="533400"/>
                      <a:pt x="0" y="482183"/>
                      <a:pt x="0" y="419098"/>
                    </a:cubicBezTo>
                    <a:lnTo>
                      <a:pt x="0" y="114302"/>
                    </a:lnTo>
                    <a:cubicBezTo>
                      <a:pt x="0" y="51217"/>
                      <a:pt x="51217" y="0"/>
                      <a:pt x="114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  <a:effectLst>
                <a:outerShdw blurRad="57150" dist="38100" dir="5400000" algn="bl" rotWithShape="0">
                  <a:srgbClr val="000000">
                    <a:alpha val="10196"/>
                  </a:srgbClr>
                </a:outerShdw>
              </a:effectLst>
            </p:spPr>
          </p:sp>
          <p:sp>
            <p:nvSpPr>
              <p:cNvPr id="86" name="Shape 35">
                <a:extLst>
                  <a:ext uri="{FF2B5EF4-FFF2-40B4-BE49-F238E27FC236}">
                    <a16:creationId xmlns:a16="http://schemas.microsoft.com/office/drawing/2014/main" id="{9ED294BB-B378-498F-8849-617A261B12F8}"/>
                  </a:ext>
                </a:extLst>
              </p:cNvPr>
              <p:cNvSpPr/>
              <p:nvPr/>
            </p:nvSpPr>
            <p:spPr>
              <a:xfrm>
                <a:off x="6602140" y="4600081"/>
                <a:ext cx="324837" cy="324837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71438"/>
                    </a:moveTo>
                    <a:cubicBezTo>
                      <a:pt x="152400" y="110877"/>
                      <a:pt x="118289" y="142875"/>
                      <a:pt x="76200" y="142875"/>
                    </a:cubicBezTo>
                    <a:cubicBezTo>
                      <a:pt x="65157" y="142875"/>
                      <a:pt x="54679" y="140672"/>
                      <a:pt x="45214" y="136714"/>
                    </a:cubicBezTo>
                    <a:lnTo>
                      <a:pt x="9971" y="151834"/>
                    </a:lnTo>
                    <a:cubicBezTo>
                      <a:pt x="7174" y="153025"/>
                      <a:pt x="3959" y="152340"/>
                      <a:pt x="1905" y="150108"/>
                    </a:cubicBezTo>
                    <a:cubicBezTo>
                      <a:pt x="-149" y="147876"/>
                      <a:pt x="-595" y="144601"/>
                      <a:pt x="833" y="141923"/>
                    </a:cubicBezTo>
                    <a:lnTo>
                      <a:pt x="15359" y="114479"/>
                    </a:lnTo>
                    <a:cubicBezTo>
                      <a:pt x="5715" y="102483"/>
                      <a:pt x="0" y="87600"/>
                      <a:pt x="0" y="71438"/>
                    </a:cubicBezTo>
                    <a:cubicBezTo>
                      <a:pt x="0" y="31998"/>
                      <a:pt x="34111" y="0"/>
                      <a:pt x="76200" y="0"/>
                    </a:cubicBezTo>
                    <a:cubicBezTo>
                      <a:pt x="118289" y="0"/>
                      <a:pt x="152400" y="31998"/>
                      <a:pt x="152400" y="71438"/>
                    </a:cubicBez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87" name="Text 36">
                <a:extLst>
                  <a:ext uri="{FF2B5EF4-FFF2-40B4-BE49-F238E27FC236}">
                    <a16:creationId xmlns:a16="http://schemas.microsoft.com/office/drawing/2014/main" id="{69CCAB7A-648F-4555-9BD5-0828938C85F3}"/>
                  </a:ext>
                </a:extLst>
              </p:cNvPr>
              <p:cNvSpPr/>
              <p:nvPr/>
            </p:nvSpPr>
            <p:spPr>
              <a:xfrm>
                <a:off x="7156609" y="4577362"/>
                <a:ext cx="981870" cy="2449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«</a:t>
                </a:r>
                <a:r>
                  <a:rPr lang="en-US" sz="16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остатки</a:t>
                </a: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»</a:t>
                </a:r>
                <a:endParaRPr lang="en-US" sz="1600" dirty="0"/>
              </a:p>
            </p:txBody>
          </p:sp>
          <p:sp>
            <p:nvSpPr>
              <p:cNvPr id="88" name="Shape 37">
                <a:extLst>
                  <a:ext uri="{FF2B5EF4-FFF2-40B4-BE49-F238E27FC236}">
                    <a16:creationId xmlns:a16="http://schemas.microsoft.com/office/drawing/2014/main" id="{7E92C410-C3DC-4212-9F9D-5D63B695D7D1}"/>
                  </a:ext>
                </a:extLst>
              </p:cNvPr>
              <p:cNvSpPr/>
              <p:nvPr/>
            </p:nvSpPr>
            <p:spPr>
              <a:xfrm>
                <a:off x="8417260" y="4499395"/>
                <a:ext cx="271162" cy="271162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49602" y="82927"/>
                    </a:moveTo>
                    <a:cubicBezTo>
                      <a:pt x="153323" y="79206"/>
                      <a:pt x="153323" y="73164"/>
                      <a:pt x="149602" y="69443"/>
                    </a:cubicBezTo>
                    <a:lnTo>
                      <a:pt x="101977" y="21818"/>
                    </a:lnTo>
                    <a:cubicBezTo>
                      <a:pt x="98256" y="18098"/>
                      <a:pt x="92214" y="18098"/>
                      <a:pt x="88493" y="21818"/>
                    </a:cubicBezTo>
                    <a:cubicBezTo>
                      <a:pt x="84773" y="25539"/>
                      <a:pt x="84773" y="31581"/>
                      <a:pt x="88493" y="35302"/>
                    </a:cubicBezTo>
                    <a:lnTo>
                      <a:pt x="119866" y="66675"/>
                    </a:lnTo>
                    <a:lnTo>
                      <a:pt x="9525" y="66675"/>
                    </a:lnTo>
                    <a:cubicBezTo>
                      <a:pt x="4256" y="66675"/>
                      <a:pt x="0" y="70931"/>
                      <a:pt x="0" y="76200"/>
                    </a:cubicBezTo>
                    <a:cubicBezTo>
                      <a:pt x="0" y="81469"/>
                      <a:pt x="4256" y="85725"/>
                      <a:pt x="9525" y="85725"/>
                    </a:cubicBezTo>
                    <a:lnTo>
                      <a:pt x="119866" y="85725"/>
                    </a:lnTo>
                    <a:lnTo>
                      <a:pt x="88493" y="117098"/>
                    </a:lnTo>
                    <a:cubicBezTo>
                      <a:pt x="84772" y="120819"/>
                      <a:pt x="84772" y="126861"/>
                      <a:pt x="88493" y="130582"/>
                    </a:cubicBezTo>
                    <a:cubicBezTo>
                      <a:pt x="92214" y="134303"/>
                      <a:pt x="98256" y="134303"/>
                      <a:pt x="101977" y="130582"/>
                    </a:cubicBezTo>
                    <a:lnTo>
                      <a:pt x="149602" y="82957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  <p:sp>
            <p:nvSpPr>
              <p:cNvPr id="89" name="Text 38">
                <a:extLst>
                  <a:ext uri="{FF2B5EF4-FFF2-40B4-BE49-F238E27FC236}">
                    <a16:creationId xmlns:a16="http://schemas.microsoft.com/office/drawing/2014/main" id="{B255CC4B-3BE8-4EEE-A42E-49ABA492D02C}"/>
                  </a:ext>
                </a:extLst>
              </p:cNvPr>
              <p:cNvSpPr/>
              <p:nvPr/>
            </p:nvSpPr>
            <p:spPr>
              <a:xfrm>
                <a:off x="9051748" y="4517087"/>
                <a:ext cx="2133600" cy="352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1A1A1A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Регистр.ТоварыНаСкладах</a:t>
                </a:r>
                <a:endParaRPr lang="en-US" sz="1600" dirty="0"/>
              </a:p>
            </p:txBody>
          </p:sp>
          <p:sp>
            <p:nvSpPr>
              <p:cNvPr id="90" name="Shape 39">
                <a:extLst>
                  <a:ext uri="{FF2B5EF4-FFF2-40B4-BE49-F238E27FC236}">
                    <a16:creationId xmlns:a16="http://schemas.microsoft.com/office/drawing/2014/main" id="{39E449C1-F1A9-45F1-9D84-A366A0A7BBAB}"/>
                  </a:ext>
                </a:extLst>
              </p:cNvPr>
              <p:cNvSpPr/>
              <p:nvPr/>
            </p:nvSpPr>
            <p:spPr>
              <a:xfrm>
                <a:off x="11111698" y="4548722"/>
                <a:ext cx="324838" cy="28874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42297"/>
                    </a:moveTo>
                    <a:lnTo>
                      <a:pt x="0" y="142875"/>
                    </a:lnTo>
                    <a:cubicBezTo>
                      <a:pt x="0" y="148144"/>
                      <a:pt x="4256" y="152400"/>
                      <a:pt x="9525" y="152400"/>
                    </a:cubicBezTo>
                    <a:cubicBezTo>
                      <a:pt x="14794" y="152400"/>
                      <a:pt x="19050" y="148144"/>
                      <a:pt x="19050" y="142875"/>
                    </a:cubicBezTo>
                    <a:lnTo>
                      <a:pt x="19050" y="71438"/>
                    </a:lnTo>
                    <a:cubicBezTo>
                      <a:pt x="19050" y="66169"/>
                      <a:pt x="23306" y="61912"/>
                      <a:pt x="28575" y="61912"/>
                    </a:cubicBezTo>
                    <a:lnTo>
                      <a:pt x="142875" y="61912"/>
                    </a:lnTo>
                    <a:cubicBezTo>
                      <a:pt x="148144" y="61912"/>
                      <a:pt x="152400" y="66169"/>
                      <a:pt x="152400" y="71438"/>
                    </a:cubicBezTo>
                    <a:lnTo>
                      <a:pt x="152400" y="142875"/>
                    </a:lnTo>
                    <a:cubicBezTo>
                      <a:pt x="152400" y="148144"/>
                      <a:pt x="156656" y="152400"/>
                      <a:pt x="161925" y="152400"/>
                    </a:cubicBezTo>
                    <a:cubicBezTo>
                      <a:pt x="167194" y="152400"/>
                      <a:pt x="171450" y="148144"/>
                      <a:pt x="171450" y="142875"/>
                    </a:cubicBezTo>
                    <a:lnTo>
                      <a:pt x="171450" y="42297"/>
                    </a:lnTo>
                    <a:cubicBezTo>
                      <a:pt x="171450" y="34111"/>
                      <a:pt x="166211" y="26819"/>
                      <a:pt x="158413" y="24229"/>
                    </a:cubicBezTo>
                    <a:lnTo>
                      <a:pt x="90249" y="1518"/>
                    </a:lnTo>
                    <a:cubicBezTo>
                      <a:pt x="87303" y="536"/>
                      <a:pt x="84147" y="536"/>
                      <a:pt x="81201" y="1518"/>
                    </a:cubicBezTo>
                    <a:lnTo>
                      <a:pt x="13037" y="24229"/>
                    </a:lnTo>
                    <a:cubicBezTo>
                      <a:pt x="5239" y="26819"/>
                      <a:pt x="0" y="34111"/>
                      <a:pt x="0" y="42297"/>
                    </a:cubicBezTo>
                    <a:close/>
                    <a:moveTo>
                      <a:pt x="138113" y="76200"/>
                    </a:moveTo>
                    <a:lnTo>
                      <a:pt x="33338" y="76200"/>
                    </a:lnTo>
                    <a:lnTo>
                      <a:pt x="33338" y="95250"/>
                    </a:lnTo>
                    <a:lnTo>
                      <a:pt x="138113" y="95250"/>
                    </a:lnTo>
                    <a:lnTo>
                      <a:pt x="138113" y="76200"/>
                    </a:lnTo>
                    <a:close/>
                    <a:moveTo>
                      <a:pt x="33338" y="123825"/>
                    </a:moveTo>
                    <a:lnTo>
                      <a:pt x="138113" y="123825"/>
                    </a:lnTo>
                    <a:lnTo>
                      <a:pt x="138113" y="104775"/>
                    </a:lnTo>
                    <a:lnTo>
                      <a:pt x="33338" y="104775"/>
                    </a:lnTo>
                    <a:lnTo>
                      <a:pt x="33338" y="123825"/>
                    </a:lnTo>
                    <a:close/>
                    <a:moveTo>
                      <a:pt x="138113" y="133350"/>
                    </a:moveTo>
                    <a:lnTo>
                      <a:pt x="33338" y="133350"/>
                    </a:lnTo>
                    <a:lnTo>
                      <a:pt x="33338" y="152400"/>
                    </a:lnTo>
                    <a:lnTo>
                      <a:pt x="138113" y="152400"/>
                    </a:lnTo>
                    <a:lnTo>
                      <a:pt x="138113" y="133350"/>
                    </a:lnTo>
                    <a:close/>
                  </a:path>
                </a:pathLst>
              </a:custGeom>
              <a:solidFill>
                <a:srgbClr val="FFD700"/>
              </a:solidFill>
              <a:ln/>
            </p:spPr>
          </p:sp>
        </p:grp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E10CCA40-A763-4836-BE11-F95CFE93F605}"/>
              </a:ext>
            </a:extLst>
          </p:cNvPr>
          <p:cNvGrpSpPr/>
          <p:nvPr/>
        </p:nvGrpSpPr>
        <p:grpSpPr>
          <a:xfrm>
            <a:off x="12877800" y="5638800"/>
            <a:ext cx="11430000" cy="838200"/>
            <a:chOff x="381000" y="5638800"/>
            <a:chExt cx="11430000" cy="838200"/>
          </a:xfrm>
        </p:grpSpPr>
        <p:sp>
          <p:nvSpPr>
            <p:cNvPr id="104" name="Shape 40">
              <a:extLst>
                <a:ext uri="{FF2B5EF4-FFF2-40B4-BE49-F238E27FC236}">
                  <a16:creationId xmlns:a16="http://schemas.microsoft.com/office/drawing/2014/main" id="{790936A1-159C-4733-B859-0D4F19D2C980}"/>
                </a:ext>
              </a:extLst>
            </p:cNvPr>
            <p:cNvSpPr/>
            <p:nvPr/>
          </p:nvSpPr>
          <p:spPr>
            <a:xfrm>
              <a:off x="381000" y="5638800"/>
              <a:ext cx="11430000" cy="838200"/>
            </a:xfrm>
            <a:custGeom>
              <a:avLst/>
              <a:gdLst/>
              <a:ahLst/>
              <a:cxnLst/>
              <a:rect l="l" t="t" r="r" b="b"/>
              <a:pathLst>
                <a:path w="11430000" h="838200">
                  <a:moveTo>
                    <a:pt x="152402" y="0"/>
                  </a:moveTo>
                  <a:lnTo>
                    <a:pt x="11277598" y="0"/>
                  </a:lnTo>
                  <a:cubicBezTo>
                    <a:pt x="11361768" y="0"/>
                    <a:pt x="11430000" y="68232"/>
                    <a:pt x="11430000" y="152402"/>
                  </a:cubicBezTo>
                  <a:lnTo>
                    <a:pt x="11430000" y="685798"/>
                  </a:lnTo>
                  <a:cubicBezTo>
                    <a:pt x="11430000" y="769968"/>
                    <a:pt x="11361768" y="838200"/>
                    <a:pt x="11277598" y="838200"/>
                  </a:cubicBezTo>
                  <a:lnTo>
                    <a:pt x="152402" y="838200"/>
                  </a:lnTo>
                  <a:cubicBezTo>
                    <a:pt x="68232" y="838200"/>
                    <a:pt x="0" y="769968"/>
                    <a:pt x="0" y="685798"/>
                  </a:cubicBezTo>
                  <a:lnTo>
                    <a:pt x="0" y="152402"/>
                  </a:lnTo>
                  <a:cubicBezTo>
                    <a:pt x="0" y="68289"/>
                    <a:pt x="68289" y="0"/>
                    <a:pt x="1524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5" name="Shape 41">
              <a:extLst>
                <a:ext uri="{FF2B5EF4-FFF2-40B4-BE49-F238E27FC236}">
                  <a16:creationId xmlns:a16="http://schemas.microsoft.com/office/drawing/2014/main" id="{7C00A0DA-2EB9-4979-8FD9-9478B9FA1962}"/>
                </a:ext>
              </a:extLst>
            </p:cNvPr>
            <p:cNvSpPr/>
            <p:nvPr/>
          </p:nvSpPr>
          <p:spPr>
            <a:xfrm>
              <a:off x="2063115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6" name="Shape 42">
              <a:extLst>
                <a:ext uri="{FF2B5EF4-FFF2-40B4-BE49-F238E27FC236}">
                  <a16:creationId xmlns:a16="http://schemas.microsoft.com/office/drawing/2014/main" id="{B7DEF0C2-0D49-4136-B4E1-E48D06169FD5}"/>
                </a:ext>
              </a:extLst>
            </p:cNvPr>
            <p:cNvSpPr/>
            <p:nvPr/>
          </p:nvSpPr>
          <p:spPr>
            <a:xfrm>
              <a:off x="2196465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78594"/>
                  </a:moveTo>
                  <a:cubicBezTo>
                    <a:pt x="147861" y="178594"/>
                    <a:pt x="190500" y="138596"/>
                    <a:pt x="190500" y="89297"/>
                  </a:cubicBezTo>
                  <a:cubicBezTo>
                    <a:pt x="190500" y="39998"/>
                    <a:pt x="147861" y="0"/>
                    <a:pt x="95250" y="0"/>
                  </a:cubicBezTo>
                  <a:cubicBezTo>
                    <a:pt x="42639" y="0"/>
                    <a:pt x="0" y="39998"/>
                    <a:pt x="0" y="89297"/>
                  </a:cubicBezTo>
                  <a:cubicBezTo>
                    <a:pt x="0" y="109500"/>
                    <a:pt x="7144" y="128104"/>
                    <a:pt x="19199" y="143061"/>
                  </a:cubicBezTo>
                  <a:lnTo>
                    <a:pt x="1042" y="177403"/>
                  </a:lnTo>
                  <a:cubicBezTo>
                    <a:pt x="-744" y="180752"/>
                    <a:pt x="-186" y="184845"/>
                    <a:pt x="2381" y="187635"/>
                  </a:cubicBezTo>
                  <a:cubicBezTo>
                    <a:pt x="4949" y="190426"/>
                    <a:pt x="9004" y="191281"/>
                    <a:pt x="12464" y="189793"/>
                  </a:cubicBezTo>
                  <a:lnTo>
                    <a:pt x="56517" y="170929"/>
                  </a:lnTo>
                  <a:cubicBezTo>
                    <a:pt x="68349" y="175840"/>
                    <a:pt x="81446" y="178594"/>
                    <a:pt x="95250" y="178594"/>
                  </a:cubicBezTo>
                  <a:close/>
                  <a:moveTo>
                    <a:pt x="47625" y="77391"/>
                  </a:moveTo>
                  <a:cubicBezTo>
                    <a:pt x="54196" y="77391"/>
                    <a:pt x="59531" y="82726"/>
                    <a:pt x="59531" y="89297"/>
                  </a:cubicBezTo>
                  <a:cubicBezTo>
                    <a:pt x="59531" y="95868"/>
                    <a:pt x="54196" y="101203"/>
                    <a:pt x="47625" y="101203"/>
                  </a:cubicBezTo>
                  <a:cubicBezTo>
                    <a:pt x="41054" y="101203"/>
                    <a:pt x="35719" y="95868"/>
                    <a:pt x="35719" y="89297"/>
                  </a:cubicBezTo>
                  <a:cubicBezTo>
                    <a:pt x="35719" y="82726"/>
                    <a:pt x="41054" y="77391"/>
                    <a:pt x="47625" y="77391"/>
                  </a:cubicBezTo>
                  <a:close/>
                  <a:moveTo>
                    <a:pt x="95250" y="77391"/>
                  </a:moveTo>
                  <a:cubicBezTo>
                    <a:pt x="101821" y="77391"/>
                    <a:pt x="107156" y="82726"/>
                    <a:pt x="107156" y="89297"/>
                  </a:cubicBezTo>
                  <a:cubicBezTo>
                    <a:pt x="107156" y="95868"/>
                    <a:pt x="101821" y="101203"/>
                    <a:pt x="95250" y="101203"/>
                  </a:cubicBezTo>
                  <a:cubicBezTo>
                    <a:pt x="88679" y="101203"/>
                    <a:pt x="83344" y="95868"/>
                    <a:pt x="83344" y="89297"/>
                  </a:cubicBezTo>
                  <a:cubicBezTo>
                    <a:pt x="83344" y="82726"/>
                    <a:pt x="88679" y="77391"/>
                    <a:pt x="95250" y="77391"/>
                  </a:cubicBezTo>
                  <a:close/>
                  <a:moveTo>
                    <a:pt x="130969" y="89297"/>
                  </a:moveTo>
                  <a:cubicBezTo>
                    <a:pt x="130969" y="82726"/>
                    <a:pt x="136304" y="77391"/>
                    <a:pt x="142875" y="77391"/>
                  </a:cubicBezTo>
                  <a:cubicBezTo>
                    <a:pt x="149446" y="77391"/>
                    <a:pt x="154781" y="82726"/>
                    <a:pt x="154781" y="89297"/>
                  </a:cubicBezTo>
                  <a:cubicBezTo>
                    <a:pt x="154781" y="95868"/>
                    <a:pt x="149446" y="101203"/>
                    <a:pt x="142875" y="101203"/>
                  </a:cubicBezTo>
                  <a:cubicBezTo>
                    <a:pt x="136304" y="101203"/>
                    <a:pt x="130969" y="95868"/>
                    <a:pt x="130969" y="8929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07" name="Text 43">
              <a:extLst>
                <a:ext uri="{FF2B5EF4-FFF2-40B4-BE49-F238E27FC236}">
                  <a16:creationId xmlns:a16="http://schemas.microsoft.com/office/drawing/2014/main" id="{757E1465-8EFD-4D5E-AF38-1B8BA9FDECE7}"/>
                </a:ext>
              </a:extLst>
            </p:cNvPr>
            <p:cNvSpPr/>
            <p:nvPr/>
          </p:nvSpPr>
          <p:spPr>
            <a:xfrm>
              <a:off x="2634615" y="5924550"/>
              <a:ext cx="7048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Запрос</a:t>
              </a:r>
              <a:endParaRPr lang="en-US" sz="1600" dirty="0"/>
            </a:p>
          </p:txBody>
        </p:sp>
        <p:sp>
          <p:nvSpPr>
            <p:cNvPr id="108" name="Shape 44">
              <a:extLst>
                <a:ext uri="{FF2B5EF4-FFF2-40B4-BE49-F238E27FC236}">
                  <a16:creationId xmlns:a16="http://schemas.microsoft.com/office/drawing/2014/main" id="{611453FC-A9A3-4E86-AA23-9184EB732CE3}"/>
                </a:ext>
              </a:extLst>
            </p:cNvPr>
            <p:cNvSpPr/>
            <p:nvPr/>
          </p:nvSpPr>
          <p:spPr>
            <a:xfrm>
              <a:off x="3583305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9" name="Shape 45">
              <a:extLst>
                <a:ext uri="{FF2B5EF4-FFF2-40B4-BE49-F238E27FC236}">
                  <a16:creationId xmlns:a16="http://schemas.microsoft.com/office/drawing/2014/main" id="{A5204879-170F-4AE4-A6B4-87D00EC2AFB2}"/>
                </a:ext>
              </a:extLst>
            </p:cNvPr>
            <p:cNvSpPr/>
            <p:nvPr/>
          </p:nvSpPr>
          <p:spPr>
            <a:xfrm>
              <a:off x="4145280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0" name="Shape 46">
              <a:extLst>
                <a:ext uri="{FF2B5EF4-FFF2-40B4-BE49-F238E27FC236}">
                  <a16:creationId xmlns:a16="http://schemas.microsoft.com/office/drawing/2014/main" id="{E6D1308E-4346-4EE2-9FEB-C0486CFCE029}"/>
                </a:ext>
              </a:extLst>
            </p:cNvPr>
            <p:cNvSpPr/>
            <p:nvPr/>
          </p:nvSpPr>
          <p:spPr>
            <a:xfrm>
              <a:off x="4278630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54781" y="77391"/>
                  </a:moveTo>
                  <a:cubicBezTo>
                    <a:pt x="154781" y="94469"/>
                    <a:pt x="149237" y="110244"/>
                    <a:pt x="139898" y="123044"/>
                  </a:cubicBezTo>
                  <a:lnTo>
                    <a:pt x="187003" y="170185"/>
                  </a:lnTo>
                  <a:cubicBezTo>
                    <a:pt x="191653" y="174836"/>
                    <a:pt x="191653" y="182389"/>
                    <a:pt x="187003" y="187040"/>
                  </a:cubicBezTo>
                  <a:cubicBezTo>
                    <a:pt x="182352" y="191691"/>
                    <a:pt x="174799" y="191691"/>
                    <a:pt x="170148" y="187040"/>
                  </a:cubicBezTo>
                  <a:lnTo>
                    <a:pt x="123044" y="139898"/>
                  </a:lnTo>
                  <a:cubicBezTo>
                    <a:pt x="110244" y="149237"/>
                    <a:pt x="94469" y="154781"/>
                    <a:pt x="77391" y="154781"/>
                  </a:cubicBezTo>
                  <a:cubicBezTo>
                    <a:pt x="34640" y="154781"/>
                    <a:pt x="0" y="120142"/>
                    <a:pt x="0" y="77391"/>
                  </a:cubicBezTo>
                  <a:cubicBezTo>
                    <a:pt x="0" y="34640"/>
                    <a:pt x="34640" y="0"/>
                    <a:pt x="77391" y="0"/>
                  </a:cubicBezTo>
                  <a:cubicBezTo>
                    <a:pt x="120142" y="0"/>
                    <a:pt x="154781" y="34640"/>
                    <a:pt x="154781" y="77391"/>
                  </a:cubicBezTo>
                  <a:close/>
                  <a:moveTo>
                    <a:pt x="77391" y="130969"/>
                  </a:moveTo>
                  <a:cubicBezTo>
                    <a:pt x="106961" y="130969"/>
                    <a:pt x="130969" y="106961"/>
                    <a:pt x="130969" y="77391"/>
                  </a:cubicBezTo>
                  <a:cubicBezTo>
                    <a:pt x="130969" y="47820"/>
                    <a:pt x="106961" y="23812"/>
                    <a:pt x="77391" y="23812"/>
                  </a:cubicBezTo>
                  <a:cubicBezTo>
                    <a:pt x="47820" y="23812"/>
                    <a:pt x="23813" y="47820"/>
                    <a:pt x="23812" y="77391"/>
                  </a:cubicBezTo>
                  <a:cubicBezTo>
                    <a:pt x="23812" y="106961"/>
                    <a:pt x="47820" y="130969"/>
                    <a:pt x="77391" y="130969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11" name="Text 47">
              <a:extLst>
                <a:ext uri="{FF2B5EF4-FFF2-40B4-BE49-F238E27FC236}">
                  <a16:creationId xmlns:a16="http://schemas.microsoft.com/office/drawing/2014/main" id="{556831AD-8B3F-444F-A788-4A7D7B99F01B}"/>
                </a:ext>
              </a:extLst>
            </p:cNvPr>
            <p:cNvSpPr/>
            <p:nvPr/>
          </p:nvSpPr>
          <p:spPr>
            <a:xfrm>
              <a:off x="4716780" y="592455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Поиск</a:t>
              </a:r>
              <a:endParaRPr lang="en-US" sz="1600" dirty="0"/>
            </a:p>
          </p:txBody>
        </p:sp>
        <p:sp>
          <p:nvSpPr>
            <p:cNvPr id="112" name="Shape 48">
              <a:extLst>
                <a:ext uri="{FF2B5EF4-FFF2-40B4-BE49-F238E27FC236}">
                  <a16:creationId xmlns:a16="http://schemas.microsoft.com/office/drawing/2014/main" id="{4C96C923-A0D8-465D-9EED-CBF526785B9A}"/>
                </a:ext>
              </a:extLst>
            </p:cNvPr>
            <p:cNvSpPr/>
            <p:nvPr/>
          </p:nvSpPr>
          <p:spPr>
            <a:xfrm>
              <a:off x="5569268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3" name="Shape 49">
              <a:extLst>
                <a:ext uri="{FF2B5EF4-FFF2-40B4-BE49-F238E27FC236}">
                  <a16:creationId xmlns:a16="http://schemas.microsoft.com/office/drawing/2014/main" id="{F87A8880-BCB7-46A6-BB48-F08D94C48412}"/>
                </a:ext>
              </a:extLst>
            </p:cNvPr>
            <p:cNvSpPr/>
            <p:nvPr/>
          </p:nvSpPr>
          <p:spPr>
            <a:xfrm>
              <a:off x="6131243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4" name="Shape 50">
              <a:extLst>
                <a:ext uri="{FF2B5EF4-FFF2-40B4-BE49-F238E27FC236}">
                  <a16:creationId xmlns:a16="http://schemas.microsoft.com/office/drawing/2014/main" id="{9C3544D6-F89D-4A6D-BAAC-DEF1B0DA08B8}"/>
                </a:ext>
              </a:extLst>
            </p:cNvPr>
            <p:cNvSpPr/>
            <p:nvPr/>
          </p:nvSpPr>
          <p:spPr>
            <a:xfrm>
              <a:off x="6276499" y="59626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166688" y="76572"/>
                  </a:moveTo>
                  <a:cubicBezTo>
                    <a:pt x="161181" y="80218"/>
                    <a:pt x="154856" y="83158"/>
                    <a:pt x="148270" y="85502"/>
                  </a:cubicBezTo>
                  <a:cubicBezTo>
                    <a:pt x="130783" y="91753"/>
                    <a:pt x="107826" y="95250"/>
                    <a:pt x="83344" y="95250"/>
                  </a:cubicBezTo>
                  <a:cubicBezTo>
                    <a:pt x="58862" y="95250"/>
                    <a:pt x="35868" y="91715"/>
                    <a:pt x="18417" y="85502"/>
                  </a:cubicBezTo>
                  <a:cubicBezTo>
                    <a:pt x="11869" y="83158"/>
                    <a:pt x="5507" y="80218"/>
                    <a:pt x="0" y="76572"/>
                  </a:cubicBezTo>
                  <a:lnTo>
                    <a:pt x="0" y="107156"/>
                  </a:lnTo>
                  <a:cubicBezTo>
                    <a:pt x="0" y="123602"/>
                    <a:pt x="37319" y="136922"/>
                    <a:pt x="83344" y="136922"/>
                  </a:cubicBezTo>
                  <a:cubicBezTo>
                    <a:pt x="129369" y="136922"/>
                    <a:pt x="166688" y="123602"/>
                    <a:pt x="166688" y="107156"/>
                  </a:cubicBezTo>
                  <a:lnTo>
                    <a:pt x="166688" y="76572"/>
                  </a:lnTo>
                  <a:close/>
                  <a:moveTo>
                    <a:pt x="166688" y="47625"/>
                  </a:moveTo>
                  <a:lnTo>
                    <a:pt x="166688" y="29766"/>
                  </a:lnTo>
                  <a:cubicBezTo>
                    <a:pt x="166688" y="13320"/>
                    <a:pt x="129369" y="0"/>
                    <a:pt x="83344" y="0"/>
                  </a:cubicBezTo>
                  <a:cubicBezTo>
                    <a:pt x="37319" y="0"/>
                    <a:pt x="0" y="13320"/>
                    <a:pt x="0" y="29766"/>
                  </a:cubicBezTo>
                  <a:lnTo>
                    <a:pt x="0" y="47625"/>
                  </a:lnTo>
                  <a:cubicBezTo>
                    <a:pt x="0" y="64071"/>
                    <a:pt x="37319" y="77391"/>
                    <a:pt x="83344" y="77391"/>
                  </a:cubicBezTo>
                  <a:cubicBezTo>
                    <a:pt x="129369" y="77391"/>
                    <a:pt x="166688" y="64071"/>
                    <a:pt x="166688" y="47625"/>
                  </a:cubicBezTo>
                  <a:close/>
                  <a:moveTo>
                    <a:pt x="148270" y="145033"/>
                  </a:moveTo>
                  <a:cubicBezTo>
                    <a:pt x="130820" y="151247"/>
                    <a:pt x="107863" y="154781"/>
                    <a:pt x="83344" y="154781"/>
                  </a:cubicBezTo>
                  <a:cubicBezTo>
                    <a:pt x="58824" y="154781"/>
                    <a:pt x="35868" y="151247"/>
                    <a:pt x="18417" y="145033"/>
                  </a:cubicBezTo>
                  <a:cubicBezTo>
                    <a:pt x="11869" y="142689"/>
                    <a:pt x="5507" y="139750"/>
                    <a:pt x="0" y="136103"/>
                  </a:cubicBezTo>
                  <a:lnTo>
                    <a:pt x="0" y="160734"/>
                  </a:lnTo>
                  <a:cubicBezTo>
                    <a:pt x="0" y="177180"/>
                    <a:pt x="37319" y="190500"/>
                    <a:pt x="83344" y="190500"/>
                  </a:cubicBezTo>
                  <a:cubicBezTo>
                    <a:pt x="129369" y="190500"/>
                    <a:pt x="166688" y="177180"/>
                    <a:pt x="166688" y="160734"/>
                  </a:cubicBezTo>
                  <a:lnTo>
                    <a:pt x="166688" y="136103"/>
                  </a:lnTo>
                  <a:cubicBezTo>
                    <a:pt x="161181" y="139750"/>
                    <a:pt x="154856" y="142689"/>
                    <a:pt x="148270" y="145033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15" name="Text 51">
              <a:extLst>
                <a:ext uri="{FF2B5EF4-FFF2-40B4-BE49-F238E27FC236}">
                  <a16:creationId xmlns:a16="http://schemas.microsoft.com/office/drawing/2014/main" id="{DF07C6BB-883C-4D52-8653-6DDD522327AF}"/>
                </a:ext>
              </a:extLst>
            </p:cNvPr>
            <p:cNvSpPr/>
            <p:nvPr/>
          </p:nvSpPr>
          <p:spPr>
            <a:xfrm>
              <a:off x="6702743" y="5924550"/>
              <a:ext cx="8667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Контекст</a:t>
              </a:r>
              <a:endParaRPr lang="en-US" sz="1600" dirty="0"/>
            </a:p>
          </p:txBody>
        </p:sp>
        <p:sp>
          <p:nvSpPr>
            <p:cNvPr id="116" name="Shape 52">
              <a:extLst>
                <a:ext uri="{FF2B5EF4-FFF2-40B4-BE49-F238E27FC236}">
                  <a16:creationId xmlns:a16="http://schemas.microsoft.com/office/drawing/2014/main" id="{ABD00861-135F-4D05-8C73-A24C1CC2B16A}"/>
                </a:ext>
              </a:extLst>
            </p:cNvPr>
            <p:cNvSpPr/>
            <p:nvPr/>
          </p:nvSpPr>
          <p:spPr>
            <a:xfrm>
              <a:off x="7818279" y="5943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4403" y="124391"/>
                  </a:moveTo>
                  <a:cubicBezTo>
                    <a:pt x="229984" y="118809"/>
                    <a:pt x="229984" y="109746"/>
                    <a:pt x="224403" y="104165"/>
                  </a:cubicBezTo>
                  <a:lnTo>
                    <a:pt x="152966" y="32727"/>
                  </a:lnTo>
                  <a:cubicBezTo>
                    <a:pt x="147384" y="27146"/>
                    <a:pt x="138321" y="27146"/>
                    <a:pt x="132740" y="32727"/>
                  </a:cubicBezTo>
                  <a:cubicBezTo>
                    <a:pt x="127159" y="38308"/>
                    <a:pt x="127159" y="47372"/>
                    <a:pt x="132740" y="52953"/>
                  </a:cubicBezTo>
                  <a:lnTo>
                    <a:pt x="179799" y="100013"/>
                  </a:lnTo>
                  <a:lnTo>
                    <a:pt x="14288" y="100013"/>
                  </a:lnTo>
                  <a:cubicBezTo>
                    <a:pt x="6385" y="100013"/>
                    <a:pt x="0" y="106397"/>
                    <a:pt x="0" y="114300"/>
                  </a:cubicBezTo>
                  <a:cubicBezTo>
                    <a:pt x="0" y="122203"/>
                    <a:pt x="6385" y="128588"/>
                    <a:pt x="14288" y="128588"/>
                  </a:cubicBezTo>
                  <a:lnTo>
                    <a:pt x="179799" y="128588"/>
                  </a:lnTo>
                  <a:lnTo>
                    <a:pt x="132740" y="175647"/>
                  </a:lnTo>
                  <a:cubicBezTo>
                    <a:pt x="127159" y="181228"/>
                    <a:pt x="127159" y="190292"/>
                    <a:pt x="132740" y="195873"/>
                  </a:cubicBezTo>
                  <a:cubicBezTo>
                    <a:pt x="138321" y="201454"/>
                    <a:pt x="147384" y="201454"/>
                    <a:pt x="152966" y="195873"/>
                  </a:cubicBezTo>
                  <a:lnTo>
                    <a:pt x="224403" y="12443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7" name="Shape 53">
              <a:extLst>
                <a:ext uri="{FF2B5EF4-FFF2-40B4-BE49-F238E27FC236}">
                  <a16:creationId xmlns:a16="http://schemas.microsoft.com/office/drawing/2014/main" id="{6B4F1304-C2C1-4A79-92C4-847B6D7BB6B3}"/>
                </a:ext>
              </a:extLst>
            </p:cNvPr>
            <p:cNvSpPr/>
            <p:nvPr/>
          </p:nvSpPr>
          <p:spPr>
            <a:xfrm>
              <a:off x="8380254" y="5829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8" name="Shape 54">
              <a:extLst>
                <a:ext uri="{FF2B5EF4-FFF2-40B4-BE49-F238E27FC236}">
                  <a16:creationId xmlns:a16="http://schemas.microsoft.com/office/drawing/2014/main" id="{9E484293-6054-4DAB-8D56-02B80853F08A}"/>
                </a:ext>
              </a:extLst>
            </p:cNvPr>
            <p:cNvSpPr/>
            <p:nvPr/>
          </p:nvSpPr>
          <p:spPr>
            <a:xfrm>
              <a:off x="8513604" y="5962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19" name="Text 55">
              <a:extLst>
                <a:ext uri="{FF2B5EF4-FFF2-40B4-BE49-F238E27FC236}">
                  <a16:creationId xmlns:a16="http://schemas.microsoft.com/office/drawing/2014/main" id="{6FE51320-BAFC-4B06-AE59-C61367C38BDA}"/>
                </a:ext>
              </a:extLst>
            </p:cNvPr>
            <p:cNvSpPr/>
            <p:nvPr/>
          </p:nvSpPr>
          <p:spPr>
            <a:xfrm>
              <a:off x="8951754" y="5924550"/>
              <a:ext cx="12668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Точный ответ</a:t>
              </a:r>
              <a:endParaRPr lang="en-US" sz="1600" dirty="0"/>
            </a:p>
          </p:txBody>
        </p:sp>
      </p:grpSp>
      <p:grpSp>
        <p:nvGrpSpPr>
          <p:cNvPr id="121" name="Группа 120">
            <a:extLst>
              <a:ext uri="{FF2B5EF4-FFF2-40B4-BE49-F238E27FC236}">
                <a16:creationId xmlns:a16="http://schemas.microsoft.com/office/drawing/2014/main" id="{3862DBF4-EDDA-4906-BC51-C9D193B12076}"/>
              </a:ext>
            </a:extLst>
          </p:cNvPr>
          <p:cNvGrpSpPr/>
          <p:nvPr/>
        </p:nvGrpSpPr>
        <p:grpSpPr>
          <a:xfrm>
            <a:off x="367229" y="-966271"/>
            <a:ext cx="4847422" cy="516460"/>
            <a:chOff x="367229" y="367229"/>
            <a:chExt cx="4847422" cy="516460"/>
          </a:xfrm>
        </p:grpSpPr>
        <p:sp>
          <p:nvSpPr>
            <p:cNvPr id="122" name="Shape 0">
              <a:extLst>
                <a:ext uri="{FF2B5EF4-FFF2-40B4-BE49-F238E27FC236}">
                  <a16:creationId xmlns:a16="http://schemas.microsoft.com/office/drawing/2014/main" id="{4EC38321-2D3C-41C6-9358-DE596B070F21}"/>
                </a:ext>
              </a:extLst>
            </p:cNvPr>
            <p:cNvSpPr/>
            <p:nvPr/>
          </p:nvSpPr>
          <p:spPr>
            <a:xfrm>
              <a:off x="367229" y="367229"/>
              <a:ext cx="514120" cy="514120"/>
            </a:xfrm>
            <a:custGeom>
              <a:avLst/>
              <a:gdLst/>
              <a:ahLst/>
              <a:cxnLst/>
              <a:rect l="l" t="t" r="r" b="b"/>
              <a:pathLst>
                <a:path w="514120" h="514120">
                  <a:moveTo>
                    <a:pt x="110171" y="0"/>
                  </a:moveTo>
                  <a:lnTo>
                    <a:pt x="403950" y="0"/>
                  </a:lnTo>
                  <a:cubicBezTo>
                    <a:pt x="464755" y="0"/>
                    <a:pt x="514120" y="49366"/>
                    <a:pt x="514120" y="110171"/>
                  </a:cubicBezTo>
                  <a:lnTo>
                    <a:pt x="514120" y="403950"/>
                  </a:lnTo>
                  <a:cubicBezTo>
                    <a:pt x="514120" y="464795"/>
                    <a:pt x="464795" y="514120"/>
                    <a:pt x="403950" y="514120"/>
                  </a:cubicBezTo>
                  <a:lnTo>
                    <a:pt x="110171" y="514120"/>
                  </a:lnTo>
                  <a:cubicBezTo>
                    <a:pt x="49366" y="514120"/>
                    <a:pt x="0" y="464755"/>
                    <a:pt x="0" y="403950"/>
                  </a:cubicBezTo>
                  <a:lnTo>
                    <a:pt x="0" y="110171"/>
                  </a:lnTo>
                  <a:cubicBezTo>
                    <a:pt x="0" y="49325"/>
                    <a:pt x="49325" y="0"/>
                    <a:pt x="110171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3" name="Shape 1">
              <a:extLst>
                <a:ext uri="{FF2B5EF4-FFF2-40B4-BE49-F238E27FC236}">
                  <a16:creationId xmlns:a16="http://schemas.microsoft.com/office/drawing/2014/main" id="{5BA30208-A623-415F-B0C8-ADBB9DE93513}"/>
                </a:ext>
              </a:extLst>
            </p:cNvPr>
            <p:cNvSpPr/>
            <p:nvPr/>
          </p:nvSpPr>
          <p:spPr>
            <a:xfrm>
              <a:off x="514120" y="514120"/>
              <a:ext cx="220337" cy="220337"/>
            </a:xfrm>
            <a:custGeom>
              <a:avLst/>
              <a:gdLst/>
              <a:ahLst/>
              <a:cxnLst/>
              <a:rect l="l" t="t" r="r" b="b"/>
              <a:pathLst>
                <a:path w="220337" h="220337">
                  <a:moveTo>
                    <a:pt x="27542" y="13771"/>
                  </a:moveTo>
                  <a:cubicBezTo>
                    <a:pt x="12351" y="13771"/>
                    <a:pt x="0" y="26122"/>
                    <a:pt x="0" y="41313"/>
                  </a:cubicBezTo>
                  <a:lnTo>
                    <a:pt x="0" y="151482"/>
                  </a:lnTo>
                  <a:cubicBezTo>
                    <a:pt x="0" y="166673"/>
                    <a:pt x="12351" y="179024"/>
                    <a:pt x="27542" y="179024"/>
                  </a:cubicBezTo>
                  <a:lnTo>
                    <a:pt x="89512" y="179024"/>
                  </a:lnTo>
                  <a:lnTo>
                    <a:pt x="82627" y="199681"/>
                  </a:lnTo>
                  <a:lnTo>
                    <a:pt x="51642" y="199681"/>
                  </a:lnTo>
                  <a:cubicBezTo>
                    <a:pt x="45918" y="199681"/>
                    <a:pt x="41313" y="204285"/>
                    <a:pt x="41313" y="210009"/>
                  </a:cubicBezTo>
                  <a:cubicBezTo>
                    <a:pt x="41313" y="215733"/>
                    <a:pt x="45918" y="220337"/>
                    <a:pt x="51642" y="220337"/>
                  </a:cubicBezTo>
                  <a:lnTo>
                    <a:pt x="168696" y="220337"/>
                  </a:lnTo>
                  <a:cubicBezTo>
                    <a:pt x="174419" y="220337"/>
                    <a:pt x="179024" y="215733"/>
                    <a:pt x="179024" y="210009"/>
                  </a:cubicBezTo>
                  <a:cubicBezTo>
                    <a:pt x="179024" y="204285"/>
                    <a:pt x="174419" y="199681"/>
                    <a:pt x="168696" y="199681"/>
                  </a:cubicBezTo>
                  <a:lnTo>
                    <a:pt x="137711" y="199681"/>
                  </a:lnTo>
                  <a:lnTo>
                    <a:pt x="130825" y="179024"/>
                  </a:lnTo>
                  <a:lnTo>
                    <a:pt x="192795" y="179024"/>
                  </a:lnTo>
                  <a:cubicBezTo>
                    <a:pt x="207986" y="179024"/>
                    <a:pt x="220337" y="166673"/>
                    <a:pt x="220337" y="151482"/>
                  </a:cubicBezTo>
                  <a:lnTo>
                    <a:pt x="220337" y="41313"/>
                  </a:lnTo>
                  <a:cubicBezTo>
                    <a:pt x="220337" y="26122"/>
                    <a:pt x="207986" y="13771"/>
                    <a:pt x="192795" y="13771"/>
                  </a:cubicBezTo>
                  <a:lnTo>
                    <a:pt x="27542" y="13771"/>
                  </a:lnTo>
                  <a:close/>
                  <a:moveTo>
                    <a:pt x="41313" y="41313"/>
                  </a:moveTo>
                  <a:lnTo>
                    <a:pt x="179024" y="41313"/>
                  </a:lnTo>
                  <a:cubicBezTo>
                    <a:pt x="186641" y="41313"/>
                    <a:pt x="192795" y="47467"/>
                    <a:pt x="192795" y="55084"/>
                  </a:cubicBezTo>
                  <a:lnTo>
                    <a:pt x="192795" y="123940"/>
                  </a:lnTo>
                  <a:cubicBezTo>
                    <a:pt x="192795" y="131557"/>
                    <a:pt x="186641" y="137711"/>
                    <a:pt x="179024" y="137711"/>
                  </a:cubicBezTo>
                  <a:lnTo>
                    <a:pt x="41313" y="137711"/>
                  </a:lnTo>
                  <a:cubicBezTo>
                    <a:pt x="33696" y="137711"/>
                    <a:pt x="27542" y="131557"/>
                    <a:pt x="27542" y="123940"/>
                  </a:cubicBezTo>
                  <a:lnTo>
                    <a:pt x="27542" y="55084"/>
                  </a:lnTo>
                  <a:cubicBezTo>
                    <a:pt x="27542" y="47467"/>
                    <a:pt x="33696" y="41313"/>
                    <a:pt x="41313" y="4131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4" name="Text 2">
              <a:extLst>
                <a:ext uri="{FF2B5EF4-FFF2-40B4-BE49-F238E27FC236}">
                  <a16:creationId xmlns:a16="http://schemas.microsoft.com/office/drawing/2014/main" id="{6A4C20BE-8DB2-4FB5-BF2B-57AD3BC44EC2}"/>
                </a:ext>
              </a:extLst>
            </p:cNvPr>
            <p:cNvSpPr/>
            <p:nvPr/>
          </p:nvSpPr>
          <p:spPr>
            <a:xfrm>
              <a:off x="1028241" y="385590"/>
              <a:ext cx="4186410" cy="367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602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Интерфейс пользователя</a:t>
              </a:r>
              <a:endParaRPr lang="en-US" sz="1600" dirty="0"/>
            </a:p>
          </p:txBody>
        </p:sp>
        <p:sp>
          <p:nvSpPr>
            <p:cNvPr id="125" name="Shape 3">
              <a:extLst>
                <a:ext uri="{FF2B5EF4-FFF2-40B4-BE49-F238E27FC236}">
                  <a16:creationId xmlns:a16="http://schemas.microsoft.com/office/drawing/2014/main" id="{74211BA5-81C5-4FF6-8111-CCCBD4AE6F91}"/>
                </a:ext>
              </a:extLst>
            </p:cNvPr>
            <p:cNvSpPr/>
            <p:nvPr/>
          </p:nvSpPr>
          <p:spPr>
            <a:xfrm>
              <a:off x="752819" y="837970"/>
              <a:ext cx="4425109" cy="45719"/>
            </a:xfrm>
            <a:custGeom>
              <a:avLst/>
              <a:gdLst/>
              <a:ahLst/>
              <a:cxnLst/>
              <a:rect l="l" t="t" r="r" b="b"/>
              <a:pathLst>
                <a:path w="881349" h="36723">
                  <a:moveTo>
                    <a:pt x="0" y="0"/>
                  </a:moveTo>
                  <a:lnTo>
                    <a:pt x="881349" y="0"/>
                  </a:lnTo>
                  <a:lnTo>
                    <a:pt x="881349" y="36723"/>
                  </a:lnTo>
                  <a:lnTo>
                    <a:pt x="0" y="36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26" name="Text 7">
            <a:extLst>
              <a:ext uri="{FF2B5EF4-FFF2-40B4-BE49-F238E27FC236}">
                <a16:creationId xmlns:a16="http://schemas.microsoft.com/office/drawing/2014/main" id="{4BA56D4C-4E40-4D7C-972E-E51417CD9441}"/>
              </a:ext>
            </a:extLst>
          </p:cNvPr>
          <p:cNvSpPr/>
          <p:nvPr/>
        </p:nvSpPr>
        <p:spPr>
          <a:xfrm>
            <a:off x="11127263" y="-106918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14</a:t>
            </a:r>
            <a:endParaRPr lang="en-US" sz="1600" dirty="0"/>
          </a:p>
        </p:txBody>
      </p:sp>
      <p:grpSp>
        <p:nvGrpSpPr>
          <p:cNvPr id="233" name="Группа 232">
            <a:extLst>
              <a:ext uri="{FF2B5EF4-FFF2-40B4-BE49-F238E27FC236}">
                <a16:creationId xmlns:a16="http://schemas.microsoft.com/office/drawing/2014/main" id="{D5022D55-8780-4C0D-9687-7E6F05F0EB2E}"/>
              </a:ext>
            </a:extLst>
          </p:cNvPr>
          <p:cNvGrpSpPr/>
          <p:nvPr/>
        </p:nvGrpSpPr>
        <p:grpSpPr>
          <a:xfrm>
            <a:off x="6261613" y="7242694"/>
            <a:ext cx="5618602" cy="734458"/>
            <a:chOff x="6261613" y="6004444"/>
            <a:chExt cx="5618602" cy="734458"/>
          </a:xfrm>
        </p:grpSpPr>
        <p:sp>
          <p:nvSpPr>
            <p:cNvPr id="234" name="Shape 61">
              <a:extLst>
                <a:ext uri="{FF2B5EF4-FFF2-40B4-BE49-F238E27FC236}">
                  <a16:creationId xmlns:a16="http://schemas.microsoft.com/office/drawing/2014/main" id="{7A82FE27-4348-4E94-BE70-556C2D60CCB1}"/>
                </a:ext>
              </a:extLst>
            </p:cNvPr>
            <p:cNvSpPr/>
            <p:nvPr/>
          </p:nvSpPr>
          <p:spPr>
            <a:xfrm>
              <a:off x="6261613" y="6004444"/>
              <a:ext cx="5618602" cy="734458"/>
            </a:xfrm>
            <a:custGeom>
              <a:avLst/>
              <a:gdLst/>
              <a:ahLst/>
              <a:cxnLst/>
              <a:rect l="l" t="t" r="r" b="b"/>
              <a:pathLst>
                <a:path w="5618602" h="734458">
                  <a:moveTo>
                    <a:pt x="110169" y="0"/>
                  </a:moveTo>
                  <a:lnTo>
                    <a:pt x="5508434" y="0"/>
                  </a:lnTo>
                  <a:cubicBezTo>
                    <a:pt x="5569278" y="0"/>
                    <a:pt x="5618602" y="49324"/>
                    <a:pt x="5618602" y="110169"/>
                  </a:cubicBezTo>
                  <a:lnTo>
                    <a:pt x="5618602" y="624289"/>
                  </a:lnTo>
                  <a:cubicBezTo>
                    <a:pt x="5618602" y="685134"/>
                    <a:pt x="5569278" y="734458"/>
                    <a:pt x="5508434" y="734458"/>
                  </a:cubicBezTo>
                  <a:lnTo>
                    <a:pt x="110169" y="734458"/>
                  </a:lnTo>
                  <a:cubicBezTo>
                    <a:pt x="49365" y="734458"/>
                    <a:pt x="0" y="685093"/>
                    <a:pt x="0" y="624289"/>
                  </a:cubicBezTo>
                  <a:lnTo>
                    <a:pt x="0" y="110169"/>
                  </a:lnTo>
                  <a:cubicBezTo>
                    <a:pt x="0" y="49365"/>
                    <a:pt x="49365" y="0"/>
                    <a:pt x="1101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5" name="Shape 62">
              <a:extLst>
                <a:ext uri="{FF2B5EF4-FFF2-40B4-BE49-F238E27FC236}">
                  <a16:creationId xmlns:a16="http://schemas.microsoft.com/office/drawing/2014/main" id="{29523AE9-75ED-4531-BD5D-3C9CE922AAF6}"/>
                </a:ext>
              </a:extLst>
            </p:cNvPr>
            <p:cNvSpPr/>
            <p:nvPr/>
          </p:nvSpPr>
          <p:spPr>
            <a:xfrm>
              <a:off x="6436046" y="6261505"/>
              <a:ext cx="165253" cy="220337"/>
            </a:xfrm>
            <a:custGeom>
              <a:avLst/>
              <a:gdLst/>
              <a:ahLst/>
              <a:cxnLst/>
              <a:rect l="l" t="t" r="r" b="b"/>
              <a:pathLst>
                <a:path w="165253" h="220337">
                  <a:moveTo>
                    <a:pt x="126048" y="165253"/>
                  </a:moveTo>
                  <a:cubicBezTo>
                    <a:pt x="129190" y="155656"/>
                    <a:pt x="135473" y="146963"/>
                    <a:pt x="142574" y="139475"/>
                  </a:cubicBezTo>
                  <a:cubicBezTo>
                    <a:pt x="156646" y="124671"/>
                    <a:pt x="165253" y="104660"/>
                    <a:pt x="165253" y="82627"/>
                  </a:cubicBezTo>
                  <a:cubicBezTo>
                    <a:pt x="165253" y="37010"/>
                    <a:pt x="128243" y="0"/>
                    <a:pt x="82627" y="0"/>
                  </a:cubicBezTo>
                  <a:cubicBezTo>
                    <a:pt x="37010" y="0"/>
                    <a:pt x="0" y="37010"/>
                    <a:pt x="0" y="82627"/>
                  </a:cubicBezTo>
                  <a:cubicBezTo>
                    <a:pt x="0" y="104660"/>
                    <a:pt x="8607" y="124671"/>
                    <a:pt x="22679" y="139475"/>
                  </a:cubicBezTo>
                  <a:cubicBezTo>
                    <a:pt x="29780" y="146963"/>
                    <a:pt x="36106" y="155656"/>
                    <a:pt x="39205" y="165253"/>
                  </a:cubicBezTo>
                  <a:lnTo>
                    <a:pt x="126005" y="165253"/>
                  </a:lnTo>
                  <a:close/>
                  <a:moveTo>
                    <a:pt x="123940" y="185910"/>
                  </a:moveTo>
                  <a:lnTo>
                    <a:pt x="41313" y="185910"/>
                  </a:lnTo>
                  <a:lnTo>
                    <a:pt x="41313" y="192795"/>
                  </a:lnTo>
                  <a:cubicBezTo>
                    <a:pt x="41313" y="211816"/>
                    <a:pt x="56720" y="227223"/>
                    <a:pt x="75741" y="227223"/>
                  </a:cubicBezTo>
                  <a:lnTo>
                    <a:pt x="89512" y="227223"/>
                  </a:lnTo>
                  <a:cubicBezTo>
                    <a:pt x="108533" y="227223"/>
                    <a:pt x="123940" y="211816"/>
                    <a:pt x="123940" y="192795"/>
                  </a:cubicBezTo>
                  <a:lnTo>
                    <a:pt x="123940" y="185910"/>
                  </a:lnTo>
                  <a:close/>
                  <a:moveTo>
                    <a:pt x="79184" y="48199"/>
                  </a:moveTo>
                  <a:cubicBezTo>
                    <a:pt x="62056" y="48199"/>
                    <a:pt x="48199" y="62056"/>
                    <a:pt x="48199" y="79184"/>
                  </a:cubicBezTo>
                  <a:cubicBezTo>
                    <a:pt x="48199" y="84907"/>
                    <a:pt x="43594" y="89512"/>
                    <a:pt x="37870" y="89512"/>
                  </a:cubicBezTo>
                  <a:cubicBezTo>
                    <a:pt x="32147" y="89512"/>
                    <a:pt x="27542" y="84907"/>
                    <a:pt x="27542" y="79184"/>
                  </a:cubicBezTo>
                  <a:cubicBezTo>
                    <a:pt x="27542" y="50652"/>
                    <a:pt x="50652" y="27542"/>
                    <a:pt x="79184" y="27542"/>
                  </a:cubicBezTo>
                  <a:cubicBezTo>
                    <a:pt x="84907" y="27542"/>
                    <a:pt x="89512" y="32147"/>
                    <a:pt x="89512" y="37870"/>
                  </a:cubicBezTo>
                  <a:cubicBezTo>
                    <a:pt x="89512" y="43594"/>
                    <a:pt x="84907" y="48199"/>
                    <a:pt x="79184" y="4819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36" name="Text 63">
              <a:extLst>
                <a:ext uri="{FF2B5EF4-FFF2-40B4-BE49-F238E27FC236}">
                  <a16:creationId xmlns:a16="http://schemas.microsoft.com/office/drawing/2014/main" id="{BDFF0AC0-7AC6-43BB-B027-AA4478C8A094}"/>
                </a:ext>
              </a:extLst>
            </p:cNvPr>
            <p:cNvSpPr/>
            <p:nvPr/>
          </p:nvSpPr>
          <p:spPr>
            <a:xfrm>
              <a:off x="6738245" y="6151336"/>
              <a:ext cx="5067759" cy="440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5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Дизайн в стиле 1С: минималистичный, функциональный, привычный пользователям</a:t>
              </a:r>
              <a:endParaRPr lang="en-US" sz="16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D7316BDA-FE3A-429C-BCA4-61C2369D5B67}"/>
              </a:ext>
            </a:extLst>
          </p:cNvPr>
          <p:cNvGrpSpPr/>
          <p:nvPr/>
        </p:nvGrpSpPr>
        <p:grpSpPr>
          <a:xfrm>
            <a:off x="381000" y="381000"/>
            <a:ext cx="3124200" cy="533400"/>
            <a:chOff x="381000" y="381000"/>
            <a:chExt cx="3124200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24384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Безопасность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62000" y="866774"/>
              <a:ext cx="274320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DF9C0CA8-EC07-4B13-9B8B-2B5C3A08AE73}"/>
              </a:ext>
            </a:extLst>
          </p:cNvPr>
          <p:cNvGrpSpPr/>
          <p:nvPr/>
        </p:nvGrpSpPr>
        <p:grpSpPr>
          <a:xfrm>
            <a:off x="381000" y="1143000"/>
            <a:ext cx="5600700" cy="4476750"/>
            <a:chOff x="381000" y="1143000"/>
            <a:chExt cx="5600700" cy="4476750"/>
          </a:xfrm>
        </p:grpSpPr>
        <p:sp>
          <p:nvSpPr>
            <p:cNvPr id="6" name="Shape 4"/>
            <p:cNvSpPr/>
            <p:nvPr/>
          </p:nvSpPr>
          <p:spPr>
            <a:xfrm>
              <a:off x="381000" y="1143000"/>
              <a:ext cx="5600700" cy="4476750"/>
            </a:xfrm>
            <a:custGeom>
              <a:avLst/>
              <a:gdLst/>
              <a:ahLst/>
              <a:cxnLst/>
              <a:rect l="l" t="t" r="r" b="b"/>
              <a:pathLst>
                <a:path w="5600700" h="4476750">
                  <a:moveTo>
                    <a:pt x="152389" y="0"/>
                  </a:moveTo>
                  <a:lnTo>
                    <a:pt x="5448311" y="0"/>
                  </a:lnTo>
                  <a:cubicBezTo>
                    <a:pt x="5532417" y="0"/>
                    <a:pt x="5600700" y="68283"/>
                    <a:pt x="5600700" y="152389"/>
                  </a:cubicBezTo>
                  <a:lnTo>
                    <a:pt x="5600700" y="4324361"/>
                  </a:lnTo>
                  <a:cubicBezTo>
                    <a:pt x="5600700" y="4408523"/>
                    <a:pt x="5532473" y="4476750"/>
                    <a:pt x="5448311" y="4476750"/>
                  </a:cubicBezTo>
                  <a:lnTo>
                    <a:pt x="152389" y="4476750"/>
                  </a:lnTo>
                  <a:cubicBezTo>
                    <a:pt x="68283" y="4476750"/>
                    <a:pt x="0" y="4408467"/>
                    <a:pt x="0" y="4324361"/>
                  </a:cubicBezTo>
                  <a:lnTo>
                    <a:pt x="0" y="152389"/>
                  </a:lnTo>
                  <a:cubicBezTo>
                    <a:pt x="0" y="68283"/>
                    <a:pt x="68283" y="0"/>
                    <a:pt x="15238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28650" y="1457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628650" y="1457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838200" y="1647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971550" y="17811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36624" y="153479"/>
                  </a:moveTo>
                  <a:lnTo>
                    <a:pt x="37021" y="53876"/>
                  </a:lnTo>
                  <a:cubicBezTo>
                    <a:pt x="28687" y="65559"/>
                    <a:pt x="23812" y="79846"/>
                    <a:pt x="23812" y="95250"/>
                  </a:cubicBezTo>
                  <a:cubicBezTo>
                    <a:pt x="23812" y="134689"/>
                    <a:pt x="55811" y="166688"/>
                    <a:pt x="95250" y="166688"/>
                  </a:cubicBezTo>
                  <a:cubicBezTo>
                    <a:pt x="110691" y="166688"/>
                    <a:pt x="124978" y="161813"/>
                    <a:pt x="136624" y="153479"/>
                  </a:cubicBezTo>
                  <a:close/>
                  <a:moveTo>
                    <a:pt x="153479" y="136624"/>
                  </a:moveTo>
                  <a:cubicBezTo>
                    <a:pt x="161813" y="124941"/>
                    <a:pt x="166688" y="110654"/>
                    <a:pt x="166688" y="95250"/>
                  </a:cubicBezTo>
                  <a:cubicBezTo>
                    <a:pt x="166688" y="55811"/>
                    <a:pt x="134689" y="23812"/>
                    <a:pt x="95250" y="23812"/>
                  </a:cubicBezTo>
                  <a:cubicBezTo>
                    <a:pt x="79809" y="23812"/>
                    <a:pt x="65522" y="28687"/>
                    <a:pt x="53876" y="37021"/>
                  </a:cubicBezTo>
                  <a:lnTo>
                    <a:pt x="153479" y="136624"/>
                  </a:lnTo>
                  <a:close/>
                  <a:moveTo>
                    <a:pt x="0" y="95250"/>
                  </a:moveTo>
                  <a:cubicBezTo>
                    <a:pt x="0" y="42680"/>
                    <a:pt x="42680" y="0"/>
                    <a:pt x="95250" y="0"/>
                  </a:cubicBezTo>
                  <a:cubicBezTo>
                    <a:pt x="147820" y="0"/>
                    <a:pt x="190500" y="42680"/>
                    <a:pt x="190500" y="95250"/>
                  </a:cubicBezTo>
                  <a:cubicBezTo>
                    <a:pt x="190500" y="147820"/>
                    <a:pt x="147820" y="190500"/>
                    <a:pt x="95250" y="190500"/>
                  </a:cubicBezTo>
                  <a:cubicBezTo>
                    <a:pt x="42680" y="190500"/>
                    <a:pt x="0" y="147820"/>
                    <a:pt x="0" y="9525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1447800" y="1647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Нет прямого доступа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447800" y="1990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LLM не имеет прямого доступа к базе данных — только через контролируемый API</a:t>
              </a:r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28650" y="27908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628650" y="27908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838200" y="29813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971550" y="31146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9783" y="13506"/>
                  </a:moveTo>
                  <a:cubicBezTo>
                    <a:pt x="53839" y="16334"/>
                    <a:pt x="54806" y="21915"/>
                    <a:pt x="51978" y="25933"/>
                  </a:cubicBezTo>
                  <a:lnTo>
                    <a:pt x="31142" y="55699"/>
                  </a:lnTo>
                  <a:cubicBezTo>
                    <a:pt x="29617" y="57857"/>
                    <a:pt x="27236" y="59234"/>
                    <a:pt x="24594" y="59457"/>
                  </a:cubicBezTo>
                  <a:cubicBezTo>
                    <a:pt x="21952" y="59680"/>
                    <a:pt x="19348" y="58787"/>
                    <a:pt x="17487" y="56927"/>
                  </a:cubicBezTo>
                  <a:lnTo>
                    <a:pt x="2604" y="42044"/>
                  </a:lnTo>
                  <a:cubicBezTo>
                    <a:pt x="-856" y="38546"/>
                    <a:pt x="-856" y="32891"/>
                    <a:pt x="2604" y="29394"/>
                  </a:cubicBezTo>
                  <a:cubicBezTo>
                    <a:pt x="6065" y="25896"/>
                    <a:pt x="11757" y="25933"/>
                    <a:pt x="15255" y="29394"/>
                  </a:cubicBezTo>
                  <a:lnTo>
                    <a:pt x="22622" y="36761"/>
                  </a:lnTo>
                  <a:lnTo>
                    <a:pt x="37356" y="15701"/>
                  </a:lnTo>
                  <a:cubicBezTo>
                    <a:pt x="40184" y="11646"/>
                    <a:pt x="45765" y="10678"/>
                    <a:pt x="49783" y="13506"/>
                  </a:cubicBezTo>
                  <a:close/>
                  <a:moveTo>
                    <a:pt x="49783" y="73037"/>
                  </a:moveTo>
                  <a:cubicBezTo>
                    <a:pt x="53839" y="75865"/>
                    <a:pt x="54806" y="81446"/>
                    <a:pt x="51978" y="85465"/>
                  </a:cubicBezTo>
                  <a:lnTo>
                    <a:pt x="31142" y="115230"/>
                  </a:lnTo>
                  <a:cubicBezTo>
                    <a:pt x="29617" y="117388"/>
                    <a:pt x="27236" y="118765"/>
                    <a:pt x="24594" y="118988"/>
                  </a:cubicBezTo>
                  <a:cubicBezTo>
                    <a:pt x="21952" y="119211"/>
                    <a:pt x="19348" y="118318"/>
                    <a:pt x="17487" y="116458"/>
                  </a:cubicBezTo>
                  <a:lnTo>
                    <a:pt x="2604" y="101575"/>
                  </a:lnTo>
                  <a:cubicBezTo>
                    <a:pt x="-893" y="98078"/>
                    <a:pt x="-893" y="92422"/>
                    <a:pt x="2604" y="88962"/>
                  </a:cubicBezTo>
                  <a:cubicBezTo>
                    <a:pt x="6102" y="85502"/>
                    <a:pt x="11757" y="85465"/>
                    <a:pt x="15218" y="88962"/>
                  </a:cubicBezTo>
                  <a:lnTo>
                    <a:pt x="22585" y="96329"/>
                  </a:lnTo>
                  <a:lnTo>
                    <a:pt x="37319" y="75270"/>
                  </a:lnTo>
                  <a:cubicBezTo>
                    <a:pt x="40146" y="71214"/>
                    <a:pt x="45727" y="70247"/>
                    <a:pt x="49746" y="73075"/>
                  </a:cubicBezTo>
                  <a:close/>
                  <a:moveTo>
                    <a:pt x="83344" y="35719"/>
                  </a:moveTo>
                  <a:cubicBezTo>
                    <a:pt x="83344" y="29133"/>
                    <a:pt x="88664" y="23812"/>
                    <a:pt x="95250" y="23812"/>
                  </a:cubicBezTo>
                  <a:lnTo>
                    <a:pt x="178594" y="23812"/>
                  </a:lnTo>
                  <a:cubicBezTo>
                    <a:pt x="185179" y="23812"/>
                    <a:pt x="190500" y="29133"/>
                    <a:pt x="190500" y="35719"/>
                  </a:cubicBezTo>
                  <a:cubicBezTo>
                    <a:pt x="190500" y="42304"/>
                    <a:pt x="185179" y="47625"/>
                    <a:pt x="178594" y="47625"/>
                  </a:cubicBezTo>
                  <a:lnTo>
                    <a:pt x="95250" y="47625"/>
                  </a:lnTo>
                  <a:cubicBezTo>
                    <a:pt x="88664" y="47625"/>
                    <a:pt x="83344" y="42304"/>
                    <a:pt x="83344" y="35719"/>
                  </a:cubicBezTo>
                  <a:close/>
                  <a:moveTo>
                    <a:pt x="83344" y="95250"/>
                  </a:moveTo>
                  <a:cubicBezTo>
                    <a:pt x="83344" y="88664"/>
                    <a:pt x="88664" y="83344"/>
                    <a:pt x="95250" y="83344"/>
                  </a:cubicBezTo>
                  <a:lnTo>
                    <a:pt x="178594" y="83344"/>
                  </a:lnTo>
                  <a:cubicBezTo>
                    <a:pt x="185179" y="83344"/>
                    <a:pt x="190500" y="88664"/>
                    <a:pt x="190500" y="95250"/>
                  </a:cubicBezTo>
                  <a:cubicBezTo>
                    <a:pt x="190500" y="101836"/>
                    <a:pt x="185179" y="107156"/>
                    <a:pt x="178594" y="107156"/>
                  </a:cubicBezTo>
                  <a:lnTo>
                    <a:pt x="95250" y="107156"/>
                  </a:lnTo>
                  <a:cubicBezTo>
                    <a:pt x="88664" y="107156"/>
                    <a:pt x="83344" y="101836"/>
                    <a:pt x="83344" y="95250"/>
                  </a:cubicBezTo>
                  <a:close/>
                  <a:moveTo>
                    <a:pt x="59531" y="154781"/>
                  </a:moveTo>
                  <a:cubicBezTo>
                    <a:pt x="59531" y="148196"/>
                    <a:pt x="64852" y="142875"/>
                    <a:pt x="71438" y="142875"/>
                  </a:cubicBezTo>
                  <a:lnTo>
                    <a:pt x="178594" y="142875"/>
                  </a:lnTo>
                  <a:cubicBezTo>
                    <a:pt x="185179" y="142875"/>
                    <a:pt x="190500" y="148196"/>
                    <a:pt x="190500" y="154781"/>
                  </a:cubicBezTo>
                  <a:cubicBezTo>
                    <a:pt x="190500" y="161367"/>
                    <a:pt x="185179" y="166688"/>
                    <a:pt x="178594" y="166688"/>
                  </a:cubicBezTo>
                  <a:lnTo>
                    <a:pt x="71438" y="166688"/>
                  </a:lnTo>
                  <a:cubicBezTo>
                    <a:pt x="64852" y="166688"/>
                    <a:pt x="59531" y="161367"/>
                    <a:pt x="59531" y="154781"/>
                  </a:cubicBezTo>
                  <a:close/>
                  <a:moveTo>
                    <a:pt x="23812" y="139898"/>
                  </a:moveTo>
                  <a:cubicBezTo>
                    <a:pt x="32027" y="139898"/>
                    <a:pt x="38695" y="146567"/>
                    <a:pt x="38695" y="154781"/>
                  </a:cubicBezTo>
                  <a:cubicBezTo>
                    <a:pt x="38695" y="162995"/>
                    <a:pt x="32027" y="169664"/>
                    <a:pt x="23812" y="169664"/>
                  </a:cubicBezTo>
                  <a:cubicBezTo>
                    <a:pt x="15598" y="169664"/>
                    <a:pt x="8930" y="162995"/>
                    <a:pt x="8930" y="154781"/>
                  </a:cubicBezTo>
                  <a:cubicBezTo>
                    <a:pt x="8930" y="146567"/>
                    <a:pt x="15598" y="139898"/>
                    <a:pt x="23812" y="13989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1447800" y="29813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White-list команд</a:t>
              </a: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47800" y="33242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Разрешены только безопасные операции чтения и создания черновиков</a:t>
              </a:r>
              <a:endParaRPr lang="en-US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8650" y="4124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628650" y="4124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838200" y="4314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995363" y="4448175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0" y="23812"/>
                  </a:moveTo>
                  <a:cubicBezTo>
                    <a:pt x="0" y="10678"/>
                    <a:pt x="10678" y="0"/>
                    <a:pt x="23812" y="0"/>
                  </a:cubicBezTo>
                  <a:lnTo>
                    <a:pt x="79437" y="0"/>
                  </a:lnTo>
                  <a:cubicBezTo>
                    <a:pt x="85762" y="0"/>
                    <a:pt x="91827" y="2493"/>
                    <a:pt x="96292" y="6958"/>
                  </a:cubicBezTo>
                  <a:lnTo>
                    <a:pt x="135917" y="46620"/>
                  </a:lnTo>
                  <a:cubicBezTo>
                    <a:pt x="140382" y="51085"/>
                    <a:pt x="142875" y="57150"/>
                    <a:pt x="142875" y="63475"/>
                  </a:cubicBezTo>
                  <a:lnTo>
                    <a:pt x="142875" y="166688"/>
                  </a:lnTo>
                  <a:cubicBezTo>
                    <a:pt x="142875" y="179822"/>
                    <a:pt x="132197" y="190500"/>
                    <a:pt x="119063" y="190500"/>
                  </a:cubicBezTo>
                  <a:lnTo>
                    <a:pt x="23812" y="190500"/>
                  </a:lnTo>
                  <a:cubicBezTo>
                    <a:pt x="10678" y="190500"/>
                    <a:pt x="0" y="179822"/>
                    <a:pt x="0" y="166688"/>
                  </a:cubicBezTo>
                  <a:lnTo>
                    <a:pt x="0" y="23812"/>
                  </a:lnTo>
                  <a:close/>
                  <a:moveTo>
                    <a:pt x="77391" y="21766"/>
                  </a:moveTo>
                  <a:lnTo>
                    <a:pt x="77391" y="56555"/>
                  </a:lnTo>
                  <a:cubicBezTo>
                    <a:pt x="77391" y="61503"/>
                    <a:pt x="81372" y="65484"/>
                    <a:pt x="86320" y="65484"/>
                  </a:cubicBezTo>
                  <a:lnTo>
                    <a:pt x="121109" y="65484"/>
                  </a:lnTo>
                  <a:lnTo>
                    <a:pt x="77391" y="21766"/>
                  </a:lnTo>
                  <a:close/>
                  <a:moveTo>
                    <a:pt x="44648" y="95250"/>
                  </a:moveTo>
                  <a:cubicBezTo>
                    <a:pt x="39700" y="95250"/>
                    <a:pt x="35719" y="99231"/>
                    <a:pt x="35719" y="104180"/>
                  </a:cubicBezTo>
                  <a:cubicBezTo>
                    <a:pt x="35719" y="109128"/>
                    <a:pt x="39700" y="113109"/>
                    <a:pt x="44648" y="113109"/>
                  </a:cubicBezTo>
                  <a:lnTo>
                    <a:pt x="98227" y="113109"/>
                  </a:lnTo>
                  <a:cubicBezTo>
                    <a:pt x="103175" y="113109"/>
                    <a:pt x="107156" y="109128"/>
                    <a:pt x="107156" y="104180"/>
                  </a:cubicBezTo>
                  <a:cubicBezTo>
                    <a:pt x="107156" y="99231"/>
                    <a:pt x="103175" y="95250"/>
                    <a:pt x="98227" y="95250"/>
                  </a:cubicBezTo>
                  <a:lnTo>
                    <a:pt x="44648" y="95250"/>
                  </a:lnTo>
                  <a:close/>
                  <a:moveTo>
                    <a:pt x="44648" y="130969"/>
                  </a:moveTo>
                  <a:cubicBezTo>
                    <a:pt x="39700" y="130969"/>
                    <a:pt x="35719" y="134950"/>
                    <a:pt x="35719" y="139898"/>
                  </a:cubicBezTo>
                  <a:cubicBezTo>
                    <a:pt x="35719" y="144847"/>
                    <a:pt x="39700" y="148828"/>
                    <a:pt x="44648" y="148828"/>
                  </a:cubicBezTo>
                  <a:lnTo>
                    <a:pt x="98227" y="148828"/>
                  </a:lnTo>
                  <a:cubicBezTo>
                    <a:pt x="103175" y="148828"/>
                    <a:pt x="107156" y="144847"/>
                    <a:pt x="107156" y="139898"/>
                  </a:cubicBezTo>
                  <a:cubicBezTo>
                    <a:pt x="107156" y="134950"/>
                    <a:pt x="103175" y="130969"/>
                    <a:pt x="98227" y="130969"/>
                  </a:cubicBezTo>
                  <a:lnTo>
                    <a:pt x="44648" y="130969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1447800" y="4314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Только черновики</a:t>
              </a:r>
              <a:endParaRPr lang="en-US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447800" y="4657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Система создает только черновики документов, финальное сохранение — пользователь</a:t>
              </a:r>
              <a:endParaRPr lang="en-US" dirty="0"/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A033F206-F8EF-4EA4-8C2B-45172B590ECE}"/>
              </a:ext>
            </a:extLst>
          </p:cNvPr>
          <p:cNvGrpSpPr/>
          <p:nvPr/>
        </p:nvGrpSpPr>
        <p:grpSpPr>
          <a:xfrm>
            <a:off x="6210300" y="1143000"/>
            <a:ext cx="5600700" cy="4476750"/>
            <a:chOff x="6210300" y="1143000"/>
            <a:chExt cx="5600700" cy="4476750"/>
          </a:xfrm>
        </p:grpSpPr>
        <p:sp>
          <p:nvSpPr>
            <p:cNvPr id="25" name="Shape 23"/>
            <p:cNvSpPr/>
            <p:nvPr/>
          </p:nvSpPr>
          <p:spPr>
            <a:xfrm>
              <a:off x="6210300" y="1143000"/>
              <a:ext cx="5600700" cy="4476750"/>
            </a:xfrm>
            <a:custGeom>
              <a:avLst/>
              <a:gdLst/>
              <a:ahLst/>
              <a:cxnLst/>
              <a:rect l="l" t="t" r="r" b="b"/>
              <a:pathLst>
                <a:path w="5600700" h="4476750">
                  <a:moveTo>
                    <a:pt x="152389" y="0"/>
                  </a:moveTo>
                  <a:lnTo>
                    <a:pt x="5448311" y="0"/>
                  </a:lnTo>
                  <a:cubicBezTo>
                    <a:pt x="5532417" y="0"/>
                    <a:pt x="5600700" y="68283"/>
                    <a:pt x="5600700" y="152389"/>
                  </a:cubicBezTo>
                  <a:lnTo>
                    <a:pt x="5600700" y="4324361"/>
                  </a:lnTo>
                  <a:cubicBezTo>
                    <a:pt x="5600700" y="4408523"/>
                    <a:pt x="5532473" y="4476750"/>
                    <a:pt x="5448311" y="4476750"/>
                  </a:cubicBezTo>
                  <a:lnTo>
                    <a:pt x="152389" y="4476750"/>
                  </a:lnTo>
                  <a:cubicBezTo>
                    <a:pt x="68283" y="4476750"/>
                    <a:pt x="0" y="4408467"/>
                    <a:pt x="0" y="4324361"/>
                  </a:cubicBezTo>
                  <a:lnTo>
                    <a:pt x="0" y="152389"/>
                  </a:lnTo>
                  <a:cubicBezTo>
                    <a:pt x="0" y="68283"/>
                    <a:pt x="68283" y="0"/>
                    <a:pt x="15238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6457950" y="1457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6457950" y="1457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6667500" y="1647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6777038" y="178117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50602" y="47625"/>
                  </a:moveTo>
                  <a:cubicBezTo>
                    <a:pt x="50602" y="22983"/>
                    <a:pt x="70608" y="2977"/>
                    <a:pt x="95250" y="2977"/>
                  </a:cubicBezTo>
                  <a:cubicBezTo>
                    <a:pt x="119892" y="2977"/>
                    <a:pt x="139898" y="22983"/>
                    <a:pt x="139898" y="47625"/>
                  </a:cubicBezTo>
                  <a:cubicBezTo>
                    <a:pt x="139898" y="72267"/>
                    <a:pt x="119892" y="92273"/>
                    <a:pt x="95250" y="92273"/>
                  </a:cubicBezTo>
                  <a:cubicBezTo>
                    <a:pt x="70608" y="92273"/>
                    <a:pt x="50602" y="72267"/>
                    <a:pt x="50602" y="47625"/>
                  </a:cubicBezTo>
                  <a:close/>
                  <a:moveTo>
                    <a:pt x="17859" y="179450"/>
                  </a:moveTo>
                  <a:cubicBezTo>
                    <a:pt x="17859" y="142801"/>
                    <a:pt x="47551" y="113109"/>
                    <a:pt x="84200" y="113109"/>
                  </a:cubicBezTo>
                  <a:lnTo>
                    <a:pt x="106300" y="113109"/>
                  </a:lnTo>
                  <a:cubicBezTo>
                    <a:pt x="142949" y="113109"/>
                    <a:pt x="172641" y="142801"/>
                    <a:pt x="172641" y="179450"/>
                  </a:cubicBezTo>
                  <a:cubicBezTo>
                    <a:pt x="172641" y="185551"/>
                    <a:pt x="167692" y="190500"/>
                    <a:pt x="161590" y="190500"/>
                  </a:cubicBezTo>
                  <a:lnTo>
                    <a:pt x="28910" y="190500"/>
                  </a:lnTo>
                  <a:cubicBezTo>
                    <a:pt x="22808" y="190500"/>
                    <a:pt x="17859" y="185551"/>
                    <a:pt x="17859" y="179450"/>
                  </a:cubicBezTo>
                  <a:close/>
                  <a:moveTo>
                    <a:pt x="227856" y="49374"/>
                  </a:moveTo>
                  <a:lnTo>
                    <a:pt x="198090" y="96999"/>
                  </a:lnTo>
                  <a:cubicBezTo>
                    <a:pt x="196528" y="99492"/>
                    <a:pt x="193849" y="101054"/>
                    <a:pt x="190909" y="101203"/>
                  </a:cubicBezTo>
                  <a:cubicBezTo>
                    <a:pt x="187970" y="101352"/>
                    <a:pt x="185142" y="100013"/>
                    <a:pt x="183393" y="97631"/>
                  </a:cubicBezTo>
                  <a:lnTo>
                    <a:pt x="165534" y="73819"/>
                  </a:lnTo>
                  <a:cubicBezTo>
                    <a:pt x="162558" y="69875"/>
                    <a:pt x="163376" y="64294"/>
                    <a:pt x="167320" y="61317"/>
                  </a:cubicBezTo>
                  <a:cubicBezTo>
                    <a:pt x="171264" y="58341"/>
                    <a:pt x="176845" y="59159"/>
                    <a:pt x="179822" y="63103"/>
                  </a:cubicBezTo>
                  <a:lnTo>
                    <a:pt x="189867" y="76498"/>
                  </a:lnTo>
                  <a:lnTo>
                    <a:pt x="212713" y="39923"/>
                  </a:lnTo>
                  <a:cubicBezTo>
                    <a:pt x="215317" y="35756"/>
                    <a:pt x="220824" y="34454"/>
                    <a:pt x="225028" y="37095"/>
                  </a:cubicBezTo>
                  <a:cubicBezTo>
                    <a:pt x="229233" y="39737"/>
                    <a:pt x="230498" y="45207"/>
                    <a:pt x="227856" y="4941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7277100" y="1647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Подтверждение человеком</a:t>
              </a:r>
              <a:endParaRPr lang="en-US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277100" y="1990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Критичные операции требуют явного согласия пользователя</a:t>
              </a:r>
              <a:endParaRPr lang="en-US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457950" y="27908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3" name="Shape 31"/>
            <p:cNvSpPr/>
            <p:nvPr/>
          </p:nvSpPr>
          <p:spPr>
            <a:xfrm>
              <a:off x="6457950" y="27908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6667500" y="29813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6824663" y="3114675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115863" y="11906"/>
                  </a:moveTo>
                  <a:lnTo>
                    <a:pt x="119063" y="11906"/>
                  </a:lnTo>
                  <a:cubicBezTo>
                    <a:pt x="132197" y="11906"/>
                    <a:pt x="142875" y="22585"/>
                    <a:pt x="142875" y="35719"/>
                  </a:cubicBezTo>
                  <a:lnTo>
                    <a:pt x="142875" y="166688"/>
                  </a:lnTo>
                  <a:cubicBezTo>
                    <a:pt x="142875" y="179822"/>
                    <a:pt x="132197" y="190500"/>
                    <a:pt x="119063" y="190500"/>
                  </a:cubicBezTo>
                  <a:lnTo>
                    <a:pt x="23812" y="190500"/>
                  </a:lnTo>
                  <a:cubicBezTo>
                    <a:pt x="10678" y="190500"/>
                    <a:pt x="0" y="179822"/>
                    <a:pt x="0" y="166688"/>
                  </a:cubicBezTo>
                  <a:lnTo>
                    <a:pt x="0" y="35719"/>
                  </a:lnTo>
                  <a:cubicBezTo>
                    <a:pt x="0" y="22585"/>
                    <a:pt x="10678" y="11906"/>
                    <a:pt x="23812" y="11906"/>
                  </a:cubicBezTo>
                  <a:lnTo>
                    <a:pt x="27012" y="11906"/>
                  </a:lnTo>
                  <a:cubicBezTo>
                    <a:pt x="31105" y="4800"/>
                    <a:pt x="38807" y="0"/>
                    <a:pt x="47625" y="0"/>
                  </a:cubicBezTo>
                  <a:lnTo>
                    <a:pt x="95250" y="0"/>
                  </a:lnTo>
                  <a:cubicBezTo>
                    <a:pt x="104068" y="0"/>
                    <a:pt x="111770" y="4800"/>
                    <a:pt x="115863" y="11906"/>
                  </a:cubicBezTo>
                  <a:close/>
                  <a:moveTo>
                    <a:pt x="92273" y="41672"/>
                  </a:moveTo>
                  <a:cubicBezTo>
                    <a:pt x="97222" y="41672"/>
                    <a:pt x="101203" y="37691"/>
                    <a:pt x="101203" y="32742"/>
                  </a:cubicBezTo>
                  <a:cubicBezTo>
                    <a:pt x="101203" y="27794"/>
                    <a:pt x="97222" y="23812"/>
                    <a:pt x="92273" y="23812"/>
                  </a:cubicBezTo>
                  <a:lnTo>
                    <a:pt x="50602" y="23812"/>
                  </a:lnTo>
                  <a:cubicBezTo>
                    <a:pt x="45653" y="23812"/>
                    <a:pt x="41672" y="27794"/>
                    <a:pt x="41672" y="32742"/>
                  </a:cubicBezTo>
                  <a:cubicBezTo>
                    <a:pt x="41672" y="37691"/>
                    <a:pt x="45653" y="41672"/>
                    <a:pt x="50602" y="41672"/>
                  </a:cubicBezTo>
                  <a:lnTo>
                    <a:pt x="92273" y="41672"/>
                  </a:lnTo>
                  <a:close/>
                  <a:moveTo>
                    <a:pt x="47625" y="95250"/>
                  </a:moveTo>
                  <a:cubicBezTo>
                    <a:pt x="47625" y="88679"/>
                    <a:pt x="42290" y="83344"/>
                    <a:pt x="35719" y="83344"/>
                  </a:cubicBezTo>
                  <a:cubicBezTo>
                    <a:pt x="29148" y="83344"/>
                    <a:pt x="23812" y="88679"/>
                    <a:pt x="23812" y="95250"/>
                  </a:cubicBezTo>
                  <a:cubicBezTo>
                    <a:pt x="23812" y="101821"/>
                    <a:pt x="29148" y="107156"/>
                    <a:pt x="35719" y="107156"/>
                  </a:cubicBezTo>
                  <a:cubicBezTo>
                    <a:pt x="42290" y="107156"/>
                    <a:pt x="47625" y="101821"/>
                    <a:pt x="47625" y="95250"/>
                  </a:cubicBezTo>
                  <a:close/>
                  <a:moveTo>
                    <a:pt x="59531" y="95250"/>
                  </a:moveTo>
                  <a:cubicBezTo>
                    <a:pt x="59531" y="100199"/>
                    <a:pt x="63512" y="104180"/>
                    <a:pt x="68461" y="104180"/>
                  </a:cubicBezTo>
                  <a:lnTo>
                    <a:pt x="110133" y="104180"/>
                  </a:lnTo>
                  <a:cubicBezTo>
                    <a:pt x="115081" y="104180"/>
                    <a:pt x="119063" y="100199"/>
                    <a:pt x="119063" y="95250"/>
                  </a:cubicBezTo>
                  <a:cubicBezTo>
                    <a:pt x="119063" y="90301"/>
                    <a:pt x="115081" y="86320"/>
                    <a:pt x="110133" y="86320"/>
                  </a:cubicBezTo>
                  <a:lnTo>
                    <a:pt x="68461" y="86320"/>
                  </a:lnTo>
                  <a:cubicBezTo>
                    <a:pt x="63512" y="86320"/>
                    <a:pt x="59531" y="90301"/>
                    <a:pt x="59531" y="95250"/>
                  </a:cubicBezTo>
                  <a:close/>
                  <a:moveTo>
                    <a:pt x="59531" y="142875"/>
                  </a:moveTo>
                  <a:cubicBezTo>
                    <a:pt x="59531" y="147824"/>
                    <a:pt x="63512" y="151805"/>
                    <a:pt x="68461" y="151805"/>
                  </a:cubicBezTo>
                  <a:lnTo>
                    <a:pt x="110133" y="151805"/>
                  </a:lnTo>
                  <a:cubicBezTo>
                    <a:pt x="115081" y="151805"/>
                    <a:pt x="119063" y="147824"/>
                    <a:pt x="119063" y="142875"/>
                  </a:cubicBezTo>
                  <a:cubicBezTo>
                    <a:pt x="119063" y="137926"/>
                    <a:pt x="115081" y="133945"/>
                    <a:pt x="110133" y="133945"/>
                  </a:cubicBezTo>
                  <a:lnTo>
                    <a:pt x="68461" y="133945"/>
                  </a:lnTo>
                  <a:cubicBezTo>
                    <a:pt x="63512" y="133945"/>
                    <a:pt x="59531" y="137926"/>
                    <a:pt x="59531" y="142875"/>
                  </a:cubicBezTo>
                  <a:close/>
                  <a:moveTo>
                    <a:pt x="35719" y="154781"/>
                  </a:moveTo>
                  <a:cubicBezTo>
                    <a:pt x="42290" y="154781"/>
                    <a:pt x="47625" y="149446"/>
                    <a:pt x="47625" y="142875"/>
                  </a:cubicBezTo>
                  <a:cubicBezTo>
                    <a:pt x="47625" y="136304"/>
                    <a:pt x="42290" y="130969"/>
                    <a:pt x="35719" y="130969"/>
                  </a:cubicBezTo>
                  <a:cubicBezTo>
                    <a:pt x="29148" y="130969"/>
                    <a:pt x="23812" y="136304"/>
                    <a:pt x="23812" y="142875"/>
                  </a:cubicBezTo>
                  <a:cubicBezTo>
                    <a:pt x="23812" y="149446"/>
                    <a:pt x="29148" y="154781"/>
                    <a:pt x="35719" y="15478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7277100" y="29813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Логирование действий</a:t>
              </a:r>
              <a:endParaRPr lang="en-US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277100" y="33242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Полный аудит всех запросов и действий для анализа и контроля</a:t>
              </a:r>
              <a:endParaRPr lang="en-US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457950" y="4124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9" name="Shape 37"/>
            <p:cNvSpPr/>
            <p:nvPr/>
          </p:nvSpPr>
          <p:spPr>
            <a:xfrm>
              <a:off x="6457950" y="4124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6667500" y="4314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6800850" y="44481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25016" y="130969"/>
                  </a:moveTo>
                  <a:cubicBezTo>
                    <a:pt x="161181" y="130969"/>
                    <a:pt x="190500" y="101650"/>
                    <a:pt x="190500" y="65484"/>
                  </a:cubicBezTo>
                  <a:cubicBezTo>
                    <a:pt x="190500" y="29319"/>
                    <a:pt x="161181" y="0"/>
                    <a:pt x="125016" y="0"/>
                  </a:cubicBezTo>
                  <a:cubicBezTo>
                    <a:pt x="88850" y="0"/>
                    <a:pt x="59531" y="29319"/>
                    <a:pt x="59531" y="65484"/>
                  </a:cubicBezTo>
                  <a:cubicBezTo>
                    <a:pt x="59531" y="72442"/>
                    <a:pt x="60610" y="79177"/>
                    <a:pt x="62619" y="85465"/>
                  </a:cubicBezTo>
                  <a:lnTo>
                    <a:pt x="2604" y="145479"/>
                  </a:lnTo>
                  <a:cubicBezTo>
                    <a:pt x="930" y="147154"/>
                    <a:pt x="0" y="149423"/>
                    <a:pt x="0" y="151805"/>
                  </a:cubicBezTo>
                  <a:lnTo>
                    <a:pt x="0" y="181570"/>
                  </a:lnTo>
                  <a:cubicBezTo>
                    <a:pt x="0" y="186519"/>
                    <a:pt x="3981" y="190500"/>
                    <a:pt x="8930" y="190500"/>
                  </a:cubicBezTo>
                  <a:lnTo>
                    <a:pt x="38695" y="190500"/>
                  </a:lnTo>
                  <a:cubicBezTo>
                    <a:pt x="43644" y="190500"/>
                    <a:pt x="47625" y="186519"/>
                    <a:pt x="47625" y="181570"/>
                  </a:cubicBezTo>
                  <a:lnTo>
                    <a:pt x="47625" y="166688"/>
                  </a:lnTo>
                  <a:lnTo>
                    <a:pt x="62508" y="166688"/>
                  </a:lnTo>
                  <a:cubicBezTo>
                    <a:pt x="67456" y="166688"/>
                    <a:pt x="71438" y="162706"/>
                    <a:pt x="71438" y="157758"/>
                  </a:cubicBezTo>
                  <a:lnTo>
                    <a:pt x="71438" y="142875"/>
                  </a:lnTo>
                  <a:lnTo>
                    <a:pt x="86320" y="142875"/>
                  </a:lnTo>
                  <a:cubicBezTo>
                    <a:pt x="88702" y="142875"/>
                    <a:pt x="90971" y="141945"/>
                    <a:pt x="92646" y="140271"/>
                  </a:cubicBezTo>
                  <a:lnTo>
                    <a:pt x="105035" y="127881"/>
                  </a:lnTo>
                  <a:cubicBezTo>
                    <a:pt x="111323" y="129890"/>
                    <a:pt x="118058" y="130969"/>
                    <a:pt x="125016" y="130969"/>
                  </a:cubicBezTo>
                  <a:close/>
                  <a:moveTo>
                    <a:pt x="139898" y="35719"/>
                  </a:moveTo>
                  <a:cubicBezTo>
                    <a:pt x="148112" y="35719"/>
                    <a:pt x="154781" y="42388"/>
                    <a:pt x="154781" y="50602"/>
                  </a:cubicBezTo>
                  <a:cubicBezTo>
                    <a:pt x="154781" y="58816"/>
                    <a:pt x="148112" y="65484"/>
                    <a:pt x="139898" y="65484"/>
                  </a:cubicBezTo>
                  <a:cubicBezTo>
                    <a:pt x="131684" y="65484"/>
                    <a:pt x="125016" y="58816"/>
                    <a:pt x="125016" y="50602"/>
                  </a:cubicBezTo>
                  <a:cubicBezTo>
                    <a:pt x="125016" y="42388"/>
                    <a:pt x="131684" y="35719"/>
                    <a:pt x="139898" y="35719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7277100" y="4314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Права доступа</a:t>
              </a:r>
              <a:endParaRPr lang="en-US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7277100" y="4657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Учет прав пользователя 1С — ассистент видит только разрешенные данные</a:t>
              </a:r>
              <a:endParaRPr lang="en-US" dirty="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45DD0C3A-9D92-437A-A1B7-9EB23FB42BBB}"/>
              </a:ext>
            </a:extLst>
          </p:cNvPr>
          <p:cNvGrpSpPr/>
          <p:nvPr/>
        </p:nvGrpSpPr>
        <p:grpSpPr>
          <a:xfrm>
            <a:off x="381000" y="5810250"/>
            <a:ext cx="11430000" cy="666750"/>
            <a:chOff x="381000" y="5810250"/>
            <a:chExt cx="11430000" cy="666750"/>
          </a:xfrm>
        </p:grpSpPr>
        <p:sp>
          <p:nvSpPr>
            <p:cNvPr id="44" name="Shape 42"/>
            <p:cNvSpPr/>
            <p:nvPr/>
          </p:nvSpPr>
          <p:spPr>
            <a:xfrm>
              <a:off x="381000" y="5810250"/>
              <a:ext cx="11430000" cy="666750"/>
            </a:xfrm>
            <a:custGeom>
              <a:avLst/>
              <a:gdLst/>
              <a:ahLst/>
              <a:cxnLst/>
              <a:rect l="l" t="t" r="r" b="b"/>
              <a:pathLst>
                <a:path w="11430000" h="666750">
                  <a:moveTo>
                    <a:pt x="152399" y="0"/>
                  </a:moveTo>
                  <a:lnTo>
                    <a:pt x="11277601" y="0"/>
                  </a:lnTo>
                  <a:cubicBezTo>
                    <a:pt x="11361769" y="0"/>
                    <a:pt x="11430000" y="68231"/>
                    <a:pt x="11430000" y="152399"/>
                  </a:cubicBezTo>
                  <a:lnTo>
                    <a:pt x="11430000" y="514351"/>
                  </a:lnTo>
                  <a:cubicBezTo>
                    <a:pt x="11430000" y="598519"/>
                    <a:pt x="11361769" y="666750"/>
                    <a:pt x="11277601" y="666750"/>
                  </a:cubicBezTo>
                  <a:lnTo>
                    <a:pt x="152399" y="666750"/>
                  </a:lnTo>
                  <a:cubicBezTo>
                    <a:pt x="68288" y="666750"/>
                    <a:pt x="0" y="598462"/>
                    <a:pt x="0" y="514351"/>
                  </a:cubicBezTo>
                  <a:lnTo>
                    <a:pt x="0" y="152399"/>
                  </a:lnTo>
                  <a:cubicBezTo>
                    <a:pt x="0" y="68288"/>
                    <a:pt x="68288" y="0"/>
                    <a:pt x="1523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5" name="Shape 43"/>
            <p:cNvSpPr/>
            <p:nvPr/>
          </p:nvSpPr>
          <p:spPr>
            <a:xfrm>
              <a:off x="2909887" y="6000750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71438" y="53578"/>
                  </a:moveTo>
                  <a:lnTo>
                    <a:pt x="71438" y="89297"/>
                  </a:lnTo>
                  <a:lnTo>
                    <a:pt x="142875" y="89297"/>
                  </a:lnTo>
                  <a:lnTo>
                    <a:pt x="142875" y="53578"/>
                  </a:lnTo>
                  <a:cubicBezTo>
                    <a:pt x="142875" y="33877"/>
                    <a:pt x="126857" y="17859"/>
                    <a:pt x="107156" y="17859"/>
                  </a:cubicBezTo>
                  <a:cubicBezTo>
                    <a:pt x="87455" y="17859"/>
                    <a:pt x="71438" y="33877"/>
                    <a:pt x="71438" y="53578"/>
                  </a:cubicBezTo>
                  <a:close/>
                  <a:moveTo>
                    <a:pt x="35719" y="89297"/>
                  </a:moveTo>
                  <a:lnTo>
                    <a:pt x="35719" y="53578"/>
                  </a:lnTo>
                  <a:cubicBezTo>
                    <a:pt x="35719" y="14120"/>
                    <a:pt x="67698" y="-17859"/>
                    <a:pt x="107156" y="-17859"/>
                  </a:cubicBezTo>
                  <a:cubicBezTo>
                    <a:pt x="146614" y="-17859"/>
                    <a:pt x="178594" y="14120"/>
                    <a:pt x="178594" y="53578"/>
                  </a:cubicBezTo>
                  <a:lnTo>
                    <a:pt x="178594" y="89297"/>
                  </a:lnTo>
                  <a:cubicBezTo>
                    <a:pt x="198295" y="89297"/>
                    <a:pt x="214313" y="105315"/>
                    <a:pt x="214313" y="125016"/>
                  </a:cubicBezTo>
                  <a:lnTo>
                    <a:pt x="214313" y="250031"/>
                  </a:lnTo>
                  <a:cubicBezTo>
                    <a:pt x="214313" y="269732"/>
                    <a:pt x="198295" y="285750"/>
                    <a:pt x="178594" y="285750"/>
                  </a:cubicBezTo>
                  <a:lnTo>
                    <a:pt x="35719" y="285750"/>
                  </a:lnTo>
                  <a:cubicBezTo>
                    <a:pt x="16018" y="285750"/>
                    <a:pt x="0" y="269732"/>
                    <a:pt x="0" y="250031"/>
                  </a:cubicBezTo>
                  <a:lnTo>
                    <a:pt x="0" y="125016"/>
                  </a:lnTo>
                  <a:cubicBezTo>
                    <a:pt x="0" y="105315"/>
                    <a:pt x="16018" y="89297"/>
                    <a:pt x="35719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4143374" y="5991225"/>
              <a:ext cx="531495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Многоуровневая защита данных и операций</a:t>
              </a:r>
              <a:endParaRPr lang="en-US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265443" y="6010275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71438" y="53578"/>
                  </a:moveTo>
                  <a:lnTo>
                    <a:pt x="71438" y="89297"/>
                  </a:lnTo>
                  <a:lnTo>
                    <a:pt x="142875" y="89297"/>
                  </a:lnTo>
                  <a:lnTo>
                    <a:pt x="142875" y="53578"/>
                  </a:lnTo>
                  <a:cubicBezTo>
                    <a:pt x="142875" y="33877"/>
                    <a:pt x="126857" y="17859"/>
                    <a:pt x="107156" y="17859"/>
                  </a:cubicBezTo>
                  <a:cubicBezTo>
                    <a:pt x="87455" y="17859"/>
                    <a:pt x="71438" y="33877"/>
                    <a:pt x="71438" y="53578"/>
                  </a:cubicBezTo>
                  <a:close/>
                  <a:moveTo>
                    <a:pt x="35719" y="89297"/>
                  </a:moveTo>
                  <a:lnTo>
                    <a:pt x="35719" y="53578"/>
                  </a:lnTo>
                  <a:cubicBezTo>
                    <a:pt x="35719" y="14120"/>
                    <a:pt x="67698" y="-17859"/>
                    <a:pt x="107156" y="-17859"/>
                  </a:cubicBezTo>
                  <a:cubicBezTo>
                    <a:pt x="146614" y="-17859"/>
                    <a:pt x="178594" y="14120"/>
                    <a:pt x="178594" y="53578"/>
                  </a:cubicBezTo>
                  <a:lnTo>
                    <a:pt x="178594" y="89297"/>
                  </a:lnTo>
                  <a:cubicBezTo>
                    <a:pt x="198295" y="89297"/>
                    <a:pt x="214313" y="105315"/>
                    <a:pt x="214313" y="125016"/>
                  </a:cubicBezTo>
                  <a:lnTo>
                    <a:pt x="214313" y="250031"/>
                  </a:lnTo>
                  <a:cubicBezTo>
                    <a:pt x="214313" y="269732"/>
                    <a:pt x="198295" y="285750"/>
                    <a:pt x="178594" y="285750"/>
                  </a:cubicBezTo>
                  <a:lnTo>
                    <a:pt x="35719" y="285750"/>
                  </a:lnTo>
                  <a:cubicBezTo>
                    <a:pt x="16018" y="285750"/>
                    <a:pt x="0" y="269732"/>
                    <a:pt x="0" y="250031"/>
                  </a:cubicBezTo>
                  <a:lnTo>
                    <a:pt x="0" y="125016"/>
                  </a:lnTo>
                  <a:cubicBezTo>
                    <a:pt x="0" y="105315"/>
                    <a:pt x="16018" y="89297"/>
                    <a:pt x="35719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</p:grpSp>
      <p:sp>
        <p:nvSpPr>
          <p:cNvPr id="52" name="Text 7">
            <a:extLst>
              <a:ext uri="{FF2B5EF4-FFF2-40B4-BE49-F238E27FC236}">
                <a16:creationId xmlns:a16="http://schemas.microsoft.com/office/drawing/2014/main" id="{DEA2CDAD-0EC4-4FAC-B6C0-7695C3C379BD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13</a:t>
            </a:r>
            <a:endParaRPr lang="en-US" sz="1600" dirty="0"/>
          </a:p>
        </p:txBody>
      </p:sp>
      <p:grpSp>
        <p:nvGrpSpPr>
          <p:cNvPr id="174" name="Группа 173">
            <a:extLst>
              <a:ext uri="{FF2B5EF4-FFF2-40B4-BE49-F238E27FC236}">
                <a16:creationId xmlns:a16="http://schemas.microsoft.com/office/drawing/2014/main" id="{2D394E62-17C6-4F10-A1FE-846FAFB7233B}"/>
              </a:ext>
            </a:extLst>
          </p:cNvPr>
          <p:cNvGrpSpPr/>
          <p:nvPr/>
        </p:nvGrpSpPr>
        <p:grpSpPr>
          <a:xfrm>
            <a:off x="-6433621" y="977747"/>
            <a:ext cx="5618602" cy="5756313"/>
            <a:chOff x="367229" y="1101687"/>
            <a:chExt cx="5618602" cy="5756313"/>
          </a:xfrm>
        </p:grpSpPr>
        <p:sp>
          <p:nvSpPr>
            <p:cNvPr id="175" name="Shape 4">
              <a:extLst>
                <a:ext uri="{FF2B5EF4-FFF2-40B4-BE49-F238E27FC236}">
                  <a16:creationId xmlns:a16="http://schemas.microsoft.com/office/drawing/2014/main" id="{3F9BC043-7E9A-4D42-8229-5B2992300A7C}"/>
                </a:ext>
              </a:extLst>
            </p:cNvPr>
            <p:cNvSpPr/>
            <p:nvPr/>
          </p:nvSpPr>
          <p:spPr>
            <a:xfrm>
              <a:off x="367229" y="1101687"/>
              <a:ext cx="5618602" cy="5756313"/>
            </a:xfrm>
            <a:custGeom>
              <a:avLst/>
              <a:gdLst/>
              <a:ahLst/>
              <a:cxnLst/>
              <a:rect l="l" t="t" r="r" b="b"/>
              <a:pathLst>
                <a:path w="5618602" h="5756313">
                  <a:moveTo>
                    <a:pt x="146870" y="0"/>
                  </a:moveTo>
                  <a:lnTo>
                    <a:pt x="5471732" y="0"/>
                  </a:lnTo>
                  <a:cubicBezTo>
                    <a:pt x="5552846" y="0"/>
                    <a:pt x="5618602" y="65756"/>
                    <a:pt x="5618602" y="146870"/>
                  </a:cubicBezTo>
                  <a:lnTo>
                    <a:pt x="5618602" y="5609443"/>
                  </a:lnTo>
                  <a:cubicBezTo>
                    <a:pt x="5618602" y="5690557"/>
                    <a:pt x="5552846" y="5756313"/>
                    <a:pt x="5471732" y="5756313"/>
                  </a:cubicBezTo>
                  <a:lnTo>
                    <a:pt x="146870" y="5756313"/>
                  </a:lnTo>
                  <a:cubicBezTo>
                    <a:pt x="65756" y="5756313"/>
                    <a:pt x="0" y="5690557"/>
                    <a:pt x="0" y="5609443"/>
                  </a:cubicBezTo>
                  <a:lnTo>
                    <a:pt x="0" y="146870"/>
                  </a:lnTo>
                  <a:cubicBezTo>
                    <a:pt x="0" y="65756"/>
                    <a:pt x="65756" y="0"/>
                    <a:pt x="146870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76" name="Shape 5">
              <a:extLst>
                <a:ext uri="{FF2B5EF4-FFF2-40B4-BE49-F238E27FC236}">
                  <a16:creationId xmlns:a16="http://schemas.microsoft.com/office/drawing/2014/main" id="{06837FA5-0DFF-439A-AC42-EC1E991467D8}"/>
                </a:ext>
              </a:extLst>
            </p:cNvPr>
            <p:cNvSpPr/>
            <p:nvPr/>
          </p:nvSpPr>
          <p:spPr>
            <a:xfrm>
              <a:off x="587566" y="1322024"/>
              <a:ext cx="5177928" cy="5315639"/>
            </a:xfrm>
            <a:custGeom>
              <a:avLst/>
              <a:gdLst/>
              <a:ahLst/>
              <a:cxnLst/>
              <a:rect l="l" t="t" r="r" b="b"/>
              <a:pathLst>
                <a:path w="5177928" h="5315639">
                  <a:moveTo>
                    <a:pt x="110186" y="0"/>
                  </a:moveTo>
                  <a:lnTo>
                    <a:pt x="5067741" y="0"/>
                  </a:lnTo>
                  <a:cubicBezTo>
                    <a:pt x="5128596" y="0"/>
                    <a:pt x="5177928" y="49332"/>
                    <a:pt x="5177928" y="110186"/>
                  </a:cubicBezTo>
                  <a:lnTo>
                    <a:pt x="5177928" y="5205452"/>
                  </a:lnTo>
                  <a:cubicBezTo>
                    <a:pt x="5177928" y="5266306"/>
                    <a:pt x="5128596" y="5315639"/>
                    <a:pt x="5067741" y="5315639"/>
                  </a:cubicBezTo>
                  <a:lnTo>
                    <a:pt x="110186" y="5315639"/>
                  </a:lnTo>
                  <a:cubicBezTo>
                    <a:pt x="49332" y="5315639"/>
                    <a:pt x="0" y="5266306"/>
                    <a:pt x="0" y="5205452"/>
                  </a:cubicBezTo>
                  <a:lnTo>
                    <a:pt x="0" y="110186"/>
                  </a:lnTo>
                  <a:cubicBezTo>
                    <a:pt x="0" y="49332"/>
                    <a:pt x="49332" y="0"/>
                    <a:pt x="110186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7" name="Shape 6">
              <a:extLst>
                <a:ext uri="{FF2B5EF4-FFF2-40B4-BE49-F238E27FC236}">
                  <a16:creationId xmlns:a16="http://schemas.microsoft.com/office/drawing/2014/main" id="{238EDCD1-D8DE-46B5-814A-7B5F1081D3E9}"/>
                </a:ext>
              </a:extLst>
            </p:cNvPr>
            <p:cNvSpPr/>
            <p:nvPr/>
          </p:nvSpPr>
          <p:spPr>
            <a:xfrm>
              <a:off x="587566" y="1322024"/>
              <a:ext cx="5177928" cy="440675"/>
            </a:xfrm>
            <a:custGeom>
              <a:avLst/>
              <a:gdLst/>
              <a:ahLst/>
              <a:cxnLst/>
              <a:rect l="l" t="t" r="r" b="b"/>
              <a:pathLst>
                <a:path w="5177928" h="440675">
                  <a:moveTo>
                    <a:pt x="0" y="0"/>
                  </a:moveTo>
                  <a:lnTo>
                    <a:pt x="5177928" y="0"/>
                  </a:lnTo>
                  <a:lnTo>
                    <a:pt x="5177928" y="440675"/>
                  </a:lnTo>
                  <a:lnTo>
                    <a:pt x="0" y="440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78" name="Shape 7">
              <a:extLst>
                <a:ext uri="{FF2B5EF4-FFF2-40B4-BE49-F238E27FC236}">
                  <a16:creationId xmlns:a16="http://schemas.microsoft.com/office/drawing/2014/main" id="{2FBFDA02-D317-4B96-BE02-2FE1D01F289E}"/>
                </a:ext>
              </a:extLst>
            </p:cNvPr>
            <p:cNvSpPr/>
            <p:nvPr/>
          </p:nvSpPr>
          <p:spPr>
            <a:xfrm>
              <a:off x="697735" y="1468916"/>
              <a:ext cx="183614" cy="146892"/>
            </a:xfrm>
            <a:custGeom>
              <a:avLst/>
              <a:gdLst/>
              <a:ahLst/>
              <a:cxnLst/>
              <a:rect l="l" t="t" r="r" b="b"/>
              <a:pathLst>
                <a:path w="183614" h="146892">
                  <a:moveTo>
                    <a:pt x="100988" y="0"/>
                  </a:moveTo>
                  <a:cubicBezTo>
                    <a:pt x="100988" y="-5078"/>
                    <a:pt x="96885" y="-9181"/>
                    <a:pt x="91807" y="-9181"/>
                  </a:cubicBezTo>
                  <a:cubicBezTo>
                    <a:pt x="86729" y="-9181"/>
                    <a:pt x="82627" y="-5078"/>
                    <a:pt x="82627" y="0"/>
                  </a:cubicBezTo>
                  <a:lnTo>
                    <a:pt x="82627" y="18361"/>
                  </a:lnTo>
                  <a:lnTo>
                    <a:pt x="55084" y="18361"/>
                  </a:lnTo>
                  <a:cubicBezTo>
                    <a:pt x="39879" y="18361"/>
                    <a:pt x="27542" y="30698"/>
                    <a:pt x="27542" y="45904"/>
                  </a:cubicBezTo>
                  <a:lnTo>
                    <a:pt x="27542" y="110169"/>
                  </a:lnTo>
                  <a:cubicBezTo>
                    <a:pt x="27542" y="125374"/>
                    <a:pt x="39879" y="137711"/>
                    <a:pt x="55084" y="137711"/>
                  </a:cubicBezTo>
                  <a:lnTo>
                    <a:pt x="128530" y="137711"/>
                  </a:lnTo>
                  <a:cubicBezTo>
                    <a:pt x="143736" y="137711"/>
                    <a:pt x="156072" y="125374"/>
                    <a:pt x="156072" y="110169"/>
                  </a:cubicBezTo>
                  <a:lnTo>
                    <a:pt x="156072" y="45904"/>
                  </a:lnTo>
                  <a:cubicBezTo>
                    <a:pt x="156072" y="30698"/>
                    <a:pt x="143736" y="18361"/>
                    <a:pt x="128530" y="18361"/>
                  </a:cubicBezTo>
                  <a:lnTo>
                    <a:pt x="100988" y="18361"/>
                  </a:lnTo>
                  <a:lnTo>
                    <a:pt x="100988" y="0"/>
                  </a:lnTo>
                  <a:close/>
                  <a:moveTo>
                    <a:pt x="45904" y="105578"/>
                  </a:moveTo>
                  <a:cubicBezTo>
                    <a:pt x="45904" y="101763"/>
                    <a:pt x="48973" y="98693"/>
                    <a:pt x="52789" y="98693"/>
                  </a:cubicBezTo>
                  <a:lnTo>
                    <a:pt x="61970" y="98693"/>
                  </a:lnTo>
                  <a:cubicBezTo>
                    <a:pt x="65786" y="98693"/>
                    <a:pt x="68855" y="101763"/>
                    <a:pt x="68855" y="105578"/>
                  </a:cubicBezTo>
                  <a:cubicBezTo>
                    <a:pt x="68855" y="109394"/>
                    <a:pt x="65786" y="112464"/>
                    <a:pt x="61970" y="112464"/>
                  </a:cubicBezTo>
                  <a:lnTo>
                    <a:pt x="52789" y="112464"/>
                  </a:lnTo>
                  <a:cubicBezTo>
                    <a:pt x="48973" y="112464"/>
                    <a:pt x="45904" y="109394"/>
                    <a:pt x="45904" y="105578"/>
                  </a:cubicBezTo>
                  <a:close/>
                  <a:moveTo>
                    <a:pt x="80331" y="105578"/>
                  </a:moveTo>
                  <a:cubicBezTo>
                    <a:pt x="80331" y="101763"/>
                    <a:pt x="83401" y="98693"/>
                    <a:pt x="87217" y="98693"/>
                  </a:cubicBezTo>
                  <a:lnTo>
                    <a:pt x="96398" y="98693"/>
                  </a:lnTo>
                  <a:cubicBezTo>
                    <a:pt x="100213" y="98693"/>
                    <a:pt x="103283" y="101763"/>
                    <a:pt x="103283" y="105578"/>
                  </a:cubicBezTo>
                  <a:cubicBezTo>
                    <a:pt x="103283" y="109394"/>
                    <a:pt x="100213" y="112464"/>
                    <a:pt x="96398" y="112464"/>
                  </a:cubicBezTo>
                  <a:lnTo>
                    <a:pt x="87217" y="112464"/>
                  </a:lnTo>
                  <a:cubicBezTo>
                    <a:pt x="83401" y="112464"/>
                    <a:pt x="80331" y="109394"/>
                    <a:pt x="80331" y="105578"/>
                  </a:cubicBezTo>
                  <a:close/>
                  <a:moveTo>
                    <a:pt x="114759" y="105578"/>
                  </a:moveTo>
                  <a:cubicBezTo>
                    <a:pt x="114759" y="101763"/>
                    <a:pt x="117829" y="98693"/>
                    <a:pt x="121645" y="98693"/>
                  </a:cubicBezTo>
                  <a:lnTo>
                    <a:pt x="130825" y="98693"/>
                  </a:lnTo>
                  <a:cubicBezTo>
                    <a:pt x="134641" y="98693"/>
                    <a:pt x="137711" y="101763"/>
                    <a:pt x="137711" y="105578"/>
                  </a:cubicBezTo>
                  <a:cubicBezTo>
                    <a:pt x="137711" y="109394"/>
                    <a:pt x="134641" y="112464"/>
                    <a:pt x="130825" y="112464"/>
                  </a:cubicBezTo>
                  <a:lnTo>
                    <a:pt x="121645" y="112464"/>
                  </a:lnTo>
                  <a:cubicBezTo>
                    <a:pt x="117829" y="112464"/>
                    <a:pt x="114759" y="109394"/>
                    <a:pt x="114759" y="105578"/>
                  </a:cubicBezTo>
                  <a:close/>
                  <a:moveTo>
                    <a:pt x="64265" y="50494"/>
                  </a:moveTo>
                  <a:cubicBezTo>
                    <a:pt x="71866" y="50494"/>
                    <a:pt x="78036" y="56665"/>
                    <a:pt x="78036" y="64265"/>
                  </a:cubicBezTo>
                  <a:cubicBezTo>
                    <a:pt x="78036" y="71866"/>
                    <a:pt x="71866" y="78036"/>
                    <a:pt x="64265" y="78036"/>
                  </a:cubicBezTo>
                  <a:cubicBezTo>
                    <a:pt x="56665" y="78036"/>
                    <a:pt x="50494" y="71866"/>
                    <a:pt x="50494" y="64265"/>
                  </a:cubicBezTo>
                  <a:cubicBezTo>
                    <a:pt x="50494" y="56665"/>
                    <a:pt x="56665" y="50494"/>
                    <a:pt x="64265" y="50494"/>
                  </a:cubicBezTo>
                  <a:close/>
                  <a:moveTo>
                    <a:pt x="105578" y="64265"/>
                  </a:moveTo>
                  <a:cubicBezTo>
                    <a:pt x="105578" y="56665"/>
                    <a:pt x="111749" y="50494"/>
                    <a:pt x="119349" y="50494"/>
                  </a:cubicBezTo>
                  <a:cubicBezTo>
                    <a:pt x="126950" y="50494"/>
                    <a:pt x="133120" y="56665"/>
                    <a:pt x="133120" y="64265"/>
                  </a:cubicBezTo>
                  <a:cubicBezTo>
                    <a:pt x="133120" y="71866"/>
                    <a:pt x="126950" y="78036"/>
                    <a:pt x="119349" y="78036"/>
                  </a:cubicBezTo>
                  <a:cubicBezTo>
                    <a:pt x="111749" y="78036"/>
                    <a:pt x="105578" y="71866"/>
                    <a:pt x="105578" y="64265"/>
                  </a:cubicBezTo>
                  <a:close/>
                  <a:moveTo>
                    <a:pt x="18361" y="64265"/>
                  </a:moveTo>
                  <a:cubicBezTo>
                    <a:pt x="18361" y="59187"/>
                    <a:pt x="14259" y="55084"/>
                    <a:pt x="9181" y="55084"/>
                  </a:cubicBezTo>
                  <a:cubicBezTo>
                    <a:pt x="4103" y="55084"/>
                    <a:pt x="0" y="59187"/>
                    <a:pt x="0" y="64265"/>
                  </a:cubicBezTo>
                  <a:lnTo>
                    <a:pt x="0" y="91807"/>
                  </a:lnTo>
                  <a:cubicBezTo>
                    <a:pt x="0" y="96885"/>
                    <a:pt x="4103" y="100988"/>
                    <a:pt x="9181" y="100988"/>
                  </a:cubicBezTo>
                  <a:cubicBezTo>
                    <a:pt x="14259" y="100988"/>
                    <a:pt x="18361" y="96885"/>
                    <a:pt x="18361" y="91807"/>
                  </a:cubicBezTo>
                  <a:lnTo>
                    <a:pt x="18361" y="64265"/>
                  </a:lnTo>
                  <a:close/>
                  <a:moveTo>
                    <a:pt x="174434" y="55084"/>
                  </a:moveTo>
                  <a:cubicBezTo>
                    <a:pt x="169356" y="55084"/>
                    <a:pt x="165253" y="59187"/>
                    <a:pt x="165253" y="64265"/>
                  </a:cubicBezTo>
                  <a:lnTo>
                    <a:pt x="165253" y="91807"/>
                  </a:lnTo>
                  <a:cubicBezTo>
                    <a:pt x="165253" y="96885"/>
                    <a:pt x="169356" y="100988"/>
                    <a:pt x="174434" y="100988"/>
                  </a:cubicBezTo>
                  <a:cubicBezTo>
                    <a:pt x="179512" y="100988"/>
                    <a:pt x="183614" y="96885"/>
                    <a:pt x="183614" y="91807"/>
                  </a:cubicBezTo>
                  <a:lnTo>
                    <a:pt x="183614" y="64265"/>
                  </a:lnTo>
                  <a:cubicBezTo>
                    <a:pt x="183614" y="59187"/>
                    <a:pt x="179512" y="55084"/>
                    <a:pt x="174434" y="55084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79" name="Text 8">
              <a:extLst>
                <a:ext uri="{FF2B5EF4-FFF2-40B4-BE49-F238E27FC236}">
                  <a16:creationId xmlns:a16="http://schemas.microsoft.com/office/drawing/2014/main" id="{488A099A-FFAE-4812-9A52-924DE7338ADD}"/>
                </a:ext>
              </a:extLst>
            </p:cNvPr>
            <p:cNvSpPr/>
            <p:nvPr/>
          </p:nvSpPr>
          <p:spPr>
            <a:xfrm>
              <a:off x="954795" y="1432193"/>
              <a:ext cx="135874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ИИ-Ассистент 1С</a:t>
              </a:r>
              <a:endParaRPr lang="en-US" sz="1600" dirty="0"/>
            </a:p>
          </p:txBody>
        </p:sp>
        <p:sp>
          <p:nvSpPr>
            <p:cNvPr id="180" name="Shape 9">
              <a:extLst>
                <a:ext uri="{FF2B5EF4-FFF2-40B4-BE49-F238E27FC236}">
                  <a16:creationId xmlns:a16="http://schemas.microsoft.com/office/drawing/2014/main" id="{FBB30AA9-4B9A-4769-8608-35D2BF742592}"/>
                </a:ext>
              </a:extLst>
            </p:cNvPr>
            <p:cNvSpPr/>
            <p:nvPr/>
          </p:nvSpPr>
          <p:spPr>
            <a:xfrm>
              <a:off x="5177928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FF6467"/>
            </a:solidFill>
            <a:ln/>
          </p:spPr>
        </p:sp>
        <p:sp>
          <p:nvSpPr>
            <p:cNvPr id="181" name="Shape 10">
              <a:extLst>
                <a:ext uri="{FF2B5EF4-FFF2-40B4-BE49-F238E27FC236}">
                  <a16:creationId xmlns:a16="http://schemas.microsoft.com/office/drawing/2014/main" id="{4FAAB3CD-063E-4841-8E54-225F496F8D3A}"/>
                </a:ext>
              </a:extLst>
            </p:cNvPr>
            <p:cNvSpPr/>
            <p:nvPr/>
          </p:nvSpPr>
          <p:spPr>
            <a:xfrm>
              <a:off x="5361542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FDC700"/>
            </a:solidFill>
            <a:ln/>
          </p:spPr>
        </p:sp>
        <p:sp>
          <p:nvSpPr>
            <p:cNvPr id="182" name="Shape 11">
              <a:extLst>
                <a:ext uri="{FF2B5EF4-FFF2-40B4-BE49-F238E27FC236}">
                  <a16:creationId xmlns:a16="http://schemas.microsoft.com/office/drawing/2014/main" id="{F414EA21-7BAB-4733-B642-267BAA7FB956}"/>
                </a:ext>
              </a:extLst>
            </p:cNvPr>
            <p:cNvSpPr/>
            <p:nvPr/>
          </p:nvSpPr>
          <p:spPr>
            <a:xfrm>
              <a:off x="5545157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05DF72"/>
            </a:solidFill>
            <a:ln/>
          </p:spPr>
        </p:sp>
        <p:sp>
          <p:nvSpPr>
            <p:cNvPr id="183" name="Shape 12">
              <a:extLst>
                <a:ext uri="{FF2B5EF4-FFF2-40B4-BE49-F238E27FC236}">
                  <a16:creationId xmlns:a16="http://schemas.microsoft.com/office/drawing/2014/main" id="{61BE1FA5-5606-4A75-A40C-E20BF861462D}"/>
                </a:ext>
              </a:extLst>
            </p:cNvPr>
            <p:cNvSpPr/>
            <p:nvPr/>
          </p:nvSpPr>
          <p:spPr>
            <a:xfrm>
              <a:off x="3401917" y="1909590"/>
              <a:ext cx="2212554" cy="403952"/>
            </a:xfrm>
            <a:custGeom>
              <a:avLst/>
              <a:gdLst/>
              <a:ahLst/>
              <a:cxnLst/>
              <a:rect l="l" t="t" r="r" b="b"/>
              <a:pathLst>
                <a:path w="2212554" h="403952">
                  <a:moveTo>
                    <a:pt x="110170" y="0"/>
                  </a:moveTo>
                  <a:lnTo>
                    <a:pt x="2175831" y="0"/>
                  </a:lnTo>
                  <a:cubicBezTo>
                    <a:pt x="2196113" y="0"/>
                    <a:pt x="2212554" y="16442"/>
                    <a:pt x="2212554" y="36723"/>
                  </a:cubicBezTo>
                  <a:lnTo>
                    <a:pt x="2212554" y="293782"/>
                  </a:lnTo>
                  <a:cubicBezTo>
                    <a:pt x="2212554" y="354586"/>
                    <a:pt x="2163189" y="403952"/>
                    <a:pt x="2102384" y="403952"/>
                  </a:cubicBezTo>
                  <a:lnTo>
                    <a:pt x="110170" y="403952"/>
                  </a:lnTo>
                  <a:cubicBezTo>
                    <a:pt x="49325" y="403952"/>
                    <a:pt x="0" y="354627"/>
                    <a:pt x="0" y="293782"/>
                  </a:cubicBezTo>
                  <a:lnTo>
                    <a:pt x="0" y="110170"/>
                  </a:lnTo>
                  <a:cubicBezTo>
                    <a:pt x="0" y="49365"/>
                    <a:pt x="49365" y="0"/>
                    <a:pt x="11017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84" name="Text 13">
              <a:extLst>
                <a:ext uri="{FF2B5EF4-FFF2-40B4-BE49-F238E27FC236}">
                  <a16:creationId xmlns:a16="http://schemas.microsoft.com/office/drawing/2014/main" id="{84ACB5BE-F2F8-475C-B934-18A38BA5B2A0}"/>
                </a:ext>
              </a:extLst>
            </p:cNvPr>
            <p:cNvSpPr/>
            <p:nvPr/>
          </p:nvSpPr>
          <p:spPr>
            <a:xfrm>
              <a:off x="3512085" y="2019759"/>
              <a:ext cx="205648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Покажи реализации за сентябрь</a:t>
              </a:r>
              <a:endParaRPr lang="en-US" sz="1600" dirty="0"/>
            </a:p>
          </p:txBody>
        </p:sp>
        <p:sp>
          <p:nvSpPr>
            <p:cNvPr id="185" name="Shape 14">
              <a:extLst>
                <a:ext uri="{FF2B5EF4-FFF2-40B4-BE49-F238E27FC236}">
                  <a16:creationId xmlns:a16="http://schemas.microsoft.com/office/drawing/2014/main" id="{E12B4EDB-4E45-44E4-9061-02BB64D5155E}"/>
                </a:ext>
              </a:extLst>
            </p:cNvPr>
            <p:cNvSpPr/>
            <p:nvPr/>
          </p:nvSpPr>
          <p:spPr>
            <a:xfrm>
              <a:off x="734458" y="2423711"/>
              <a:ext cx="2864386" cy="1432193"/>
            </a:xfrm>
            <a:custGeom>
              <a:avLst/>
              <a:gdLst/>
              <a:ahLst/>
              <a:cxnLst/>
              <a:rect l="l" t="t" r="r" b="b"/>
              <a:pathLst>
                <a:path w="2864386" h="1432193">
                  <a:moveTo>
                    <a:pt x="36721" y="0"/>
                  </a:moveTo>
                  <a:lnTo>
                    <a:pt x="2754221" y="0"/>
                  </a:lnTo>
                  <a:cubicBezTo>
                    <a:pt x="2815063" y="0"/>
                    <a:pt x="2864386" y="49322"/>
                    <a:pt x="2864386" y="110164"/>
                  </a:cubicBezTo>
                  <a:lnTo>
                    <a:pt x="2864386" y="1322029"/>
                  </a:lnTo>
                  <a:cubicBezTo>
                    <a:pt x="2864386" y="1382871"/>
                    <a:pt x="2815063" y="1432193"/>
                    <a:pt x="2754221" y="1432193"/>
                  </a:cubicBezTo>
                  <a:lnTo>
                    <a:pt x="110164" y="1432193"/>
                  </a:lnTo>
                  <a:cubicBezTo>
                    <a:pt x="49363" y="1432193"/>
                    <a:pt x="0" y="1382830"/>
                    <a:pt x="0" y="1322029"/>
                  </a:cubicBezTo>
                  <a:lnTo>
                    <a:pt x="0" y="36721"/>
                  </a:lnTo>
                  <a:cubicBezTo>
                    <a:pt x="0" y="16454"/>
                    <a:pt x="16454" y="0"/>
                    <a:pt x="3672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86" name="Text 15">
              <a:extLst>
                <a:ext uri="{FF2B5EF4-FFF2-40B4-BE49-F238E27FC236}">
                  <a16:creationId xmlns:a16="http://schemas.microsoft.com/office/drawing/2014/main" id="{499C6C87-75B6-4F66-B995-024E2D6A5B24}"/>
                </a:ext>
              </a:extLst>
            </p:cNvPr>
            <p:cNvSpPr/>
            <p:nvPr/>
          </p:nvSpPr>
          <p:spPr>
            <a:xfrm>
              <a:off x="844627" y="2533880"/>
              <a:ext cx="2708313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Нашел 15 реализаций за сентябрь 2026:</a:t>
              </a:r>
              <a:endParaRPr lang="en-US" sz="1600" dirty="0"/>
            </a:p>
          </p:txBody>
        </p:sp>
        <p:sp>
          <p:nvSpPr>
            <p:cNvPr id="187" name="Shape 16">
              <a:extLst>
                <a:ext uri="{FF2B5EF4-FFF2-40B4-BE49-F238E27FC236}">
                  <a16:creationId xmlns:a16="http://schemas.microsoft.com/office/drawing/2014/main" id="{D68A9069-4E8E-4F31-BF26-04113A3ECD80}"/>
                </a:ext>
              </a:extLst>
            </p:cNvPr>
            <p:cNvSpPr/>
            <p:nvPr/>
          </p:nvSpPr>
          <p:spPr>
            <a:xfrm>
              <a:off x="844627" y="2790940"/>
              <a:ext cx="2644048" cy="661012"/>
            </a:xfrm>
            <a:custGeom>
              <a:avLst/>
              <a:gdLst/>
              <a:ahLst/>
              <a:cxnLst/>
              <a:rect l="l" t="t" r="r" b="b"/>
              <a:pathLst>
                <a:path w="2644048" h="661012">
                  <a:moveTo>
                    <a:pt x="73445" y="0"/>
                  </a:moveTo>
                  <a:lnTo>
                    <a:pt x="2570603" y="0"/>
                  </a:lnTo>
                  <a:cubicBezTo>
                    <a:pt x="2611166" y="0"/>
                    <a:pt x="2644048" y="32882"/>
                    <a:pt x="2644048" y="73445"/>
                  </a:cubicBezTo>
                  <a:lnTo>
                    <a:pt x="2644048" y="587567"/>
                  </a:lnTo>
                  <a:cubicBezTo>
                    <a:pt x="2644048" y="628130"/>
                    <a:pt x="2611166" y="661012"/>
                    <a:pt x="2570603" y="661012"/>
                  </a:cubicBezTo>
                  <a:lnTo>
                    <a:pt x="73445" y="661012"/>
                  </a:lnTo>
                  <a:cubicBezTo>
                    <a:pt x="32882" y="661012"/>
                    <a:pt x="0" y="628130"/>
                    <a:pt x="0" y="587567"/>
                  </a:cubicBezTo>
                  <a:lnTo>
                    <a:pt x="0" y="73445"/>
                  </a:lnTo>
                  <a:cubicBezTo>
                    <a:pt x="0" y="32910"/>
                    <a:pt x="32910" y="0"/>
                    <a:pt x="73445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88" name="Text 17">
              <a:extLst>
                <a:ext uri="{FF2B5EF4-FFF2-40B4-BE49-F238E27FC236}">
                  <a16:creationId xmlns:a16="http://schemas.microsoft.com/office/drawing/2014/main" id="{9D8CEE43-9A78-4D2B-A034-44DEB75378EC}"/>
                </a:ext>
              </a:extLst>
            </p:cNvPr>
            <p:cNvSpPr/>
            <p:nvPr/>
          </p:nvSpPr>
          <p:spPr>
            <a:xfrm>
              <a:off x="918072" y="2864386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Реализация №124 от 05.09 — ООО Ромашка</a:t>
              </a:r>
              <a:endParaRPr lang="en-US" sz="1600" dirty="0"/>
            </a:p>
          </p:txBody>
        </p:sp>
        <p:sp>
          <p:nvSpPr>
            <p:cNvPr id="189" name="Text 18">
              <a:extLst>
                <a:ext uri="{FF2B5EF4-FFF2-40B4-BE49-F238E27FC236}">
                  <a16:creationId xmlns:a16="http://schemas.microsoft.com/office/drawing/2014/main" id="{50840FE3-3DE1-44B1-8B75-2FEAC64BA934}"/>
                </a:ext>
              </a:extLst>
            </p:cNvPr>
            <p:cNvSpPr/>
            <p:nvPr/>
          </p:nvSpPr>
          <p:spPr>
            <a:xfrm>
              <a:off x="918072" y="3048000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Реализация №125 от 12.09 — ИП Иванов</a:t>
              </a:r>
              <a:endParaRPr lang="en-US" sz="1600" dirty="0"/>
            </a:p>
          </p:txBody>
        </p:sp>
        <p:sp>
          <p:nvSpPr>
            <p:cNvPr id="190" name="Text 19">
              <a:extLst>
                <a:ext uri="{FF2B5EF4-FFF2-40B4-BE49-F238E27FC236}">
                  <a16:creationId xmlns:a16="http://schemas.microsoft.com/office/drawing/2014/main" id="{E20610AC-6893-4B51-849D-A22BDF0E9D97}"/>
                </a:ext>
              </a:extLst>
            </p:cNvPr>
            <p:cNvSpPr/>
            <p:nvPr/>
          </p:nvSpPr>
          <p:spPr>
            <a:xfrm>
              <a:off x="918072" y="3231614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... и еще 13 документов</a:t>
              </a:r>
              <a:endParaRPr lang="en-US" sz="1600" dirty="0"/>
            </a:p>
          </p:txBody>
        </p:sp>
        <p:sp>
          <p:nvSpPr>
            <p:cNvPr id="191" name="Shape 20">
              <a:extLst>
                <a:ext uri="{FF2B5EF4-FFF2-40B4-BE49-F238E27FC236}">
                  <a16:creationId xmlns:a16="http://schemas.microsoft.com/office/drawing/2014/main" id="{A8CAE7DC-B6E0-4F82-ADE3-A1288F09543E}"/>
                </a:ext>
              </a:extLst>
            </p:cNvPr>
            <p:cNvSpPr/>
            <p:nvPr/>
          </p:nvSpPr>
          <p:spPr>
            <a:xfrm>
              <a:off x="844627" y="3525398"/>
              <a:ext cx="1120048" cy="220337"/>
            </a:xfrm>
            <a:custGeom>
              <a:avLst/>
              <a:gdLst/>
              <a:ahLst/>
              <a:cxnLst/>
              <a:rect l="l" t="t" r="r" b="b"/>
              <a:pathLst>
                <a:path w="1120048" h="220337">
                  <a:moveTo>
                    <a:pt x="36724" y="0"/>
                  </a:moveTo>
                  <a:lnTo>
                    <a:pt x="1083325" y="0"/>
                  </a:lnTo>
                  <a:cubicBezTo>
                    <a:pt x="1103593" y="0"/>
                    <a:pt x="1120048" y="16455"/>
                    <a:pt x="1120048" y="36724"/>
                  </a:cubicBezTo>
                  <a:lnTo>
                    <a:pt x="1120048" y="183614"/>
                  </a:lnTo>
                  <a:cubicBezTo>
                    <a:pt x="1120048" y="203896"/>
                    <a:pt x="1103606" y="220337"/>
                    <a:pt x="1083325" y="220337"/>
                  </a:cubicBezTo>
                  <a:lnTo>
                    <a:pt x="36724" y="220337"/>
                  </a:lnTo>
                  <a:cubicBezTo>
                    <a:pt x="16455" y="220337"/>
                    <a:pt x="0" y="203882"/>
                    <a:pt x="0" y="183614"/>
                  </a:cubicBezTo>
                  <a:lnTo>
                    <a:pt x="0" y="36724"/>
                  </a:lnTo>
                  <a:cubicBezTo>
                    <a:pt x="0" y="16442"/>
                    <a:pt x="16442" y="0"/>
                    <a:pt x="3672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92" name="Text 21">
              <a:extLst>
                <a:ext uri="{FF2B5EF4-FFF2-40B4-BE49-F238E27FC236}">
                  <a16:creationId xmlns:a16="http://schemas.microsoft.com/office/drawing/2014/main" id="{82C98674-BB05-4800-9977-AFF826BC3269}"/>
                </a:ext>
              </a:extLst>
            </p:cNvPr>
            <p:cNvSpPr/>
            <p:nvPr/>
          </p:nvSpPr>
          <p:spPr>
            <a:xfrm>
              <a:off x="817084" y="3525398"/>
              <a:ext cx="1175133" cy="220337"/>
            </a:xfrm>
            <a:prstGeom prst="rect">
              <a:avLst/>
            </a:prstGeom>
            <a:noFill/>
            <a:ln/>
          </p:spPr>
          <p:txBody>
            <a:bodyPr wrap="square" lIns="110169" tIns="36723" rIns="110169" bIns="36723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Открыть список</a:t>
              </a:r>
              <a:endParaRPr lang="en-US" sz="1600" dirty="0"/>
            </a:p>
          </p:txBody>
        </p:sp>
        <p:sp>
          <p:nvSpPr>
            <p:cNvPr id="193" name="Shape 22">
              <a:extLst>
                <a:ext uri="{FF2B5EF4-FFF2-40B4-BE49-F238E27FC236}">
                  <a16:creationId xmlns:a16="http://schemas.microsoft.com/office/drawing/2014/main" id="{A59E45FC-0ADF-42AC-927F-F09531218A09}"/>
                </a:ext>
              </a:extLst>
            </p:cNvPr>
            <p:cNvSpPr/>
            <p:nvPr/>
          </p:nvSpPr>
          <p:spPr>
            <a:xfrm>
              <a:off x="2040722" y="3525398"/>
              <a:ext cx="615108" cy="220337"/>
            </a:xfrm>
            <a:custGeom>
              <a:avLst/>
              <a:gdLst/>
              <a:ahLst/>
              <a:cxnLst/>
              <a:rect l="l" t="t" r="r" b="b"/>
              <a:pathLst>
                <a:path w="615108" h="220337">
                  <a:moveTo>
                    <a:pt x="36724" y="0"/>
                  </a:moveTo>
                  <a:lnTo>
                    <a:pt x="578385" y="0"/>
                  </a:lnTo>
                  <a:cubicBezTo>
                    <a:pt x="598653" y="0"/>
                    <a:pt x="615108" y="16455"/>
                    <a:pt x="615108" y="36724"/>
                  </a:cubicBezTo>
                  <a:lnTo>
                    <a:pt x="615108" y="183614"/>
                  </a:lnTo>
                  <a:cubicBezTo>
                    <a:pt x="615108" y="203896"/>
                    <a:pt x="598667" y="220337"/>
                    <a:pt x="578385" y="220337"/>
                  </a:cubicBezTo>
                  <a:lnTo>
                    <a:pt x="36724" y="220337"/>
                  </a:lnTo>
                  <a:cubicBezTo>
                    <a:pt x="16455" y="220337"/>
                    <a:pt x="0" y="203882"/>
                    <a:pt x="0" y="183614"/>
                  </a:cubicBezTo>
                  <a:lnTo>
                    <a:pt x="0" y="36724"/>
                  </a:lnTo>
                  <a:cubicBezTo>
                    <a:pt x="0" y="16442"/>
                    <a:pt x="16442" y="0"/>
                    <a:pt x="3672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94" name="Text 23">
              <a:extLst>
                <a:ext uri="{FF2B5EF4-FFF2-40B4-BE49-F238E27FC236}">
                  <a16:creationId xmlns:a16="http://schemas.microsoft.com/office/drawing/2014/main" id="{1C6727E4-2229-4C24-96CA-6C463D3A9533}"/>
                </a:ext>
              </a:extLst>
            </p:cNvPr>
            <p:cNvSpPr/>
            <p:nvPr/>
          </p:nvSpPr>
          <p:spPr>
            <a:xfrm>
              <a:off x="2013180" y="3525398"/>
              <a:ext cx="670193" cy="220337"/>
            </a:xfrm>
            <a:prstGeom prst="rect">
              <a:avLst/>
            </a:prstGeom>
            <a:noFill/>
            <a:ln/>
          </p:spPr>
          <p:txBody>
            <a:bodyPr wrap="square" lIns="110169" tIns="36723" rIns="110169" bIns="36723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Фильтр</a:t>
              </a:r>
              <a:endParaRPr lang="en-US" sz="1600" dirty="0"/>
            </a:p>
          </p:txBody>
        </p:sp>
        <p:sp>
          <p:nvSpPr>
            <p:cNvPr id="195" name="Shape 24">
              <a:extLst>
                <a:ext uri="{FF2B5EF4-FFF2-40B4-BE49-F238E27FC236}">
                  <a16:creationId xmlns:a16="http://schemas.microsoft.com/office/drawing/2014/main" id="{A506ABEB-2510-4D24-BB60-D0185A79CE97}"/>
                </a:ext>
              </a:extLst>
            </p:cNvPr>
            <p:cNvSpPr/>
            <p:nvPr/>
          </p:nvSpPr>
          <p:spPr>
            <a:xfrm>
              <a:off x="2892081" y="3966072"/>
              <a:ext cx="2726675" cy="403952"/>
            </a:xfrm>
            <a:custGeom>
              <a:avLst/>
              <a:gdLst/>
              <a:ahLst/>
              <a:cxnLst/>
              <a:rect l="l" t="t" r="r" b="b"/>
              <a:pathLst>
                <a:path w="2726675" h="403952">
                  <a:moveTo>
                    <a:pt x="110170" y="0"/>
                  </a:moveTo>
                  <a:lnTo>
                    <a:pt x="2689951" y="0"/>
                  </a:lnTo>
                  <a:cubicBezTo>
                    <a:pt x="2710233" y="0"/>
                    <a:pt x="2726675" y="16442"/>
                    <a:pt x="2726675" y="36723"/>
                  </a:cubicBezTo>
                  <a:lnTo>
                    <a:pt x="2726675" y="293782"/>
                  </a:lnTo>
                  <a:cubicBezTo>
                    <a:pt x="2726675" y="354586"/>
                    <a:pt x="2677309" y="403952"/>
                    <a:pt x="2616505" y="403952"/>
                  </a:cubicBezTo>
                  <a:lnTo>
                    <a:pt x="110170" y="403952"/>
                  </a:lnTo>
                  <a:cubicBezTo>
                    <a:pt x="49325" y="403952"/>
                    <a:pt x="0" y="354627"/>
                    <a:pt x="0" y="293782"/>
                  </a:cubicBezTo>
                  <a:lnTo>
                    <a:pt x="0" y="110170"/>
                  </a:lnTo>
                  <a:cubicBezTo>
                    <a:pt x="0" y="49365"/>
                    <a:pt x="49365" y="0"/>
                    <a:pt x="11017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96" name="Text 25">
              <a:extLst>
                <a:ext uri="{FF2B5EF4-FFF2-40B4-BE49-F238E27FC236}">
                  <a16:creationId xmlns:a16="http://schemas.microsoft.com/office/drawing/2014/main" id="{35F4B5B3-D8F6-4D37-A453-954EDD40BE98}"/>
                </a:ext>
              </a:extLst>
            </p:cNvPr>
            <p:cNvSpPr/>
            <p:nvPr/>
          </p:nvSpPr>
          <p:spPr>
            <a:xfrm>
              <a:off x="3002249" y="4076241"/>
              <a:ext cx="257060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Сколько осталось товара "Ноутбук Dell"?</a:t>
              </a:r>
              <a:endParaRPr lang="en-US" sz="1600" dirty="0"/>
            </a:p>
          </p:txBody>
        </p:sp>
        <p:sp>
          <p:nvSpPr>
            <p:cNvPr id="197" name="Shape 26">
              <a:extLst>
                <a:ext uri="{FF2B5EF4-FFF2-40B4-BE49-F238E27FC236}">
                  <a16:creationId xmlns:a16="http://schemas.microsoft.com/office/drawing/2014/main" id="{41271105-6DA0-4C5C-BDA1-DAAC21F5D3EC}"/>
                </a:ext>
              </a:extLst>
            </p:cNvPr>
            <p:cNvSpPr/>
            <p:nvPr/>
          </p:nvSpPr>
          <p:spPr>
            <a:xfrm>
              <a:off x="734458" y="4480193"/>
              <a:ext cx="2084024" cy="1101687"/>
            </a:xfrm>
            <a:custGeom>
              <a:avLst/>
              <a:gdLst/>
              <a:ahLst/>
              <a:cxnLst/>
              <a:rect l="l" t="t" r="r" b="b"/>
              <a:pathLst>
                <a:path w="2084024" h="1101687">
                  <a:moveTo>
                    <a:pt x="36719" y="0"/>
                  </a:moveTo>
                  <a:lnTo>
                    <a:pt x="1973855" y="0"/>
                  </a:lnTo>
                  <a:cubicBezTo>
                    <a:pt x="2034700" y="0"/>
                    <a:pt x="2084024" y="49324"/>
                    <a:pt x="2084024" y="110169"/>
                  </a:cubicBezTo>
                  <a:lnTo>
                    <a:pt x="2084024" y="991518"/>
                  </a:lnTo>
                  <a:cubicBezTo>
                    <a:pt x="2084024" y="1052363"/>
                    <a:pt x="2034700" y="1101687"/>
                    <a:pt x="1973855" y="1101687"/>
                  </a:cubicBezTo>
                  <a:lnTo>
                    <a:pt x="110169" y="1101687"/>
                  </a:lnTo>
                  <a:cubicBezTo>
                    <a:pt x="49324" y="1101687"/>
                    <a:pt x="0" y="1052363"/>
                    <a:pt x="0" y="991518"/>
                  </a:cubicBezTo>
                  <a:lnTo>
                    <a:pt x="0" y="36719"/>
                  </a:lnTo>
                  <a:cubicBezTo>
                    <a:pt x="0" y="16453"/>
                    <a:pt x="16453" y="0"/>
                    <a:pt x="3671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98" name="Text 27">
              <a:extLst>
                <a:ext uri="{FF2B5EF4-FFF2-40B4-BE49-F238E27FC236}">
                  <a16:creationId xmlns:a16="http://schemas.microsoft.com/office/drawing/2014/main" id="{4E268788-64CE-4573-9407-114C2A673B92}"/>
                </a:ext>
              </a:extLst>
            </p:cNvPr>
            <p:cNvSpPr/>
            <p:nvPr/>
          </p:nvSpPr>
          <p:spPr>
            <a:xfrm>
              <a:off x="844627" y="4590361"/>
              <a:ext cx="192795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Остаток товара "Ноутбук Dell":</a:t>
              </a:r>
              <a:endParaRPr lang="en-US" sz="1600" dirty="0"/>
            </a:p>
          </p:txBody>
        </p:sp>
        <p:sp>
          <p:nvSpPr>
            <p:cNvPr id="199" name="Shape 28">
              <a:extLst>
                <a:ext uri="{FF2B5EF4-FFF2-40B4-BE49-F238E27FC236}">
                  <a16:creationId xmlns:a16="http://schemas.microsoft.com/office/drawing/2014/main" id="{1BD04D11-4426-474C-AF5F-A651E8350261}"/>
                </a:ext>
              </a:extLst>
            </p:cNvPr>
            <p:cNvSpPr/>
            <p:nvPr/>
          </p:nvSpPr>
          <p:spPr>
            <a:xfrm>
              <a:off x="844627" y="4847422"/>
              <a:ext cx="1863687" cy="624289"/>
            </a:xfrm>
            <a:custGeom>
              <a:avLst/>
              <a:gdLst/>
              <a:ahLst/>
              <a:cxnLst/>
              <a:rect l="l" t="t" r="r" b="b"/>
              <a:pathLst>
                <a:path w="1863687" h="624289">
                  <a:moveTo>
                    <a:pt x="73448" y="0"/>
                  </a:moveTo>
                  <a:lnTo>
                    <a:pt x="1790239" y="0"/>
                  </a:lnTo>
                  <a:cubicBezTo>
                    <a:pt x="1830803" y="0"/>
                    <a:pt x="1863687" y="32884"/>
                    <a:pt x="1863687" y="73448"/>
                  </a:cubicBezTo>
                  <a:lnTo>
                    <a:pt x="1863687" y="550842"/>
                  </a:lnTo>
                  <a:cubicBezTo>
                    <a:pt x="1863687" y="591406"/>
                    <a:pt x="1830803" y="624289"/>
                    <a:pt x="1790239" y="624289"/>
                  </a:cubicBezTo>
                  <a:lnTo>
                    <a:pt x="73448" y="624289"/>
                  </a:lnTo>
                  <a:cubicBezTo>
                    <a:pt x="32884" y="624289"/>
                    <a:pt x="0" y="591406"/>
                    <a:pt x="0" y="550842"/>
                  </a:cubicBezTo>
                  <a:lnTo>
                    <a:pt x="0" y="73448"/>
                  </a:lnTo>
                  <a:cubicBezTo>
                    <a:pt x="0" y="32911"/>
                    <a:pt x="32911" y="0"/>
                    <a:pt x="73448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00" name="Text 29">
              <a:extLst>
                <a:ext uri="{FF2B5EF4-FFF2-40B4-BE49-F238E27FC236}">
                  <a16:creationId xmlns:a16="http://schemas.microsoft.com/office/drawing/2014/main" id="{1CFB2752-1268-4C59-B933-29A50F105AAA}"/>
                </a:ext>
              </a:extLst>
            </p:cNvPr>
            <p:cNvSpPr/>
            <p:nvPr/>
          </p:nvSpPr>
          <p:spPr>
            <a:xfrm>
              <a:off x="918072" y="4920867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Склад основной:</a:t>
              </a: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25 шт.</a:t>
              </a:r>
              <a:endParaRPr lang="en-US" sz="1600" dirty="0"/>
            </a:p>
          </p:txBody>
        </p:sp>
        <p:sp>
          <p:nvSpPr>
            <p:cNvPr id="201" name="Text 30">
              <a:extLst>
                <a:ext uri="{FF2B5EF4-FFF2-40B4-BE49-F238E27FC236}">
                  <a16:creationId xmlns:a16="http://schemas.microsoft.com/office/drawing/2014/main" id="{0CCBD5AF-FB35-4B28-8AC9-0883BA786753}"/>
                </a:ext>
              </a:extLst>
            </p:cNvPr>
            <p:cNvSpPr/>
            <p:nvPr/>
          </p:nvSpPr>
          <p:spPr>
            <a:xfrm>
              <a:off x="918072" y="5067759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Склад резервный:</a:t>
              </a: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8 шт.</a:t>
              </a:r>
              <a:endParaRPr lang="en-US" sz="1600" dirty="0"/>
            </a:p>
          </p:txBody>
        </p:sp>
        <p:sp>
          <p:nvSpPr>
            <p:cNvPr id="202" name="Text 31">
              <a:extLst>
                <a:ext uri="{FF2B5EF4-FFF2-40B4-BE49-F238E27FC236}">
                  <a16:creationId xmlns:a16="http://schemas.microsoft.com/office/drawing/2014/main" id="{41D44C3C-2AB3-4E9F-A925-48B26273D0D2}"/>
                </a:ext>
              </a:extLst>
            </p:cNvPr>
            <p:cNvSpPr/>
            <p:nvPr/>
          </p:nvSpPr>
          <p:spPr>
            <a:xfrm>
              <a:off x="918072" y="5251373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Итого:</a:t>
              </a:r>
              <a:r>
                <a:rPr lang="en-US" sz="867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33 шт.</a:t>
              </a:r>
              <a:endParaRPr lang="en-US" sz="1600" dirty="0"/>
            </a:p>
          </p:txBody>
        </p:sp>
        <p:sp>
          <p:nvSpPr>
            <p:cNvPr id="203" name="Shape 32">
              <a:extLst>
                <a:ext uri="{FF2B5EF4-FFF2-40B4-BE49-F238E27FC236}">
                  <a16:creationId xmlns:a16="http://schemas.microsoft.com/office/drawing/2014/main" id="{C9576E27-DEB5-4280-90F0-066F122C8E19}"/>
                </a:ext>
              </a:extLst>
            </p:cNvPr>
            <p:cNvSpPr/>
            <p:nvPr/>
          </p:nvSpPr>
          <p:spPr>
            <a:xfrm>
              <a:off x="587566" y="5733361"/>
              <a:ext cx="5177928" cy="904301"/>
            </a:xfrm>
            <a:custGeom>
              <a:avLst/>
              <a:gdLst/>
              <a:ahLst/>
              <a:cxnLst/>
              <a:rect l="l" t="t" r="r" b="b"/>
              <a:pathLst>
                <a:path w="5177928" h="904301">
                  <a:moveTo>
                    <a:pt x="0" y="0"/>
                  </a:moveTo>
                  <a:lnTo>
                    <a:pt x="5177928" y="0"/>
                  </a:lnTo>
                  <a:lnTo>
                    <a:pt x="5177928" y="904301"/>
                  </a:lnTo>
                  <a:lnTo>
                    <a:pt x="0" y="904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/>
          </p:spPr>
        </p:sp>
        <p:sp>
          <p:nvSpPr>
            <p:cNvPr id="204" name="Shape 33">
              <a:extLst>
                <a:ext uri="{FF2B5EF4-FFF2-40B4-BE49-F238E27FC236}">
                  <a16:creationId xmlns:a16="http://schemas.microsoft.com/office/drawing/2014/main" id="{588BD9FF-4785-4B09-9E36-843A02A6E4B2}"/>
                </a:ext>
              </a:extLst>
            </p:cNvPr>
            <p:cNvSpPr/>
            <p:nvPr/>
          </p:nvSpPr>
          <p:spPr>
            <a:xfrm>
              <a:off x="587566" y="5733361"/>
              <a:ext cx="5177928" cy="9181"/>
            </a:xfrm>
            <a:custGeom>
              <a:avLst/>
              <a:gdLst/>
              <a:ahLst/>
              <a:cxnLst/>
              <a:rect l="l" t="t" r="r" b="b"/>
              <a:pathLst>
                <a:path w="5177928" h="9181">
                  <a:moveTo>
                    <a:pt x="0" y="0"/>
                  </a:moveTo>
                  <a:lnTo>
                    <a:pt x="5177928" y="0"/>
                  </a:lnTo>
                  <a:lnTo>
                    <a:pt x="5177928" y="9181"/>
                  </a:lnTo>
                  <a:lnTo>
                    <a:pt x="0" y="9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05" name="Shape 34">
              <a:extLst>
                <a:ext uri="{FF2B5EF4-FFF2-40B4-BE49-F238E27FC236}">
                  <a16:creationId xmlns:a16="http://schemas.microsoft.com/office/drawing/2014/main" id="{83A2C358-BA6F-4D8B-BB40-A61DEF881C05}"/>
                </a:ext>
              </a:extLst>
            </p:cNvPr>
            <p:cNvSpPr/>
            <p:nvPr/>
          </p:nvSpPr>
          <p:spPr>
            <a:xfrm>
              <a:off x="702325" y="5861892"/>
              <a:ext cx="4287398" cy="339687"/>
            </a:xfrm>
            <a:custGeom>
              <a:avLst/>
              <a:gdLst/>
              <a:ahLst/>
              <a:cxnLst/>
              <a:rect l="l" t="t" r="r" b="b"/>
              <a:pathLst>
                <a:path w="4287398" h="339687">
                  <a:moveTo>
                    <a:pt x="73447" y="0"/>
                  </a:moveTo>
                  <a:lnTo>
                    <a:pt x="4213951" y="0"/>
                  </a:lnTo>
                  <a:cubicBezTo>
                    <a:pt x="4254487" y="0"/>
                    <a:pt x="4287398" y="32911"/>
                    <a:pt x="4287398" y="73447"/>
                  </a:cubicBezTo>
                  <a:lnTo>
                    <a:pt x="4287398" y="266240"/>
                  </a:lnTo>
                  <a:cubicBezTo>
                    <a:pt x="4287398" y="306803"/>
                    <a:pt x="4254514" y="339687"/>
                    <a:pt x="4213951" y="339687"/>
                  </a:cubicBezTo>
                  <a:lnTo>
                    <a:pt x="73447" y="339687"/>
                  </a:lnTo>
                  <a:cubicBezTo>
                    <a:pt x="32911" y="339687"/>
                    <a:pt x="0" y="306776"/>
                    <a:pt x="0" y="266240"/>
                  </a:cubicBezTo>
                  <a:lnTo>
                    <a:pt x="0" y="73447"/>
                  </a:lnTo>
                  <a:cubicBezTo>
                    <a:pt x="0" y="32911"/>
                    <a:pt x="32911" y="0"/>
                    <a:pt x="73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206" name="Shape 35">
              <a:extLst>
                <a:ext uri="{FF2B5EF4-FFF2-40B4-BE49-F238E27FC236}">
                  <a16:creationId xmlns:a16="http://schemas.microsoft.com/office/drawing/2014/main" id="{41060492-96EF-4541-A20B-182FB31D25FC}"/>
                </a:ext>
              </a:extLst>
            </p:cNvPr>
            <p:cNvSpPr/>
            <p:nvPr/>
          </p:nvSpPr>
          <p:spPr>
            <a:xfrm>
              <a:off x="5288096" y="5848120"/>
              <a:ext cx="367229" cy="367229"/>
            </a:xfrm>
            <a:custGeom>
              <a:avLst/>
              <a:gdLst/>
              <a:ahLst/>
              <a:cxnLst/>
              <a:rect l="l" t="t" r="r" b="b"/>
              <a:pathLst>
                <a:path w="367229" h="367229">
                  <a:moveTo>
                    <a:pt x="73446" y="0"/>
                  </a:moveTo>
                  <a:lnTo>
                    <a:pt x="293783" y="0"/>
                  </a:lnTo>
                  <a:cubicBezTo>
                    <a:pt x="334346" y="0"/>
                    <a:pt x="367229" y="32883"/>
                    <a:pt x="367229" y="73446"/>
                  </a:cubicBezTo>
                  <a:lnTo>
                    <a:pt x="367229" y="293783"/>
                  </a:lnTo>
                  <a:cubicBezTo>
                    <a:pt x="367229" y="334346"/>
                    <a:pt x="334346" y="367229"/>
                    <a:pt x="293783" y="367229"/>
                  </a:cubicBezTo>
                  <a:lnTo>
                    <a:pt x="73446" y="367229"/>
                  </a:lnTo>
                  <a:cubicBezTo>
                    <a:pt x="32883" y="367229"/>
                    <a:pt x="0" y="334346"/>
                    <a:pt x="0" y="293783"/>
                  </a:cubicBezTo>
                  <a:lnTo>
                    <a:pt x="0" y="73446"/>
                  </a:lnTo>
                  <a:cubicBezTo>
                    <a:pt x="0" y="32910"/>
                    <a:pt x="32910" y="0"/>
                    <a:pt x="73446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07" name="Shape 36">
              <a:extLst>
                <a:ext uri="{FF2B5EF4-FFF2-40B4-BE49-F238E27FC236}">
                  <a16:creationId xmlns:a16="http://schemas.microsoft.com/office/drawing/2014/main" id="{2514679B-F39C-45BF-BDFE-6038E367D4D2}"/>
                </a:ext>
              </a:extLst>
            </p:cNvPr>
            <p:cNvSpPr/>
            <p:nvPr/>
          </p:nvSpPr>
          <p:spPr>
            <a:xfrm>
              <a:off x="5389084" y="5958289"/>
              <a:ext cx="165253" cy="146892"/>
            </a:xfrm>
            <a:custGeom>
              <a:avLst/>
              <a:gdLst/>
              <a:ahLst/>
              <a:cxnLst/>
              <a:rect l="l" t="t" r="r" b="b"/>
              <a:pathLst>
                <a:path w="165253" h="146892">
                  <a:moveTo>
                    <a:pt x="153892" y="-7545"/>
                  </a:moveTo>
                  <a:cubicBezTo>
                    <a:pt x="156703" y="-8550"/>
                    <a:pt x="159802" y="-7832"/>
                    <a:pt x="161925" y="-5738"/>
                  </a:cubicBezTo>
                  <a:cubicBezTo>
                    <a:pt x="164048" y="-3644"/>
                    <a:pt x="164737" y="-516"/>
                    <a:pt x="163732" y="2295"/>
                  </a:cubicBezTo>
                  <a:lnTo>
                    <a:pt x="112665" y="144855"/>
                  </a:lnTo>
                  <a:cubicBezTo>
                    <a:pt x="111230" y="148842"/>
                    <a:pt x="107472" y="151482"/>
                    <a:pt x="103254" y="151482"/>
                  </a:cubicBezTo>
                  <a:cubicBezTo>
                    <a:pt x="99180" y="151482"/>
                    <a:pt x="95508" y="149015"/>
                    <a:pt x="93988" y="145256"/>
                  </a:cubicBezTo>
                  <a:lnTo>
                    <a:pt x="75569" y="99926"/>
                  </a:lnTo>
                  <a:cubicBezTo>
                    <a:pt x="74278" y="96771"/>
                    <a:pt x="74852" y="93156"/>
                    <a:pt x="77061" y="90574"/>
                  </a:cubicBezTo>
                  <a:lnTo>
                    <a:pt x="104173" y="58326"/>
                  </a:lnTo>
                  <a:cubicBezTo>
                    <a:pt x="105636" y="56576"/>
                    <a:pt x="105521" y="54023"/>
                    <a:pt x="103914" y="52416"/>
                  </a:cubicBezTo>
                  <a:cubicBezTo>
                    <a:pt x="102308" y="50810"/>
                    <a:pt x="99726" y="50695"/>
                    <a:pt x="98004" y="52158"/>
                  </a:cubicBezTo>
                  <a:lnTo>
                    <a:pt x="65757" y="79212"/>
                  </a:lnTo>
                  <a:cubicBezTo>
                    <a:pt x="63146" y="81393"/>
                    <a:pt x="59560" y="81967"/>
                    <a:pt x="56404" y="80704"/>
                  </a:cubicBezTo>
                  <a:lnTo>
                    <a:pt x="10931" y="62199"/>
                  </a:lnTo>
                  <a:cubicBezTo>
                    <a:pt x="7172" y="60679"/>
                    <a:pt x="4705" y="57007"/>
                    <a:pt x="4705" y="52933"/>
                  </a:cubicBezTo>
                  <a:cubicBezTo>
                    <a:pt x="4705" y="48715"/>
                    <a:pt x="7345" y="44957"/>
                    <a:pt x="11332" y="43522"/>
                  </a:cubicBezTo>
                  <a:lnTo>
                    <a:pt x="153892" y="-754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08" name="Shape 37">
              <a:extLst>
                <a:ext uri="{FF2B5EF4-FFF2-40B4-BE49-F238E27FC236}">
                  <a16:creationId xmlns:a16="http://schemas.microsoft.com/office/drawing/2014/main" id="{118C6230-FD52-46B2-A2D4-5421F42F8829}"/>
                </a:ext>
              </a:extLst>
            </p:cNvPr>
            <p:cNvSpPr/>
            <p:nvPr/>
          </p:nvSpPr>
          <p:spPr>
            <a:xfrm>
              <a:off x="702325" y="6293386"/>
              <a:ext cx="780361" cy="229518"/>
            </a:xfrm>
            <a:custGeom>
              <a:avLst/>
              <a:gdLst/>
              <a:ahLst/>
              <a:cxnLst/>
              <a:rect l="l" t="t" r="r" b="b"/>
              <a:pathLst>
                <a:path w="780361" h="229518">
                  <a:moveTo>
                    <a:pt x="36723" y="0"/>
                  </a:moveTo>
                  <a:lnTo>
                    <a:pt x="743639" y="0"/>
                  </a:lnTo>
                  <a:cubicBezTo>
                    <a:pt x="763920" y="0"/>
                    <a:pt x="780361" y="16441"/>
                    <a:pt x="780361" y="36723"/>
                  </a:cubicBezTo>
                  <a:lnTo>
                    <a:pt x="780361" y="192795"/>
                  </a:lnTo>
                  <a:cubicBezTo>
                    <a:pt x="780361" y="213077"/>
                    <a:pt x="763920" y="229518"/>
                    <a:pt x="743639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209" name="Text 38">
              <a:extLst>
                <a:ext uri="{FF2B5EF4-FFF2-40B4-BE49-F238E27FC236}">
                  <a16:creationId xmlns:a16="http://schemas.microsoft.com/office/drawing/2014/main" id="{EAD43A28-CE2B-4BCF-876B-36A1FC394EF1}"/>
                </a:ext>
              </a:extLst>
            </p:cNvPr>
            <p:cNvSpPr/>
            <p:nvPr/>
          </p:nvSpPr>
          <p:spPr>
            <a:xfrm>
              <a:off x="697735" y="6288795"/>
              <a:ext cx="826265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Реализации</a:t>
              </a:r>
              <a:endParaRPr lang="en-US" sz="1600" dirty="0"/>
            </a:p>
          </p:txBody>
        </p:sp>
        <p:sp>
          <p:nvSpPr>
            <p:cNvPr id="210" name="Shape 39">
              <a:extLst>
                <a:ext uri="{FF2B5EF4-FFF2-40B4-BE49-F238E27FC236}">
                  <a16:creationId xmlns:a16="http://schemas.microsoft.com/office/drawing/2014/main" id="{1FF8158E-159B-4C88-B27E-1DE431CBF23E}"/>
                </a:ext>
              </a:extLst>
            </p:cNvPr>
            <p:cNvSpPr/>
            <p:nvPr/>
          </p:nvSpPr>
          <p:spPr>
            <a:xfrm>
              <a:off x="1564395" y="6293386"/>
              <a:ext cx="587566" cy="229518"/>
            </a:xfrm>
            <a:custGeom>
              <a:avLst/>
              <a:gdLst/>
              <a:ahLst/>
              <a:cxnLst/>
              <a:rect l="l" t="t" r="r" b="b"/>
              <a:pathLst>
                <a:path w="587566" h="229518">
                  <a:moveTo>
                    <a:pt x="36723" y="0"/>
                  </a:moveTo>
                  <a:lnTo>
                    <a:pt x="550843" y="0"/>
                  </a:lnTo>
                  <a:cubicBezTo>
                    <a:pt x="571125" y="0"/>
                    <a:pt x="587566" y="16441"/>
                    <a:pt x="587566" y="36723"/>
                  </a:cubicBezTo>
                  <a:lnTo>
                    <a:pt x="587566" y="192795"/>
                  </a:lnTo>
                  <a:cubicBezTo>
                    <a:pt x="587566" y="213077"/>
                    <a:pt x="571125" y="229518"/>
                    <a:pt x="550843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211" name="Text 40">
              <a:extLst>
                <a:ext uri="{FF2B5EF4-FFF2-40B4-BE49-F238E27FC236}">
                  <a16:creationId xmlns:a16="http://schemas.microsoft.com/office/drawing/2014/main" id="{20476845-9E69-4BDE-8C62-F039E6EFA82D}"/>
                </a:ext>
              </a:extLst>
            </p:cNvPr>
            <p:cNvSpPr/>
            <p:nvPr/>
          </p:nvSpPr>
          <p:spPr>
            <a:xfrm>
              <a:off x="1559805" y="6288795"/>
              <a:ext cx="633470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Остатки</a:t>
              </a:r>
              <a:endParaRPr lang="en-US" sz="1600" dirty="0"/>
            </a:p>
          </p:txBody>
        </p:sp>
        <p:sp>
          <p:nvSpPr>
            <p:cNvPr id="212" name="Shape 41">
              <a:extLst>
                <a:ext uri="{FF2B5EF4-FFF2-40B4-BE49-F238E27FC236}">
                  <a16:creationId xmlns:a16="http://schemas.microsoft.com/office/drawing/2014/main" id="{A5F25575-785A-4231-8FF9-C5C7DA29A319}"/>
                </a:ext>
              </a:extLst>
            </p:cNvPr>
            <p:cNvSpPr/>
            <p:nvPr/>
          </p:nvSpPr>
          <p:spPr>
            <a:xfrm>
              <a:off x="2230151" y="6293386"/>
              <a:ext cx="532482" cy="229518"/>
            </a:xfrm>
            <a:custGeom>
              <a:avLst/>
              <a:gdLst/>
              <a:ahLst/>
              <a:cxnLst/>
              <a:rect l="l" t="t" r="r" b="b"/>
              <a:pathLst>
                <a:path w="532482" h="229518">
                  <a:moveTo>
                    <a:pt x="36723" y="0"/>
                  </a:moveTo>
                  <a:lnTo>
                    <a:pt x="495759" y="0"/>
                  </a:lnTo>
                  <a:cubicBezTo>
                    <a:pt x="516041" y="0"/>
                    <a:pt x="532482" y="16441"/>
                    <a:pt x="532482" y="36723"/>
                  </a:cubicBezTo>
                  <a:lnTo>
                    <a:pt x="532482" y="192795"/>
                  </a:lnTo>
                  <a:cubicBezTo>
                    <a:pt x="532482" y="213077"/>
                    <a:pt x="516041" y="229518"/>
                    <a:pt x="495759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213" name="Text 42">
              <a:extLst>
                <a:ext uri="{FF2B5EF4-FFF2-40B4-BE49-F238E27FC236}">
                  <a16:creationId xmlns:a16="http://schemas.microsoft.com/office/drawing/2014/main" id="{388B8F34-74BA-4900-BD2D-7495B3C55DF6}"/>
                </a:ext>
              </a:extLst>
            </p:cNvPr>
            <p:cNvSpPr/>
            <p:nvPr/>
          </p:nvSpPr>
          <p:spPr>
            <a:xfrm>
              <a:off x="2225560" y="6288795"/>
              <a:ext cx="578386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Заказы</a:t>
              </a:r>
              <a:endParaRPr lang="en-US" sz="1600" dirty="0"/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F5040D3B-06DA-48C0-BC8C-2C04D9E612AF}"/>
              </a:ext>
            </a:extLst>
          </p:cNvPr>
          <p:cNvGrpSpPr/>
          <p:nvPr/>
        </p:nvGrpSpPr>
        <p:grpSpPr>
          <a:xfrm>
            <a:off x="14281663" y="1279179"/>
            <a:ext cx="5618602" cy="3709012"/>
            <a:chOff x="6261613" y="1279179"/>
            <a:chExt cx="5618602" cy="3709012"/>
          </a:xfrm>
        </p:grpSpPr>
        <p:sp>
          <p:nvSpPr>
            <p:cNvPr id="215" name="Shape 43">
              <a:extLst>
                <a:ext uri="{FF2B5EF4-FFF2-40B4-BE49-F238E27FC236}">
                  <a16:creationId xmlns:a16="http://schemas.microsoft.com/office/drawing/2014/main" id="{FA44B36F-6144-4CC2-B975-4D2FC62DFACC}"/>
                </a:ext>
              </a:extLst>
            </p:cNvPr>
            <p:cNvSpPr/>
            <p:nvPr/>
          </p:nvSpPr>
          <p:spPr>
            <a:xfrm>
              <a:off x="6261613" y="1279179"/>
              <a:ext cx="5618602" cy="3709012"/>
            </a:xfrm>
            <a:custGeom>
              <a:avLst/>
              <a:gdLst/>
              <a:ahLst/>
              <a:cxnLst/>
              <a:rect l="l" t="t" r="r" b="b"/>
              <a:pathLst>
                <a:path w="5618602" h="3709012">
                  <a:moveTo>
                    <a:pt x="146877" y="0"/>
                  </a:moveTo>
                  <a:lnTo>
                    <a:pt x="5471726" y="0"/>
                  </a:lnTo>
                  <a:cubicBezTo>
                    <a:pt x="5552843" y="0"/>
                    <a:pt x="5618602" y="65759"/>
                    <a:pt x="5618602" y="146877"/>
                  </a:cubicBezTo>
                  <a:lnTo>
                    <a:pt x="5618602" y="3562135"/>
                  </a:lnTo>
                  <a:cubicBezTo>
                    <a:pt x="5618602" y="3643253"/>
                    <a:pt x="5552843" y="3709012"/>
                    <a:pt x="5471726" y="3709012"/>
                  </a:cubicBezTo>
                  <a:lnTo>
                    <a:pt x="146877" y="3709012"/>
                  </a:lnTo>
                  <a:cubicBezTo>
                    <a:pt x="65759" y="3709012"/>
                    <a:pt x="0" y="3643253"/>
                    <a:pt x="0" y="3562135"/>
                  </a:cubicBezTo>
                  <a:lnTo>
                    <a:pt x="0" y="146877"/>
                  </a:lnTo>
                  <a:cubicBezTo>
                    <a:pt x="0" y="65813"/>
                    <a:pt x="65813" y="0"/>
                    <a:pt x="14687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16" name="Text 44">
              <a:extLst>
                <a:ext uri="{FF2B5EF4-FFF2-40B4-BE49-F238E27FC236}">
                  <a16:creationId xmlns:a16="http://schemas.microsoft.com/office/drawing/2014/main" id="{2CA8F4FF-6E37-439E-9DB1-BE3AC0D64017}"/>
                </a:ext>
              </a:extLst>
            </p:cNvPr>
            <p:cNvSpPr/>
            <p:nvPr/>
          </p:nvSpPr>
          <p:spPr>
            <a:xfrm>
              <a:off x="6445227" y="1462793"/>
              <a:ext cx="5343181" cy="367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Элементы интерфейса</a:t>
              </a:r>
              <a:endParaRPr lang="en-US" sz="2400" dirty="0"/>
            </a:p>
          </p:txBody>
        </p:sp>
        <p:sp>
          <p:nvSpPr>
            <p:cNvPr id="217" name="Shape 45">
              <a:extLst>
                <a:ext uri="{FF2B5EF4-FFF2-40B4-BE49-F238E27FC236}">
                  <a16:creationId xmlns:a16="http://schemas.microsoft.com/office/drawing/2014/main" id="{4BE20438-0CDD-435C-AD46-1240CFB408F7}"/>
                </a:ext>
              </a:extLst>
            </p:cNvPr>
            <p:cNvSpPr/>
            <p:nvPr/>
          </p:nvSpPr>
          <p:spPr>
            <a:xfrm>
              <a:off x="6445227" y="1976914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18" name="Shape 46">
              <a:extLst>
                <a:ext uri="{FF2B5EF4-FFF2-40B4-BE49-F238E27FC236}">
                  <a16:creationId xmlns:a16="http://schemas.microsoft.com/office/drawing/2014/main" id="{141C6890-9C1F-4863-B5B6-4AD00314E496}"/>
                </a:ext>
              </a:extLst>
            </p:cNvPr>
            <p:cNvSpPr/>
            <p:nvPr/>
          </p:nvSpPr>
          <p:spPr>
            <a:xfrm>
              <a:off x="6566872" y="2197251"/>
              <a:ext cx="206566" cy="183614"/>
            </a:xfrm>
            <a:custGeom>
              <a:avLst/>
              <a:gdLst/>
              <a:ahLst/>
              <a:cxnLst/>
              <a:rect l="l" t="t" r="r" b="b"/>
              <a:pathLst>
                <a:path w="206566" h="183614">
                  <a:moveTo>
                    <a:pt x="137711" y="51642"/>
                  </a:moveTo>
                  <a:cubicBezTo>
                    <a:pt x="137711" y="86500"/>
                    <a:pt x="106869" y="114759"/>
                    <a:pt x="68855" y="114759"/>
                  </a:cubicBezTo>
                  <a:cubicBezTo>
                    <a:pt x="59280" y="114759"/>
                    <a:pt x="50171" y="112966"/>
                    <a:pt x="41887" y="109738"/>
                  </a:cubicBezTo>
                  <a:lnTo>
                    <a:pt x="12623" y="125231"/>
                  </a:lnTo>
                  <a:cubicBezTo>
                    <a:pt x="9288" y="126988"/>
                    <a:pt x="5200" y="126378"/>
                    <a:pt x="2510" y="123725"/>
                  </a:cubicBezTo>
                  <a:cubicBezTo>
                    <a:pt x="-179" y="121071"/>
                    <a:pt x="-789" y="116947"/>
                    <a:pt x="1004" y="113611"/>
                  </a:cubicBezTo>
                  <a:lnTo>
                    <a:pt x="13771" y="89512"/>
                  </a:lnTo>
                  <a:cubicBezTo>
                    <a:pt x="5128" y="78969"/>
                    <a:pt x="0" y="65843"/>
                    <a:pt x="0" y="51642"/>
                  </a:cubicBezTo>
                  <a:cubicBezTo>
                    <a:pt x="0" y="16784"/>
                    <a:pt x="30841" y="-11476"/>
                    <a:pt x="68855" y="-11476"/>
                  </a:cubicBezTo>
                  <a:cubicBezTo>
                    <a:pt x="106869" y="-11476"/>
                    <a:pt x="137711" y="16784"/>
                    <a:pt x="137711" y="51642"/>
                  </a:cubicBezTo>
                  <a:close/>
                  <a:moveTo>
                    <a:pt x="137711" y="183614"/>
                  </a:moveTo>
                  <a:cubicBezTo>
                    <a:pt x="103965" y="183614"/>
                    <a:pt x="75884" y="161344"/>
                    <a:pt x="70003" y="131973"/>
                  </a:cubicBezTo>
                  <a:cubicBezTo>
                    <a:pt x="113038" y="131435"/>
                    <a:pt x="150442" y="100809"/>
                    <a:pt x="154566" y="59280"/>
                  </a:cubicBezTo>
                  <a:cubicBezTo>
                    <a:pt x="184439" y="66166"/>
                    <a:pt x="206566" y="90947"/>
                    <a:pt x="206566" y="120497"/>
                  </a:cubicBezTo>
                  <a:cubicBezTo>
                    <a:pt x="206566" y="134698"/>
                    <a:pt x="201438" y="147824"/>
                    <a:pt x="192795" y="158367"/>
                  </a:cubicBezTo>
                  <a:lnTo>
                    <a:pt x="205562" y="182467"/>
                  </a:lnTo>
                  <a:cubicBezTo>
                    <a:pt x="207319" y="185802"/>
                    <a:pt x="206710" y="189890"/>
                    <a:pt x="204056" y="192580"/>
                  </a:cubicBezTo>
                  <a:cubicBezTo>
                    <a:pt x="201402" y="195270"/>
                    <a:pt x="197278" y="195879"/>
                    <a:pt x="193943" y="194086"/>
                  </a:cubicBezTo>
                  <a:lnTo>
                    <a:pt x="164679" y="178594"/>
                  </a:lnTo>
                  <a:cubicBezTo>
                    <a:pt x="156395" y="181821"/>
                    <a:pt x="147286" y="183614"/>
                    <a:pt x="137711" y="183614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19" name="Text 47">
              <a:extLst>
                <a:ext uri="{FF2B5EF4-FFF2-40B4-BE49-F238E27FC236}">
                  <a16:creationId xmlns:a16="http://schemas.microsoft.com/office/drawing/2014/main" id="{F62AB85E-5DCC-4000-8A81-374DA84F0530}"/>
                </a:ext>
              </a:extLst>
            </p:cNvPr>
            <p:cNvSpPr/>
            <p:nvPr/>
          </p:nvSpPr>
          <p:spPr>
            <a:xfrm>
              <a:off x="6895083" y="2087082"/>
              <a:ext cx="2322723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Чат-панель</a:t>
              </a:r>
              <a:endParaRPr lang="en-US" sz="2400" dirty="0"/>
            </a:p>
          </p:txBody>
        </p:sp>
        <p:sp>
          <p:nvSpPr>
            <p:cNvPr id="220" name="Text 48">
              <a:extLst>
                <a:ext uri="{FF2B5EF4-FFF2-40B4-BE49-F238E27FC236}">
                  <a16:creationId xmlns:a16="http://schemas.microsoft.com/office/drawing/2014/main" id="{CBF3A3E6-E35E-4583-9477-8149B791EFA5}"/>
                </a:ext>
              </a:extLst>
            </p:cNvPr>
            <p:cNvSpPr/>
            <p:nvPr/>
          </p:nvSpPr>
          <p:spPr>
            <a:xfrm>
              <a:off x="6895082" y="2307420"/>
              <a:ext cx="3950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Естественный диалог с ассистентом</a:t>
              </a:r>
              <a:endParaRPr lang="en-US" sz="2400" dirty="0"/>
            </a:p>
          </p:txBody>
        </p:sp>
        <p:sp>
          <p:nvSpPr>
            <p:cNvPr id="221" name="Shape 49">
              <a:extLst>
                <a:ext uri="{FF2B5EF4-FFF2-40B4-BE49-F238E27FC236}">
                  <a16:creationId xmlns:a16="http://schemas.microsoft.com/office/drawing/2014/main" id="{D18D1AFB-8F23-4C7D-8A37-C345CF4141E5}"/>
                </a:ext>
              </a:extLst>
            </p:cNvPr>
            <p:cNvSpPr/>
            <p:nvPr/>
          </p:nvSpPr>
          <p:spPr>
            <a:xfrm>
              <a:off x="6445227" y="2711372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2" name="Shape 50">
              <a:extLst>
                <a:ext uri="{FF2B5EF4-FFF2-40B4-BE49-F238E27FC236}">
                  <a16:creationId xmlns:a16="http://schemas.microsoft.com/office/drawing/2014/main" id="{4F357CBF-B842-499A-84C3-6058521EC1A4}"/>
                </a:ext>
              </a:extLst>
            </p:cNvPr>
            <p:cNvSpPr/>
            <p:nvPr/>
          </p:nvSpPr>
          <p:spPr>
            <a:xfrm>
              <a:off x="6589824" y="2931709"/>
              <a:ext cx="160663" cy="183614"/>
            </a:xfrm>
            <a:custGeom>
              <a:avLst/>
              <a:gdLst/>
              <a:ahLst/>
              <a:cxnLst/>
              <a:rect l="l" t="t" r="r" b="b"/>
              <a:pathLst>
                <a:path w="160663" h="183614">
                  <a:moveTo>
                    <a:pt x="121501" y="-3550"/>
                  </a:moveTo>
                  <a:cubicBezTo>
                    <a:pt x="125769" y="-466"/>
                    <a:pt x="127347" y="5128"/>
                    <a:pt x="125410" y="10006"/>
                  </a:cubicBezTo>
                  <a:lnTo>
                    <a:pt x="97294" y="80331"/>
                  </a:lnTo>
                  <a:lnTo>
                    <a:pt x="149187" y="80331"/>
                  </a:lnTo>
                  <a:cubicBezTo>
                    <a:pt x="154028" y="80331"/>
                    <a:pt x="158332" y="83344"/>
                    <a:pt x="159981" y="87898"/>
                  </a:cubicBezTo>
                  <a:cubicBezTo>
                    <a:pt x="161631" y="92453"/>
                    <a:pt x="160232" y="97545"/>
                    <a:pt x="156538" y="100629"/>
                  </a:cubicBezTo>
                  <a:lnTo>
                    <a:pt x="53255" y="186699"/>
                  </a:lnTo>
                  <a:cubicBezTo>
                    <a:pt x="49203" y="190070"/>
                    <a:pt x="43429" y="190249"/>
                    <a:pt x="39162" y="187165"/>
                  </a:cubicBezTo>
                  <a:cubicBezTo>
                    <a:pt x="34894" y="184081"/>
                    <a:pt x="33316" y="178486"/>
                    <a:pt x="35253" y="173609"/>
                  </a:cubicBezTo>
                  <a:lnTo>
                    <a:pt x="63369" y="103283"/>
                  </a:lnTo>
                  <a:lnTo>
                    <a:pt x="11476" y="103283"/>
                  </a:lnTo>
                  <a:cubicBezTo>
                    <a:pt x="6635" y="103283"/>
                    <a:pt x="2331" y="100271"/>
                    <a:pt x="681" y="95716"/>
                  </a:cubicBezTo>
                  <a:cubicBezTo>
                    <a:pt x="-968" y="91162"/>
                    <a:pt x="430" y="86069"/>
                    <a:pt x="4124" y="82985"/>
                  </a:cubicBezTo>
                  <a:lnTo>
                    <a:pt x="107407" y="-3084"/>
                  </a:lnTo>
                  <a:cubicBezTo>
                    <a:pt x="111460" y="-6455"/>
                    <a:pt x="117234" y="-6635"/>
                    <a:pt x="121501" y="-355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23" name="Text 51">
              <a:extLst>
                <a:ext uri="{FF2B5EF4-FFF2-40B4-BE49-F238E27FC236}">
                  <a16:creationId xmlns:a16="http://schemas.microsoft.com/office/drawing/2014/main" id="{FEDF87D5-E80E-4BB0-BC63-5F48F460075D}"/>
                </a:ext>
              </a:extLst>
            </p:cNvPr>
            <p:cNvSpPr/>
            <p:nvPr/>
          </p:nvSpPr>
          <p:spPr>
            <a:xfrm>
              <a:off x="6895083" y="2821540"/>
              <a:ext cx="267436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Быстрые действия</a:t>
              </a:r>
              <a:endParaRPr lang="en-US" sz="2400" dirty="0"/>
            </a:p>
          </p:txBody>
        </p:sp>
        <p:sp>
          <p:nvSpPr>
            <p:cNvPr id="224" name="Text 52">
              <a:extLst>
                <a:ext uri="{FF2B5EF4-FFF2-40B4-BE49-F238E27FC236}">
                  <a16:creationId xmlns:a16="http://schemas.microsoft.com/office/drawing/2014/main" id="{746AE016-C02B-4CE5-B9CC-D8B2F08372F5}"/>
                </a:ext>
              </a:extLst>
            </p:cNvPr>
            <p:cNvSpPr/>
            <p:nvPr/>
          </p:nvSpPr>
          <p:spPr>
            <a:xfrm>
              <a:off x="6895082" y="3041878"/>
              <a:ext cx="3442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Кнопки частых команд</a:t>
              </a:r>
              <a:endParaRPr lang="en-US" sz="2400" dirty="0"/>
            </a:p>
          </p:txBody>
        </p:sp>
        <p:sp>
          <p:nvSpPr>
            <p:cNvPr id="225" name="Shape 53">
              <a:extLst>
                <a:ext uri="{FF2B5EF4-FFF2-40B4-BE49-F238E27FC236}">
                  <a16:creationId xmlns:a16="http://schemas.microsoft.com/office/drawing/2014/main" id="{6F0C5D7B-0F64-47BB-B52B-90935F899D7C}"/>
                </a:ext>
              </a:extLst>
            </p:cNvPr>
            <p:cNvSpPr/>
            <p:nvPr/>
          </p:nvSpPr>
          <p:spPr>
            <a:xfrm>
              <a:off x="6445227" y="3445829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6" name="Shape 54">
              <a:extLst>
                <a:ext uri="{FF2B5EF4-FFF2-40B4-BE49-F238E27FC236}">
                  <a16:creationId xmlns:a16="http://schemas.microsoft.com/office/drawing/2014/main" id="{6CB4D14C-F279-4552-8908-8E5C952F6473}"/>
                </a:ext>
              </a:extLst>
            </p:cNvPr>
            <p:cNvSpPr/>
            <p:nvPr/>
          </p:nvSpPr>
          <p:spPr>
            <a:xfrm>
              <a:off x="6589824" y="3666167"/>
              <a:ext cx="160663" cy="183614"/>
            </a:xfrm>
            <a:custGeom>
              <a:avLst/>
              <a:gdLst/>
              <a:ahLst/>
              <a:cxnLst/>
              <a:rect l="l" t="t" r="r" b="b"/>
              <a:pathLst>
                <a:path w="160663" h="183614">
                  <a:moveTo>
                    <a:pt x="91807" y="57380"/>
                  </a:moveTo>
                  <a:lnTo>
                    <a:pt x="91807" y="91807"/>
                  </a:lnTo>
                  <a:lnTo>
                    <a:pt x="137711" y="91807"/>
                  </a:lnTo>
                  <a:lnTo>
                    <a:pt x="137711" y="57380"/>
                  </a:lnTo>
                  <a:lnTo>
                    <a:pt x="91807" y="57380"/>
                  </a:lnTo>
                  <a:close/>
                  <a:moveTo>
                    <a:pt x="68855" y="57380"/>
                  </a:moveTo>
                  <a:lnTo>
                    <a:pt x="22952" y="57380"/>
                  </a:lnTo>
                  <a:lnTo>
                    <a:pt x="22952" y="91807"/>
                  </a:lnTo>
                  <a:lnTo>
                    <a:pt x="68855" y="91807"/>
                  </a:lnTo>
                  <a:lnTo>
                    <a:pt x="68855" y="57380"/>
                  </a:lnTo>
                  <a:close/>
                  <a:moveTo>
                    <a:pt x="0" y="114759"/>
                  </a:moveTo>
                  <a:lnTo>
                    <a:pt x="0" y="34428"/>
                  </a:lnTo>
                  <a:cubicBezTo>
                    <a:pt x="0" y="21768"/>
                    <a:pt x="10292" y="11476"/>
                    <a:pt x="22952" y="11476"/>
                  </a:cubicBezTo>
                  <a:lnTo>
                    <a:pt x="137711" y="11476"/>
                  </a:lnTo>
                  <a:cubicBezTo>
                    <a:pt x="150370" y="11476"/>
                    <a:pt x="160663" y="21768"/>
                    <a:pt x="160663" y="34428"/>
                  </a:cubicBezTo>
                  <a:lnTo>
                    <a:pt x="160663" y="149187"/>
                  </a:lnTo>
                  <a:cubicBezTo>
                    <a:pt x="160663" y="161846"/>
                    <a:pt x="150370" y="172139"/>
                    <a:pt x="137711" y="172139"/>
                  </a:cubicBezTo>
                  <a:lnTo>
                    <a:pt x="22952" y="172139"/>
                  </a:lnTo>
                  <a:cubicBezTo>
                    <a:pt x="10292" y="172139"/>
                    <a:pt x="0" y="161846"/>
                    <a:pt x="0" y="149187"/>
                  </a:cubicBezTo>
                  <a:lnTo>
                    <a:pt x="0" y="114759"/>
                  </a:lnTo>
                  <a:close/>
                  <a:moveTo>
                    <a:pt x="137711" y="114759"/>
                  </a:moveTo>
                  <a:lnTo>
                    <a:pt x="91807" y="114759"/>
                  </a:lnTo>
                  <a:lnTo>
                    <a:pt x="91807" y="149187"/>
                  </a:lnTo>
                  <a:lnTo>
                    <a:pt x="137711" y="149187"/>
                  </a:lnTo>
                  <a:lnTo>
                    <a:pt x="137711" y="114759"/>
                  </a:lnTo>
                  <a:close/>
                  <a:moveTo>
                    <a:pt x="68855" y="149187"/>
                  </a:moveTo>
                  <a:lnTo>
                    <a:pt x="68855" y="114759"/>
                  </a:lnTo>
                  <a:lnTo>
                    <a:pt x="22952" y="114759"/>
                  </a:lnTo>
                  <a:lnTo>
                    <a:pt x="22952" y="149187"/>
                  </a:lnTo>
                  <a:lnTo>
                    <a:pt x="68855" y="149187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27" name="Text 55">
              <a:extLst>
                <a:ext uri="{FF2B5EF4-FFF2-40B4-BE49-F238E27FC236}">
                  <a16:creationId xmlns:a16="http://schemas.microsoft.com/office/drawing/2014/main" id="{6673D290-0231-4126-83B7-4F11343FAC97}"/>
                </a:ext>
              </a:extLst>
            </p:cNvPr>
            <p:cNvSpPr/>
            <p:nvPr/>
          </p:nvSpPr>
          <p:spPr>
            <a:xfrm>
              <a:off x="6895083" y="3555998"/>
              <a:ext cx="1808602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Результаты</a:t>
              </a:r>
              <a:endParaRPr lang="en-US" sz="2400" dirty="0"/>
            </a:p>
          </p:txBody>
        </p:sp>
        <p:sp>
          <p:nvSpPr>
            <p:cNvPr id="228" name="Text 56">
              <a:extLst>
                <a:ext uri="{FF2B5EF4-FFF2-40B4-BE49-F238E27FC236}">
                  <a16:creationId xmlns:a16="http://schemas.microsoft.com/office/drawing/2014/main" id="{622A1856-6127-4067-8727-603F6F453751}"/>
                </a:ext>
              </a:extLst>
            </p:cNvPr>
            <p:cNvSpPr/>
            <p:nvPr/>
          </p:nvSpPr>
          <p:spPr>
            <a:xfrm>
              <a:off x="6895082" y="3776335"/>
              <a:ext cx="3696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Таблицы и карточки данных</a:t>
              </a:r>
              <a:endParaRPr lang="en-US" sz="2400" dirty="0"/>
            </a:p>
          </p:txBody>
        </p:sp>
        <p:sp>
          <p:nvSpPr>
            <p:cNvPr id="229" name="Shape 57">
              <a:extLst>
                <a:ext uri="{FF2B5EF4-FFF2-40B4-BE49-F238E27FC236}">
                  <a16:creationId xmlns:a16="http://schemas.microsoft.com/office/drawing/2014/main" id="{22668184-D093-4E41-ACBF-F8F78730C6EB}"/>
                </a:ext>
              </a:extLst>
            </p:cNvPr>
            <p:cNvSpPr/>
            <p:nvPr/>
          </p:nvSpPr>
          <p:spPr>
            <a:xfrm>
              <a:off x="6445227" y="4180287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0" name="Shape 58">
              <a:extLst>
                <a:ext uri="{FF2B5EF4-FFF2-40B4-BE49-F238E27FC236}">
                  <a16:creationId xmlns:a16="http://schemas.microsoft.com/office/drawing/2014/main" id="{C83A92F0-2078-4E76-BE32-2D1F309EE77B}"/>
                </a:ext>
              </a:extLst>
            </p:cNvPr>
            <p:cNvSpPr/>
            <p:nvPr/>
          </p:nvSpPr>
          <p:spPr>
            <a:xfrm>
              <a:off x="6601299" y="4400625"/>
              <a:ext cx="137711" cy="183614"/>
            </a:xfrm>
            <a:custGeom>
              <a:avLst/>
              <a:gdLst/>
              <a:ahLst/>
              <a:cxnLst/>
              <a:rect l="l" t="t" r="r" b="b"/>
              <a:pathLst>
                <a:path w="137711" h="183614">
                  <a:moveTo>
                    <a:pt x="0" y="22952"/>
                  </a:moveTo>
                  <a:cubicBezTo>
                    <a:pt x="0" y="10292"/>
                    <a:pt x="10292" y="0"/>
                    <a:pt x="22952" y="0"/>
                  </a:cubicBezTo>
                  <a:lnTo>
                    <a:pt x="76566" y="0"/>
                  </a:lnTo>
                  <a:cubicBezTo>
                    <a:pt x="82662" y="0"/>
                    <a:pt x="88508" y="2403"/>
                    <a:pt x="92811" y="6706"/>
                  </a:cubicBezTo>
                  <a:lnTo>
                    <a:pt x="131005" y="44935"/>
                  </a:lnTo>
                  <a:cubicBezTo>
                    <a:pt x="135308" y="49239"/>
                    <a:pt x="137711" y="55084"/>
                    <a:pt x="137711" y="61181"/>
                  </a:cubicBezTo>
                  <a:lnTo>
                    <a:pt x="137711" y="160663"/>
                  </a:lnTo>
                  <a:cubicBezTo>
                    <a:pt x="137711" y="173322"/>
                    <a:pt x="127418" y="183614"/>
                    <a:pt x="114759" y="183614"/>
                  </a:cubicBezTo>
                  <a:lnTo>
                    <a:pt x="22952" y="183614"/>
                  </a:lnTo>
                  <a:cubicBezTo>
                    <a:pt x="10292" y="183614"/>
                    <a:pt x="0" y="173322"/>
                    <a:pt x="0" y="160663"/>
                  </a:cubicBezTo>
                  <a:lnTo>
                    <a:pt x="0" y="22952"/>
                  </a:lnTo>
                  <a:close/>
                  <a:moveTo>
                    <a:pt x="74593" y="20979"/>
                  </a:moveTo>
                  <a:lnTo>
                    <a:pt x="74593" y="54511"/>
                  </a:lnTo>
                  <a:cubicBezTo>
                    <a:pt x="74593" y="59280"/>
                    <a:pt x="78431" y="63117"/>
                    <a:pt x="83200" y="63117"/>
                  </a:cubicBezTo>
                  <a:lnTo>
                    <a:pt x="116731" y="63117"/>
                  </a:lnTo>
                  <a:lnTo>
                    <a:pt x="74593" y="20979"/>
                  </a:lnTo>
                  <a:close/>
                  <a:moveTo>
                    <a:pt x="43035" y="91807"/>
                  </a:moveTo>
                  <a:cubicBezTo>
                    <a:pt x="38265" y="91807"/>
                    <a:pt x="34428" y="95644"/>
                    <a:pt x="34428" y="100414"/>
                  </a:cubicBezTo>
                  <a:cubicBezTo>
                    <a:pt x="34428" y="105184"/>
                    <a:pt x="38265" y="109021"/>
                    <a:pt x="43035" y="109021"/>
                  </a:cubicBezTo>
                  <a:lnTo>
                    <a:pt x="94676" y="109021"/>
                  </a:lnTo>
                  <a:cubicBezTo>
                    <a:pt x="99446" y="109021"/>
                    <a:pt x="103283" y="105184"/>
                    <a:pt x="103283" y="100414"/>
                  </a:cubicBezTo>
                  <a:cubicBezTo>
                    <a:pt x="103283" y="95644"/>
                    <a:pt x="99446" y="91807"/>
                    <a:pt x="94676" y="91807"/>
                  </a:cubicBezTo>
                  <a:lnTo>
                    <a:pt x="43035" y="91807"/>
                  </a:lnTo>
                  <a:close/>
                  <a:moveTo>
                    <a:pt x="43035" y="126235"/>
                  </a:moveTo>
                  <a:cubicBezTo>
                    <a:pt x="38265" y="126235"/>
                    <a:pt x="34428" y="130072"/>
                    <a:pt x="34428" y="134842"/>
                  </a:cubicBezTo>
                  <a:cubicBezTo>
                    <a:pt x="34428" y="139612"/>
                    <a:pt x="38265" y="143449"/>
                    <a:pt x="43035" y="143449"/>
                  </a:cubicBezTo>
                  <a:lnTo>
                    <a:pt x="94676" y="143449"/>
                  </a:lnTo>
                  <a:cubicBezTo>
                    <a:pt x="99446" y="143449"/>
                    <a:pt x="103283" y="139612"/>
                    <a:pt x="103283" y="134842"/>
                  </a:cubicBezTo>
                  <a:cubicBezTo>
                    <a:pt x="103283" y="130072"/>
                    <a:pt x="99446" y="126235"/>
                    <a:pt x="94676" y="126235"/>
                  </a:cubicBezTo>
                  <a:lnTo>
                    <a:pt x="43035" y="126235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31" name="Text 59">
              <a:extLst>
                <a:ext uri="{FF2B5EF4-FFF2-40B4-BE49-F238E27FC236}">
                  <a16:creationId xmlns:a16="http://schemas.microsoft.com/office/drawing/2014/main" id="{0CB18CE3-20D2-469D-A3A1-423B802EE579}"/>
                </a:ext>
              </a:extLst>
            </p:cNvPr>
            <p:cNvSpPr/>
            <p:nvPr/>
          </p:nvSpPr>
          <p:spPr>
            <a:xfrm>
              <a:off x="6895082" y="4290456"/>
              <a:ext cx="334746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Предзаполненные формы</a:t>
              </a:r>
              <a:endParaRPr lang="en-US" sz="2400" dirty="0"/>
            </a:p>
          </p:txBody>
        </p:sp>
        <p:sp>
          <p:nvSpPr>
            <p:cNvPr id="232" name="Text 60">
              <a:extLst>
                <a:ext uri="{FF2B5EF4-FFF2-40B4-BE49-F238E27FC236}">
                  <a16:creationId xmlns:a16="http://schemas.microsoft.com/office/drawing/2014/main" id="{ED56C559-4802-4D0B-9D9F-93CA0AFB402D}"/>
                </a:ext>
              </a:extLst>
            </p:cNvPr>
            <p:cNvSpPr/>
            <p:nvPr/>
          </p:nvSpPr>
          <p:spPr>
            <a:xfrm>
              <a:off x="6895083" y="4510793"/>
              <a:ext cx="334746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Черновики документов</a:t>
              </a:r>
              <a:endParaRPr lang="en-US" sz="24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BB6BB304-9758-426D-87CD-E59A98696CEF}"/>
              </a:ext>
            </a:extLst>
          </p:cNvPr>
          <p:cNvGrpSpPr/>
          <p:nvPr/>
        </p:nvGrpSpPr>
        <p:grpSpPr>
          <a:xfrm>
            <a:off x="-5829300" y="1143000"/>
            <a:ext cx="5600700" cy="4476750"/>
            <a:chOff x="381000" y="1143000"/>
            <a:chExt cx="5600700" cy="4476750"/>
          </a:xfrm>
        </p:grpSpPr>
        <p:sp>
          <p:nvSpPr>
            <p:cNvPr id="72" name="Shape 4">
              <a:extLst>
                <a:ext uri="{FF2B5EF4-FFF2-40B4-BE49-F238E27FC236}">
                  <a16:creationId xmlns:a16="http://schemas.microsoft.com/office/drawing/2014/main" id="{4E22BF46-3921-405F-B345-B59B41A7BE7C}"/>
                </a:ext>
              </a:extLst>
            </p:cNvPr>
            <p:cNvSpPr/>
            <p:nvPr/>
          </p:nvSpPr>
          <p:spPr>
            <a:xfrm>
              <a:off x="381000" y="1143000"/>
              <a:ext cx="5600700" cy="4476750"/>
            </a:xfrm>
            <a:custGeom>
              <a:avLst/>
              <a:gdLst/>
              <a:ahLst/>
              <a:cxnLst/>
              <a:rect l="l" t="t" r="r" b="b"/>
              <a:pathLst>
                <a:path w="5600700" h="4476750">
                  <a:moveTo>
                    <a:pt x="152389" y="0"/>
                  </a:moveTo>
                  <a:lnTo>
                    <a:pt x="5448311" y="0"/>
                  </a:lnTo>
                  <a:cubicBezTo>
                    <a:pt x="5532417" y="0"/>
                    <a:pt x="5600700" y="68283"/>
                    <a:pt x="5600700" y="152389"/>
                  </a:cubicBezTo>
                  <a:lnTo>
                    <a:pt x="5600700" y="4324361"/>
                  </a:lnTo>
                  <a:cubicBezTo>
                    <a:pt x="5600700" y="4408523"/>
                    <a:pt x="5532473" y="4476750"/>
                    <a:pt x="5448311" y="4476750"/>
                  </a:cubicBezTo>
                  <a:lnTo>
                    <a:pt x="152389" y="4476750"/>
                  </a:lnTo>
                  <a:cubicBezTo>
                    <a:pt x="68283" y="4476750"/>
                    <a:pt x="0" y="4408467"/>
                    <a:pt x="0" y="4324361"/>
                  </a:cubicBezTo>
                  <a:lnTo>
                    <a:pt x="0" y="152389"/>
                  </a:lnTo>
                  <a:cubicBezTo>
                    <a:pt x="0" y="68283"/>
                    <a:pt x="68283" y="0"/>
                    <a:pt x="15238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3" name="Shape 5">
              <a:extLst>
                <a:ext uri="{FF2B5EF4-FFF2-40B4-BE49-F238E27FC236}">
                  <a16:creationId xmlns:a16="http://schemas.microsoft.com/office/drawing/2014/main" id="{A501F6C8-E4AB-4478-BFAA-DB09CA8625E4}"/>
                </a:ext>
              </a:extLst>
            </p:cNvPr>
            <p:cNvSpPr/>
            <p:nvPr/>
          </p:nvSpPr>
          <p:spPr>
            <a:xfrm>
              <a:off x="628650" y="1457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4" name="Shape 6">
              <a:extLst>
                <a:ext uri="{FF2B5EF4-FFF2-40B4-BE49-F238E27FC236}">
                  <a16:creationId xmlns:a16="http://schemas.microsoft.com/office/drawing/2014/main" id="{DD117227-AF3F-41DC-ADCA-4D3CBA8AD92A}"/>
                </a:ext>
              </a:extLst>
            </p:cNvPr>
            <p:cNvSpPr/>
            <p:nvPr/>
          </p:nvSpPr>
          <p:spPr>
            <a:xfrm>
              <a:off x="628650" y="1457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75" name="Shape 7">
              <a:extLst>
                <a:ext uri="{FF2B5EF4-FFF2-40B4-BE49-F238E27FC236}">
                  <a16:creationId xmlns:a16="http://schemas.microsoft.com/office/drawing/2014/main" id="{4B91136B-C175-41D5-B4F5-89D38623106C}"/>
                </a:ext>
              </a:extLst>
            </p:cNvPr>
            <p:cNvSpPr/>
            <p:nvPr/>
          </p:nvSpPr>
          <p:spPr>
            <a:xfrm>
              <a:off x="838200" y="1647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76" name="Shape 8">
              <a:extLst>
                <a:ext uri="{FF2B5EF4-FFF2-40B4-BE49-F238E27FC236}">
                  <a16:creationId xmlns:a16="http://schemas.microsoft.com/office/drawing/2014/main" id="{F40595A4-9E42-47FD-8E08-FA517688F03B}"/>
                </a:ext>
              </a:extLst>
            </p:cNvPr>
            <p:cNvSpPr/>
            <p:nvPr/>
          </p:nvSpPr>
          <p:spPr>
            <a:xfrm>
              <a:off x="971550" y="17811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36624" y="153479"/>
                  </a:moveTo>
                  <a:lnTo>
                    <a:pt x="37021" y="53876"/>
                  </a:lnTo>
                  <a:cubicBezTo>
                    <a:pt x="28687" y="65559"/>
                    <a:pt x="23812" y="79846"/>
                    <a:pt x="23812" y="95250"/>
                  </a:cubicBezTo>
                  <a:cubicBezTo>
                    <a:pt x="23812" y="134689"/>
                    <a:pt x="55811" y="166688"/>
                    <a:pt x="95250" y="166688"/>
                  </a:cubicBezTo>
                  <a:cubicBezTo>
                    <a:pt x="110691" y="166688"/>
                    <a:pt x="124978" y="161813"/>
                    <a:pt x="136624" y="153479"/>
                  </a:cubicBezTo>
                  <a:close/>
                  <a:moveTo>
                    <a:pt x="153479" y="136624"/>
                  </a:moveTo>
                  <a:cubicBezTo>
                    <a:pt x="161813" y="124941"/>
                    <a:pt x="166688" y="110654"/>
                    <a:pt x="166688" y="95250"/>
                  </a:cubicBezTo>
                  <a:cubicBezTo>
                    <a:pt x="166688" y="55811"/>
                    <a:pt x="134689" y="23812"/>
                    <a:pt x="95250" y="23812"/>
                  </a:cubicBezTo>
                  <a:cubicBezTo>
                    <a:pt x="79809" y="23812"/>
                    <a:pt x="65522" y="28687"/>
                    <a:pt x="53876" y="37021"/>
                  </a:cubicBezTo>
                  <a:lnTo>
                    <a:pt x="153479" y="136624"/>
                  </a:lnTo>
                  <a:close/>
                  <a:moveTo>
                    <a:pt x="0" y="95250"/>
                  </a:moveTo>
                  <a:cubicBezTo>
                    <a:pt x="0" y="42680"/>
                    <a:pt x="42680" y="0"/>
                    <a:pt x="95250" y="0"/>
                  </a:cubicBezTo>
                  <a:cubicBezTo>
                    <a:pt x="147820" y="0"/>
                    <a:pt x="190500" y="42680"/>
                    <a:pt x="190500" y="95250"/>
                  </a:cubicBezTo>
                  <a:cubicBezTo>
                    <a:pt x="190500" y="147820"/>
                    <a:pt x="147820" y="190500"/>
                    <a:pt x="95250" y="190500"/>
                  </a:cubicBezTo>
                  <a:cubicBezTo>
                    <a:pt x="42680" y="190500"/>
                    <a:pt x="0" y="147820"/>
                    <a:pt x="0" y="9525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77" name="Text 9">
              <a:extLst>
                <a:ext uri="{FF2B5EF4-FFF2-40B4-BE49-F238E27FC236}">
                  <a16:creationId xmlns:a16="http://schemas.microsoft.com/office/drawing/2014/main" id="{D1E3A5F3-1E34-4B94-9F9C-947761D4F834}"/>
                </a:ext>
              </a:extLst>
            </p:cNvPr>
            <p:cNvSpPr/>
            <p:nvPr/>
          </p:nvSpPr>
          <p:spPr>
            <a:xfrm>
              <a:off x="1447800" y="1647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Нет прямого доступа</a:t>
              </a:r>
              <a:endParaRPr lang="en-US" dirty="0"/>
            </a:p>
          </p:txBody>
        </p:sp>
        <p:sp>
          <p:nvSpPr>
            <p:cNvPr id="78" name="Text 10">
              <a:extLst>
                <a:ext uri="{FF2B5EF4-FFF2-40B4-BE49-F238E27FC236}">
                  <a16:creationId xmlns:a16="http://schemas.microsoft.com/office/drawing/2014/main" id="{5303C9A6-FDC0-47B0-8227-8BFB1D844DD3}"/>
                </a:ext>
              </a:extLst>
            </p:cNvPr>
            <p:cNvSpPr/>
            <p:nvPr/>
          </p:nvSpPr>
          <p:spPr>
            <a:xfrm>
              <a:off x="1447800" y="1990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LLM не имеет прямого доступа к базе данных — только через контролируемый API</a:t>
              </a:r>
              <a:endParaRPr lang="en-US" dirty="0"/>
            </a:p>
          </p:txBody>
        </p:sp>
        <p:sp>
          <p:nvSpPr>
            <p:cNvPr id="79" name="Shape 11">
              <a:extLst>
                <a:ext uri="{FF2B5EF4-FFF2-40B4-BE49-F238E27FC236}">
                  <a16:creationId xmlns:a16="http://schemas.microsoft.com/office/drawing/2014/main" id="{B91E6C40-F171-4A12-A0A2-38A5CC5AFE46}"/>
                </a:ext>
              </a:extLst>
            </p:cNvPr>
            <p:cNvSpPr/>
            <p:nvPr/>
          </p:nvSpPr>
          <p:spPr>
            <a:xfrm>
              <a:off x="628650" y="27908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0" name="Shape 12">
              <a:extLst>
                <a:ext uri="{FF2B5EF4-FFF2-40B4-BE49-F238E27FC236}">
                  <a16:creationId xmlns:a16="http://schemas.microsoft.com/office/drawing/2014/main" id="{B959CC28-4456-4C56-9E11-3D1E814778BA}"/>
                </a:ext>
              </a:extLst>
            </p:cNvPr>
            <p:cNvSpPr/>
            <p:nvPr/>
          </p:nvSpPr>
          <p:spPr>
            <a:xfrm>
              <a:off x="628650" y="27908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1" name="Shape 13">
              <a:extLst>
                <a:ext uri="{FF2B5EF4-FFF2-40B4-BE49-F238E27FC236}">
                  <a16:creationId xmlns:a16="http://schemas.microsoft.com/office/drawing/2014/main" id="{6DB4B616-413C-48A2-9B29-980733B0F051}"/>
                </a:ext>
              </a:extLst>
            </p:cNvPr>
            <p:cNvSpPr/>
            <p:nvPr/>
          </p:nvSpPr>
          <p:spPr>
            <a:xfrm>
              <a:off x="838200" y="29813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2" name="Shape 14">
              <a:extLst>
                <a:ext uri="{FF2B5EF4-FFF2-40B4-BE49-F238E27FC236}">
                  <a16:creationId xmlns:a16="http://schemas.microsoft.com/office/drawing/2014/main" id="{EC802DC5-3021-43BB-89E1-01F151DC26C7}"/>
                </a:ext>
              </a:extLst>
            </p:cNvPr>
            <p:cNvSpPr/>
            <p:nvPr/>
          </p:nvSpPr>
          <p:spPr>
            <a:xfrm>
              <a:off x="971550" y="31146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9783" y="13506"/>
                  </a:moveTo>
                  <a:cubicBezTo>
                    <a:pt x="53839" y="16334"/>
                    <a:pt x="54806" y="21915"/>
                    <a:pt x="51978" y="25933"/>
                  </a:cubicBezTo>
                  <a:lnTo>
                    <a:pt x="31142" y="55699"/>
                  </a:lnTo>
                  <a:cubicBezTo>
                    <a:pt x="29617" y="57857"/>
                    <a:pt x="27236" y="59234"/>
                    <a:pt x="24594" y="59457"/>
                  </a:cubicBezTo>
                  <a:cubicBezTo>
                    <a:pt x="21952" y="59680"/>
                    <a:pt x="19348" y="58787"/>
                    <a:pt x="17487" y="56927"/>
                  </a:cubicBezTo>
                  <a:lnTo>
                    <a:pt x="2604" y="42044"/>
                  </a:lnTo>
                  <a:cubicBezTo>
                    <a:pt x="-856" y="38546"/>
                    <a:pt x="-856" y="32891"/>
                    <a:pt x="2604" y="29394"/>
                  </a:cubicBezTo>
                  <a:cubicBezTo>
                    <a:pt x="6065" y="25896"/>
                    <a:pt x="11757" y="25933"/>
                    <a:pt x="15255" y="29394"/>
                  </a:cubicBezTo>
                  <a:lnTo>
                    <a:pt x="22622" y="36761"/>
                  </a:lnTo>
                  <a:lnTo>
                    <a:pt x="37356" y="15701"/>
                  </a:lnTo>
                  <a:cubicBezTo>
                    <a:pt x="40184" y="11646"/>
                    <a:pt x="45765" y="10678"/>
                    <a:pt x="49783" y="13506"/>
                  </a:cubicBezTo>
                  <a:close/>
                  <a:moveTo>
                    <a:pt x="49783" y="73037"/>
                  </a:moveTo>
                  <a:cubicBezTo>
                    <a:pt x="53839" y="75865"/>
                    <a:pt x="54806" y="81446"/>
                    <a:pt x="51978" y="85465"/>
                  </a:cubicBezTo>
                  <a:lnTo>
                    <a:pt x="31142" y="115230"/>
                  </a:lnTo>
                  <a:cubicBezTo>
                    <a:pt x="29617" y="117388"/>
                    <a:pt x="27236" y="118765"/>
                    <a:pt x="24594" y="118988"/>
                  </a:cubicBezTo>
                  <a:cubicBezTo>
                    <a:pt x="21952" y="119211"/>
                    <a:pt x="19348" y="118318"/>
                    <a:pt x="17487" y="116458"/>
                  </a:cubicBezTo>
                  <a:lnTo>
                    <a:pt x="2604" y="101575"/>
                  </a:lnTo>
                  <a:cubicBezTo>
                    <a:pt x="-893" y="98078"/>
                    <a:pt x="-893" y="92422"/>
                    <a:pt x="2604" y="88962"/>
                  </a:cubicBezTo>
                  <a:cubicBezTo>
                    <a:pt x="6102" y="85502"/>
                    <a:pt x="11757" y="85465"/>
                    <a:pt x="15218" y="88962"/>
                  </a:cubicBezTo>
                  <a:lnTo>
                    <a:pt x="22585" y="96329"/>
                  </a:lnTo>
                  <a:lnTo>
                    <a:pt x="37319" y="75270"/>
                  </a:lnTo>
                  <a:cubicBezTo>
                    <a:pt x="40146" y="71214"/>
                    <a:pt x="45727" y="70247"/>
                    <a:pt x="49746" y="73075"/>
                  </a:cubicBezTo>
                  <a:close/>
                  <a:moveTo>
                    <a:pt x="83344" y="35719"/>
                  </a:moveTo>
                  <a:cubicBezTo>
                    <a:pt x="83344" y="29133"/>
                    <a:pt x="88664" y="23812"/>
                    <a:pt x="95250" y="23812"/>
                  </a:cubicBezTo>
                  <a:lnTo>
                    <a:pt x="178594" y="23812"/>
                  </a:lnTo>
                  <a:cubicBezTo>
                    <a:pt x="185179" y="23812"/>
                    <a:pt x="190500" y="29133"/>
                    <a:pt x="190500" y="35719"/>
                  </a:cubicBezTo>
                  <a:cubicBezTo>
                    <a:pt x="190500" y="42304"/>
                    <a:pt x="185179" y="47625"/>
                    <a:pt x="178594" y="47625"/>
                  </a:cubicBezTo>
                  <a:lnTo>
                    <a:pt x="95250" y="47625"/>
                  </a:lnTo>
                  <a:cubicBezTo>
                    <a:pt x="88664" y="47625"/>
                    <a:pt x="83344" y="42304"/>
                    <a:pt x="83344" y="35719"/>
                  </a:cubicBezTo>
                  <a:close/>
                  <a:moveTo>
                    <a:pt x="83344" y="95250"/>
                  </a:moveTo>
                  <a:cubicBezTo>
                    <a:pt x="83344" y="88664"/>
                    <a:pt x="88664" y="83344"/>
                    <a:pt x="95250" y="83344"/>
                  </a:cubicBezTo>
                  <a:lnTo>
                    <a:pt x="178594" y="83344"/>
                  </a:lnTo>
                  <a:cubicBezTo>
                    <a:pt x="185179" y="83344"/>
                    <a:pt x="190500" y="88664"/>
                    <a:pt x="190500" y="95250"/>
                  </a:cubicBezTo>
                  <a:cubicBezTo>
                    <a:pt x="190500" y="101836"/>
                    <a:pt x="185179" y="107156"/>
                    <a:pt x="178594" y="107156"/>
                  </a:cubicBezTo>
                  <a:lnTo>
                    <a:pt x="95250" y="107156"/>
                  </a:lnTo>
                  <a:cubicBezTo>
                    <a:pt x="88664" y="107156"/>
                    <a:pt x="83344" y="101836"/>
                    <a:pt x="83344" y="95250"/>
                  </a:cubicBezTo>
                  <a:close/>
                  <a:moveTo>
                    <a:pt x="59531" y="154781"/>
                  </a:moveTo>
                  <a:cubicBezTo>
                    <a:pt x="59531" y="148196"/>
                    <a:pt x="64852" y="142875"/>
                    <a:pt x="71438" y="142875"/>
                  </a:cubicBezTo>
                  <a:lnTo>
                    <a:pt x="178594" y="142875"/>
                  </a:lnTo>
                  <a:cubicBezTo>
                    <a:pt x="185179" y="142875"/>
                    <a:pt x="190500" y="148196"/>
                    <a:pt x="190500" y="154781"/>
                  </a:cubicBezTo>
                  <a:cubicBezTo>
                    <a:pt x="190500" y="161367"/>
                    <a:pt x="185179" y="166688"/>
                    <a:pt x="178594" y="166688"/>
                  </a:cubicBezTo>
                  <a:lnTo>
                    <a:pt x="71438" y="166688"/>
                  </a:lnTo>
                  <a:cubicBezTo>
                    <a:pt x="64852" y="166688"/>
                    <a:pt x="59531" y="161367"/>
                    <a:pt x="59531" y="154781"/>
                  </a:cubicBezTo>
                  <a:close/>
                  <a:moveTo>
                    <a:pt x="23812" y="139898"/>
                  </a:moveTo>
                  <a:cubicBezTo>
                    <a:pt x="32027" y="139898"/>
                    <a:pt x="38695" y="146567"/>
                    <a:pt x="38695" y="154781"/>
                  </a:cubicBezTo>
                  <a:cubicBezTo>
                    <a:pt x="38695" y="162995"/>
                    <a:pt x="32027" y="169664"/>
                    <a:pt x="23812" y="169664"/>
                  </a:cubicBezTo>
                  <a:cubicBezTo>
                    <a:pt x="15598" y="169664"/>
                    <a:pt x="8930" y="162995"/>
                    <a:pt x="8930" y="154781"/>
                  </a:cubicBezTo>
                  <a:cubicBezTo>
                    <a:pt x="8930" y="146567"/>
                    <a:pt x="15598" y="139898"/>
                    <a:pt x="23812" y="139898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3" name="Text 15">
              <a:extLst>
                <a:ext uri="{FF2B5EF4-FFF2-40B4-BE49-F238E27FC236}">
                  <a16:creationId xmlns:a16="http://schemas.microsoft.com/office/drawing/2014/main" id="{3D8697AA-73C2-497D-96BE-39B8EA0000F0}"/>
                </a:ext>
              </a:extLst>
            </p:cNvPr>
            <p:cNvSpPr/>
            <p:nvPr/>
          </p:nvSpPr>
          <p:spPr>
            <a:xfrm>
              <a:off x="1447800" y="29813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White-list команд</a:t>
              </a:r>
              <a:endParaRPr lang="en-US" dirty="0"/>
            </a:p>
          </p:txBody>
        </p:sp>
        <p:sp>
          <p:nvSpPr>
            <p:cNvPr id="84" name="Text 16">
              <a:extLst>
                <a:ext uri="{FF2B5EF4-FFF2-40B4-BE49-F238E27FC236}">
                  <a16:creationId xmlns:a16="http://schemas.microsoft.com/office/drawing/2014/main" id="{636C4798-6C76-4999-B717-B858C9B630BF}"/>
                </a:ext>
              </a:extLst>
            </p:cNvPr>
            <p:cNvSpPr/>
            <p:nvPr/>
          </p:nvSpPr>
          <p:spPr>
            <a:xfrm>
              <a:off x="1447800" y="33242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Разрешены только безопасные операции чтения и создания черновиков</a:t>
              </a:r>
              <a:endParaRPr lang="en-US" dirty="0"/>
            </a:p>
          </p:txBody>
        </p:sp>
        <p:sp>
          <p:nvSpPr>
            <p:cNvPr id="85" name="Shape 17">
              <a:extLst>
                <a:ext uri="{FF2B5EF4-FFF2-40B4-BE49-F238E27FC236}">
                  <a16:creationId xmlns:a16="http://schemas.microsoft.com/office/drawing/2014/main" id="{4F7717D5-BE31-4828-8B6E-7FB5736B9905}"/>
                </a:ext>
              </a:extLst>
            </p:cNvPr>
            <p:cNvSpPr/>
            <p:nvPr/>
          </p:nvSpPr>
          <p:spPr>
            <a:xfrm>
              <a:off x="628650" y="4124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6" name="Shape 18">
              <a:extLst>
                <a:ext uri="{FF2B5EF4-FFF2-40B4-BE49-F238E27FC236}">
                  <a16:creationId xmlns:a16="http://schemas.microsoft.com/office/drawing/2014/main" id="{AAE5868A-421A-4B23-9407-8BB5C7316AD4}"/>
                </a:ext>
              </a:extLst>
            </p:cNvPr>
            <p:cNvSpPr/>
            <p:nvPr/>
          </p:nvSpPr>
          <p:spPr>
            <a:xfrm>
              <a:off x="628650" y="4124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7" name="Shape 19">
              <a:extLst>
                <a:ext uri="{FF2B5EF4-FFF2-40B4-BE49-F238E27FC236}">
                  <a16:creationId xmlns:a16="http://schemas.microsoft.com/office/drawing/2014/main" id="{C0578532-03F8-46D4-87EB-52A27D663497}"/>
                </a:ext>
              </a:extLst>
            </p:cNvPr>
            <p:cNvSpPr/>
            <p:nvPr/>
          </p:nvSpPr>
          <p:spPr>
            <a:xfrm>
              <a:off x="838200" y="4314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8" name="Shape 20">
              <a:extLst>
                <a:ext uri="{FF2B5EF4-FFF2-40B4-BE49-F238E27FC236}">
                  <a16:creationId xmlns:a16="http://schemas.microsoft.com/office/drawing/2014/main" id="{3875104F-4E20-42F0-92AD-2003D5D497C7}"/>
                </a:ext>
              </a:extLst>
            </p:cNvPr>
            <p:cNvSpPr/>
            <p:nvPr/>
          </p:nvSpPr>
          <p:spPr>
            <a:xfrm>
              <a:off x="995363" y="4448175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0" y="23812"/>
                  </a:moveTo>
                  <a:cubicBezTo>
                    <a:pt x="0" y="10678"/>
                    <a:pt x="10678" y="0"/>
                    <a:pt x="23812" y="0"/>
                  </a:cubicBezTo>
                  <a:lnTo>
                    <a:pt x="79437" y="0"/>
                  </a:lnTo>
                  <a:cubicBezTo>
                    <a:pt x="85762" y="0"/>
                    <a:pt x="91827" y="2493"/>
                    <a:pt x="96292" y="6958"/>
                  </a:cubicBezTo>
                  <a:lnTo>
                    <a:pt x="135917" y="46620"/>
                  </a:lnTo>
                  <a:cubicBezTo>
                    <a:pt x="140382" y="51085"/>
                    <a:pt x="142875" y="57150"/>
                    <a:pt x="142875" y="63475"/>
                  </a:cubicBezTo>
                  <a:lnTo>
                    <a:pt x="142875" y="166688"/>
                  </a:lnTo>
                  <a:cubicBezTo>
                    <a:pt x="142875" y="179822"/>
                    <a:pt x="132197" y="190500"/>
                    <a:pt x="119063" y="190500"/>
                  </a:cubicBezTo>
                  <a:lnTo>
                    <a:pt x="23812" y="190500"/>
                  </a:lnTo>
                  <a:cubicBezTo>
                    <a:pt x="10678" y="190500"/>
                    <a:pt x="0" y="179822"/>
                    <a:pt x="0" y="166688"/>
                  </a:cubicBezTo>
                  <a:lnTo>
                    <a:pt x="0" y="23812"/>
                  </a:lnTo>
                  <a:close/>
                  <a:moveTo>
                    <a:pt x="77391" y="21766"/>
                  </a:moveTo>
                  <a:lnTo>
                    <a:pt x="77391" y="56555"/>
                  </a:lnTo>
                  <a:cubicBezTo>
                    <a:pt x="77391" y="61503"/>
                    <a:pt x="81372" y="65484"/>
                    <a:pt x="86320" y="65484"/>
                  </a:cubicBezTo>
                  <a:lnTo>
                    <a:pt x="121109" y="65484"/>
                  </a:lnTo>
                  <a:lnTo>
                    <a:pt x="77391" y="21766"/>
                  </a:lnTo>
                  <a:close/>
                  <a:moveTo>
                    <a:pt x="44648" y="95250"/>
                  </a:moveTo>
                  <a:cubicBezTo>
                    <a:pt x="39700" y="95250"/>
                    <a:pt x="35719" y="99231"/>
                    <a:pt x="35719" y="104180"/>
                  </a:cubicBezTo>
                  <a:cubicBezTo>
                    <a:pt x="35719" y="109128"/>
                    <a:pt x="39700" y="113109"/>
                    <a:pt x="44648" y="113109"/>
                  </a:cubicBezTo>
                  <a:lnTo>
                    <a:pt x="98227" y="113109"/>
                  </a:lnTo>
                  <a:cubicBezTo>
                    <a:pt x="103175" y="113109"/>
                    <a:pt x="107156" y="109128"/>
                    <a:pt x="107156" y="104180"/>
                  </a:cubicBezTo>
                  <a:cubicBezTo>
                    <a:pt x="107156" y="99231"/>
                    <a:pt x="103175" y="95250"/>
                    <a:pt x="98227" y="95250"/>
                  </a:cubicBezTo>
                  <a:lnTo>
                    <a:pt x="44648" y="95250"/>
                  </a:lnTo>
                  <a:close/>
                  <a:moveTo>
                    <a:pt x="44648" y="130969"/>
                  </a:moveTo>
                  <a:cubicBezTo>
                    <a:pt x="39700" y="130969"/>
                    <a:pt x="35719" y="134950"/>
                    <a:pt x="35719" y="139898"/>
                  </a:cubicBezTo>
                  <a:cubicBezTo>
                    <a:pt x="35719" y="144847"/>
                    <a:pt x="39700" y="148828"/>
                    <a:pt x="44648" y="148828"/>
                  </a:cubicBezTo>
                  <a:lnTo>
                    <a:pt x="98227" y="148828"/>
                  </a:lnTo>
                  <a:cubicBezTo>
                    <a:pt x="103175" y="148828"/>
                    <a:pt x="107156" y="144847"/>
                    <a:pt x="107156" y="139898"/>
                  </a:cubicBezTo>
                  <a:cubicBezTo>
                    <a:pt x="107156" y="134950"/>
                    <a:pt x="103175" y="130969"/>
                    <a:pt x="98227" y="130969"/>
                  </a:cubicBezTo>
                  <a:lnTo>
                    <a:pt x="44648" y="130969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89" name="Text 21">
              <a:extLst>
                <a:ext uri="{FF2B5EF4-FFF2-40B4-BE49-F238E27FC236}">
                  <a16:creationId xmlns:a16="http://schemas.microsoft.com/office/drawing/2014/main" id="{3671C883-443A-43FE-8C47-2D1D6329F9A9}"/>
                </a:ext>
              </a:extLst>
            </p:cNvPr>
            <p:cNvSpPr/>
            <p:nvPr/>
          </p:nvSpPr>
          <p:spPr>
            <a:xfrm>
              <a:off x="1447800" y="4314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Только черновики</a:t>
              </a:r>
              <a:endParaRPr lang="en-US" dirty="0"/>
            </a:p>
          </p:txBody>
        </p:sp>
        <p:sp>
          <p:nvSpPr>
            <p:cNvPr id="90" name="Text 22">
              <a:extLst>
                <a:ext uri="{FF2B5EF4-FFF2-40B4-BE49-F238E27FC236}">
                  <a16:creationId xmlns:a16="http://schemas.microsoft.com/office/drawing/2014/main" id="{8D24A6FB-F3B4-478A-B5B0-92433A8BCEAB}"/>
                </a:ext>
              </a:extLst>
            </p:cNvPr>
            <p:cNvSpPr/>
            <p:nvPr/>
          </p:nvSpPr>
          <p:spPr>
            <a:xfrm>
              <a:off x="1447800" y="4657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Система создает только черновики документов, финальное сохранение — пользователь</a:t>
              </a:r>
              <a:endParaRPr lang="en-US" dirty="0"/>
            </a:p>
          </p:txBody>
        </p:sp>
      </p:grp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D2AD609C-A13E-4F8D-8A2B-F1843C30F9A9}"/>
              </a:ext>
            </a:extLst>
          </p:cNvPr>
          <p:cNvGrpSpPr/>
          <p:nvPr/>
        </p:nvGrpSpPr>
        <p:grpSpPr>
          <a:xfrm>
            <a:off x="12820650" y="1162050"/>
            <a:ext cx="5600700" cy="4476750"/>
            <a:chOff x="6210300" y="1143000"/>
            <a:chExt cx="5600700" cy="4476750"/>
          </a:xfrm>
        </p:grpSpPr>
        <p:sp>
          <p:nvSpPr>
            <p:cNvPr id="92" name="Shape 23">
              <a:extLst>
                <a:ext uri="{FF2B5EF4-FFF2-40B4-BE49-F238E27FC236}">
                  <a16:creationId xmlns:a16="http://schemas.microsoft.com/office/drawing/2014/main" id="{67F5E0C7-17C9-4136-BE0D-62BFB4E7AAE6}"/>
                </a:ext>
              </a:extLst>
            </p:cNvPr>
            <p:cNvSpPr/>
            <p:nvPr/>
          </p:nvSpPr>
          <p:spPr>
            <a:xfrm>
              <a:off x="6210300" y="1143000"/>
              <a:ext cx="5600700" cy="4476750"/>
            </a:xfrm>
            <a:custGeom>
              <a:avLst/>
              <a:gdLst/>
              <a:ahLst/>
              <a:cxnLst/>
              <a:rect l="l" t="t" r="r" b="b"/>
              <a:pathLst>
                <a:path w="5600700" h="4476750">
                  <a:moveTo>
                    <a:pt x="152389" y="0"/>
                  </a:moveTo>
                  <a:lnTo>
                    <a:pt x="5448311" y="0"/>
                  </a:lnTo>
                  <a:cubicBezTo>
                    <a:pt x="5532417" y="0"/>
                    <a:pt x="5600700" y="68283"/>
                    <a:pt x="5600700" y="152389"/>
                  </a:cubicBezTo>
                  <a:lnTo>
                    <a:pt x="5600700" y="4324361"/>
                  </a:lnTo>
                  <a:cubicBezTo>
                    <a:pt x="5600700" y="4408523"/>
                    <a:pt x="5532473" y="4476750"/>
                    <a:pt x="5448311" y="4476750"/>
                  </a:cubicBezTo>
                  <a:lnTo>
                    <a:pt x="152389" y="4476750"/>
                  </a:lnTo>
                  <a:cubicBezTo>
                    <a:pt x="68283" y="4476750"/>
                    <a:pt x="0" y="4408467"/>
                    <a:pt x="0" y="4324361"/>
                  </a:cubicBezTo>
                  <a:lnTo>
                    <a:pt x="0" y="152389"/>
                  </a:lnTo>
                  <a:cubicBezTo>
                    <a:pt x="0" y="68283"/>
                    <a:pt x="68283" y="0"/>
                    <a:pt x="15238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93" name="Shape 24">
              <a:extLst>
                <a:ext uri="{FF2B5EF4-FFF2-40B4-BE49-F238E27FC236}">
                  <a16:creationId xmlns:a16="http://schemas.microsoft.com/office/drawing/2014/main" id="{57BF26FE-4FB2-4D85-8F6B-1565CDA96CC3}"/>
                </a:ext>
              </a:extLst>
            </p:cNvPr>
            <p:cNvSpPr/>
            <p:nvPr/>
          </p:nvSpPr>
          <p:spPr>
            <a:xfrm>
              <a:off x="6457950" y="1457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4" name="Shape 25">
              <a:extLst>
                <a:ext uri="{FF2B5EF4-FFF2-40B4-BE49-F238E27FC236}">
                  <a16:creationId xmlns:a16="http://schemas.microsoft.com/office/drawing/2014/main" id="{37D7CAE4-888D-4E71-922C-CBFAEDE133BB}"/>
                </a:ext>
              </a:extLst>
            </p:cNvPr>
            <p:cNvSpPr/>
            <p:nvPr/>
          </p:nvSpPr>
          <p:spPr>
            <a:xfrm>
              <a:off x="6457950" y="1457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95" name="Shape 26">
              <a:extLst>
                <a:ext uri="{FF2B5EF4-FFF2-40B4-BE49-F238E27FC236}">
                  <a16:creationId xmlns:a16="http://schemas.microsoft.com/office/drawing/2014/main" id="{16FBE2D5-7F3E-4AF1-93A7-30BDD917EB80}"/>
                </a:ext>
              </a:extLst>
            </p:cNvPr>
            <p:cNvSpPr/>
            <p:nvPr/>
          </p:nvSpPr>
          <p:spPr>
            <a:xfrm>
              <a:off x="6667500" y="1647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96" name="Shape 27">
              <a:extLst>
                <a:ext uri="{FF2B5EF4-FFF2-40B4-BE49-F238E27FC236}">
                  <a16:creationId xmlns:a16="http://schemas.microsoft.com/office/drawing/2014/main" id="{E0E24BC3-383F-4B97-ABA0-7A15FC8B681E}"/>
                </a:ext>
              </a:extLst>
            </p:cNvPr>
            <p:cNvSpPr/>
            <p:nvPr/>
          </p:nvSpPr>
          <p:spPr>
            <a:xfrm>
              <a:off x="6777038" y="178117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50602" y="47625"/>
                  </a:moveTo>
                  <a:cubicBezTo>
                    <a:pt x="50602" y="22983"/>
                    <a:pt x="70608" y="2977"/>
                    <a:pt x="95250" y="2977"/>
                  </a:cubicBezTo>
                  <a:cubicBezTo>
                    <a:pt x="119892" y="2977"/>
                    <a:pt x="139898" y="22983"/>
                    <a:pt x="139898" y="47625"/>
                  </a:cubicBezTo>
                  <a:cubicBezTo>
                    <a:pt x="139898" y="72267"/>
                    <a:pt x="119892" y="92273"/>
                    <a:pt x="95250" y="92273"/>
                  </a:cubicBezTo>
                  <a:cubicBezTo>
                    <a:pt x="70608" y="92273"/>
                    <a:pt x="50602" y="72267"/>
                    <a:pt x="50602" y="47625"/>
                  </a:cubicBezTo>
                  <a:close/>
                  <a:moveTo>
                    <a:pt x="17859" y="179450"/>
                  </a:moveTo>
                  <a:cubicBezTo>
                    <a:pt x="17859" y="142801"/>
                    <a:pt x="47551" y="113109"/>
                    <a:pt x="84200" y="113109"/>
                  </a:cubicBezTo>
                  <a:lnTo>
                    <a:pt x="106300" y="113109"/>
                  </a:lnTo>
                  <a:cubicBezTo>
                    <a:pt x="142949" y="113109"/>
                    <a:pt x="172641" y="142801"/>
                    <a:pt x="172641" y="179450"/>
                  </a:cubicBezTo>
                  <a:cubicBezTo>
                    <a:pt x="172641" y="185551"/>
                    <a:pt x="167692" y="190500"/>
                    <a:pt x="161590" y="190500"/>
                  </a:cubicBezTo>
                  <a:lnTo>
                    <a:pt x="28910" y="190500"/>
                  </a:lnTo>
                  <a:cubicBezTo>
                    <a:pt x="22808" y="190500"/>
                    <a:pt x="17859" y="185551"/>
                    <a:pt x="17859" y="179450"/>
                  </a:cubicBezTo>
                  <a:close/>
                  <a:moveTo>
                    <a:pt x="227856" y="49374"/>
                  </a:moveTo>
                  <a:lnTo>
                    <a:pt x="198090" y="96999"/>
                  </a:lnTo>
                  <a:cubicBezTo>
                    <a:pt x="196528" y="99492"/>
                    <a:pt x="193849" y="101054"/>
                    <a:pt x="190909" y="101203"/>
                  </a:cubicBezTo>
                  <a:cubicBezTo>
                    <a:pt x="187970" y="101352"/>
                    <a:pt x="185142" y="100013"/>
                    <a:pt x="183393" y="97631"/>
                  </a:cubicBezTo>
                  <a:lnTo>
                    <a:pt x="165534" y="73819"/>
                  </a:lnTo>
                  <a:cubicBezTo>
                    <a:pt x="162558" y="69875"/>
                    <a:pt x="163376" y="64294"/>
                    <a:pt x="167320" y="61317"/>
                  </a:cubicBezTo>
                  <a:cubicBezTo>
                    <a:pt x="171264" y="58341"/>
                    <a:pt x="176845" y="59159"/>
                    <a:pt x="179822" y="63103"/>
                  </a:cubicBezTo>
                  <a:lnTo>
                    <a:pt x="189867" y="76498"/>
                  </a:lnTo>
                  <a:lnTo>
                    <a:pt x="212713" y="39923"/>
                  </a:lnTo>
                  <a:cubicBezTo>
                    <a:pt x="215317" y="35756"/>
                    <a:pt x="220824" y="34454"/>
                    <a:pt x="225028" y="37095"/>
                  </a:cubicBezTo>
                  <a:cubicBezTo>
                    <a:pt x="229233" y="39737"/>
                    <a:pt x="230498" y="45207"/>
                    <a:pt x="227856" y="4941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97" name="Text 28">
              <a:extLst>
                <a:ext uri="{FF2B5EF4-FFF2-40B4-BE49-F238E27FC236}">
                  <a16:creationId xmlns:a16="http://schemas.microsoft.com/office/drawing/2014/main" id="{4B1C7F47-A964-461A-A27E-59139BB9FADA}"/>
                </a:ext>
              </a:extLst>
            </p:cNvPr>
            <p:cNvSpPr/>
            <p:nvPr/>
          </p:nvSpPr>
          <p:spPr>
            <a:xfrm>
              <a:off x="7277100" y="1647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Подтверждение человеком</a:t>
              </a:r>
              <a:endParaRPr lang="en-US" dirty="0"/>
            </a:p>
          </p:txBody>
        </p:sp>
        <p:sp>
          <p:nvSpPr>
            <p:cNvPr id="98" name="Text 29">
              <a:extLst>
                <a:ext uri="{FF2B5EF4-FFF2-40B4-BE49-F238E27FC236}">
                  <a16:creationId xmlns:a16="http://schemas.microsoft.com/office/drawing/2014/main" id="{68D404D8-7C2F-4F07-961A-1BADF49D9B91}"/>
                </a:ext>
              </a:extLst>
            </p:cNvPr>
            <p:cNvSpPr/>
            <p:nvPr/>
          </p:nvSpPr>
          <p:spPr>
            <a:xfrm>
              <a:off x="7277100" y="1990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Критичные операции требуют явного согласия пользователя</a:t>
              </a:r>
              <a:endParaRPr lang="en-US" dirty="0"/>
            </a:p>
          </p:txBody>
        </p:sp>
        <p:sp>
          <p:nvSpPr>
            <p:cNvPr id="99" name="Shape 30">
              <a:extLst>
                <a:ext uri="{FF2B5EF4-FFF2-40B4-BE49-F238E27FC236}">
                  <a16:creationId xmlns:a16="http://schemas.microsoft.com/office/drawing/2014/main" id="{F70346F4-8C36-4A66-9038-5C005CD3883E}"/>
                </a:ext>
              </a:extLst>
            </p:cNvPr>
            <p:cNvSpPr/>
            <p:nvPr/>
          </p:nvSpPr>
          <p:spPr>
            <a:xfrm>
              <a:off x="6457950" y="27908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0" name="Shape 31">
              <a:extLst>
                <a:ext uri="{FF2B5EF4-FFF2-40B4-BE49-F238E27FC236}">
                  <a16:creationId xmlns:a16="http://schemas.microsoft.com/office/drawing/2014/main" id="{8CB03050-A111-4B27-B22C-67A6D22200BA}"/>
                </a:ext>
              </a:extLst>
            </p:cNvPr>
            <p:cNvSpPr/>
            <p:nvPr/>
          </p:nvSpPr>
          <p:spPr>
            <a:xfrm>
              <a:off x="6457950" y="27908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01" name="Shape 32">
              <a:extLst>
                <a:ext uri="{FF2B5EF4-FFF2-40B4-BE49-F238E27FC236}">
                  <a16:creationId xmlns:a16="http://schemas.microsoft.com/office/drawing/2014/main" id="{0451EF48-67AF-4600-B3A5-829FCBAC3607}"/>
                </a:ext>
              </a:extLst>
            </p:cNvPr>
            <p:cNvSpPr/>
            <p:nvPr/>
          </p:nvSpPr>
          <p:spPr>
            <a:xfrm>
              <a:off x="6667500" y="29813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02" name="Shape 33">
              <a:extLst>
                <a:ext uri="{FF2B5EF4-FFF2-40B4-BE49-F238E27FC236}">
                  <a16:creationId xmlns:a16="http://schemas.microsoft.com/office/drawing/2014/main" id="{ADEBE1C3-7485-4DDE-A8CB-C41AD985C165}"/>
                </a:ext>
              </a:extLst>
            </p:cNvPr>
            <p:cNvSpPr/>
            <p:nvPr/>
          </p:nvSpPr>
          <p:spPr>
            <a:xfrm>
              <a:off x="6824663" y="3114675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115863" y="11906"/>
                  </a:moveTo>
                  <a:lnTo>
                    <a:pt x="119063" y="11906"/>
                  </a:lnTo>
                  <a:cubicBezTo>
                    <a:pt x="132197" y="11906"/>
                    <a:pt x="142875" y="22585"/>
                    <a:pt x="142875" y="35719"/>
                  </a:cubicBezTo>
                  <a:lnTo>
                    <a:pt x="142875" y="166688"/>
                  </a:lnTo>
                  <a:cubicBezTo>
                    <a:pt x="142875" y="179822"/>
                    <a:pt x="132197" y="190500"/>
                    <a:pt x="119063" y="190500"/>
                  </a:cubicBezTo>
                  <a:lnTo>
                    <a:pt x="23812" y="190500"/>
                  </a:lnTo>
                  <a:cubicBezTo>
                    <a:pt x="10678" y="190500"/>
                    <a:pt x="0" y="179822"/>
                    <a:pt x="0" y="166688"/>
                  </a:cubicBezTo>
                  <a:lnTo>
                    <a:pt x="0" y="35719"/>
                  </a:lnTo>
                  <a:cubicBezTo>
                    <a:pt x="0" y="22585"/>
                    <a:pt x="10678" y="11906"/>
                    <a:pt x="23812" y="11906"/>
                  </a:cubicBezTo>
                  <a:lnTo>
                    <a:pt x="27012" y="11906"/>
                  </a:lnTo>
                  <a:cubicBezTo>
                    <a:pt x="31105" y="4800"/>
                    <a:pt x="38807" y="0"/>
                    <a:pt x="47625" y="0"/>
                  </a:cubicBezTo>
                  <a:lnTo>
                    <a:pt x="95250" y="0"/>
                  </a:lnTo>
                  <a:cubicBezTo>
                    <a:pt x="104068" y="0"/>
                    <a:pt x="111770" y="4800"/>
                    <a:pt x="115863" y="11906"/>
                  </a:cubicBezTo>
                  <a:close/>
                  <a:moveTo>
                    <a:pt x="92273" y="41672"/>
                  </a:moveTo>
                  <a:cubicBezTo>
                    <a:pt x="97222" y="41672"/>
                    <a:pt x="101203" y="37691"/>
                    <a:pt x="101203" y="32742"/>
                  </a:cubicBezTo>
                  <a:cubicBezTo>
                    <a:pt x="101203" y="27794"/>
                    <a:pt x="97222" y="23812"/>
                    <a:pt x="92273" y="23812"/>
                  </a:cubicBezTo>
                  <a:lnTo>
                    <a:pt x="50602" y="23812"/>
                  </a:lnTo>
                  <a:cubicBezTo>
                    <a:pt x="45653" y="23812"/>
                    <a:pt x="41672" y="27794"/>
                    <a:pt x="41672" y="32742"/>
                  </a:cubicBezTo>
                  <a:cubicBezTo>
                    <a:pt x="41672" y="37691"/>
                    <a:pt x="45653" y="41672"/>
                    <a:pt x="50602" y="41672"/>
                  </a:cubicBezTo>
                  <a:lnTo>
                    <a:pt x="92273" y="41672"/>
                  </a:lnTo>
                  <a:close/>
                  <a:moveTo>
                    <a:pt x="47625" y="95250"/>
                  </a:moveTo>
                  <a:cubicBezTo>
                    <a:pt x="47625" y="88679"/>
                    <a:pt x="42290" y="83344"/>
                    <a:pt x="35719" y="83344"/>
                  </a:cubicBezTo>
                  <a:cubicBezTo>
                    <a:pt x="29148" y="83344"/>
                    <a:pt x="23812" y="88679"/>
                    <a:pt x="23812" y="95250"/>
                  </a:cubicBezTo>
                  <a:cubicBezTo>
                    <a:pt x="23812" y="101821"/>
                    <a:pt x="29148" y="107156"/>
                    <a:pt x="35719" y="107156"/>
                  </a:cubicBezTo>
                  <a:cubicBezTo>
                    <a:pt x="42290" y="107156"/>
                    <a:pt x="47625" y="101821"/>
                    <a:pt x="47625" y="95250"/>
                  </a:cubicBezTo>
                  <a:close/>
                  <a:moveTo>
                    <a:pt x="59531" y="95250"/>
                  </a:moveTo>
                  <a:cubicBezTo>
                    <a:pt x="59531" y="100199"/>
                    <a:pt x="63512" y="104180"/>
                    <a:pt x="68461" y="104180"/>
                  </a:cubicBezTo>
                  <a:lnTo>
                    <a:pt x="110133" y="104180"/>
                  </a:lnTo>
                  <a:cubicBezTo>
                    <a:pt x="115081" y="104180"/>
                    <a:pt x="119063" y="100199"/>
                    <a:pt x="119063" y="95250"/>
                  </a:cubicBezTo>
                  <a:cubicBezTo>
                    <a:pt x="119063" y="90301"/>
                    <a:pt x="115081" y="86320"/>
                    <a:pt x="110133" y="86320"/>
                  </a:cubicBezTo>
                  <a:lnTo>
                    <a:pt x="68461" y="86320"/>
                  </a:lnTo>
                  <a:cubicBezTo>
                    <a:pt x="63512" y="86320"/>
                    <a:pt x="59531" y="90301"/>
                    <a:pt x="59531" y="95250"/>
                  </a:cubicBezTo>
                  <a:close/>
                  <a:moveTo>
                    <a:pt x="59531" y="142875"/>
                  </a:moveTo>
                  <a:cubicBezTo>
                    <a:pt x="59531" y="147824"/>
                    <a:pt x="63512" y="151805"/>
                    <a:pt x="68461" y="151805"/>
                  </a:cubicBezTo>
                  <a:lnTo>
                    <a:pt x="110133" y="151805"/>
                  </a:lnTo>
                  <a:cubicBezTo>
                    <a:pt x="115081" y="151805"/>
                    <a:pt x="119063" y="147824"/>
                    <a:pt x="119063" y="142875"/>
                  </a:cubicBezTo>
                  <a:cubicBezTo>
                    <a:pt x="119063" y="137926"/>
                    <a:pt x="115081" y="133945"/>
                    <a:pt x="110133" y="133945"/>
                  </a:cubicBezTo>
                  <a:lnTo>
                    <a:pt x="68461" y="133945"/>
                  </a:lnTo>
                  <a:cubicBezTo>
                    <a:pt x="63512" y="133945"/>
                    <a:pt x="59531" y="137926"/>
                    <a:pt x="59531" y="142875"/>
                  </a:cubicBezTo>
                  <a:close/>
                  <a:moveTo>
                    <a:pt x="35719" y="154781"/>
                  </a:moveTo>
                  <a:cubicBezTo>
                    <a:pt x="42290" y="154781"/>
                    <a:pt x="47625" y="149446"/>
                    <a:pt x="47625" y="142875"/>
                  </a:cubicBezTo>
                  <a:cubicBezTo>
                    <a:pt x="47625" y="136304"/>
                    <a:pt x="42290" y="130969"/>
                    <a:pt x="35719" y="130969"/>
                  </a:cubicBezTo>
                  <a:cubicBezTo>
                    <a:pt x="29148" y="130969"/>
                    <a:pt x="23812" y="136304"/>
                    <a:pt x="23812" y="142875"/>
                  </a:cubicBezTo>
                  <a:cubicBezTo>
                    <a:pt x="23812" y="149446"/>
                    <a:pt x="29148" y="154781"/>
                    <a:pt x="35719" y="15478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3" name="Text 34">
              <a:extLst>
                <a:ext uri="{FF2B5EF4-FFF2-40B4-BE49-F238E27FC236}">
                  <a16:creationId xmlns:a16="http://schemas.microsoft.com/office/drawing/2014/main" id="{7A80FEA8-1A10-4CAC-81C0-016CCD710B89}"/>
                </a:ext>
              </a:extLst>
            </p:cNvPr>
            <p:cNvSpPr/>
            <p:nvPr/>
          </p:nvSpPr>
          <p:spPr>
            <a:xfrm>
              <a:off x="7277100" y="29813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Логирование действий</a:t>
              </a:r>
              <a:endParaRPr lang="en-US" dirty="0"/>
            </a:p>
          </p:txBody>
        </p:sp>
        <p:sp>
          <p:nvSpPr>
            <p:cNvPr id="104" name="Text 35">
              <a:extLst>
                <a:ext uri="{FF2B5EF4-FFF2-40B4-BE49-F238E27FC236}">
                  <a16:creationId xmlns:a16="http://schemas.microsoft.com/office/drawing/2014/main" id="{9BB37B24-2799-45E5-A0E7-AF1429BEB71C}"/>
                </a:ext>
              </a:extLst>
            </p:cNvPr>
            <p:cNvSpPr/>
            <p:nvPr/>
          </p:nvSpPr>
          <p:spPr>
            <a:xfrm>
              <a:off x="7277100" y="33242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Полный аудит всех запросов и действий для анализа и контроля</a:t>
              </a:r>
              <a:endParaRPr lang="en-US" dirty="0"/>
            </a:p>
          </p:txBody>
        </p:sp>
        <p:sp>
          <p:nvSpPr>
            <p:cNvPr id="105" name="Shape 36">
              <a:extLst>
                <a:ext uri="{FF2B5EF4-FFF2-40B4-BE49-F238E27FC236}">
                  <a16:creationId xmlns:a16="http://schemas.microsoft.com/office/drawing/2014/main" id="{9B12FF54-CB8B-4CA7-B9A4-E940F391F8E7}"/>
                </a:ext>
              </a:extLst>
            </p:cNvPr>
            <p:cNvSpPr/>
            <p:nvPr/>
          </p:nvSpPr>
          <p:spPr>
            <a:xfrm>
              <a:off x="6457950" y="4124325"/>
              <a:ext cx="5124450" cy="1181100"/>
            </a:xfrm>
            <a:custGeom>
              <a:avLst/>
              <a:gdLst/>
              <a:ahLst/>
              <a:cxnLst/>
              <a:rect l="l" t="t" r="r" b="b"/>
              <a:pathLst>
                <a:path w="5124450" h="1181100">
                  <a:moveTo>
                    <a:pt x="38100" y="0"/>
                  </a:moveTo>
                  <a:lnTo>
                    <a:pt x="5010155" y="0"/>
                  </a:lnTo>
                  <a:cubicBezTo>
                    <a:pt x="5073278" y="0"/>
                    <a:pt x="5124450" y="51172"/>
                    <a:pt x="5124450" y="114295"/>
                  </a:cubicBezTo>
                  <a:lnTo>
                    <a:pt x="5124450" y="1066805"/>
                  </a:lnTo>
                  <a:cubicBezTo>
                    <a:pt x="5124450" y="1129928"/>
                    <a:pt x="5073278" y="1181100"/>
                    <a:pt x="5010155" y="1181100"/>
                  </a:cubicBez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6" name="Shape 37">
              <a:extLst>
                <a:ext uri="{FF2B5EF4-FFF2-40B4-BE49-F238E27FC236}">
                  <a16:creationId xmlns:a16="http://schemas.microsoft.com/office/drawing/2014/main" id="{DF29BD35-3A3A-48C6-92C9-BD38AED47E55}"/>
                </a:ext>
              </a:extLst>
            </p:cNvPr>
            <p:cNvSpPr/>
            <p:nvPr/>
          </p:nvSpPr>
          <p:spPr>
            <a:xfrm>
              <a:off x="6457950" y="4124325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100" y="0"/>
                  </a:moveTo>
                  <a:lnTo>
                    <a:pt x="38100" y="0"/>
                  </a:lnTo>
                  <a:lnTo>
                    <a:pt x="38100" y="1181100"/>
                  </a:lnTo>
                  <a:lnTo>
                    <a:pt x="38100" y="1181100"/>
                  </a:lnTo>
                  <a:cubicBezTo>
                    <a:pt x="17072" y="1181100"/>
                    <a:pt x="0" y="1164028"/>
                    <a:pt x="0" y="1143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07" name="Shape 38">
              <a:extLst>
                <a:ext uri="{FF2B5EF4-FFF2-40B4-BE49-F238E27FC236}">
                  <a16:creationId xmlns:a16="http://schemas.microsoft.com/office/drawing/2014/main" id="{067248ED-FDB4-4019-BB76-CE9A14D6A01F}"/>
                </a:ext>
              </a:extLst>
            </p:cNvPr>
            <p:cNvSpPr/>
            <p:nvPr/>
          </p:nvSpPr>
          <p:spPr>
            <a:xfrm>
              <a:off x="6667500" y="4314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08" name="Shape 39">
              <a:extLst>
                <a:ext uri="{FF2B5EF4-FFF2-40B4-BE49-F238E27FC236}">
                  <a16:creationId xmlns:a16="http://schemas.microsoft.com/office/drawing/2014/main" id="{7109E77E-E1EE-4DF3-8188-5121BE085F02}"/>
                </a:ext>
              </a:extLst>
            </p:cNvPr>
            <p:cNvSpPr/>
            <p:nvPr/>
          </p:nvSpPr>
          <p:spPr>
            <a:xfrm>
              <a:off x="6800850" y="44481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25016" y="130969"/>
                  </a:moveTo>
                  <a:cubicBezTo>
                    <a:pt x="161181" y="130969"/>
                    <a:pt x="190500" y="101650"/>
                    <a:pt x="190500" y="65484"/>
                  </a:cubicBezTo>
                  <a:cubicBezTo>
                    <a:pt x="190500" y="29319"/>
                    <a:pt x="161181" y="0"/>
                    <a:pt x="125016" y="0"/>
                  </a:cubicBezTo>
                  <a:cubicBezTo>
                    <a:pt x="88850" y="0"/>
                    <a:pt x="59531" y="29319"/>
                    <a:pt x="59531" y="65484"/>
                  </a:cubicBezTo>
                  <a:cubicBezTo>
                    <a:pt x="59531" y="72442"/>
                    <a:pt x="60610" y="79177"/>
                    <a:pt x="62619" y="85465"/>
                  </a:cubicBezTo>
                  <a:lnTo>
                    <a:pt x="2604" y="145479"/>
                  </a:lnTo>
                  <a:cubicBezTo>
                    <a:pt x="930" y="147154"/>
                    <a:pt x="0" y="149423"/>
                    <a:pt x="0" y="151805"/>
                  </a:cubicBezTo>
                  <a:lnTo>
                    <a:pt x="0" y="181570"/>
                  </a:lnTo>
                  <a:cubicBezTo>
                    <a:pt x="0" y="186519"/>
                    <a:pt x="3981" y="190500"/>
                    <a:pt x="8930" y="190500"/>
                  </a:cubicBezTo>
                  <a:lnTo>
                    <a:pt x="38695" y="190500"/>
                  </a:lnTo>
                  <a:cubicBezTo>
                    <a:pt x="43644" y="190500"/>
                    <a:pt x="47625" y="186519"/>
                    <a:pt x="47625" y="181570"/>
                  </a:cubicBezTo>
                  <a:lnTo>
                    <a:pt x="47625" y="166688"/>
                  </a:lnTo>
                  <a:lnTo>
                    <a:pt x="62508" y="166688"/>
                  </a:lnTo>
                  <a:cubicBezTo>
                    <a:pt x="67456" y="166688"/>
                    <a:pt x="71438" y="162706"/>
                    <a:pt x="71438" y="157758"/>
                  </a:cubicBezTo>
                  <a:lnTo>
                    <a:pt x="71438" y="142875"/>
                  </a:lnTo>
                  <a:lnTo>
                    <a:pt x="86320" y="142875"/>
                  </a:lnTo>
                  <a:cubicBezTo>
                    <a:pt x="88702" y="142875"/>
                    <a:pt x="90971" y="141945"/>
                    <a:pt x="92646" y="140271"/>
                  </a:cubicBezTo>
                  <a:lnTo>
                    <a:pt x="105035" y="127881"/>
                  </a:lnTo>
                  <a:cubicBezTo>
                    <a:pt x="111323" y="129890"/>
                    <a:pt x="118058" y="130969"/>
                    <a:pt x="125016" y="130969"/>
                  </a:cubicBezTo>
                  <a:close/>
                  <a:moveTo>
                    <a:pt x="139898" y="35719"/>
                  </a:moveTo>
                  <a:cubicBezTo>
                    <a:pt x="148112" y="35719"/>
                    <a:pt x="154781" y="42388"/>
                    <a:pt x="154781" y="50602"/>
                  </a:cubicBezTo>
                  <a:cubicBezTo>
                    <a:pt x="154781" y="58816"/>
                    <a:pt x="148112" y="65484"/>
                    <a:pt x="139898" y="65484"/>
                  </a:cubicBezTo>
                  <a:cubicBezTo>
                    <a:pt x="131684" y="65484"/>
                    <a:pt x="125016" y="58816"/>
                    <a:pt x="125016" y="50602"/>
                  </a:cubicBezTo>
                  <a:cubicBezTo>
                    <a:pt x="125016" y="42388"/>
                    <a:pt x="131684" y="35719"/>
                    <a:pt x="139898" y="35719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09" name="Text 40">
              <a:extLst>
                <a:ext uri="{FF2B5EF4-FFF2-40B4-BE49-F238E27FC236}">
                  <a16:creationId xmlns:a16="http://schemas.microsoft.com/office/drawing/2014/main" id="{49B60612-A485-4056-AAAE-907E0D8C1AF2}"/>
                </a:ext>
              </a:extLst>
            </p:cNvPr>
            <p:cNvSpPr/>
            <p:nvPr/>
          </p:nvSpPr>
          <p:spPr>
            <a:xfrm>
              <a:off x="7277100" y="4314825"/>
              <a:ext cx="4200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Права доступа</a:t>
              </a:r>
              <a:endParaRPr lang="en-US" dirty="0"/>
            </a:p>
          </p:txBody>
        </p:sp>
        <p:sp>
          <p:nvSpPr>
            <p:cNvPr id="110" name="Text 41">
              <a:extLst>
                <a:ext uri="{FF2B5EF4-FFF2-40B4-BE49-F238E27FC236}">
                  <a16:creationId xmlns:a16="http://schemas.microsoft.com/office/drawing/2014/main" id="{FCC23F6E-A5FD-4CDC-AA59-CAA965804529}"/>
                </a:ext>
              </a:extLst>
            </p:cNvPr>
            <p:cNvSpPr/>
            <p:nvPr/>
          </p:nvSpPr>
          <p:spPr>
            <a:xfrm>
              <a:off x="7277100" y="4657725"/>
              <a:ext cx="4191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Учет прав пользователя 1С — ассистент видит только разрешенные данные</a:t>
              </a:r>
              <a:endParaRPr lang="en-US" dirty="0"/>
            </a:p>
          </p:txBody>
        </p:sp>
      </p:grp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40B1E42C-2352-435B-877F-C647ADC86FDA}"/>
              </a:ext>
            </a:extLst>
          </p:cNvPr>
          <p:cNvGrpSpPr/>
          <p:nvPr/>
        </p:nvGrpSpPr>
        <p:grpSpPr>
          <a:xfrm>
            <a:off x="-3562350" y="361950"/>
            <a:ext cx="3124200" cy="533400"/>
            <a:chOff x="381000" y="381000"/>
            <a:chExt cx="3124200" cy="533400"/>
          </a:xfrm>
        </p:grpSpPr>
        <p:sp>
          <p:nvSpPr>
            <p:cNvPr id="112" name="Shape 0">
              <a:extLst>
                <a:ext uri="{FF2B5EF4-FFF2-40B4-BE49-F238E27FC236}">
                  <a16:creationId xmlns:a16="http://schemas.microsoft.com/office/drawing/2014/main" id="{A8B2A2EF-106C-43B1-B41C-6E9858E9CCC5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3" name="Shape 1">
              <a:extLst>
                <a:ext uri="{FF2B5EF4-FFF2-40B4-BE49-F238E27FC236}">
                  <a16:creationId xmlns:a16="http://schemas.microsoft.com/office/drawing/2014/main" id="{696834B8-1107-4FB6-9D03-FA71EA26FF15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16354" y="0"/>
                    <a:pt x="118408" y="446"/>
                    <a:pt x="120283" y="1295"/>
                  </a:cubicBezTo>
                  <a:lnTo>
                    <a:pt x="204401" y="36969"/>
                  </a:lnTo>
                  <a:cubicBezTo>
                    <a:pt x="214223" y="41121"/>
                    <a:pt x="221546" y="50810"/>
                    <a:pt x="221501" y="62508"/>
                  </a:cubicBezTo>
                  <a:cubicBezTo>
                    <a:pt x="221278" y="106799"/>
                    <a:pt x="203061" y="187836"/>
                    <a:pt x="126132" y="224671"/>
                  </a:cubicBezTo>
                  <a:cubicBezTo>
                    <a:pt x="118676" y="228243"/>
                    <a:pt x="110014" y="228243"/>
                    <a:pt x="102557" y="224671"/>
                  </a:cubicBezTo>
                  <a:cubicBezTo>
                    <a:pt x="25584" y="187836"/>
                    <a:pt x="7412" y="106799"/>
                    <a:pt x="7188" y="62508"/>
                  </a:cubicBezTo>
                  <a:cubicBezTo>
                    <a:pt x="7144" y="50810"/>
                    <a:pt x="14466" y="41121"/>
                    <a:pt x="24289" y="36969"/>
                  </a:cubicBezTo>
                  <a:lnTo>
                    <a:pt x="108362" y="1295"/>
                  </a:lnTo>
                  <a:cubicBezTo>
                    <a:pt x="110237" y="446"/>
                    <a:pt x="112246" y="0"/>
                    <a:pt x="114300" y="0"/>
                  </a:cubicBezTo>
                  <a:close/>
                  <a:moveTo>
                    <a:pt x="114300" y="29825"/>
                  </a:moveTo>
                  <a:lnTo>
                    <a:pt x="114300" y="198641"/>
                  </a:lnTo>
                  <a:cubicBezTo>
                    <a:pt x="175915" y="168816"/>
                    <a:pt x="192479" y="102736"/>
                    <a:pt x="192881" y="63178"/>
                  </a:cubicBezTo>
                  <a:lnTo>
                    <a:pt x="114300" y="29870"/>
                  </a:lnTo>
                  <a:lnTo>
                    <a:pt x="114300" y="2987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4" name="Text 2">
              <a:extLst>
                <a:ext uri="{FF2B5EF4-FFF2-40B4-BE49-F238E27FC236}">
                  <a16:creationId xmlns:a16="http://schemas.microsoft.com/office/drawing/2014/main" id="{AFA215B1-A0E4-4AC1-B440-35C77F4CACC4}"/>
                </a:ext>
              </a:extLst>
            </p:cNvPr>
            <p:cNvSpPr/>
            <p:nvPr/>
          </p:nvSpPr>
          <p:spPr>
            <a:xfrm>
              <a:off x="1066800" y="400050"/>
              <a:ext cx="24384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Безопасность</a:t>
              </a:r>
              <a:endParaRPr lang="en-US" sz="1600" dirty="0"/>
            </a:p>
          </p:txBody>
        </p:sp>
        <p:sp>
          <p:nvSpPr>
            <p:cNvPr id="115" name="Shape 3">
              <a:extLst>
                <a:ext uri="{FF2B5EF4-FFF2-40B4-BE49-F238E27FC236}">
                  <a16:creationId xmlns:a16="http://schemas.microsoft.com/office/drawing/2014/main" id="{55EB92AD-106A-4D02-8178-323B485802C8}"/>
                </a:ext>
              </a:extLst>
            </p:cNvPr>
            <p:cNvSpPr/>
            <p:nvPr/>
          </p:nvSpPr>
          <p:spPr>
            <a:xfrm>
              <a:off x="762000" y="866774"/>
              <a:ext cx="2743200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16" name="Text 7">
            <a:extLst>
              <a:ext uri="{FF2B5EF4-FFF2-40B4-BE49-F238E27FC236}">
                <a16:creationId xmlns:a16="http://schemas.microsoft.com/office/drawing/2014/main" id="{AED1FFE3-35B8-4CD0-B0A2-E524396A0C69}"/>
              </a:ext>
            </a:extLst>
          </p:cNvPr>
          <p:cNvSpPr/>
          <p:nvPr/>
        </p:nvSpPr>
        <p:spPr>
          <a:xfrm>
            <a:off x="12594113" y="24526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13</a:t>
            </a:r>
            <a:endParaRPr lang="en-US" sz="1600" dirty="0"/>
          </a:p>
        </p:txBody>
      </p:sp>
      <p:grpSp>
        <p:nvGrpSpPr>
          <p:cNvPr id="117" name="Группа 116">
            <a:extLst>
              <a:ext uri="{FF2B5EF4-FFF2-40B4-BE49-F238E27FC236}">
                <a16:creationId xmlns:a16="http://schemas.microsoft.com/office/drawing/2014/main" id="{83CB540D-9C3F-44B9-ADB5-F400EC6EFBEB}"/>
              </a:ext>
            </a:extLst>
          </p:cNvPr>
          <p:cNvGrpSpPr/>
          <p:nvPr/>
        </p:nvGrpSpPr>
        <p:grpSpPr>
          <a:xfrm>
            <a:off x="381000" y="7581900"/>
            <a:ext cx="11430000" cy="666750"/>
            <a:chOff x="381000" y="5810250"/>
            <a:chExt cx="11430000" cy="666750"/>
          </a:xfrm>
        </p:grpSpPr>
        <p:sp>
          <p:nvSpPr>
            <p:cNvPr id="118" name="Shape 42">
              <a:extLst>
                <a:ext uri="{FF2B5EF4-FFF2-40B4-BE49-F238E27FC236}">
                  <a16:creationId xmlns:a16="http://schemas.microsoft.com/office/drawing/2014/main" id="{A3F8FB0B-0F3F-47B6-8494-A66D54208635}"/>
                </a:ext>
              </a:extLst>
            </p:cNvPr>
            <p:cNvSpPr/>
            <p:nvPr/>
          </p:nvSpPr>
          <p:spPr>
            <a:xfrm>
              <a:off x="381000" y="5810250"/>
              <a:ext cx="11430000" cy="666750"/>
            </a:xfrm>
            <a:custGeom>
              <a:avLst/>
              <a:gdLst/>
              <a:ahLst/>
              <a:cxnLst/>
              <a:rect l="l" t="t" r="r" b="b"/>
              <a:pathLst>
                <a:path w="11430000" h="666750">
                  <a:moveTo>
                    <a:pt x="152399" y="0"/>
                  </a:moveTo>
                  <a:lnTo>
                    <a:pt x="11277601" y="0"/>
                  </a:lnTo>
                  <a:cubicBezTo>
                    <a:pt x="11361769" y="0"/>
                    <a:pt x="11430000" y="68231"/>
                    <a:pt x="11430000" y="152399"/>
                  </a:cubicBezTo>
                  <a:lnTo>
                    <a:pt x="11430000" y="514351"/>
                  </a:lnTo>
                  <a:cubicBezTo>
                    <a:pt x="11430000" y="598519"/>
                    <a:pt x="11361769" y="666750"/>
                    <a:pt x="11277601" y="666750"/>
                  </a:cubicBezTo>
                  <a:lnTo>
                    <a:pt x="152399" y="666750"/>
                  </a:lnTo>
                  <a:cubicBezTo>
                    <a:pt x="68288" y="666750"/>
                    <a:pt x="0" y="598462"/>
                    <a:pt x="0" y="514351"/>
                  </a:cubicBezTo>
                  <a:lnTo>
                    <a:pt x="0" y="152399"/>
                  </a:lnTo>
                  <a:cubicBezTo>
                    <a:pt x="0" y="68288"/>
                    <a:pt x="68288" y="0"/>
                    <a:pt x="1523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238125" dist="19050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9" name="Shape 43">
              <a:extLst>
                <a:ext uri="{FF2B5EF4-FFF2-40B4-BE49-F238E27FC236}">
                  <a16:creationId xmlns:a16="http://schemas.microsoft.com/office/drawing/2014/main" id="{D4199F00-4A4F-4C97-940A-64ED64227286}"/>
                </a:ext>
              </a:extLst>
            </p:cNvPr>
            <p:cNvSpPr/>
            <p:nvPr/>
          </p:nvSpPr>
          <p:spPr>
            <a:xfrm>
              <a:off x="2909887" y="6000750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71438" y="53578"/>
                  </a:moveTo>
                  <a:lnTo>
                    <a:pt x="71438" y="89297"/>
                  </a:lnTo>
                  <a:lnTo>
                    <a:pt x="142875" y="89297"/>
                  </a:lnTo>
                  <a:lnTo>
                    <a:pt x="142875" y="53578"/>
                  </a:lnTo>
                  <a:cubicBezTo>
                    <a:pt x="142875" y="33877"/>
                    <a:pt x="126857" y="17859"/>
                    <a:pt x="107156" y="17859"/>
                  </a:cubicBezTo>
                  <a:cubicBezTo>
                    <a:pt x="87455" y="17859"/>
                    <a:pt x="71438" y="33877"/>
                    <a:pt x="71438" y="53578"/>
                  </a:cubicBezTo>
                  <a:close/>
                  <a:moveTo>
                    <a:pt x="35719" y="89297"/>
                  </a:moveTo>
                  <a:lnTo>
                    <a:pt x="35719" y="53578"/>
                  </a:lnTo>
                  <a:cubicBezTo>
                    <a:pt x="35719" y="14120"/>
                    <a:pt x="67698" y="-17859"/>
                    <a:pt x="107156" y="-17859"/>
                  </a:cubicBezTo>
                  <a:cubicBezTo>
                    <a:pt x="146614" y="-17859"/>
                    <a:pt x="178594" y="14120"/>
                    <a:pt x="178594" y="53578"/>
                  </a:cubicBezTo>
                  <a:lnTo>
                    <a:pt x="178594" y="89297"/>
                  </a:lnTo>
                  <a:cubicBezTo>
                    <a:pt x="198295" y="89297"/>
                    <a:pt x="214313" y="105315"/>
                    <a:pt x="214313" y="125016"/>
                  </a:cubicBezTo>
                  <a:lnTo>
                    <a:pt x="214313" y="250031"/>
                  </a:lnTo>
                  <a:cubicBezTo>
                    <a:pt x="214313" y="269732"/>
                    <a:pt x="198295" y="285750"/>
                    <a:pt x="178594" y="285750"/>
                  </a:cubicBezTo>
                  <a:lnTo>
                    <a:pt x="35719" y="285750"/>
                  </a:lnTo>
                  <a:cubicBezTo>
                    <a:pt x="16018" y="285750"/>
                    <a:pt x="0" y="269732"/>
                    <a:pt x="0" y="250031"/>
                  </a:cubicBezTo>
                  <a:lnTo>
                    <a:pt x="0" y="125016"/>
                  </a:lnTo>
                  <a:cubicBezTo>
                    <a:pt x="0" y="105315"/>
                    <a:pt x="16018" y="89297"/>
                    <a:pt x="35719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0" name="Text 44">
              <a:extLst>
                <a:ext uri="{FF2B5EF4-FFF2-40B4-BE49-F238E27FC236}">
                  <a16:creationId xmlns:a16="http://schemas.microsoft.com/office/drawing/2014/main" id="{EB3226AD-1DAC-4EB4-B2EE-22947EB5D6A4}"/>
                </a:ext>
              </a:extLst>
            </p:cNvPr>
            <p:cNvSpPr/>
            <p:nvPr/>
          </p:nvSpPr>
          <p:spPr>
            <a:xfrm>
              <a:off x="4143374" y="5991225"/>
              <a:ext cx="531495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Многоуровневая защита данных и операций</a:t>
              </a:r>
              <a:endParaRPr lang="en-US" dirty="0"/>
            </a:p>
          </p:txBody>
        </p:sp>
        <p:sp>
          <p:nvSpPr>
            <p:cNvPr id="121" name="Shape 45">
              <a:extLst>
                <a:ext uri="{FF2B5EF4-FFF2-40B4-BE49-F238E27FC236}">
                  <a16:creationId xmlns:a16="http://schemas.microsoft.com/office/drawing/2014/main" id="{4C19AA27-3B71-4142-9E2A-5A66BA118590}"/>
                </a:ext>
              </a:extLst>
            </p:cNvPr>
            <p:cNvSpPr/>
            <p:nvPr/>
          </p:nvSpPr>
          <p:spPr>
            <a:xfrm>
              <a:off x="9265443" y="6010275"/>
              <a:ext cx="214313" cy="285750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71438" y="53578"/>
                  </a:moveTo>
                  <a:lnTo>
                    <a:pt x="71438" y="89297"/>
                  </a:lnTo>
                  <a:lnTo>
                    <a:pt x="142875" y="89297"/>
                  </a:lnTo>
                  <a:lnTo>
                    <a:pt x="142875" y="53578"/>
                  </a:lnTo>
                  <a:cubicBezTo>
                    <a:pt x="142875" y="33877"/>
                    <a:pt x="126857" y="17859"/>
                    <a:pt x="107156" y="17859"/>
                  </a:cubicBezTo>
                  <a:cubicBezTo>
                    <a:pt x="87455" y="17859"/>
                    <a:pt x="71438" y="33877"/>
                    <a:pt x="71438" y="53578"/>
                  </a:cubicBezTo>
                  <a:close/>
                  <a:moveTo>
                    <a:pt x="35719" y="89297"/>
                  </a:moveTo>
                  <a:lnTo>
                    <a:pt x="35719" y="53578"/>
                  </a:lnTo>
                  <a:cubicBezTo>
                    <a:pt x="35719" y="14120"/>
                    <a:pt x="67698" y="-17859"/>
                    <a:pt x="107156" y="-17859"/>
                  </a:cubicBezTo>
                  <a:cubicBezTo>
                    <a:pt x="146614" y="-17859"/>
                    <a:pt x="178594" y="14120"/>
                    <a:pt x="178594" y="53578"/>
                  </a:cubicBezTo>
                  <a:lnTo>
                    <a:pt x="178594" y="89297"/>
                  </a:lnTo>
                  <a:cubicBezTo>
                    <a:pt x="198295" y="89297"/>
                    <a:pt x="214313" y="105315"/>
                    <a:pt x="214313" y="125016"/>
                  </a:cubicBezTo>
                  <a:lnTo>
                    <a:pt x="214313" y="250031"/>
                  </a:lnTo>
                  <a:cubicBezTo>
                    <a:pt x="214313" y="269732"/>
                    <a:pt x="198295" y="285750"/>
                    <a:pt x="178594" y="285750"/>
                  </a:cubicBezTo>
                  <a:lnTo>
                    <a:pt x="35719" y="285750"/>
                  </a:lnTo>
                  <a:cubicBezTo>
                    <a:pt x="16018" y="285750"/>
                    <a:pt x="0" y="269732"/>
                    <a:pt x="0" y="250031"/>
                  </a:cubicBezTo>
                  <a:lnTo>
                    <a:pt x="0" y="125016"/>
                  </a:lnTo>
                  <a:cubicBezTo>
                    <a:pt x="0" y="105315"/>
                    <a:pt x="16018" y="89297"/>
                    <a:pt x="35719" y="89297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E994BB1F-F0DA-4B16-893D-1D4579CB88A3}"/>
              </a:ext>
            </a:extLst>
          </p:cNvPr>
          <p:cNvGrpSpPr/>
          <p:nvPr/>
        </p:nvGrpSpPr>
        <p:grpSpPr>
          <a:xfrm>
            <a:off x="367229" y="367229"/>
            <a:ext cx="4847422" cy="516460"/>
            <a:chOff x="367229" y="367229"/>
            <a:chExt cx="4847422" cy="516460"/>
          </a:xfrm>
        </p:grpSpPr>
        <p:sp>
          <p:nvSpPr>
            <p:cNvPr id="2" name="Shape 0"/>
            <p:cNvSpPr/>
            <p:nvPr/>
          </p:nvSpPr>
          <p:spPr>
            <a:xfrm>
              <a:off x="367229" y="367229"/>
              <a:ext cx="514120" cy="514120"/>
            </a:xfrm>
            <a:custGeom>
              <a:avLst/>
              <a:gdLst/>
              <a:ahLst/>
              <a:cxnLst/>
              <a:rect l="l" t="t" r="r" b="b"/>
              <a:pathLst>
                <a:path w="514120" h="514120">
                  <a:moveTo>
                    <a:pt x="110171" y="0"/>
                  </a:moveTo>
                  <a:lnTo>
                    <a:pt x="403950" y="0"/>
                  </a:lnTo>
                  <a:cubicBezTo>
                    <a:pt x="464755" y="0"/>
                    <a:pt x="514120" y="49366"/>
                    <a:pt x="514120" y="110171"/>
                  </a:cubicBezTo>
                  <a:lnTo>
                    <a:pt x="514120" y="403950"/>
                  </a:lnTo>
                  <a:cubicBezTo>
                    <a:pt x="514120" y="464795"/>
                    <a:pt x="464795" y="514120"/>
                    <a:pt x="403950" y="514120"/>
                  </a:cubicBezTo>
                  <a:lnTo>
                    <a:pt x="110171" y="514120"/>
                  </a:lnTo>
                  <a:cubicBezTo>
                    <a:pt x="49366" y="514120"/>
                    <a:pt x="0" y="464755"/>
                    <a:pt x="0" y="403950"/>
                  </a:cubicBezTo>
                  <a:lnTo>
                    <a:pt x="0" y="110171"/>
                  </a:lnTo>
                  <a:cubicBezTo>
                    <a:pt x="0" y="49325"/>
                    <a:pt x="49325" y="0"/>
                    <a:pt x="110171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14120" y="514120"/>
              <a:ext cx="220337" cy="220337"/>
            </a:xfrm>
            <a:custGeom>
              <a:avLst/>
              <a:gdLst/>
              <a:ahLst/>
              <a:cxnLst/>
              <a:rect l="l" t="t" r="r" b="b"/>
              <a:pathLst>
                <a:path w="220337" h="220337">
                  <a:moveTo>
                    <a:pt x="27542" y="13771"/>
                  </a:moveTo>
                  <a:cubicBezTo>
                    <a:pt x="12351" y="13771"/>
                    <a:pt x="0" y="26122"/>
                    <a:pt x="0" y="41313"/>
                  </a:cubicBezTo>
                  <a:lnTo>
                    <a:pt x="0" y="151482"/>
                  </a:lnTo>
                  <a:cubicBezTo>
                    <a:pt x="0" y="166673"/>
                    <a:pt x="12351" y="179024"/>
                    <a:pt x="27542" y="179024"/>
                  </a:cubicBezTo>
                  <a:lnTo>
                    <a:pt x="89512" y="179024"/>
                  </a:lnTo>
                  <a:lnTo>
                    <a:pt x="82627" y="199681"/>
                  </a:lnTo>
                  <a:lnTo>
                    <a:pt x="51642" y="199681"/>
                  </a:lnTo>
                  <a:cubicBezTo>
                    <a:pt x="45918" y="199681"/>
                    <a:pt x="41313" y="204285"/>
                    <a:pt x="41313" y="210009"/>
                  </a:cubicBezTo>
                  <a:cubicBezTo>
                    <a:pt x="41313" y="215733"/>
                    <a:pt x="45918" y="220337"/>
                    <a:pt x="51642" y="220337"/>
                  </a:cubicBezTo>
                  <a:lnTo>
                    <a:pt x="168696" y="220337"/>
                  </a:lnTo>
                  <a:cubicBezTo>
                    <a:pt x="174419" y="220337"/>
                    <a:pt x="179024" y="215733"/>
                    <a:pt x="179024" y="210009"/>
                  </a:cubicBezTo>
                  <a:cubicBezTo>
                    <a:pt x="179024" y="204285"/>
                    <a:pt x="174419" y="199681"/>
                    <a:pt x="168696" y="199681"/>
                  </a:cubicBezTo>
                  <a:lnTo>
                    <a:pt x="137711" y="199681"/>
                  </a:lnTo>
                  <a:lnTo>
                    <a:pt x="130825" y="179024"/>
                  </a:lnTo>
                  <a:lnTo>
                    <a:pt x="192795" y="179024"/>
                  </a:lnTo>
                  <a:cubicBezTo>
                    <a:pt x="207986" y="179024"/>
                    <a:pt x="220337" y="166673"/>
                    <a:pt x="220337" y="151482"/>
                  </a:cubicBezTo>
                  <a:lnTo>
                    <a:pt x="220337" y="41313"/>
                  </a:lnTo>
                  <a:cubicBezTo>
                    <a:pt x="220337" y="26122"/>
                    <a:pt x="207986" y="13771"/>
                    <a:pt x="192795" y="13771"/>
                  </a:cubicBezTo>
                  <a:lnTo>
                    <a:pt x="27542" y="13771"/>
                  </a:lnTo>
                  <a:close/>
                  <a:moveTo>
                    <a:pt x="41313" y="41313"/>
                  </a:moveTo>
                  <a:lnTo>
                    <a:pt x="179024" y="41313"/>
                  </a:lnTo>
                  <a:cubicBezTo>
                    <a:pt x="186641" y="41313"/>
                    <a:pt x="192795" y="47467"/>
                    <a:pt x="192795" y="55084"/>
                  </a:cubicBezTo>
                  <a:lnTo>
                    <a:pt x="192795" y="123940"/>
                  </a:lnTo>
                  <a:cubicBezTo>
                    <a:pt x="192795" y="131557"/>
                    <a:pt x="186641" y="137711"/>
                    <a:pt x="179024" y="137711"/>
                  </a:cubicBezTo>
                  <a:lnTo>
                    <a:pt x="41313" y="137711"/>
                  </a:lnTo>
                  <a:cubicBezTo>
                    <a:pt x="33696" y="137711"/>
                    <a:pt x="27542" y="131557"/>
                    <a:pt x="27542" y="123940"/>
                  </a:cubicBezTo>
                  <a:lnTo>
                    <a:pt x="27542" y="55084"/>
                  </a:lnTo>
                  <a:cubicBezTo>
                    <a:pt x="27542" y="47467"/>
                    <a:pt x="33696" y="41313"/>
                    <a:pt x="41313" y="4131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28241" y="385590"/>
              <a:ext cx="4186410" cy="367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602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Интерфейс пользователя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52819" y="837970"/>
              <a:ext cx="4425109" cy="45719"/>
            </a:xfrm>
            <a:custGeom>
              <a:avLst/>
              <a:gdLst/>
              <a:ahLst/>
              <a:cxnLst/>
              <a:rect l="l" t="t" r="r" b="b"/>
              <a:pathLst>
                <a:path w="881349" h="36723">
                  <a:moveTo>
                    <a:pt x="0" y="0"/>
                  </a:moveTo>
                  <a:lnTo>
                    <a:pt x="881349" y="0"/>
                  </a:lnTo>
                  <a:lnTo>
                    <a:pt x="881349" y="36723"/>
                  </a:lnTo>
                  <a:lnTo>
                    <a:pt x="0" y="36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1A8EB13B-F37C-40D7-9C25-006269121636}"/>
              </a:ext>
            </a:extLst>
          </p:cNvPr>
          <p:cNvGrpSpPr/>
          <p:nvPr/>
        </p:nvGrpSpPr>
        <p:grpSpPr>
          <a:xfrm>
            <a:off x="367229" y="977747"/>
            <a:ext cx="5618602" cy="5756313"/>
            <a:chOff x="367229" y="1101687"/>
            <a:chExt cx="5618602" cy="5756313"/>
          </a:xfrm>
        </p:grpSpPr>
        <p:sp>
          <p:nvSpPr>
            <p:cNvPr id="6" name="Shape 4"/>
            <p:cNvSpPr/>
            <p:nvPr/>
          </p:nvSpPr>
          <p:spPr>
            <a:xfrm>
              <a:off x="367229" y="1101687"/>
              <a:ext cx="5618602" cy="5756313"/>
            </a:xfrm>
            <a:custGeom>
              <a:avLst/>
              <a:gdLst/>
              <a:ahLst/>
              <a:cxnLst/>
              <a:rect l="l" t="t" r="r" b="b"/>
              <a:pathLst>
                <a:path w="5618602" h="5756313">
                  <a:moveTo>
                    <a:pt x="146870" y="0"/>
                  </a:moveTo>
                  <a:lnTo>
                    <a:pt x="5471732" y="0"/>
                  </a:lnTo>
                  <a:cubicBezTo>
                    <a:pt x="5552846" y="0"/>
                    <a:pt x="5618602" y="65756"/>
                    <a:pt x="5618602" y="146870"/>
                  </a:cubicBezTo>
                  <a:lnTo>
                    <a:pt x="5618602" y="5609443"/>
                  </a:lnTo>
                  <a:cubicBezTo>
                    <a:pt x="5618602" y="5690557"/>
                    <a:pt x="5552846" y="5756313"/>
                    <a:pt x="5471732" y="5756313"/>
                  </a:cubicBezTo>
                  <a:lnTo>
                    <a:pt x="146870" y="5756313"/>
                  </a:lnTo>
                  <a:cubicBezTo>
                    <a:pt x="65756" y="5756313"/>
                    <a:pt x="0" y="5690557"/>
                    <a:pt x="0" y="5609443"/>
                  </a:cubicBezTo>
                  <a:lnTo>
                    <a:pt x="0" y="146870"/>
                  </a:lnTo>
                  <a:cubicBezTo>
                    <a:pt x="0" y="65756"/>
                    <a:pt x="65756" y="0"/>
                    <a:pt x="146870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587566" y="1322024"/>
              <a:ext cx="5177928" cy="5315639"/>
            </a:xfrm>
            <a:custGeom>
              <a:avLst/>
              <a:gdLst/>
              <a:ahLst/>
              <a:cxnLst/>
              <a:rect l="l" t="t" r="r" b="b"/>
              <a:pathLst>
                <a:path w="5177928" h="5315639">
                  <a:moveTo>
                    <a:pt x="110186" y="0"/>
                  </a:moveTo>
                  <a:lnTo>
                    <a:pt x="5067741" y="0"/>
                  </a:lnTo>
                  <a:cubicBezTo>
                    <a:pt x="5128596" y="0"/>
                    <a:pt x="5177928" y="49332"/>
                    <a:pt x="5177928" y="110186"/>
                  </a:cubicBezTo>
                  <a:lnTo>
                    <a:pt x="5177928" y="5205452"/>
                  </a:lnTo>
                  <a:cubicBezTo>
                    <a:pt x="5177928" y="5266306"/>
                    <a:pt x="5128596" y="5315639"/>
                    <a:pt x="5067741" y="5315639"/>
                  </a:cubicBezTo>
                  <a:lnTo>
                    <a:pt x="110186" y="5315639"/>
                  </a:lnTo>
                  <a:cubicBezTo>
                    <a:pt x="49332" y="5315639"/>
                    <a:pt x="0" y="5266306"/>
                    <a:pt x="0" y="5205452"/>
                  </a:cubicBezTo>
                  <a:lnTo>
                    <a:pt x="0" y="110186"/>
                  </a:lnTo>
                  <a:cubicBezTo>
                    <a:pt x="0" y="49332"/>
                    <a:pt x="49332" y="0"/>
                    <a:pt x="110186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587566" y="1322024"/>
              <a:ext cx="5177928" cy="440675"/>
            </a:xfrm>
            <a:custGeom>
              <a:avLst/>
              <a:gdLst/>
              <a:ahLst/>
              <a:cxnLst/>
              <a:rect l="l" t="t" r="r" b="b"/>
              <a:pathLst>
                <a:path w="5177928" h="440675">
                  <a:moveTo>
                    <a:pt x="0" y="0"/>
                  </a:moveTo>
                  <a:lnTo>
                    <a:pt x="5177928" y="0"/>
                  </a:lnTo>
                  <a:lnTo>
                    <a:pt x="5177928" y="440675"/>
                  </a:lnTo>
                  <a:lnTo>
                    <a:pt x="0" y="440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697735" y="1468916"/>
              <a:ext cx="183614" cy="146892"/>
            </a:xfrm>
            <a:custGeom>
              <a:avLst/>
              <a:gdLst/>
              <a:ahLst/>
              <a:cxnLst/>
              <a:rect l="l" t="t" r="r" b="b"/>
              <a:pathLst>
                <a:path w="183614" h="146892">
                  <a:moveTo>
                    <a:pt x="100988" y="0"/>
                  </a:moveTo>
                  <a:cubicBezTo>
                    <a:pt x="100988" y="-5078"/>
                    <a:pt x="96885" y="-9181"/>
                    <a:pt x="91807" y="-9181"/>
                  </a:cubicBezTo>
                  <a:cubicBezTo>
                    <a:pt x="86729" y="-9181"/>
                    <a:pt x="82627" y="-5078"/>
                    <a:pt x="82627" y="0"/>
                  </a:cubicBezTo>
                  <a:lnTo>
                    <a:pt x="82627" y="18361"/>
                  </a:lnTo>
                  <a:lnTo>
                    <a:pt x="55084" y="18361"/>
                  </a:lnTo>
                  <a:cubicBezTo>
                    <a:pt x="39879" y="18361"/>
                    <a:pt x="27542" y="30698"/>
                    <a:pt x="27542" y="45904"/>
                  </a:cubicBezTo>
                  <a:lnTo>
                    <a:pt x="27542" y="110169"/>
                  </a:lnTo>
                  <a:cubicBezTo>
                    <a:pt x="27542" y="125374"/>
                    <a:pt x="39879" y="137711"/>
                    <a:pt x="55084" y="137711"/>
                  </a:cubicBezTo>
                  <a:lnTo>
                    <a:pt x="128530" y="137711"/>
                  </a:lnTo>
                  <a:cubicBezTo>
                    <a:pt x="143736" y="137711"/>
                    <a:pt x="156072" y="125374"/>
                    <a:pt x="156072" y="110169"/>
                  </a:cubicBezTo>
                  <a:lnTo>
                    <a:pt x="156072" y="45904"/>
                  </a:lnTo>
                  <a:cubicBezTo>
                    <a:pt x="156072" y="30698"/>
                    <a:pt x="143736" y="18361"/>
                    <a:pt x="128530" y="18361"/>
                  </a:cubicBezTo>
                  <a:lnTo>
                    <a:pt x="100988" y="18361"/>
                  </a:lnTo>
                  <a:lnTo>
                    <a:pt x="100988" y="0"/>
                  </a:lnTo>
                  <a:close/>
                  <a:moveTo>
                    <a:pt x="45904" y="105578"/>
                  </a:moveTo>
                  <a:cubicBezTo>
                    <a:pt x="45904" y="101763"/>
                    <a:pt x="48973" y="98693"/>
                    <a:pt x="52789" y="98693"/>
                  </a:cubicBezTo>
                  <a:lnTo>
                    <a:pt x="61970" y="98693"/>
                  </a:lnTo>
                  <a:cubicBezTo>
                    <a:pt x="65786" y="98693"/>
                    <a:pt x="68855" y="101763"/>
                    <a:pt x="68855" y="105578"/>
                  </a:cubicBezTo>
                  <a:cubicBezTo>
                    <a:pt x="68855" y="109394"/>
                    <a:pt x="65786" y="112464"/>
                    <a:pt x="61970" y="112464"/>
                  </a:cubicBezTo>
                  <a:lnTo>
                    <a:pt x="52789" y="112464"/>
                  </a:lnTo>
                  <a:cubicBezTo>
                    <a:pt x="48973" y="112464"/>
                    <a:pt x="45904" y="109394"/>
                    <a:pt x="45904" y="105578"/>
                  </a:cubicBezTo>
                  <a:close/>
                  <a:moveTo>
                    <a:pt x="80331" y="105578"/>
                  </a:moveTo>
                  <a:cubicBezTo>
                    <a:pt x="80331" y="101763"/>
                    <a:pt x="83401" y="98693"/>
                    <a:pt x="87217" y="98693"/>
                  </a:cubicBezTo>
                  <a:lnTo>
                    <a:pt x="96398" y="98693"/>
                  </a:lnTo>
                  <a:cubicBezTo>
                    <a:pt x="100213" y="98693"/>
                    <a:pt x="103283" y="101763"/>
                    <a:pt x="103283" y="105578"/>
                  </a:cubicBezTo>
                  <a:cubicBezTo>
                    <a:pt x="103283" y="109394"/>
                    <a:pt x="100213" y="112464"/>
                    <a:pt x="96398" y="112464"/>
                  </a:cubicBezTo>
                  <a:lnTo>
                    <a:pt x="87217" y="112464"/>
                  </a:lnTo>
                  <a:cubicBezTo>
                    <a:pt x="83401" y="112464"/>
                    <a:pt x="80331" y="109394"/>
                    <a:pt x="80331" y="105578"/>
                  </a:cubicBezTo>
                  <a:close/>
                  <a:moveTo>
                    <a:pt x="114759" y="105578"/>
                  </a:moveTo>
                  <a:cubicBezTo>
                    <a:pt x="114759" y="101763"/>
                    <a:pt x="117829" y="98693"/>
                    <a:pt x="121645" y="98693"/>
                  </a:cubicBezTo>
                  <a:lnTo>
                    <a:pt x="130825" y="98693"/>
                  </a:lnTo>
                  <a:cubicBezTo>
                    <a:pt x="134641" y="98693"/>
                    <a:pt x="137711" y="101763"/>
                    <a:pt x="137711" y="105578"/>
                  </a:cubicBezTo>
                  <a:cubicBezTo>
                    <a:pt x="137711" y="109394"/>
                    <a:pt x="134641" y="112464"/>
                    <a:pt x="130825" y="112464"/>
                  </a:cubicBezTo>
                  <a:lnTo>
                    <a:pt x="121645" y="112464"/>
                  </a:lnTo>
                  <a:cubicBezTo>
                    <a:pt x="117829" y="112464"/>
                    <a:pt x="114759" y="109394"/>
                    <a:pt x="114759" y="105578"/>
                  </a:cubicBezTo>
                  <a:close/>
                  <a:moveTo>
                    <a:pt x="64265" y="50494"/>
                  </a:moveTo>
                  <a:cubicBezTo>
                    <a:pt x="71866" y="50494"/>
                    <a:pt x="78036" y="56665"/>
                    <a:pt x="78036" y="64265"/>
                  </a:cubicBezTo>
                  <a:cubicBezTo>
                    <a:pt x="78036" y="71866"/>
                    <a:pt x="71866" y="78036"/>
                    <a:pt x="64265" y="78036"/>
                  </a:cubicBezTo>
                  <a:cubicBezTo>
                    <a:pt x="56665" y="78036"/>
                    <a:pt x="50494" y="71866"/>
                    <a:pt x="50494" y="64265"/>
                  </a:cubicBezTo>
                  <a:cubicBezTo>
                    <a:pt x="50494" y="56665"/>
                    <a:pt x="56665" y="50494"/>
                    <a:pt x="64265" y="50494"/>
                  </a:cubicBezTo>
                  <a:close/>
                  <a:moveTo>
                    <a:pt x="105578" y="64265"/>
                  </a:moveTo>
                  <a:cubicBezTo>
                    <a:pt x="105578" y="56665"/>
                    <a:pt x="111749" y="50494"/>
                    <a:pt x="119349" y="50494"/>
                  </a:cubicBezTo>
                  <a:cubicBezTo>
                    <a:pt x="126950" y="50494"/>
                    <a:pt x="133120" y="56665"/>
                    <a:pt x="133120" y="64265"/>
                  </a:cubicBezTo>
                  <a:cubicBezTo>
                    <a:pt x="133120" y="71866"/>
                    <a:pt x="126950" y="78036"/>
                    <a:pt x="119349" y="78036"/>
                  </a:cubicBezTo>
                  <a:cubicBezTo>
                    <a:pt x="111749" y="78036"/>
                    <a:pt x="105578" y="71866"/>
                    <a:pt x="105578" y="64265"/>
                  </a:cubicBezTo>
                  <a:close/>
                  <a:moveTo>
                    <a:pt x="18361" y="64265"/>
                  </a:moveTo>
                  <a:cubicBezTo>
                    <a:pt x="18361" y="59187"/>
                    <a:pt x="14259" y="55084"/>
                    <a:pt x="9181" y="55084"/>
                  </a:cubicBezTo>
                  <a:cubicBezTo>
                    <a:pt x="4103" y="55084"/>
                    <a:pt x="0" y="59187"/>
                    <a:pt x="0" y="64265"/>
                  </a:cubicBezTo>
                  <a:lnTo>
                    <a:pt x="0" y="91807"/>
                  </a:lnTo>
                  <a:cubicBezTo>
                    <a:pt x="0" y="96885"/>
                    <a:pt x="4103" y="100988"/>
                    <a:pt x="9181" y="100988"/>
                  </a:cubicBezTo>
                  <a:cubicBezTo>
                    <a:pt x="14259" y="100988"/>
                    <a:pt x="18361" y="96885"/>
                    <a:pt x="18361" y="91807"/>
                  </a:cubicBezTo>
                  <a:lnTo>
                    <a:pt x="18361" y="64265"/>
                  </a:lnTo>
                  <a:close/>
                  <a:moveTo>
                    <a:pt x="174434" y="55084"/>
                  </a:moveTo>
                  <a:cubicBezTo>
                    <a:pt x="169356" y="55084"/>
                    <a:pt x="165253" y="59187"/>
                    <a:pt x="165253" y="64265"/>
                  </a:cubicBezTo>
                  <a:lnTo>
                    <a:pt x="165253" y="91807"/>
                  </a:lnTo>
                  <a:cubicBezTo>
                    <a:pt x="165253" y="96885"/>
                    <a:pt x="169356" y="100988"/>
                    <a:pt x="174434" y="100988"/>
                  </a:cubicBezTo>
                  <a:cubicBezTo>
                    <a:pt x="179512" y="100988"/>
                    <a:pt x="183614" y="96885"/>
                    <a:pt x="183614" y="91807"/>
                  </a:cubicBezTo>
                  <a:lnTo>
                    <a:pt x="183614" y="64265"/>
                  </a:lnTo>
                  <a:cubicBezTo>
                    <a:pt x="183614" y="59187"/>
                    <a:pt x="179512" y="55084"/>
                    <a:pt x="174434" y="55084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954795" y="1432193"/>
              <a:ext cx="135874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ИИ-Ассистент 1С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177928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FF6467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5361542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FDC70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5545157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05DF72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401917" y="1909590"/>
              <a:ext cx="2212554" cy="403952"/>
            </a:xfrm>
            <a:custGeom>
              <a:avLst/>
              <a:gdLst/>
              <a:ahLst/>
              <a:cxnLst/>
              <a:rect l="l" t="t" r="r" b="b"/>
              <a:pathLst>
                <a:path w="2212554" h="403952">
                  <a:moveTo>
                    <a:pt x="110170" y="0"/>
                  </a:moveTo>
                  <a:lnTo>
                    <a:pt x="2175831" y="0"/>
                  </a:lnTo>
                  <a:cubicBezTo>
                    <a:pt x="2196113" y="0"/>
                    <a:pt x="2212554" y="16442"/>
                    <a:pt x="2212554" y="36723"/>
                  </a:cubicBezTo>
                  <a:lnTo>
                    <a:pt x="2212554" y="293782"/>
                  </a:lnTo>
                  <a:cubicBezTo>
                    <a:pt x="2212554" y="354586"/>
                    <a:pt x="2163189" y="403952"/>
                    <a:pt x="2102384" y="403952"/>
                  </a:cubicBezTo>
                  <a:lnTo>
                    <a:pt x="110170" y="403952"/>
                  </a:lnTo>
                  <a:cubicBezTo>
                    <a:pt x="49325" y="403952"/>
                    <a:pt x="0" y="354627"/>
                    <a:pt x="0" y="293782"/>
                  </a:cubicBezTo>
                  <a:lnTo>
                    <a:pt x="0" y="110170"/>
                  </a:lnTo>
                  <a:cubicBezTo>
                    <a:pt x="0" y="49365"/>
                    <a:pt x="49365" y="0"/>
                    <a:pt x="11017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512085" y="2019759"/>
              <a:ext cx="205648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Покажи реализации за сентябрь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34458" y="2423711"/>
              <a:ext cx="2864386" cy="1432193"/>
            </a:xfrm>
            <a:custGeom>
              <a:avLst/>
              <a:gdLst/>
              <a:ahLst/>
              <a:cxnLst/>
              <a:rect l="l" t="t" r="r" b="b"/>
              <a:pathLst>
                <a:path w="2864386" h="1432193">
                  <a:moveTo>
                    <a:pt x="36721" y="0"/>
                  </a:moveTo>
                  <a:lnTo>
                    <a:pt x="2754221" y="0"/>
                  </a:lnTo>
                  <a:cubicBezTo>
                    <a:pt x="2815063" y="0"/>
                    <a:pt x="2864386" y="49322"/>
                    <a:pt x="2864386" y="110164"/>
                  </a:cubicBezTo>
                  <a:lnTo>
                    <a:pt x="2864386" y="1322029"/>
                  </a:lnTo>
                  <a:cubicBezTo>
                    <a:pt x="2864386" y="1382871"/>
                    <a:pt x="2815063" y="1432193"/>
                    <a:pt x="2754221" y="1432193"/>
                  </a:cubicBezTo>
                  <a:lnTo>
                    <a:pt x="110164" y="1432193"/>
                  </a:lnTo>
                  <a:cubicBezTo>
                    <a:pt x="49363" y="1432193"/>
                    <a:pt x="0" y="1382830"/>
                    <a:pt x="0" y="1322029"/>
                  </a:cubicBezTo>
                  <a:lnTo>
                    <a:pt x="0" y="36721"/>
                  </a:lnTo>
                  <a:cubicBezTo>
                    <a:pt x="0" y="16454"/>
                    <a:pt x="16454" y="0"/>
                    <a:pt x="3672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844627" y="2533880"/>
              <a:ext cx="2708313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Нашел 15 реализаций за сентябрь 2026: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844627" y="2790940"/>
              <a:ext cx="2644048" cy="661012"/>
            </a:xfrm>
            <a:custGeom>
              <a:avLst/>
              <a:gdLst/>
              <a:ahLst/>
              <a:cxnLst/>
              <a:rect l="l" t="t" r="r" b="b"/>
              <a:pathLst>
                <a:path w="2644048" h="661012">
                  <a:moveTo>
                    <a:pt x="73445" y="0"/>
                  </a:moveTo>
                  <a:lnTo>
                    <a:pt x="2570603" y="0"/>
                  </a:lnTo>
                  <a:cubicBezTo>
                    <a:pt x="2611166" y="0"/>
                    <a:pt x="2644048" y="32882"/>
                    <a:pt x="2644048" y="73445"/>
                  </a:cubicBezTo>
                  <a:lnTo>
                    <a:pt x="2644048" y="587567"/>
                  </a:lnTo>
                  <a:cubicBezTo>
                    <a:pt x="2644048" y="628130"/>
                    <a:pt x="2611166" y="661012"/>
                    <a:pt x="2570603" y="661012"/>
                  </a:cubicBezTo>
                  <a:lnTo>
                    <a:pt x="73445" y="661012"/>
                  </a:lnTo>
                  <a:cubicBezTo>
                    <a:pt x="32882" y="661012"/>
                    <a:pt x="0" y="628130"/>
                    <a:pt x="0" y="587567"/>
                  </a:cubicBezTo>
                  <a:lnTo>
                    <a:pt x="0" y="73445"/>
                  </a:lnTo>
                  <a:cubicBezTo>
                    <a:pt x="0" y="32910"/>
                    <a:pt x="32910" y="0"/>
                    <a:pt x="73445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918072" y="2864386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Реализация №124 от 05.09 — ООО Ромашка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918072" y="3048000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Реализация №125 от 12.09 — ИП Иванов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918072" y="3231614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... и еще 13 документов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844627" y="3525398"/>
              <a:ext cx="1120048" cy="220337"/>
            </a:xfrm>
            <a:custGeom>
              <a:avLst/>
              <a:gdLst/>
              <a:ahLst/>
              <a:cxnLst/>
              <a:rect l="l" t="t" r="r" b="b"/>
              <a:pathLst>
                <a:path w="1120048" h="220337">
                  <a:moveTo>
                    <a:pt x="36724" y="0"/>
                  </a:moveTo>
                  <a:lnTo>
                    <a:pt x="1083325" y="0"/>
                  </a:lnTo>
                  <a:cubicBezTo>
                    <a:pt x="1103593" y="0"/>
                    <a:pt x="1120048" y="16455"/>
                    <a:pt x="1120048" y="36724"/>
                  </a:cubicBezTo>
                  <a:lnTo>
                    <a:pt x="1120048" y="183614"/>
                  </a:lnTo>
                  <a:cubicBezTo>
                    <a:pt x="1120048" y="203896"/>
                    <a:pt x="1103606" y="220337"/>
                    <a:pt x="1083325" y="220337"/>
                  </a:cubicBezTo>
                  <a:lnTo>
                    <a:pt x="36724" y="220337"/>
                  </a:lnTo>
                  <a:cubicBezTo>
                    <a:pt x="16455" y="220337"/>
                    <a:pt x="0" y="203882"/>
                    <a:pt x="0" y="183614"/>
                  </a:cubicBezTo>
                  <a:lnTo>
                    <a:pt x="0" y="36724"/>
                  </a:lnTo>
                  <a:cubicBezTo>
                    <a:pt x="0" y="16442"/>
                    <a:pt x="16442" y="0"/>
                    <a:pt x="3672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817084" y="3525398"/>
              <a:ext cx="1175133" cy="220337"/>
            </a:xfrm>
            <a:prstGeom prst="rect">
              <a:avLst/>
            </a:prstGeom>
            <a:noFill/>
            <a:ln/>
          </p:spPr>
          <p:txBody>
            <a:bodyPr wrap="square" lIns="110169" tIns="36723" rIns="110169" bIns="36723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Открыть список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040722" y="3525398"/>
              <a:ext cx="615108" cy="220337"/>
            </a:xfrm>
            <a:custGeom>
              <a:avLst/>
              <a:gdLst/>
              <a:ahLst/>
              <a:cxnLst/>
              <a:rect l="l" t="t" r="r" b="b"/>
              <a:pathLst>
                <a:path w="615108" h="220337">
                  <a:moveTo>
                    <a:pt x="36724" y="0"/>
                  </a:moveTo>
                  <a:lnTo>
                    <a:pt x="578385" y="0"/>
                  </a:lnTo>
                  <a:cubicBezTo>
                    <a:pt x="598653" y="0"/>
                    <a:pt x="615108" y="16455"/>
                    <a:pt x="615108" y="36724"/>
                  </a:cubicBezTo>
                  <a:lnTo>
                    <a:pt x="615108" y="183614"/>
                  </a:lnTo>
                  <a:cubicBezTo>
                    <a:pt x="615108" y="203896"/>
                    <a:pt x="598667" y="220337"/>
                    <a:pt x="578385" y="220337"/>
                  </a:cubicBezTo>
                  <a:lnTo>
                    <a:pt x="36724" y="220337"/>
                  </a:lnTo>
                  <a:cubicBezTo>
                    <a:pt x="16455" y="220337"/>
                    <a:pt x="0" y="203882"/>
                    <a:pt x="0" y="183614"/>
                  </a:cubicBezTo>
                  <a:lnTo>
                    <a:pt x="0" y="36724"/>
                  </a:lnTo>
                  <a:cubicBezTo>
                    <a:pt x="0" y="16442"/>
                    <a:pt x="16442" y="0"/>
                    <a:pt x="3672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2013180" y="3525398"/>
              <a:ext cx="670193" cy="220337"/>
            </a:xfrm>
            <a:prstGeom prst="rect">
              <a:avLst/>
            </a:prstGeom>
            <a:noFill/>
            <a:ln/>
          </p:spPr>
          <p:txBody>
            <a:bodyPr wrap="square" lIns="110169" tIns="36723" rIns="110169" bIns="36723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Фильтр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892081" y="3966072"/>
              <a:ext cx="2726675" cy="403952"/>
            </a:xfrm>
            <a:custGeom>
              <a:avLst/>
              <a:gdLst/>
              <a:ahLst/>
              <a:cxnLst/>
              <a:rect l="l" t="t" r="r" b="b"/>
              <a:pathLst>
                <a:path w="2726675" h="403952">
                  <a:moveTo>
                    <a:pt x="110170" y="0"/>
                  </a:moveTo>
                  <a:lnTo>
                    <a:pt x="2689951" y="0"/>
                  </a:lnTo>
                  <a:cubicBezTo>
                    <a:pt x="2710233" y="0"/>
                    <a:pt x="2726675" y="16442"/>
                    <a:pt x="2726675" y="36723"/>
                  </a:cubicBezTo>
                  <a:lnTo>
                    <a:pt x="2726675" y="293782"/>
                  </a:lnTo>
                  <a:cubicBezTo>
                    <a:pt x="2726675" y="354586"/>
                    <a:pt x="2677309" y="403952"/>
                    <a:pt x="2616505" y="403952"/>
                  </a:cubicBezTo>
                  <a:lnTo>
                    <a:pt x="110170" y="403952"/>
                  </a:lnTo>
                  <a:cubicBezTo>
                    <a:pt x="49325" y="403952"/>
                    <a:pt x="0" y="354627"/>
                    <a:pt x="0" y="293782"/>
                  </a:cubicBezTo>
                  <a:lnTo>
                    <a:pt x="0" y="110170"/>
                  </a:lnTo>
                  <a:cubicBezTo>
                    <a:pt x="0" y="49365"/>
                    <a:pt x="49365" y="0"/>
                    <a:pt x="11017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002249" y="4076241"/>
              <a:ext cx="257060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Сколько осталось товара "Ноутбук Dell"?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34458" y="4480193"/>
              <a:ext cx="2084024" cy="1101687"/>
            </a:xfrm>
            <a:custGeom>
              <a:avLst/>
              <a:gdLst/>
              <a:ahLst/>
              <a:cxnLst/>
              <a:rect l="l" t="t" r="r" b="b"/>
              <a:pathLst>
                <a:path w="2084024" h="1101687">
                  <a:moveTo>
                    <a:pt x="36719" y="0"/>
                  </a:moveTo>
                  <a:lnTo>
                    <a:pt x="1973855" y="0"/>
                  </a:lnTo>
                  <a:cubicBezTo>
                    <a:pt x="2034700" y="0"/>
                    <a:pt x="2084024" y="49324"/>
                    <a:pt x="2084024" y="110169"/>
                  </a:cubicBezTo>
                  <a:lnTo>
                    <a:pt x="2084024" y="991518"/>
                  </a:lnTo>
                  <a:cubicBezTo>
                    <a:pt x="2084024" y="1052363"/>
                    <a:pt x="2034700" y="1101687"/>
                    <a:pt x="1973855" y="1101687"/>
                  </a:cubicBezTo>
                  <a:lnTo>
                    <a:pt x="110169" y="1101687"/>
                  </a:lnTo>
                  <a:cubicBezTo>
                    <a:pt x="49324" y="1101687"/>
                    <a:pt x="0" y="1052363"/>
                    <a:pt x="0" y="991518"/>
                  </a:cubicBezTo>
                  <a:lnTo>
                    <a:pt x="0" y="36719"/>
                  </a:lnTo>
                  <a:cubicBezTo>
                    <a:pt x="0" y="16453"/>
                    <a:pt x="16453" y="0"/>
                    <a:pt x="3671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844627" y="4590361"/>
              <a:ext cx="192795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Остаток товара "Ноутбук Dell":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844627" y="4847422"/>
              <a:ext cx="1863687" cy="624289"/>
            </a:xfrm>
            <a:custGeom>
              <a:avLst/>
              <a:gdLst/>
              <a:ahLst/>
              <a:cxnLst/>
              <a:rect l="l" t="t" r="r" b="b"/>
              <a:pathLst>
                <a:path w="1863687" h="624289">
                  <a:moveTo>
                    <a:pt x="73448" y="0"/>
                  </a:moveTo>
                  <a:lnTo>
                    <a:pt x="1790239" y="0"/>
                  </a:lnTo>
                  <a:cubicBezTo>
                    <a:pt x="1830803" y="0"/>
                    <a:pt x="1863687" y="32884"/>
                    <a:pt x="1863687" y="73448"/>
                  </a:cubicBezTo>
                  <a:lnTo>
                    <a:pt x="1863687" y="550842"/>
                  </a:lnTo>
                  <a:cubicBezTo>
                    <a:pt x="1863687" y="591406"/>
                    <a:pt x="1830803" y="624289"/>
                    <a:pt x="1790239" y="624289"/>
                  </a:cubicBezTo>
                  <a:lnTo>
                    <a:pt x="73448" y="624289"/>
                  </a:lnTo>
                  <a:cubicBezTo>
                    <a:pt x="32884" y="624289"/>
                    <a:pt x="0" y="591406"/>
                    <a:pt x="0" y="550842"/>
                  </a:cubicBezTo>
                  <a:lnTo>
                    <a:pt x="0" y="73448"/>
                  </a:lnTo>
                  <a:cubicBezTo>
                    <a:pt x="0" y="32911"/>
                    <a:pt x="32911" y="0"/>
                    <a:pt x="73448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918072" y="4920867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Склад основной:</a:t>
              </a: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25 шт.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918072" y="5067759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Склад резервный:</a:t>
              </a: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8 шт.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918072" y="5251373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Итого:</a:t>
              </a:r>
              <a:r>
                <a:rPr lang="en-US" sz="867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33 шт.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87566" y="5733361"/>
              <a:ext cx="5177928" cy="904301"/>
            </a:xfrm>
            <a:custGeom>
              <a:avLst/>
              <a:gdLst/>
              <a:ahLst/>
              <a:cxnLst/>
              <a:rect l="l" t="t" r="r" b="b"/>
              <a:pathLst>
                <a:path w="5177928" h="904301">
                  <a:moveTo>
                    <a:pt x="0" y="0"/>
                  </a:moveTo>
                  <a:lnTo>
                    <a:pt x="5177928" y="0"/>
                  </a:lnTo>
                  <a:lnTo>
                    <a:pt x="5177928" y="904301"/>
                  </a:lnTo>
                  <a:lnTo>
                    <a:pt x="0" y="904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587566" y="5733361"/>
              <a:ext cx="5177928" cy="9181"/>
            </a:xfrm>
            <a:custGeom>
              <a:avLst/>
              <a:gdLst/>
              <a:ahLst/>
              <a:cxnLst/>
              <a:rect l="l" t="t" r="r" b="b"/>
              <a:pathLst>
                <a:path w="5177928" h="9181">
                  <a:moveTo>
                    <a:pt x="0" y="0"/>
                  </a:moveTo>
                  <a:lnTo>
                    <a:pt x="5177928" y="0"/>
                  </a:lnTo>
                  <a:lnTo>
                    <a:pt x="5177928" y="9181"/>
                  </a:lnTo>
                  <a:lnTo>
                    <a:pt x="0" y="9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702325" y="5861892"/>
              <a:ext cx="4287398" cy="339687"/>
            </a:xfrm>
            <a:custGeom>
              <a:avLst/>
              <a:gdLst/>
              <a:ahLst/>
              <a:cxnLst/>
              <a:rect l="l" t="t" r="r" b="b"/>
              <a:pathLst>
                <a:path w="4287398" h="339687">
                  <a:moveTo>
                    <a:pt x="73447" y="0"/>
                  </a:moveTo>
                  <a:lnTo>
                    <a:pt x="4213951" y="0"/>
                  </a:lnTo>
                  <a:cubicBezTo>
                    <a:pt x="4254487" y="0"/>
                    <a:pt x="4287398" y="32911"/>
                    <a:pt x="4287398" y="73447"/>
                  </a:cubicBezTo>
                  <a:lnTo>
                    <a:pt x="4287398" y="266240"/>
                  </a:lnTo>
                  <a:cubicBezTo>
                    <a:pt x="4287398" y="306803"/>
                    <a:pt x="4254514" y="339687"/>
                    <a:pt x="4213951" y="339687"/>
                  </a:cubicBezTo>
                  <a:lnTo>
                    <a:pt x="73447" y="339687"/>
                  </a:lnTo>
                  <a:cubicBezTo>
                    <a:pt x="32911" y="339687"/>
                    <a:pt x="0" y="306776"/>
                    <a:pt x="0" y="266240"/>
                  </a:cubicBezTo>
                  <a:lnTo>
                    <a:pt x="0" y="73447"/>
                  </a:lnTo>
                  <a:cubicBezTo>
                    <a:pt x="0" y="32911"/>
                    <a:pt x="32911" y="0"/>
                    <a:pt x="73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5288096" y="5848120"/>
              <a:ext cx="367229" cy="367229"/>
            </a:xfrm>
            <a:custGeom>
              <a:avLst/>
              <a:gdLst/>
              <a:ahLst/>
              <a:cxnLst/>
              <a:rect l="l" t="t" r="r" b="b"/>
              <a:pathLst>
                <a:path w="367229" h="367229">
                  <a:moveTo>
                    <a:pt x="73446" y="0"/>
                  </a:moveTo>
                  <a:lnTo>
                    <a:pt x="293783" y="0"/>
                  </a:lnTo>
                  <a:cubicBezTo>
                    <a:pt x="334346" y="0"/>
                    <a:pt x="367229" y="32883"/>
                    <a:pt x="367229" y="73446"/>
                  </a:cubicBezTo>
                  <a:lnTo>
                    <a:pt x="367229" y="293783"/>
                  </a:lnTo>
                  <a:cubicBezTo>
                    <a:pt x="367229" y="334346"/>
                    <a:pt x="334346" y="367229"/>
                    <a:pt x="293783" y="367229"/>
                  </a:cubicBezTo>
                  <a:lnTo>
                    <a:pt x="73446" y="367229"/>
                  </a:lnTo>
                  <a:cubicBezTo>
                    <a:pt x="32883" y="367229"/>
                    <a:pt x="0" y="334346"/>
                    <a:pt x="0" y="293783"/>
                  </a:cubicBezTo>
                  <a:lnTo>
                    <a:pt x="0" y="73446"/>
                  </a:lnTo>
                  <a:cubicBezTo>
                    <a:pt x="0" y="32910"/>
                    <a:pt x="32910" y="0"/>
                    <a:pt x="73446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5389084" y="5958289"/>
              <a:ext cx="165253" cy="146892"/>
            </a:xfrm>
            <a:custGeom>
              <a:avLst/>
              <a:gdLst/>
              <a:ahLst/>
              <a:cxnLst/>
              <a:rect l="l" t="t" r="r" b="b"/>
              <a:pathLst>
                <a:path w="165253" h="146892">
                  <a:moveTo>
                    <a:pt x="153892" y="-7545"/>
                  </a:moveTo>
                  <a:cubicBezTo>
                    <a:pt x="156703" y="-8550"/>
                    <a:pt x="159802" y="-7832"/>
                    <a:pt x="161925" y="-5738"/>
                  </a:cubicBezTo>
                  <a:cubicBezTo>
                    <a:pt x="164048" y="-3644"/>
                    <a:pt x="164737" y="-516"/>
                    <a:pt x="163732" y="2295"/>
                  </a:cubicBezTo>
                  <a:lnTo>
                    <a:pt x="112665" y="144855"/>
                  </a:lnTo>
                  <a:cubicBezTo>
                    <a:pt x="111230" y="148842"/>
                    <a:pt x="107472" y="151482"/>
                    <a:pt x="103254" y="151482"/>
                  </a:cubicBezTo>
                  <a:cubicBezTo>
                    <a:pt x="99180" y="151482"/>
                    <a:pt x="95508" y="149015"/>
                    <a:pt x="93988" y="145256"/>
                  </a:cubicBezTo>
                  <a:lnTo>
                    <a:pt x="75569" y="99926"/>
                  </a:lnTo>
                  <a:cubicBezTo>
                    <a:pt x="74278" y="96771"/>
                    <a:pt x="74852" y="93156"/>
                    <a:pt x="77061" y="90574"/>
                  </a:cubicBezTo>
                  <a:lnTo>
                    <a:pt x="104173" y="58326"/>
                  </a:lnTo>
                  <a:cubicBezTo>
                    <a:pt x="105636" y="56576"/>
                    <a:pt x="105521" y="54023"/>
                    <a:pt x="103914" y="52416"/>
                  </a:cubicBezTo>
                  <a:cubicBezTo>
                    <a:pt x="102308" y="50810"/>
                    <a:pt x="99726" y="50695"/>
                    <a:pt x="98004" y="52158"/>
                  </a:cubicBezTo>
                  <a:lnTo>
                    <a:pt x="65757" y="79212"/>
                  </a:lnTo>
                  <a:cubicBezTo>
                    <a:pt x="63146" y="81393"/>
                    <a:pt x="59560" y="81967"/>
                    <a:pt x="56404" y="80704"/>
                  </a:cubicBezTo>
                  <a:lnTo>
                    <a:pt x="10931" y="62199"/>
                  </a:lnTo>
                  <a:cubicBezTo>
                    <a:pt x="7172" y="60679"/>
                    <a:pt x="4705" y="57007"/>
                    <a:pt x="4705" y="52933"/>
                  </a:cubicBezTo>
                  <a:cubicBezTo>
                    <a:pt x="4705" y="48715"/>
                    <a:pt x="7345" y="44957"/>
                    <a:pt x="11332" y="43522"/>
                  </a:cubicBezTo>
                  <a:lnTo>
                    <a:pt x="153892" y="-754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702325" y="6293386"/>
              <a:ext cx="780361" cy="229518"/>
            </a:xfrm>
            <a:custGeom>
              <a:avLst/>
              <a:gdLst/>
              <a:ahLst/>
              <a:cxnLst/>
              <a:rect l="l" t="t" r="r" b="b"/>
              <a:pathLst>
                <a:path w="780361" h="229518">
                  <a:moveTo>
                    <a:pt x="36723" y="0"/>
                  </a:moveTo>
                  <a:lnTo>
                    <a:pt x="743639" y="0"/>
                  </a:lnTo>
                  <a:cubicBezTo>
                    <a:pt x="763920" y="0"/>
                    <a:pt x="780361" y="16441"/>
                    <a:pt x="780361" y="36723"/>
                  </a:cubicBezTo>
                  <a:lnTo>
                    <a:pt x="780361" y="192795"/>
                  </a:lnTo>
                  <a:cubicBezTo>
                    <a:pt x="780361" y="213077"/>
                    <a:pt x="763920" y="229518"/>
                    <a:pt x="743639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697735" y="6288795"/>
              <a:ext cx="826265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Реализации</a:t>
              </a:r>
              <a:endParaRPr lang="en-US" sz="1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564395" y="6293386"/>
              <a:ext cx="587566" cy="229518"/>
            </a:xfrm>
            <a:custGeom>
              <a:avLst/>
              <a:gdLst/>
              <a:ahLst/>
              <a:cxnLst/>
              <a:rect l="l" t="t" r="r" b="b"/>
              <a:pathLst>
                <a:path w="587566" h="229518">
                  <a:moveTo>
                    <a:pt x="36723" y="0"/>
                  </a:moveTo>
                  <a:lnTo>
                    <a:pt x="550843" y="0"/>
                  </a:lnTo>
                  <a:cubicBezTo>
                    <a:pt x="571125" y="0"/>
                    <a:pt x="587566" y="16441"/>
                    <a:pt x="587566" y="36723"/>
                  </a:cubicBezTo>
                  <a:lnTo>
                    <a:pt x="587566" y="192795"/>
                  </a:lnTo>
                  <a:cubicBezTo>
                    <a:pt x="587566" y="213077"/>
                    <a:pt x="571125" y="229518"/>
                    <a:pt x="550843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1559805" y="6288795"/>
              <a:ext cx="633470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Остатки</a:t>
              </a:r>
              <a:endParaRPr lang="en-US" sz="16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2230151" y="6293386"/>
              <a:ext cx="532482" cy="229518"/>
            </a:xfrm>
            <a:custGeom>
              <a:avLst/>
              <a:gdLst/>
              <a:ahLst/>
              <a:cxnLst/>
              <a:rect l="l" t="t" r="r" b="b"/>
              <a:pathLst>
                <a:path w="532482" h="229518">
                  <a:moveTo>
                    <a:pt x="36723" y="0"/>
                  </a:moveTo>
                  <a:lnTo>
                    <a:pt x="495759" y="0"/>
                  </a:lnTo>
                  <a:cubicBezTo>
                    <a:pt x="516041" y="0"/>
                    <a:pt x="532482" y="16441"/>
                    <a:pt x="532482" y="36723"/>
                  </a:cubicBezTo>
                  <a:lnTo>
                    <a:pt x="532482" y="192795"/>
                  </a:lnTo>
                  <a:cubicBezTo>
                    <a:pt x="532482" y="213077"/>
                    <a:pt x="516041" y="229518"/>
                    <a:pt x="495759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2225560" y="6288795"/>
              <a:ext cx="578386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Заказы</a:t>
              </a:r>
              <a:endParaRPr lang="en-US" sz="1600" dirty="0"/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72B08DF5-670E-46DD-B9A7-A97DFA77160C}"/>
              </a:ext>
            </a:extLst>
          </p:cNvPr>
          <p:cNvGrpSpPr/>
          <p:nvPr/>
        </p:nvGrpSpPr>
        <p:grpSpPr>
          <a:xfrm>
            <a:off x="6261613" y="1279179"/>
            <a:ext cx="5618602" cy="3709012"/>
            <a:chOff x="6261613" y="1279179"/>
            <a:chExt cx="5618602" cy="3709012"/>
          </a:xfrm>
        </p:grpSpPr>
        <p:sp>
          <p:nvSpPr>
            <p:cNvPr id="45" name="Shape 43"/>
            <p:cNvSpPr/>
            <p:nvPr/>
          </p:nvSpPr>
          <p:spPr>
            <a:xfrm>
              <a:off x="6261613" y="1279179"/>
              <a:ext cx="5618602" cy="3709012"/>
            </a:xfrm>
            <a:custGeom>
              <a:avLst/>
              <a:gdLst/>
              <a:ahLst/>
              <a:cxnLst/>
              <a:rect l="l" t="t" r="r" b="b"/>
              <a:pathLst>
                <a:path w="5618602" h="3709012">
                  <a:moveTo>
                    <a:pt x="146877" y="0"/>
                  </a:moveTo>
                  <a:lnTo>
                    <a:pt x="5471726" y="0"/>
                  </a:lnTo>
                  <a:cubicBezTo>
                    <a:pt x="5552843" y="0"/>
                    <a:pt x="5618602" y="65759"/>
                    <a:pt x="5618602" y="146877"/>
                  </a:cubicBezTo>
                  <a:lnTo>
                    <a:pt x="5618602" y="3562135"/>
                  </a:lnTo>
                  <a:cubicBezTo>
                    <a:pt x="5618602" y="3643253"/>
                    <a:pt x="5552843" y="3709012"/>
                    <a:pt x="5471726" y="3709012"/>
                  </a:cubicBezTo>
                  <a:lnTo>
                    <a:pt x="146877" y="3709012"/>
                  </a:lnTo>
                  <a:cubicBezTo>
                    <a:pt x="65759" y="3709012"/>
                    <a:pt x="0" y="3643253"/>
                    <a:pt x="0" y="3562135"/>
                  </a:cubicBezTo>
                  <a:lnTo>
                    <a:pt x="0" y="146877"/>
                  </a:lnTo>
                  <a:cubicBezTo>
                    <a:pt x="0" y="65813"/>
                    <a:pt x="65813" y="0"/>
                    <a:pt x="14687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6445227" y="1462793"/>
              <a:ext cx="5343181" cy="367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Элементы интерфейса</a:t>
              </a:r>
              <a:endParaRPr lang="en-US" sz="24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445227" y="1976914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8" name="Shape 46"/>
            <p:cNvSpPr/>
            <p:nvPr/>
          </p:nvSpPr>
          <p:spPr>
            <a:xfrm>
              <a:off x="6566872" y="2197251"/>
              <a:ext cx="206566" cy="183614"/>
            </a:xfrm>
            <a:custGeom>
              <a:avLst/>
              <a:gdLst/>
              <a:ahLst/>
              <a:cxnLst/>
              <a:rect l="l" t="t" r="r" b="b"/>
              <a:pathLst>
                <a:path w="206566" h="183614">
                  <a:moveTo>
                    <a:pt x="137711" y="51642"/>
                  </a:moveTo>
                  <a:cubicBezTo>
                    <a:pt x="137711" y="86500"/>
                    <a:pt x="106869" y="114759"/>
                    <a:pt x="68855" y="114759"/>
                  </a:cubicBezTo>
                  <a:cubicBezTo>
                    <a:pt x="59280" y="114759"/>
                    <a:pt x="50171" y="112966"/>
                    <a:pt x="41887" y="109738"/>
                  </a:cubicBezTo>
                  <a:lnTo>
                    <a:pt x="12623" y="125231"/>
                  </a:lnTo>
                  <a:cubicBezTo>
                    <a:pt x="9288" y="126988"/>
                    <a:pt x="5200" y="126378"/>
                    <a:pt x="2510" y="123725"/>
                  </a:cubicBezTo>
                  <a:cubicBezTo>
                    <a:pt x="-179" y="121071"/>
                    <a:pt x="-789" y="116947"/>
                    <a:pt x="1004" y="113611"/>
                  </a:cubicBezTo>
                  <a:lnTo>
                    <a:pt x="13771" y="89512"/>
                  </a:lnTo>
                  <a:cubicBezTo>
                    <a:pt x="5128" y="78969"/>
                    <a:pt x="0" y="65843"/>
                    <a:pt x="0" y="51642"/>
                  </a:cubicBezTo>
                  <a:cubicBezTo>
                    <a:pt x="0" y="16784"/>
                    <a:pt x="30841" y="-11476"/>
                    <a:pt x="68855" y="-11476"/>
                  </a:cubicBezTo>
                  <a:cubicBezTo>
                    <a:pt x="106869" y="-11476"/>
                    <a:pt x="137711" y="16784"/>
                    <a:pt x="137711" y="51642"/>
                  </a:cubicBezTo>
                  <a:close/>
                  <a:moveTo>
                    <a:pt x="137711" y="183614"/>
                  </a:moveTo>
                  <a:cubicBezTo>
                    <a:pt x="103965" y="183614"/>
                    <a:pt x="75884" y="161344"/>
                    <a:pt x="70003" y="131973"/>
                  </a:cubicBezTo>
                  <a:cubicBezTo>
                    <a:pt x="113038" y="131435"/>
                    <a:pt x="150442" y="100809"/>
                    <a:pt x="154566" y="59280"/>
                  </a:cubicBezTo>
                  <a:cubicBezTo>
                    <a:pt x="184439" y="66166"/>
                    <a:pt x="206566" y="90947"/>
                    <a:pt x="206566" y="120497"/>
                  </a:cubicBezTo>
                  <a:cubicBezTo>
                    <a:pt x="206566" y="134698"/>
                    <a:pt x="201438" y="147824"/>
                    <a:pt x="192795" y="158367"/>
                  </a:cubicBezTo>
                  <a:lnTo>
                    <a:pt x="205562" y="182467"/>
                  </a:lnTo>
                  <a:cubicBezTo>
                    <a:pt x="207319" y="185802"/>
                    <a:pt x="206710" y="189890"/>
                    <a:pt x="204056" y="192580"/>
                  </a:cubicBezTo>
                  <a:cubicBezTo>
                    <a:pt x="201402" y="195270"/>
                    <a:pt x="197278" y="195879"/>
                    <a:pt x="193943" y="194086"/>
                  </a:cubicBezTo>
                  <a:lnTo>
                    <a:pt x="164679" y="178594"/>
                  </a:lnTo>
                  <a:cubicBezTo>
                    <a:pt x="156395" y="181821"/>
                    <a:pt x="147286" y="183614"/>
                    <a:pt x="137711" y="183614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6895083" y="2087082"/>
              <a:ext cx="2322723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Чат-панель</a:t>
              </a:r>
              <a:endParaRPr lang="en-US" sz="24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895082" y="2307420"/>
              <a:ext cx="3950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Естественный диалог с ассистентом</a:t>
              </a:r>
              <a:endParaRPr lang="en-US" sz="24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445227" y="2711372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6589824" y="2931709"/>
              <a:ext cx="160663" cy="183614"/>
            </a:xfrm>
            <a:custGeom>
              <a:avLst/>
              <a:gdLst/>
              <a:ahLst/>
              <a:cxnLst/>
              <a:rect l="l" t="t" r="r" b="b"/>
              <a:pathLst>
                <a:path w="160663" h="183614">
                  <a:moveTo>
                    <a:pt x="121501" y="-3550"/>
                  </a:moveTo>
                  <a:cubicBezTo>
                    <a:pt x="125769" y="-466"/>
                    <a:pt x="127347" y="5128"/>
                    <a:pt x="125410" y="10006"/>
                  </a:cubicBezTo>
                  <a:lnTo>
                    <a:pt x="97294" y="80331"/>
                  </a:lnTo>
                  <a:lnTo>
                    <a:pt x="149187" y="80331"/>
                  </a:lnTo>
                  <a:cubicBezTo>
                    <a:pt x="154028" y="80331"/>
                    <a:pt x="158332" y="83344"/>
                    <a:pt x="159981" y="87898"/>
                  </a:cubicBezTo>
                  <a:cubicBezTo>
                    <a:pt x="161631" y="92453"/>
                    <a:pt x="160232" y="97545"/>
                    <a:pt x="156538" y="100629"/>
                  </a:cubicBezTo>
                  <a:lnTo>
                    <a:pt x="53255" y="186699"/>
                  </a:lnTo>
                  <a:cubicBezTo>
                    <a:pt x="49203" y="190070"/>
                    <a:pt x="43429" y="190249"/>
                    <a:pt x="39162" y="187165"/>
                  </a:cubicBezTo>
                  <a:cubicBezTo>
                    <a:pt x="34894" y="184081"/>
                    <a:pt x="33316" y="178486"/>
                    <a:pt x="35253" y="173609"/>
                  </a:cubicBezTo>
                  <a:lnTo>
                    <a:pt x="63369" y="103283"/>
                  </a:lnTo>
                  <a:lnTo>
                    <a:pt x="11476" y="103283"/>
                  </a:lnTo>
                  <a:cubicBezTo>
                    <a:pt x="6635" y="103283"/>
                    <a:pt x="2331" y="100271"/>
                    <a:pt x="681" y="95716"/>
                  </a:cubicBezTo>
                  <a:cubicBezTo>
                    <a:pt x="-968" y="91162"/>
                    <a:pt x="430" y="86069"/>
                    <a:pt x="4124" y="82985"/>
                  </a:cubicBezTo>
                  <a:lnTo>
                    <a:pt x="107407" y="-3084"/>
                  </a:lnTo>
                  <a:cubicBezTo>
                    <a:pt x="111460" y="-6455"/>
                    <a:pt x="117234" y="-6635"/>
                    <a:pt x="121501" y="-355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6895083" y="2821540"/>
              <a:ext cx="267436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Быстрые действия</a:t>
              </a:r>
              <a:endParaRPr lang="en-US" sz="24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6895082" y="3041878"/>
              <a:ext cx="3442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Кнопки частых команд</a:t>
              </a:r>
              <a:endParaRPr lang="en-US" sz="24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6445227" y="3445829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6" name="Shape 54"/>
            <p:cNvSpPr/>
            <p:nvPr/>
          </p:nvSpPr>
          <p:spPr>
            <a:xfrm>
              <a:off x="6589824" y="3666167"/>
              <a:ext cx="160663" cy="183614"/>
            </a:xfrm>
            <a:custGeom>
              <a:avLst/>
              <a:gdLst/>
              <a:ahLst/>
              <a:cxnLst/>
              <a:rect l="l" t="t" r="r" b="b"/>
              <a:pathLst>
                <a:path w="160663" h="183614">
                  <a:moveTo>
                    <a:pt x="91807" y="57380"/>
                  </a:moveTo>
                  <a:lnTo>
                    <a:pt x="91807" y="91807"/>
                  </a:lnTo>
                  <a:lnTo>
                    <a:pt x="137711" y="91807"/>
                  </a:lnTo>
                  <a:lnTo>
                    <a:pt x="137711" y="57380"/>
                  </a:lnTo>
                  <a:lnTo>
                    <a:pt x="91807" y="57380"/>
                  </a:lnTo>
                  <a:close/>
                  <a:moveTo>
                    <a:pt x="68855" y="57380"/>
                  </a:moveTo>
                  <a:lnTo>
                    <a:pt x="22952" y="57380"/>
                  </a:lnTo>
                  <a:lnTo>
                    <a:pt x="22952" y="91807"/>
                  </a:lnTo>
                  <a:lnTo>
                    <a:pt x="68855" y="91807"/>
                  </a:lnTo>
                  <a:lnTo>
                    <a:pt x="68855" y="57380"/>
                  </a:lnTo>
                  <a:close/>
                  <a:moveTo>
                    <a:pt x="0" y="114759"/>
                  </a:moveTo>
                  <a:lnTo>
                    <a:pt x="0" y="34428"/>
                  </a:lnTo>
                  <a:cubicBezTo>
                    <a:pt x="0" y="21768"/>
                    <a:pt x="10292" y="11476"/>
                    <a:pt x="22952" y="11476"/>
                  </a:cubicBezTo>
                  <a:lnTo>
                    <a:pt x="137711" y="11476"/>
                  </a:lnTo>
                  <a:cubicBezTo>
                    <a:pt x="150370" y="11476"/>
                    <a:pt x="160663" y="21768"/>
                    <a:pt x="160663" y="34428"/>
                  </a:cubicBezTo>
                  <a:lnTo>
                    <a:pt x="160663" y="149187"/>
                  </a:lnTo>
                  <a:cubicBezTo>
                    <a:pt x="160663" y="161846"/>
                    <a:pt x="150370" y="172139"/>
                    <a:pt x="137711" y="172139"/>
                  </a:cubicBezTo>
                  <a:lnTo>
                    <a:pt x="22952" y="172139"/>
                  </a:lnTo>
                  <a:cubicBezTo>
                    <a:pt x="10292" y="172139"/>
                    <a:pt x="0" y="161846"/>
                    <a:pt x="0" y="149187"/>
                  </a:cubicBezTo>
                  <a:lnTo>
                    <a:pt x="0" y="114759"/>
                  </a:lnTo>
                  <a:close/>
                  <a:moveTo>
                    <a:pt x="137711" y="114759"/>
                  </a:moveTo>
                  <a:lnTo>
                    <a:pt x="91807" y="114759"/>
                  </a:lnTo>
                  <a:lnTo>
                    <a:pt x="91807" y="149187"/>
                  </a:lnTo>
                  <a:lnTo>
                    <a:pt x="137711" y="149187"/>
                  </a:lnTo>
                  <a:lnTo>
                    <a:pt x="137711" y="114759"/>
                  </a:lnTo>
                  <a:close/>
                  <a:moveTo>
                    <a:pt x="68855" y="149187"/>
                  </a:moveTo>
                  <a:lnTo>
                    <a:pt x="68855" y="114759"/>
                  </a:lnTo>
                  <a:lnTo>
                    <a:pt x="22952" y="114759"/>
                  </a:lnTo>
                  <a:lnTo>
                    <a:pt x="22952" y="149187"/>
                  </a:lnTo>
                  <a:lnTo>
                    <a:pt x="68855" y="149187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6895083" y="3555998"/>
              <a:ext cx="1808602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Результаты</a:t>
              </a:r>
              <a:endParaRPr lang="en-US" sz="24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6895082" y="3776335"/>
              <a:ext cx="3696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Таблицы и карточки данных</a:t>
              </a:r>
              <a:endParaRPr lang="en-US" sz="24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6445227" y="4180287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0" name="Shape 58"/>
            <p:cNvSpPr/>
            <p:nvPr/>
          </p:nvSpPr>
          <p:spPr>
            <a:xfrm>
              <a:off x="6601299" y="4400625"/>
              <a:ext cx="137711" cy="183614"/>
            </a:xfrm>
            <a:custGeom>
              <a:avLst/>
              <a:gdLst/>
              <a:ahLst/>
              <a:cxnLst/>
              <a:rect l="l" t="t" r="r" b="b"/>
              <a:pathLst>
                <a:path w="137711" h="183614">
                  <a:moveTo>
                    <a:pt x="0" y="22952"/>
                  </a:moveTo>
                  <a:cubicBezTo>
                    <a:pt x="0" y="10292"/>
                    <a:pt x="10292" y="0"/>
                    <a:pt x="22952" y="0"/>
                  </a:cubicBezTo>
                  <a:lnTo>
                    <a:pt x="76566" y="0"/>
                  </a:lnTo>
                  <a:cubicBezTo>
                    <a:pt x="82662" y="0"/>
                    <a:pt x="88508" y="2403"/>
                    <a:pt x="92811" y="6706"/>
                  </a:cubicBezTo>
                  <a:lnTo>
                    <a:pt x="131005" y="44935"/>
                  </a:lnTo>
                  <a:cubicBezTo>
                    <a:pt x="135308" y="49239"/>
                    <a:pt x="137711" y="55084"/>
                    <a:pt x="137711" y="61181"/>
                  </a:cubicBezTo>
                  <a:lnTo>
                    <a:pt x="137711" y="160663"/>
                  </a:lnTo>
                  <a:cubicBezTo>
                    <a:pt x="137711" y="173322"/>
                    <a:pt x="127418" y="183614"/>
                    <a:pt x="114759" y="183614"/>
                  </a:cubicBezTo>
                  <a:lnTo>
                    <a:pt x="22952" y="183614"/>
                  </a:lnTo>
                  <a:cubicBezTo>
                    <a:pt x="10292" y="183614"/>
                    <a:pt x="0" y="173322"/>
                    <a:pt x="0" y="160663"/>
                  </a:cubicBezTo>
                  <a:lnTo>
                    <a:pt x="0" y="22952"/>
                  </a:lnTo>
                  <a:close/>
                  <a:moveTo>
                    <a:pt x="74593" y="20979"/>
                  </a:moveTo>
                  <a:lnTo>
                    <a:pt x="74593" y="54511"/>
                  </a:lnTo>
                  <a:cubicBezTo>
                    <a:pt x="74593" y="59280"/>
                    <a:pt x="78431" y="63117"/>
                    <a:pt x="83200" y="63117"/>
                  </a:cubicBezTo>
                  <a:lnTo>
                    <a:pt x="116731" y="63117"/>
                  </a:lnTo>
                  <a:lnTo>
                    <a:pt x="74593" y="20979"/>
                  </a:lnTo>
                  <a:close/>
                  <a:moveTo>
                    <a:pt x="43035" y="91807"/>
                  </a:moveTo>
                  <a:cubicBezTo>
                    <a:pt x="38265" y="91807"/>
                    <a:pt x="34428" y="95644"/>
                    <a:pt x="34428" y="100414"/>
                  </a:cubicBezTo>
                  <a:cubicBezTo>
                    <a:pt x="34428" y="105184"/>
                    <a:pt x="38265" y="109021"/>
                    <a:pt x="43035" y="109021"/>
                  </a:cubicBezTo>
                  <a:lnTo>
                    <a:pt x="94676" y="109021"/>
                  </a:lnTo>
                  <a:cubicBezTo>
                    <a:pt x="99446" y="109021"/>
                    <a:pt x="103283" y="105184"/>
                    <a:pt x="103283" y="100414"/>
                  </a:cubicBezTo>
                  <a:cubicBezTo>
                    <a:pt x="103283" y="95644"/>
                    <a:pt x="99446" y="91807"/>
                    <a:pt x="94676" y="91807"/>
                  </a:cubicBezTo>
                  <a:lnTo>
                    <a:pt x="43035" y="91807"/>
                  </a:lnTo>
                  <a:close/>
                  <a:moveTo>
                    <a:pt x="43035" y="126235"/>
                  </a:moveTo>
                  <a:cubicBezTo>
                    <a:pt x="38265" y="126235"/>
                    <a:pt x="34428" y="130072"/>
                    <a:pt x="34428" y="134842"/>
                  </a:cubicBezTo>
                  <a:cubicBezTo>
                    <a:pt x="34428" y="139612"/>
                    <a:pt x="38265" y="143449"/>
                    <a:pt x="43035" y="143449"/>
                  </a:cubicBezTo>
                  <a:lnTo>
                    <a:pt x="94676" y="143449"/>
                  </a:lnTo>
                  <a:cubicBezTo>
                    <a:pt x="99446" y="143449"/>
                    <a:pt x="103283" y="139612"/>
                    <a:pt x="103283" y="134842"/>
                  </a:cubicBezTo>
                  <a:cubicBezTo>
                    <a:pt x="103283" y="130072"/>
                    <a:pt x="99446" y="126235"/>
                    <a:pt x="94676" y="126235"/>
                  </a:cubicBezTo>
                  <a:lnTo>
                    <a:pt x="43035" y="126235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6895082" y="4290456"/>
              <a:ext cx="334746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Предзаполненные формы</a:t>
              </a:r>
              <a:endParaRPr lang="en-US" sz="24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6895083" y="4510793"/>
              <a:ext cx="334746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Черновики документов</a:t>
              </a:r>
              <a:endParaRPr lang="en-US" sz="24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EA835063-AC18-48D3-80EA-E68E74762320}"/>
              </a:ext>
            </a:extLst>
          </p:cNvPr>
          <p:cNvGrpSpPr/>
          <p:nvPr/>
        </p:nvGrpSpPr>
        <p:grpSpPr>
          <a:xfrm>
            <a:off x="6261613" y="6004444"/>
            <a:ext cx="5618602" cy="734458"/>
            <a:chOff x="6261613" y="6004444"/>
            <a:chExt cx="5618602" cy="734458"/>
          </a:xfrm>
        </p:grpSpPr>
        <p:sp>
          <p:nvSpPr>
            <p:cNvPr id="63" name="Shape 61"/>
            <p:cNvSpPr/>
            <p:nvPr/>
          </p:nvSpPr>
          <p:spPr>
            <a:xfrm>
              <a:off x="6261613" y="6004444"/>
              <a:ext cx="5618602" cy="734458"/>
            </a:xfrm>
            <a:custGeom>
              <a:avLst/>
              <a:gdLst/>
              <a:ahLst/>
              <a:cxnLst/>
              <a:rect l="l" t="t" r="r" b="b"/>
              <a:pathLst>
                <a:path w="5618602" h="734458">
                  <a:moveTo>
                    <a:pt x="110169" y="0"/>
                  </a:moveTo>
                  <a:lnTo>
                    <a:pt x="5508434" y="0"/>
                  </a:lnTo>
                  <a:cubicBezTo>
                    <a:pt x="5569278" y="0"/>
                    <a:pt x="5618602" y="49324"/>
                    <a:pt x="5618602" y="110169"/>
                  </a:cubicBezTo>
                  <a:lnTo>
                    <a:pt x="5618602" y="624289"/>
                  </a:lnTo>
                  <a:cubicBezTo>
                    <a:pt x="5618602" y="685134"/>
                    <a:pt x="5569278" y="734458"/>
                    <a:pt x="5508434" y="734458"/>
                  </a:cubicBezTo>
                  <a:lnTo>
                    <a:pt x="110169" y="734458"/>
                  </a:lnTo>
                  <a:cubicBezTo>
                    <a:pt x="49365" y="734458"/>
                    <a:pt x="0" y="685093"/>
                    <a:pt x="0" y="624289"/>
                  </a:cubicBezTo>
                  <a:lnTo>
                    <a:pt x="0" y="110169"/>
                  </a:lnTo>
                  <a:cubicBezTo>
                    <a:pt x="0" y="49365"/>
                    <a:pt x="49365" y="0"/>
                    <a:pt x="1101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4" name="Shape 62"/>
            <p:cNvSpPr/>
            <p:nvPr/>
          </p:nvSpPr>
          <p:spPr>
            <a:xfrm>
              <a:off x="6436046" y="6261505"/>
              <a:ext cx="165253" cy="220337"/>
            </a:xfrm>
            <a:custGeom>
              <a:avLst/>
              <a:gdLst/>
              <a:ahLst/>
              <a:cxnLst/>
              <a:rect l="l" t="t" r="r" b="b"/>
              <a:pathLst>
                <a:path w="165253" h="220337">
                  <a:moveTo>
                    <a:pt x="126048" y="165253"/>
                  </a:moveTo>
                  <a:cubicBezTo>
                    <a:pt x="129190" y="155656"/>
                    <a:pt x="135473" y="146963"/>
                    <a:pt x="142574" y="139475"/>
                  </a:cubicBezTo>
                  <a:cubicBezTo>
                    <a:pt x="156646" y="124671"/>
                    <a:pt x="165253" y="104660"/>
                    <a:pt x="165253" y="82627"/>
                  </a:cubicBezTo>
                  <a:cubicBezTo>
                    <a:pt x="165253" y="37010"/>
                    <a:pt x="128243" y="0"/>
                    <a:pt x="82627" y="0"/>
                  </a:cubicBezTo>
                  <a:cubicBezTo>
                    <a:pt x="37010" y="0"/>
                    <a:pt x="0" y="37010"/>
                    <a:pt x="0" y="82627"/>
                  </a:cubicBezTo>
                  <a:cubicBezTo>
                    <a:pt x="0" y="104660"/>
                    <a:pt x="8607" y="124671"/>
                    <a:pt x="22679" y="139475"/>
                  </a:cubicBezTo>
                  <a:cubicBezTo>
                    <a:pt x="29780" y="146963"/>
                    <a:pt x="36106" y="155656"/>
                    <a:pt x="39205" y="165253"/>
                  </a:cubicBezTo>
                  <a:lnTo>
                    <a:pt x="126005" y="165253"/>
                  </a:lnTo>
                  <a:close/>
                  <a:moveTo>
                    <a:pt x="123940" y="185910"/>
                  </a:moveTo>
                  <a:lnTo>
                    <a:pt x="41313" y="185910"/>
                  </a:lnTo>
                  <a:lnTo>
                    <a:pt x="41313" y="192795"/>
                  </a:lnTo>
                  <a:cubicBezTo>
                    <a:pt x="41313" y="211816"/>
                    <a:pt x="56720" y="227223"/>
                    <a:pt x="75741" y="227223"/>
                  </a:cubicBezTo>
                  <a:lnTo>
                    <a:pt x="89512" y="227223"/>
                  </a:lnTo>
                  <a:cubicBezTo>
                    <a:pt x="108533" y="227223"/>
                    <a:pt x="123940" y="211816"/>
                    <a:pt x="123940" y="192795"/>
                  </a:cubicBezTo>
                  <a:lnTo>
                    <a:pt x="123940" y="185910"/>
                  </a:lnTo>
                  <a:close/>
                  <a:moveTo>
                    <a:pt x="79184" y="48199"/>
                  </a:moveTo>
                  <a:cubicBezTo>
                    <a:pt x="62056" y="48199"/>
                    <a:pt x="48199" y="62056"/>
                    <a:pt x="48199" y="79184"/>
                  </a:cubicBezTo>
                  <a:cubicBezTo>
                    <a:pt x="48199" y="84907"/>
                    <a:pt x="43594" y="89512"/>
                    <a:pt x="37870" y="89512"/>
                  </a:cubicBezTo>
                  <a:cubicBezTo>
                    <a:pt x="32147" y="89512"/>
                    <a:pt x="27542" y="84907"/>
                    <a:pt x="27542" y="79184"/>
                  </a:cubicBezTo>
                  <a:cubicBezTo>
                    <a:pt x="27542" y="50652"/>
                    <a:pt x="50652" y="27542"/>
                    <a:pt x="79184" y="27542"/>
                  </a:cubicBezTo>
                  <a:cubicBezTo>
                    <a:pt x="84907" y="27542"/>
                    <a:pt x="89512" y="32147"/>
                    <a:pt x="89512" y="37870"/>
                  </a:cubicBezTo>
                  <a:cubicBezTo>
                    <a:pt x="89512" y="43594"/>
                    <a:pt x="84907" y="48199"/>
                    <a:pt x="79184" y="4819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65" name="Text 63"/>
            <p:cNvSpPr/>
            <p:nvPr/>
          </p:nvSpPr>
          <p:spPr>
            <a:xfrm>
              <a:off x="6738245" y="6151336"/>
              <a:ext cx="5067759" cy="440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5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Дизайн в стиле 1С: минималистичный, функциональный, привычный пользователям</a:t>
              </a:r>
              <a:endParaRPr lang="en-US" sz="1600" dirty="0"/>
            </a:p>
          </p:txBody>
        </p:sp>
      </p:grpSp>
      <p:sp>
        <p:nvSpPr>
          <p:cNvPr id="69" name="Text 7">
            <a:extLst>
              <a:ext uri="{FF2B5EF4-FFF2-40B4-BE49-F238E27FC236}">
                <a16:creationId xmlns:a16="http://schemas.microsoft.com/office/drawing/2014/main" id="{B18228E2-3CBF-4FDE-97D5-57B1469F4285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14</a:t>
            </a:r>
            <a:endParaRPr lang="en-US" sz="1600" dirty="0"/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64BBFC17-98A1-42BE-A5AB-D92EE83D8519}"/>
              </a:ext>
            </a:extLst>
          </p:cNvPr>
          <p:cNvGrpSpPr/>
          <p:nvPr/>
        </p:nvGrpSpPr>
        <p:grpSpPr>
          <a:xfrm>
            <a:off x="-6400800" y="1142999"/>
            <a:ext cx="5600700" cy="2612905"/>
            <a:chOff x="381000" y="1142999"/>
            <a:chExt cx="5600700" cy="2612905"/>
          </a:xfrm>
        </p:grpSpPr>
        <p:sp>
          <p:nvSpPr>
            <p:cNvPr id="123" name="Shape 4">
              <a:extLst>
                <a:ext uri="{FF2B5EF4-FFF2-40B4-BE49-F238E27FC236}">
                  <a16:creationId xmlns:a16="http://schemas.microsoft.com/office/drawing/2014/main" id="{BF053563-C218-4F6E-BA81-AA433CC3F2E0}"/>
                </a:ext>
              </a:extLst>
            </p:cNvPr>
            <p:cNvSpPr/>
            <p:nvPr/>
          </p:nvSpPr>
          <p:spPr>
            <a:xfrm>
              <a:off x="381000" y="1142999"/>
              <a:ext cx="5600700" cy="2612905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24" name="Shape 5">
              <a:extLst>
                <a:ext uri="{FF2B5EF4-FFF2-40B4-BE49-F238E27FC236}">
                  <a16:creationId xmlns:a16="http://schemas.microsoft.com/office/drawing/2014/main" id="{8B35393B-A06F-403D-82D4-9547E9A9249C}"/>
                </a:ext>
              </a:extLst>
            </p:cNvPr>
            <p:cNvSpPr/>
            <p:nvPr/>
          </p:nvSpPr>
          <p:spPr>
            <a:xfrm>
              <a:off x="571500" y="15049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5" name="Shape 6">
              <a:extLst>
                <a:ext uri="{FF2B5EF4-FFF2-40B4-BE49-F238E27FC236}">
                  <a16:creationId xmlns:a16="http://schemas.microsoft.com/office/drawing/2014/main" id="{C62F86BC-C84C-4D7A-B49A-FE0B81B1BEA1}"/>
                </a:ext>
              </a:extLst>
            </p:cNvPr>
            <p:cNvSpPr/>
            <p:nvPr/>
          </p:nvSpPr>
          <p:spPr>
            <a:xfrm>
              <a:off x="812006" y="17430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cubicBezTo>
                    <a:pt x="221730" y="0"/>
                    <a:pt x="285750" y="64020"/>
                    <a:pt x="285750" y="142875"/>
                  </a:cubicBezTo>
                  <a:cubicBezTo>
                    <a:pt x="285750" y="221730"/>
                    <a:pt x="221730" y="285750"/>
                    <a:pt x="142875" y="285750"/>
                  </a:cubicBezTo>
                  <a:cubicBezTo>
                    <a:pt x="64020" y="285750"/>
                    <a:pt x="0" y="221730"/>
                    <a:pt x="0" y="142875"/>
                  </a:cubicBezTo>
                  <a:cubicBezTo>
                    <a:pt x="0" y="64020"/>
                    <a:pt x="64020" y="0"/>
                    <a:pt x="142875" y="0"/>
                  </a:cubicBezTo>
                  <a:close/>
                  <a:moveTo>
                    <a:pt x="129480" y="66973"/>
                  </a:moveTo>
                  <a:lnTo>
                    <a:pt x="129480" y="142875"/>
                  </a:lnTo>
                  <a:cubicBezTo>
                    <a:pt x="129480" y="147340"/>
                    <a:pt x="131713" y="151526"/>
                    <a:pt x="135452" y="154037"/>
                  </a:cubicBezTo>
                  <a:lnTo>
                    <a:pt x="189030" y="189756"/>
                  </a:lnTo>
                  <a:cubicBezTo>
                    <a:pt x="195169" y="193886"/>
                    <a:pt x="203485" y="192212"/>
                    <a:pt x="207615" y="186017"/>
                  </a:cubicBezTo>
                  <a:cubicBezTo>
                    <a:pt x="211745" y="179822"/>
                    <a:pt x="210071" y="171562"/>
                    <a:pt x="203876" y="167432"/>
                  </a:cubicBezTo>
                  <a:lnTo>
                    <a:pt x="156270" y="135731"/>
                  </a:lnTo>
                  <a:lnTo>
                    <a:pt x="156270" y="66973"/>
                  </a:lnTo>
                  <a:cubicBezTo>
                    <a:pt x="156270" y="59550"/>
                    <a:pt x="150298" y="53578"/>
                    <a:pt x="142875" y="53578"/>
                  </a:cubicBezTo>
                  <a:cubicBezTo>
                    <a:pt x="135452" y="53578"/>
                    <a:pt x="129480" y="59550"/>
                    <a:pt x="129480" y="6697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6" name="Text 7">
              <a:extLst>
                <a:ext uri="{FF2B5EF4-FFF2-40B4-BE49-F238E27FC236}">
                  <a16:creationId xmlns:a16="http://schemas.microsoft.com/office/drawing/2014/main" id="{41E23546-CF34-4A9B-BA15-31C3CAFF8FDC}"/>
                </a:ext>
              </a:extLst>
            </p:cNvPr>
            <p:cNvSpPr/>
            <p:nvPr/>
          </p:nvSpPr>
          <p:spPr>
            <a:xfrm>
              <a:off x="1524000" y="1333500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Экономия времени</a:t>
              </a:r>
              <a:endParaRPr lang="en-US" sz="2800" dirty="0"/>
            </a:p>
          </p:txBody>
        </p:sp>
        <p:sp>
          <p:nvSpPr>
            <p:cNvPr id="127" name="Text 8">
              <a:extLst>
                <a:ext uri="{FF2B5EF4-FFF2-40B4-BE49-F238E27FC236}">
                  <a16:creationId xmlns:a16="http://schemas.microsoft.com/office/drawing/2014/main" id="{0C222B38-0F62-42D5-A6BD-ACFDA9ABEB87}"/>
                </a:ext>
              </a:extLst>
            </p:cNvPr>
            <p:cNvSpPr/>
            <p:nvPr/>
          </p:nvSpPr>
          <p:spPr>
            <a:xfrm>
              <a:off x="1524000" y="1638300"/>
              <a:ext cx="4343400" cy="1390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Сокращение времени на типовые операции</a:t>
              </a:r>
              <a:endParaRPr lang="en-US" sz="2400" dirty="0"/>
            </a:p>
          </p:txBody>
        </p:sp>
        <p:sp>
          <p:nvSpPr>
            <p:cNvPr id="128" name="Shape 9">
              <a:extLst>
                <a:ext uri="{FF2B5EF4-FFF2-40B4-BE49-F238E27FC236}">
                  <a16:creationId xmlns:a16="http://schemas.microsoft.com/office/drawing/2014/main" id="{1493EB06-FBC4-4D34-914A-D594CBC758AD}"/>
                </a:ext>
              </a:extLst>
            </p:cNvPr>
            <p:cNvSpPr/>
            <p:nvPr/>
          </p:nvSpPr>
          <p:spPr>
            <a:xfrm>
              <a:off x="1509713" y="3144777"/>
              <a:ext cx="1390650" cy="495300"/>
            </a:xfrm>
            <a:custGeom>
              <a:avLst/>
              <a:gdLst/>
              <a:ahLst/>
              <a:cxnLst/>
              <a:rect l="l" t="t" r="r" b="b"/>
              <a:pathLst>
                <a:path w="1390650" h="495300">
                  <a:moveTo>
                    <a:pt x="76202" y="0"/>
                  </a:moveTo>
                  <a:lnTo>
                    <a:pt x="1314448" y="0"/>
                  </a:lnTo>
                  <a:cubicBezTo>
                    <a:pt x="1356533" y="0"/>
                    <a:pt x="1390650" y="34117"/>
                    <a:pt x="1390650" y="76202"/>
                  </a:cubicBezTo>
                  <a:lnTo>
                    <a:pt x="1390650" y="419098"/>
                  </a:lnTo>
                  <a:cubicBezTo>
                    <a:pt x="1390650" y="461183"/>
                    <a:pt x="1356533" y="495300"/>
                    <a:pt x="131444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9" name="Text 10">
              <a:extLst>
                <a:ext uri="{FF2B5EF4-FFF2-40B4-BE49-F238E27FC236}">
                  <a16:creationId xmlns:a16="http://schemas.microsoft.com/office/drawing/2014/main" id="{D0DDCE58-6100-43A8-942E-B9E4CE59249C}"/>
                </a:ext>
              </a:extLst>
            </p:cNvPr>
            <p:cNvSpPr/>
            <p:nvPr/>
          </p:nvSpPr>
          <p:spPr>
            <a:xfrm>
              <a:off x="1662113" y="3206690"/>
              <a:ext cx="1224597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60-70%</a:t>
              </a:r>
              <a:endParaRPr lang="en-US" sz="1600" dirty="0"/>
            </a:p>
          </p:txBody>
        </p:sp>
      </p:grpSp>
      <p:grpSp>
        <p:nvGrpSpPr>
          <p:cNvPr id="130" name="Группа 129">
            <a:extLst>
              <a:ext uri="{FF2B5EF4-FFF2-40B4-BE49-F238E27FC236}">
                <a16:creationId xmlns:a16="http://schemas.microsoft.com/office/drawing/2014/main" id="{0738C17C-5B5E-43F8-930A-DE1588B00F88}"/>
              </a:ext>
            </a:extLst>
          </p:cNvPr>
          <p:cNvGrpSpPr/>
          <p:nvPr/>
        </p:nvGrpSpPr>
        <p:grpSpPr>
          <a:xfrm>
            <a:off x="381000" y="7346830"/>
            <a:ext cx="5600700" cy="2458888"/>
            <a:chOff x="381000" y="3994030"/>
            <a:chExt cx="5600700" cy="2458888"/>
          </a:xfrm>
        </p:grpSpPr>
        <p:sp>
          <p:nvSpPr>
            <p:cNvPr id="131" name="Shape 11">
              <a:extLst>
                <a:ext uri="{FF2B5EF4-FFF2-40B4-BE49-F238E27FC236}">
                  <a16:creationId xmlns:a16="http://schemas.microsoft.com/office/drawing/2014/main" id="{FBDB882A-CB76-4780-9E22-927210E1F55E}"/>
                </a:ext>
              </a:extLst>
            </p:cNvPr>
            <p:cNvSpPr/>
            <p:nvPr/>
          </p:nvSpPr>
          <p:spPr>
            <a:xfrm>
              <a:off x="381000" y="3994030"/>
              <a:ext cx="5600700" cy="2458888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32" name="Shape 12">
              <a:extLst>
                <a:ext uri="{FF2B5EF4-FFF2-40B4-BE49-F238E27FC236}">
                  <a16:creationId xmlns:a16="http://schemas.microsoft.com/office/drawing/2014/main" id="{8C34340D-966B-4708-B389-2181BE619620}"/>
                </a:ext>
              </a:extLst>
            </p:cNvPr>
            <p:cNvSpPr/>
            <p:nvPr/>
          </p:nvSpPr>
          <p:spPr>
            <a:xfrm>
              <a:off x="571500" y="423125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3" name="Shape 13">
              <a:extLst>
                <a:ext uri="{FF2B5EF4-FFF2-40B4-BE49-F238E27FC236}">
                  <a16:creationId xmlns:a16="http://schemas.microsoft.com/office/drawing/2014/main" id="{D3B04D78-8578-493C-BC7E-E88BD4A6FE26}"/>
                </a:ext>
              </a:extLst>
            </p:cNvPr>
            <p:cNvSpPr/>
            <p:nvPr/>
          </p:nvSpPr>
          <p:spPr>
            <a:xfrm>
              <a:off x="812006" y="4469382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285750"/>
                  </a:moveTo>
                  <a:cubicBezTo>
                    <a:pt x="221730" y="285750"/>
                    <a:pt x="285750" y="221730"/>
                    <a:pt x="285750" y="142875"/>
                  </a:cubicBezTo>
                  <a:cubicBezTo>
                    <a:pt x="285750" y="64020"/>
                    <a:pt x="221730" y="0"/>
                    <a:pt x="142875" y="0"/>
                  </a:cubicBezTo>
                  <a:cubicBezTo>
                    <a:pt x="64020" y="0"/>
                    <a:pt x="0" y="64020"/>
                    <a:pt x="0" y="142875"/>
                  </a:cubicBezTo>
                  <a:cubicBezTo>
                    <a:pt x="0" y="221730"/>
                    <a:pt x="64020" y="285750"/>
                    <a:pt x="142875" y="285750"/>
                  </a:cubicBezTo>
                  <a:close/>
                  <a:moveTo>
                    <a:pt x="93204" y="93204"/>
                  </a:moveTo>
                  <a:cubicBezTo>
                    <a:pt x="98450" y="87957"/>
                    <a:pt x="106933" y="87957"/>
                    <a:pt x="112123" y="93204"/>
                  </a:cubicBezTo>
                  <a:lnTo>
                    <a:pt x="142819" y="123899"/>
                  </a:lnTo>
                  <a:lnTo>
                    <a:pt x="173515" y="93204"/>
                  </a:lnTo>
                  <a:cubicBezTo>
                    <a:pt x="178761" y="87957"/>
                    <a:pt x="187244" y="87957"/>
                    <a:pt x="192435" y="93204"/>
                  </a:cubicBezTo>
                  <a:cubicBezTo>
                    <a:pt x="197625" y="98450"/>
                    <a:pt x="197681" y="106933"/>
                    <a:pt x="192435" y="112123"/>
                  </a:cubicBezTo>
                  <a:lnTo>
                    <a:pt x="161739" y="142819"/>
                  </a:lnTo>
                  <a:lnTo>
                    <a:pt x="192435" y="173515"/>
                  </a:lnTo>
                  <a:cubicBezTo>
                    <a:pt x="197681" y="178761"/>
                    <a:pt x="197681" y="187244"/>
                    <a:pt x="192435" y="192435"/>
                  </a:cubicBezTo>
                  <a:cubicBezTo>
                    <a:pt x="187189" y="197625"/>
                    <a:pt x="178705" y="197681"/>
                    <a:pt x="173515" y="192435"/>
                  </a:cubicBezTo>
                  <a:lnTo>
                    <a:pt x="142819" y="161739"/>
                  </a:lnTo>
                  <a:lnTo>
                    <a:pt x="112123" y="192435"/>
                  </a:lnTo>
                  <a:cubicBezTo>
                    <a:pt x="106877" y="197681"/>
                    <a:pt x="98394" y="197681"/>
                    <a:pt x="93204" y="192435"/>
                  </a:cubicBezTo>
                  <a:cubicBezTo>
                    <a:pt x="88013" y="187189"/>
                    <a:pt x="87957" y="178705"/>
                    <a:pt x="93204" y="173515"/>
                  </a:cubicBezTo>
                  <a:lnTo>
                    <a:pt x="123899" y="142819"/>
                  </a:lnTo>
                  <a:lnTo>
                    <a:pt x="93204" y="112123"/>
                  </a:lnTo>
                  <a:cubicBezTo>
                    <a:pt x="87957" y="106877"/>
                    <a:pt x="87957" y="98394"/>
                    <a:pt x="93204" y="9320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34" name="Text 14">
              <a:extLst>
                <a:ext uri="{FF2B5EF4-FFF2-40B4-BE49-F238E27FC236}">
                  <a16:creationId xmlns:a16="http://schemas.microsoft.com/office/drawing/2014/main" id="{5C8D777F-F523-4D92-B86C-FD13C82E32A1}"/>
                </a:ext>
              </a:extLst>
            </p:cNvPr>
            <p:cNvSpPr/>
            <p:nvPr/>
          </p:nvSpPr>
          <p:spPr>
            <a:xfrm>
              <a:off x="1524000" y="4247072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Снижение ошибок</a:t>
              </a:r>
              <a:endParaRPr lang="en-US" sz="2800" dirty="0"/>
            </a:p>
          </p:txBody>
        </p:sp>
        <p:sp>
          <p:nvSpPr>
            <p:cNvPr id="135" name="Text 15">
              <a:extLst>
                <a:ext uri="{FF2B5EF4-FFF2-40B4-BE49-F238E27FC236}">
                  <a16:creationId xmlns:a16="http://schemas.microsoft.com/office/drawing/2014/main" id="{AFA9B960-5A2E-41E6-A0A4-0ED20E01A09E}"/>
                </a:ext>
              </a:extLst>
            </p:cNvPr>
            <p:cNvSpPr/>
            <p:nvPr/>
          </p:nvSpPr>
          <p:spPr>
            <a:xfrm>
              <a:off x="1509713" y="4616166"/>
              <a:ext cx="4343400" cy="1072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Автоматическая проверка данных</a:t>
              </a:r>
              <a:endParaRPr lang="en-US" sz="2400" dirty="0"/>
            </a:p>
          </p:txBody>
        </p:sp>
        <p:sp>
          <p:nvSpPr>
            <p:cNvPr id="136" name="Shape 16">
              <a:extLst>
                <a:ext uri="{FF2B5EF4-FFF2-40B4-BE49-F238E27FC236}">
                  <a16:creationId xmlns:a16="http://schemas.microsoft.com/office/drawing/2014/main" id="{AC48E56C-07D7-4F1A-AB97-7C94E53D0223}"/>
                </a:ext>
              </a:extLst>
            </p:cNvPr>
            <p:cNvSpPr/>
            <p:nvPr/>
          </p:nvSpPr>
          <p:spPr>
            <a:xfrm>
              <a:off x="1509713" y="5790930"/>
              <a:ext cx="876300" cy="495300"/>
            </a:xfrm>
            <a:custGeom>
              <a:avLst/>
              <a:gdLst/>
              <a:ahLst/>
              <a:cxnLst/>
              <a:rect l="l" t="t" r="r" b="b"/>
              <a:pathLst>
                <a:path w="876300" h="495300">
                  <a:moveTo>
                    <a:pt x="76202" y="0"/>
                  </a:moveTo>
                  <a:lnTo>
                    <a:pt x="800098" y="0"/>
                  </a:lnTo>
                  <a:cubicBezTo>
                    <a:pt x="842183" y="0"/>
                    <a:pt x="876300" y="34117"/>
                    <a:pt x="876300" y="76202"/>
                  </a:cubicBezTo>
                  <a:lnTo>
                    <a:pt x="876300" y="419098"/>
                  </a:lnTo>
                  <a:cubicBezTo>
                    <a:pt x="876300" y="461183"/>
                    <a:pt x="842183" y="495300"/>
                    <a:pt x="8000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37" name="Text 17">
              <a:extLst>
                <a:ext uri="{FF2B5EF4-FFF2-40B4-BE49-F238E27FC236}">
                  <a16:creationId xmlns:a16="http://schemas.microsoft.com/office/drawing/2014/main" id="{9C48800D-C972-45D6-A9D2-7368CF83A3E9}"/>
                </a:ext>
              </a:extLst>
            </p:cNvPr>
            <p:cNvSpPr/>
            <p:nvPr/>
          </p:nvSpPr>
          <p:spPr>
            <a:xfrm>
              <a:off x="1662113" y="5852843"/>
              <a:ext cx="716280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75%</a:t>
              </a:r>
              <a:endParaRPr lang="en-US" sz="1600" dirty="0"/>
            </a:p>
          </p:txBody>
        </p:sp>
      </p:grpSp>
      <p:grpSp>
        <p:nvGrpSpPr>
          <p:cNvPr id="138" name="Группа 137">
            <a:extLst>
              <a:ext uri="{FF2B5EF4-FFF2-40B4-BE49-F238E27FC236}">
                <a16:creationId xmlns:a16="http://schemas.microsoft.com/office/drawing/2014/main" id="{BA01B67F-6C1C-4D77-AAE3-C7AF457CF295}"/>
              </a:ext>
            </a:extLst>
          </p:cNvPr>
          <p:cNvGrpSpPr/>
          <p:nvPr/>
        </p:nvGrpSpPr>
        <p:grpSpPr>
          <a:xfrm>
            <a:off x="6222206" y="10699630"/>
            <a:ext cx="5600700" cy="2458888"/>
            <a:chOff x="6222206" y="3994030"/>
            <a:chExt cx="5600700" cy="2458888"/>
          </a:xfrm>
        </p:grpSpPr>
        <p:sp>
          <p:nvSpPr>
            <p:cNvPr id="139" name="Shape 18">
              <a:extLst>
                <a:ext uri="{FF2B5EF4-FFF2-40B4-BE49-F238E27FC236}">
                  <a16:creationId xmlns:a16="http://schemas.microsoft.com/office/drawing/2014/main" id="{F93EEC90-3955-4955-83E2-306DE34141DD}"/>
                </a:ext>
              </a:extLst>
            </p:cNvPr>
            <p:cNvSpPr/>
            <p:nvPr/>
          </p:nvSpPr>
          <p:spPr>
            <a:xfrm>
              <a:off x="6222206" y="3994030"/>
              <a:ext cx="5600700" cy="2458888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0" name="Shape 19">
              <a:extLst>
                <a:ext uri="{FF2B5EF4-FFF2-40B4-BE49-F238E27FC236}">
                  <a16:creationId xmlns:a16="http://schemas.microsoft.com/office/drawing/2014/main" id="{60CDFCD6-A11C-43B0-86AF-4FA50E80AE95}"/>
                </a:ext>
              </a:extLst>
            </p:cNvPr>
            <p:cNvSpPr/>
            <p:nvPr/>
          </p:nvSpPr>
          <p:spPr>
            <a:xfrm>
              <a:off x="6412706" y="423125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1" name="Shape 20">
              <a:extLst>
                <a:ext uri="{FF2B5EF4-FFF2-40B4-BE49-F238E27FC236}">
                  <a16:creationId xmlns:a16="http://schemas.microsoft.com/office/drawing/2014/main" id="{C588E507-FF7E-4267-88D5-F8777B273D43}"/>
                </a:ext>
              </a:extLst>
            </p:cNvPr>
            <p:cNvSpPr/>
            <p:nvPr/>
          </p:nvSpPr>
          <p:spPr>
            <a:xfrm>
              <a:off x="6671072" y="4469382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25016" y="35719"/>
                  </a:moveTo>
                  <a:cubicBezTo>
                    <a:pt x="80925" y="35719"/>
                    <a:pt x="44258" y="67698"/>
                    <a:pt x="37002" y="109779"/>
                  </a:cubicBezTo>
                  <a:cubicBezTo>
                    <a:pt x="42193" y="108105"/>
                    <a:pt x="47774" y="107156"/>
                    <a:pt x="53578" y="107156"/>
                  </a:cubicBezTo>
                  <a:lnTo>
                    <a:pt x="62508" y="107156"/>
                  </a:lnTo>
                  <a:cubicBezTo>
                    <a:pt x="77298" y="107156"/>
                    <a:pt x="89297" y="119156"/>
                    <a:pt x="89297" y="133945"/>
                  </a:cubicBezTo>
                  <a:lnTo>
                    <a:pt x="89297" y="187523"/>
                  </a:lnTo>
                  <a:cubicBezTo>
                    <a:pt x="89297" y="202313"/>
                    <a:pt x="77298" y="214313"/>
                    <a:pt x="62508" y="214313"/>
                  </a:cubicBezTo>
                  <a:lnTo>
                    <a:pt x="53578" y="214313"/>
                  </a:lnTo>
                  <a:cubicBezTo>
                    <a:pt x="23999" y="214313"/>
                    <a:pt x="0" y="190314"/>
                    <a:pt x="0" y="160734"/>
                  </a:cubicBezTo>
                  <a:lnTo>
                    <a:pt x="0" y="125016"/>
                  </a:lnTo>
                  <a:cubicBezTo>
                    <a:pt x="0" y="55978"/>
                    <a:pt x="55978" y="0"/>
                    <a:pt x="125016" y="0"/>
                  </a:cubicBezTo>
                  <a:cubicBezTo>
                    <a:pt x="194053" y="0"/>
                    <a:pt x="250031" y="55978"/>
                    <a:pt x="250031" y="125016"/>
                  </a:cubicBezTo>
                  <a:lnTo>
                    <a:pt x="250031" y="218833"/>
                  </a:lnTo>
                  <a:cubicBezTo>
                    <a:pt x="250031" y="255836"/>
                    <a:pt x="220005" y="285806"/>
                    <a:pt x="183003" y="285806"/>
                  </a:cubicBezTo>
                  <a:lnTo>
                    <a:pt x="133945" y="285750"/>
                  </a:lnTo>
                  <a:lnTo>
                    <a:pt x="116086" y="285750"/>
                  </a:lnTo>
                  <a:cubicBezTo>
                    <a:pt x="101296" y="285750"/>
                    <a:pt x="89297" y="273751"/>
                    <a:pt x="89297" y="258961"/>
                  </a:cubicBezTo>
                  <a:cubicBezTo>
                    <a:pt x="89297" y="244171"/>
                    <a:pt x="101296" y="232172"/>
                    <a:pt x="116086" y="232172"/>
                  </a:cubicBezTo>
                  <a:lnTo>
                    <a:pt x="133945" y="232172"/>
                  </a:lnTo>
                  <a:cubicBezTo>
                    <a:pt x="148735" y="232172"/>
                    <a:pt x="160734" y="244171"/>
                    <a:pt x="160734" y="258961"/>
                  </a:cubicBezTo>
                  <a:lnTo>
                    <a:pt x="160734" y="258961"/>
                  </a:lnTo>
                  <a:lnTo>
                    <a:pt x="183059" y="258961"/>
                  </a:lnTo>
                  <a:cubicBezTo>
                    <a:pt x="205271" y="258961"/>
                    <a:pt x="223242" y="240990"/>
                    <a:pt x="223242" y="218777"/>
                  </a:cubicBezTo>
                  <a:lnTo>
                    <a:pt x="223242" y="207113"/>
                  </a:lnTo>
                  <a:cubicBezTo>
                    <a:pt x="215373" y="211689"/>
                    <a:pt x="206220" y="214257"/>
                    <a:pt x="196453" y="214257"/>
                  </a:cubicBezTo>
                  <a:lnTo>
                    <a:pt x="187523" y="214257"/>
                  </a:lnTo>
                  <a:cubicBezTo>
                    <a:pt x="172734" y="214257"/>
                    <a:pt x="160734" y="202257"/>
                    <a:pt x="160734" y="187468"/>
                  </a:cubicBezTo>
                  <a:lnTo>
                    <a:pt x="160734" y="133890"/>
                  </a:lnTo>
                  <a:cubicBezTo>
                    <a:pt x="160734" y="119100"/>
                    <a:pt x="172734" y="107100"/>
                    <a:pt x="187523" y="107100"/>
                  </a:cubicBezTo>
                  <a:lnTo>
                    <a:pt x="196453" y="107100"/>
                  </a:lnTo>
                  <a:cubicBezTo>
                    <a:pt x="202257" y="107100"/>
                    <a:pt x="207783" y="107993"/>
                    <a:pt x="213029" y="109724"/>
                  </a:cubicBezTo>
                  <a:cubicBezTo>
                    <a:pt x="205773" y="67698"/>
                    <a:pt x="169162" y="35663"/>
                    <a:pt x="125016" y="3566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42" name="Text 21">
              <a:extLst>
                <a:ext uri="{FF2B5EF4-FFF2-40B4-BE49-F238E27FC236}">
                  <a16:creationId xmlns:a16="http://schemas.microsoft.com/office/drawing/2014/main" id="{2588849D-1096-48DE-8D13-89D5AD3FDD1F}"/>
                </a:ext>
              </a:extLst>
            </p:cNvPr>
            <p:cNvSpPr/>
            <p:nvPr/>
          </p:nvSpPr>
          <p:spPr>
            <a:xfrm>
              <a:off x="7365206" y="4247072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Меньше обращений</a:t>
              </a:r>
              <a:endParaRPr lang="en-US" sz="2800" dirty="0"/>
            </a:p>
          </p:txBody>
        </p:sp>
        <p:sp>
          <p:nvSpPr>
            <p:cNvPr id="143" name="Text 22">
              <a:extLst>
                <a:ext uri="{FF2B5EF4-FFF2-40B4-BE49-F238E27FC236}">
                  <a16:creationId xmlns:a16="http://schemas.microsoft.com/office/drawing/2014/main" id="{401793E7-82D6-4C9F-A018-A6D2E31E7FE7}"/>
                </a:ext>
              </a:extLst>
            </p:cNvPr>
            <p:cNvSpPr/>
            <p:nvPr/>
          </p:nvSpPr>
          <p:spPr>
            <a:xfrm>
              <a:off x="7365206" y="4642630"/>
              <a:ext cx="4343400" cy="1072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Снижение нагрузки на поддержку</a:t>
              </a:r>
              <a:endParaRPr lang="en-US" sz="2400" dirty="0"/>
            </a:p>
          </p:txBody>
        </p:sp>
        <p:sp>
          <p:nvSpPr>
            <p:cNvPr id="144" name="Shape 23">
              <a:extLst>
                <a:ext uri="{FF2B5EF4-FFF2-40B4-BE49-F238E27FC236}">
                  <a16:creationId xmlns:a16="http://schemas.microsoft.com/office/drawing/2014/main" id="{D55C804C-F299-4D60-8401-29BCEA3A83F4}"/>
                </a:ext>
              </a:extLst>
            </p:cNvPr>
            <p:cNvSpPr/>
            <p:nvPr/>
          </p:nvSpPr>
          <p:spPr>
            <a:xfrm>
              <a:off x="7350919" y="5790930"/>
              <a:ext cx="1409700" cy="495300"/>
            </a:xfrm>
            <a:custGeom>
              <a:avLst/>
              <a:gdLst/>
              <a:ahLst/>
              <a:cxnLst/>
              <a:rect l="l" t="t" r="r" b="b"/>
              <a:pathLst>
                <a:path w="1409700" h="495300">
                  <a:moveTo>
                    <a:pt x="76202" y="0"/>
                  </a:moveTo>
                  <a:lnTo>
                    <a:pt x="1333498" y="0"/>
                  </a:lnTo>
                  <a:cubicBezTo>
                    <a:pt x="1375583" y="0"/>
                    <a:pt x="1409700" y="34117"/>
                    <a:pt x="1409700" y="76202"/>
                  </a:cubicBezTo>
                  <a:lnTo>
                    <a:pt x="1409700" y="419098"/>
                  </a:lnTo>
                  <a:cubicBezTo>
                    <a:pt x="1409700" y="461183"/>
                    <a:pt x="1375583" y="495300"/>
                    <a:pt x="13334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45" name="Text 24">
              <a:extLst>
                <a:ext uri="{FF2B5EF4-FFF2-40B4-BE49-F238E27FC236}">
                  <a16:creationId xmlns:a16="http://schemas.microsoft.com/office/drawing/2014/main" id="{C2DFEF1A-0EC7-4D6F-991E-C9626535DB10}"/>
                </a:ext>
              </a:extLst>
            </p:cNvPr>
            <p:cNvSpPr/>
            <p:nvPr/>
          </p:nvSpPr>
          <p:spPr>
            <a:xfrm>
              <a:off x="7503319" y="5852843"/>
              <a:ext cx="1243013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40-50%</a:t>
              </a:r>
              <a:endParaRPr lang="en-US" sz="1600" dirty="0"/>
            </a:p>
          </p:txBody>
        </p:sp>
      </p:grp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id="{F41E7A24-E329-4B71-8788-6A4C9FE1982F}"/>
              </a:ext>
            </a:extLst>
          </p:cNvPr>
          <p:cNvGrpSpPr/>
          <p:nvPr/>
        </p:nvGrpSpPr>
        <p:grpSpPr>
          <a:xfrm>
            <a:off x="12992100" y="1143000"/>
            <a:ext cx="5600700" cy="2612904"/>
            <a:chOff x="6210300" y="1143000"/>
            <a:chExt cx="5600700" cy="2612904"/>
          </a:xfrm>
        </p:grpSpPr>
        <p:sp>
          <p:nvSpPr>
            <p:cNvPr id="147" name="Shape 25">
              <a:extLst>
                <a:ext uri="{FF2B5EF4-FFF2-40B4-BE49-F238E27FC236}">
                  <a16:creationId xmlns:a16="http://schemas.microsoft.com/office/drawing/2014/main" id="{BE1B05FA-9C3D-4AC0-85BE-E14E71203F06}"/>
                </a:ext>
              </a:extLst>
            </p:cNvPr>
            <p:cNvSpPr/>
            <p:nvPr/>
          </p:nvSpPr>
          <p:spPr>
            <a:xfrm>
              <a:off x="6210300" y="1143000"/>
              <a:ext cx="5600700" cy="2612904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8" name="Shape 26">
              <a:extLst>
                <a:ext uri="{FF2B5EF4-FFF2-40B4-BE49-F238E27FC236}">
                  <a16:creationId xmlns:a16="http://schemas.microsoft.com/office/drawing/2014/main" id="{412067FF-B6C3-430C-B76D-A1567E075166}"/>
                </a:ext>
              </a:extLst>
            </p:cNvPr>
            <p:cNvSpPr/>
            <p:nvPr/>
          </p:nvSpPr>
          <p:spPr>
            <a:xfrm>
              <a:off x="6400800" y="15049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9" name="Shape 27">
              <a:extLst>
                <a:ext uri="{FF2B5EF4-FFF2-40B4-BE49-F238E27FC236}">
                  <a16:creationId xmlns:a16="http://schemas.microsoft.com/office/drawing/2014/main" id="{1FC409D9-CBA8-421D-B4C5-EA095ECE8406}"/>
                </a:ext>
              </a:extLst>
            </p:cNvPr>
            <p:cNvSpPr/>
            <p:nvPr/>
          </p:nvSpPr>
          <p:spPr>
            <a:xfrm>
              <a:off x="6659166" y="1743075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34671" y="-7255"/>
                  </a:moveTo>
                  <a:cubicBezTo>
                    <a:pt x="128308" y="-8539"/>
                    <a:pt x="121779" y="-8539"/>
                    <a:pt x="115416" y="-7255"/>
                  </a:cubicBezTo>
                  <a:lnTo>
                    <a:pt x="10771" y="13674"/>
                  </a:lnTo>
                  <a:cubicBezTo>
                    <a:pt x="4521" y="14901"/>
                    <a:pt x="0" y="20427"/>
                    <a:pt x="0" y="26789"/>
                  </a:cubicBezTo>
                  <a:cubicBezTo>
                    <a:pt x="0" y="32538"/>
                    <a:pt x="3628" y="37560"/>
                    <a:pt x="8930" y="39402"/>
                  </a:cubicBezTo>
                  <a:lnTo>
                    <a:pt x="8930" y="80367"/>
                  </a:lnTo>
                  <a:lnTo>
                    <a:pt x="167" y="124234"/>
                  </a:lnTo>
                  <a:cubicBezTo>
                    <a:pt x="56" y="124737"/>
                    <a:pt x="0" y="125295"/>
                    <a:pt x="0" y="125853"/>
                  </a:cubicBezTo>
                  <a:cubicBezTo>
                    <a:pt x="0" y="130318"/>
                    <a:pt x="3628" y="134001"/>
                    <a:pt x="8148" y="134001"/>
                  </a:cubicBezTo>
                  <a:lnTo>
                    <a:pt x="27626" y="134001"/>
                  </a:lnTo>
                  <a:cubicBezTo>
                    <a:pt x="32091" y="134001"/>
                    <a:pt x="35775" y="130373"/>
                    <a:pt x="35775" y="125853"/>
                  </a:cubicBezTo>
                  <a:cubicBezTo>
                    <a:pt x="35775" y="125295"/>
                    <a:pt x="35719" y="124792"/>
                    <a:pt x="35607" y="124234"/>
                  </a:cubicBezTo>
                  <a:lnTo>
                    <a:pt x="26789" y="80367"/>
                  </a:lnTo>
                  <a:lnTo>
                    <a:pt x="26789" y="43142"/>
                  </a:lnTo>
                  <a:lnTo>
                    <a:pt x="53578" y="48499"/>
                  </a:lnTo>
                  <a:lnTo>
                    <a:pt x="53578" y="80367"/>
                  </a:lnTo>
                  <a:cubicBezTo>
                    <a:pt x="53578" y="119825"/>
                    <a:pt x="85558" y="151805"/>
                    <a:pt x="125016" y="151805"/>
                  </a:cubicBezTo>
                  <a:cubicBezTo>
                    <a:pt x="164474" y="151805"/>
                    <a:pt x="196453" y="119825"/>
                    <a:pt x="196453" y="80367"/>
                  </a:cubicBezTo>
                  <a:lnTo>
                    <a:pt x="196453" y="48499"/>
                  </a:lnTo>
                  <a:lnTo>
                    <a:pt x="239260" y="39960"/>
                  </a:lnTo>
                  <a:cubicBezTo>
                    <a:pt x="245511" y="38677"/>
                    <a:pt x="250031" y="33151"/>
                    <a:pt x="250031" y="26789"/>
                  </a:cubicBezTo>
                  <a:cubicBezTo>
                    <a:pt x="250031" y="20427"/>
                    <a:pt x="245511" y="14901"/>
                    <a:pt x="239260" y="13674"/>
                  </a:cubicBezTo>
                  <a:lnTo>
                    <a:pt x="134671" y="-7255"/>
                  </a:lnTo>
                  <a:close/>
                  <a:moveTo>
                    <a:pt x="125016" y="125016"/>
                  </a:moveTo>
                  <a:cubicBezTo>
                    <a:pt x="100347" y="125016"/>
                    <a:pt x="80367" y="105035"/>
                    <a:pt x="80367" y="80367"/>
                  </a:cubicBezTo>
                  <a:lnTo>
                    <a:pt x="169664" y="80367"/>
                  </a:lnTo>
                  <a:cubicBezTo>
                    <a:pt x="169664" y="105035"/>
                    <a:pt x="149684" y="125016"/>
                    <a:pt x="125016" y="125016"/>
                  </a:cubicBezTo>
                  <a:close/>
                  <a:moveTo>
                    <a:pt x="67028" y="178650"/>
                  </a:moveTo>
                  <a:cubicBezTo>
                    <a:pt x="32761" y="194388"/>
                    <a:pt x="8930" y="228991"/>
                    <a:pt x="8930" y="269174"/>
                  </a:cubicBezTo>
                  <a:cubicBezTo>
                    <a:pt x="8930" y="278327"/>
                    <a:pt x="16352" y="285750"/>
                    <a:pt x="25505" y="285750"/>
                  </a:cubicBezTo>
                  <a:lnTo>
                    <a:pt x="111621" y="285750"/>
                  </a:lnTo>
                  <a:lnTo>
                    <a:pt x="111621" y="204267"/>
                  </a:lnTo>
                  <a:lnTo>
                    <a:pt x="79586" y="180268"/>
                  </a:lnTo>
                  <a:cubicBezTo>
                    <a:pt x="75958" y="177533"/>
                    <a:pt x="71103" y="176808"/>
                    <a:pt x="66973" y="178705"/>
                  </a:cubicBezTo>
                  <a:close/>
                  <a:moveTo>
                    <a:pt x="138410" y="285750"/>
                  </a:moveTo>
                  <a:lnTo>
                    <a:pt x="224526" y="285750"/>
                  </a:lnTo>
                  <a:cubicBezTo>
                    <a:pt x="233679" y="285750"/>
                    <a:pt x="241102" y="278327"/>
                    <a:pt x="241102" y="269174"/>
                  </a:cubicBezTo>
                  <a:cubicBezTo>
                    <a:pt x="241102" y="228991"/>
                    <a:pt x="217270" y="194388"/>
                    <a:pt x="183003" y="178705"/>
                  </a:cubicBezTo>
                  <a:cubicBezTo>
                    <a:pt x="178873" y="176808"/>
                    <a:pt x="174017" y="177533"/>
                    <a:pt x="170390" y="180268"/>
                  </a:cubicBezTo>
                  <a:lnTo>
                    <a:pt x="138354" y="204267"/>
                  </a:lnTo>
                  <a:lnTo>
                    <a:pt x="138354" y="28575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50" name="Text 28">
              <a:extLst>
                <a:ext uri="{FF2B5EF4-FFF2-40B4-BE49-F238E27FC236}">
                  <a16:creationId xmlns:a16="http://schemas.microsoft.com/office/drawing/2014/main" id="{D3886963-4B03-44A9-8650-69A4FAAE2442}"/>
                </a:ext>
              </a:extLst>
            </p:cNvPr>
            <p:cNvSpPr/>
            <p:nvPr/>
          </p:nvSpPr>
          <p:spPr>
            <a:xfrm>
              <a:off x="7353300" y="1333500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Быстрая адаптация</a:t>
              </a:r>
              <a:endParaRPr lang="en-US" sz="2800" dirty="0"/>
            </a:p>
          </p:txBody>
        </p:sp>
        <p:sp>
          <p:nvSpPr>
            <p:cNvPr id="151" name="Text 29">
              <a:extLst>
                <a:ext uri="{FF2B5EF4-FFF2-40B4-BE49-F238E27FC236}">
                  <a16:creationId xmlns:a16="http://schemas.microsoft.com/office/drawing/2014/main" id="{20BF967A-8D6D-4867-8EE2-76F045986918}"/>
                </a:ext>
              </a:extLst>
            </p:cNvPr>
            <p:cNvSpPr/>
            <p:nvPr/>
          </p:nvSpPr>
          <p:spPr>
            <a:xfrm>
              <a:off x="7353300" y="1638300"/>
              <a:ext cx="4343400" cy="1390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Новые сотрудники осваиваются быстрее</a:t>
              </a:r>
              <a:endParaRPr lang="en-US" sz="2400" dirty="0"/>
            </a:p>
          </p:txBody>
        </p:sp>
        <p:sp>
          <p:nvSpPr>
            <p:cNvPr id="152" name="Shape 30">
              <a:extLst>
                <a:ext uri="{FF2B5EF4-FFF2-40B4-BE49-F238E27FC236}">
                  <a16:creationId xmlns:a16="http://schemas.microsoft.com/office/drawing/2014/main" id="{5DA3D1D7-A23C-4BD6-8FAB-93CCD4CB99A1}"/>
                </a:ext>
              </a:extLst>
            </p:cNvPr>
            <p:cNvSpPr/>
            <p:nvPr/>
          </p:nvSpPr>
          <p:spPr>
            <a:xfrm>
              <a:off x="7347268" y="3144777"/>
              <a:ext cx="647700" cy="495300"/>
            </a:xfrm>
            <a:custGeom>
              <a:avLst/>
              <a:gdLst/>
              <a:ahLst/>
              <a:cxnLst/>
              <a:rect l="l" t="t" r="r" b="b"/>
              <a:pathLst>
                <a:path w="647700" h="495300">
                  <a:moveTo>
                    <a:pt x="76202" y="0"/>
                  </a:moveTo>
                  <a:lnTo>
                    <a:pt x="571498" y="0"/>
                  </a:lnTo>
                  <a:cubicBezTo>
                    <a:pt x="613583" y="0"/>
                    <a:pt x="647700" y="34117"/>
                    <a:pt x="647700" y="76202"/>
                  </a:cubicBezTo>
                  <a:lnTo>
                    <a:pt x="647700" y="419098"/>
                  </a:lnTo>
                  <a:cubicBezTo>
                    <a:pt x="647700" y="461183"/>
                    <a:pt x="613583" y="495300"/>
                    <a:pt x="5714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53" name="Text 31">
              <a:extLst>
                <a:ext uri="{FF2B5EF4-FFF2-40B4-BE49-F238E27FC236}">
                  <a16:creationId xmlns:a16="http://schemas.microsoft.com/office/drawing/2014/main" id="{D81393B2-7B63-4CA0-B6EB-8A4B562E288F}"/>
                </a:ext>
              </a:extLst>
            </p:cNvPr>
            <p:cNvSpPr/>
            <p:nvPr/>
          </p:nvSpPr>
          <p:spPr>
            <a:xfrm>
              <a:off x="7499668" y="3206690"/>
              <a:ext cx="489268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2×</a:t>
              </a:r>
              <a:endParaRPr lang="en-US" sz="1600" dirty="0"/>
            </a:p>
          </p:txBody>
        </p:sp>
      </p:grpSp>
      <p:grpSp>
        <p:nvGrpSpPr>
          <p:cNvPr id="154" name="Группа 153">
            <a:extLst>
              <a:ext uri="{FF2B5EF4-FFF2-40B4-BE49-F238E27FC236}">
                <a16:creationId xmlns:a16="http://schemas.microsoft.com/office/drawing/2014/main" id="{96084905-45E0-4FD9-95C2-2179E8FA6FA5}"/>
              </a:ext>
            </a:extLst>
          </p:cNvPr>
          <p:cNvGrpSpPr/>
          <p:nvPr/>
        </p:nvGrpSpPr>
        <p:grpSpPr>
          <a:xfrm>
            <a:off x="400050" y="-1085850"/>
            <a:ext cx="4429125" cy="533400"/>
            <a:chOff x="381000" y="381000"/>
            <a:chExt cx="4429125" cy="533400"/>
          </a:xfrm>
        </p:grpSpPr>
        <p:sp>
          <p:nvSpPr>
            <p:cNvPr id="155" name="Shape 0">
              <a:extLst>
                <a:ext uri="{FF2B5EF4-FFF2-40B4-BE49-F238E27FC236}">
                  <a16:creationId xmlns:a16="http://schemas.microsoft.com/office/drawing/2014/main" id="{2B5A2EC9-1F87-4F0C-9F7F-37A4BABC7347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6" name="Shape 1">
              <a:extLst>
                <a:ext uri="{FF2B5EF4-FFF2-40B4-BE49-F238E27FC236}">
                  <a16:creationId xmlns:a16="http://schemas.microsoft.com/office/drawing/2014/main" id="{B0AE706E-6570-4192-8F5B-4AF5098B9AAE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28575"/>
                  </a:moveTo>
                  <a:cubicBezTo>
                    <a:pt x="28575" y="20672"/>
                    <a:pt x="22190" y="14288"/>
                    <a:pt x="14288" y="14288"/>
                  </a:cubicBezTo>
                  <a:cubicBezTo>
                    <a:pt x="6385" y="14288"/>
                    <a:pt x="0" y="20672"/>
                    <a:pt x="0" y="28575"/>
                  </a:cubicBezTo>
                  <a:lnTo>
                    <a:pt x="0" y="178594"/>
                  </a:lnTo>
                  <a:cubicBezTo>
                    <a:pt x="0" y="198328"/>
                    <a:pt x="15984" y="214313"/>
                    <a:pt x="35719" y="214313"/>
                  </a:cubicBezTo>
                  <a:lnTo>
                    <a:pt x="214313" y="214313"/>
                  </a:lnTo>
                  <a:cubicBezTo>
                    <a:pt x="222215" y="214313"/>
                    <a:pt x="228600" y="207928"/>
                    <a:pt x="228600" y="200025"/>
                  </a:cubicBezTo>
                  <a:cubicBezTo>
                    <a:pt x="228600" y="192122"/>
                    <a:pt x="222215" y="185738"/>
                    <a:pt x="214313" y="185738"/>
                  </a:cubicBezTo>
                  <a:lnTo>
                    <a:pt x="35719" y="185738"/>
                  </a:lnTo>
                  <a:cubicBezTo>
                    <a:pt x="31790" y="185738"/>
                    <a:pt x="28575" y="182523"/>
                    <a:pt x="28575" y="178594"/>
                  </a:cubicBezTo>
                  <a:lnTo>
                    <a:pt x="28575" y="28575"/>
                  </a:lnTo>
                  <a:close/>
                  <a:moveTo>
                    <a:pt x="210116" y="67241"/>
                  </a:moveTo>
                  <a:cubicBezTo>
                    <a:pt x="215697" y="61659"/>
                    <a:pt x="215697" y="52596"/>
                    <a:pt x="210116" y="47015"/>
                  </a:cubicBezTo>
                  <a:cubicBezTo>
                    <a:pt x="204534" y="41434"/>
                    <a:pt x="195471" y="41434"/>
                    <a:pt x="189890" y="47015"/>
                  </a:cubicBezTo>
                  <a:lnTo>
                    <a:pt x="142875" y="94074"/>
                  </a:lnTo>
                  <a:lnTo>
                    <a:pt x="117247" y="68491"/>
                  </a:lnTo>
                  <a:cubicBezTo>
                    <a:pt x="111666" y="62910"/>
                    <a:pt x="102602" y="62910"/>
                    <a:pt x="97021" y="68491"/>
                  </a:cubicBezTo>
                  <a:lnTo>
                    <a:pt x="54159" y="111353"/>
                  </a:lnTo>
                  <a:cubicBezTo>
                    <a:pt x="48578" y="116934"/>
                    <a:pt x="48578" y="125998"/>
                    <a:pt x="54159" y="131579"/>
                  </a:cubicBezTo>
                  <a:cubicBezTo>
                    <a:pt x="59740" y="137160"/>
                    <a:pt x="68803" y="137160"/>
                    <a:pt x="74384" y="131579"/>
                  </a:cubicBezTo>
                  <a:lnTo>
                    <a:pt x="107156" y="98807"/>
                  </a:lnTo>
                  <a:lnTo>
                    <a:pt x="132784" y="124435"/>
                  </a:lnTo>
                  <a:cubicBezTo>
                    <a:pt x="138366" y="130016"/>
                    <a:pt x="147429" y="130016"/>
                    <a:pt x="153010" y="124435"/>
                  </a:cubicBezTo>
                  <a:lnTo>
                    <a:pt x="210160" y="6728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57" name="Text 2">
              <a:extLst>
                <a:ext uri="{FF2B5EF4-FFF2-40B4-BE49-F238E27FC236}">
                  <a16:creationId xmlns:a16="http://schemas.microsoft.com/office/drawing/2014/main" id="{C814F590-4AD2-4757-A0AA-BB14582FD307}"/>
                </a:ext>
              </a:extLst>
            </p:cNvPr>
            <p:cNvSpPr/>
            <p:nvPr/>
          </p:nvSpPr>
          <p:spPr>
            <a:xfrm>
              <a:off x="1066800" y="400050"/>
              <a:ext cx="37433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Эффект от внедрения</a:t>
              </a:r>
              <a:endParaRPr lang="en-US" sz="1600" dirty="0"/>
            </a:p>
          </p:txBody>
        </p:sp>
        <p:sp>
          <p:nvSpPr>
            <p:cNvPr id="158" name="Shape 3">
              <a:extLst>
                <a:ext uri="{FF2B5EF4-FFF2-40B4-BE49-F238E27FC236}">
                  <a16:creationId xmlns:a16="http://schemas.microsoft.com/office/drawing/2014/main" id="{FE26FF85-703C-4A79-929F-78BB96F80892}"/>
                </a:ext>
              </a:extLst>
            </p:cNvPr>
            <p:cNvSpPr/>
            <p:nvPr/>
          </p:nvSpPr>
          <p:spPr>
            <a:xfrm>
              <a:off x="747713" y="866772"/>
              <a:ext cx="3986212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59" name="Text 7">
            <a:extLst>
              <a:ext uri="{FF2B5EF4-FFF2-40B4-BE49-F238E27FC236}">
                <a16:creationId xmlns:a16="http://schemas.microsoft.com/office/drawing/2014/main" id="{093CD2B3-B179-4D26-8889-40114761639C}"/>
              </a:ext>
            </a:extLst>
          </p:cNvPr>
          <p:cNvSpPr/>
          <p:nvPr/>
        </p:nvSpPr>
        <p:spPr>
          <a:xfrm>
            <a:off x="11146313" y="-120253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52B7F7C7-FF39-4F6B-B8F9-0D9DADCCD7B9}"/>
              </a:ext>
            </a:extLst>
          </p:cNvPr>
          <p:cNvGrpSpPr/>
          <p:nvPr/>
        </p:nvGrpSpPr>
        <p:grpSpPr>
          <a:xfrm>
            <a:off x="-6033571" y="977747"/>
            <a:ext cx="5618602" cy="5756313"/>
            <a:chOff x="367229" y="1101687"/>
            <a:chExt cx="5618602" cy="5756313"/>
          </a:xfrm>
        </p:grpSpPr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244948FF-F4C1-43C6-A1BB-49379C433B17}"/>
                </a:ext>
              </a:extLst>
            </p:cNvPr>
            <p:cNvSpPr/>
            <p:nvPr/>
          </p:nvSpPr>
          <p:spPr>
            <a:xfrm>
              <a:off x="367229" y="1101687"/>
              <a:ext cx="5618602" cy="5756313"/>
            </a:xfrm>
            <a:custGeom>
              <a:avLst/>
              <a:gdLst/>
              <a:ahLst/>
              <a:cxnLst/>
              <a:rect l="l" t="t" r="r" b="b"/>
              <a:pathLst>
                <a:path w="5618602" h="5756313">
                  <a:moveTo>
                    <a:pt x="146870" y="0"/>
                  </a:moveTo>
                  <a:lnTo>
                    <a:pt x="5471732" y="0"/>
                  </a:lnTo>
                  <a:cubicBezTo>
                    <a:pt x="5552846" y="0"/>
                    <a:pt x="5618602" y="65756"/>
                    <a:pt x="5618602" y="146870"/>
                  </a:cubicBezTo>
                  <a:lnTo>
                    <a:pt x="5618602" y="5609443"/>
                  </a:lnTo>
                  <a:cubicBezTo>
                    <a:pt x="5618602" y="5690557"/>
                    <a:pt x="5552846" y="5756313"/>
                    <a:pt x="5471732" y="5756313"/>
                  </a:cubicBezTo>
                  <a:lnTo>
                    <a:pt x="146870" y="5756313"/>
                  </a:lnTo>
                  <a:cubicBezTo>
                    <a:pt x="65756" y="5756313"/>
                    <a:pt x="0" y="5690557"/>
                    <a:pt x="0" y="5609443"/>
                  </a:cubicBezTo>
                  <a:lnTo>
                    <a:pt x="0" y="146870"/>
                  </a:lnTo>
                  <a:cubicBezTo>
                    <a:pt x="0" y="65756"/>
                    <a:pt x="65756" y="0"/>
                    <a:pt x="146870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8266F3F2-A518-43CC-9869-810310738B0F}"/>
                </a:ext>
              </a:extLst>
            </p:cNvPr>
            <p:cNvSpPr/>
            <p:nvPr/>
          </p:nvSpPr>
          <p:spPr>
            <a:xfrm>
              <a:off x="587566" y="1322024"/>
              <a:ext cx="5177928" cy="5315639"/>
            </a:xfrm>
            <a:custGeom>
              <a:avLst/>
              <a:gdLst/>
              <a:ahLst/>
              <a:cxnLst/>
              <a:rect l="l" t="t" r="r" b="b"/>
              <a:pathLst>
                <a:path w="5177928" h="5315639">
                  <a:moveTo>
                    <a:pt x="110186" y="0"/>
                  </a:moveTo>
                  <a:lnTo>
                    <a:pt x="5067741" y="0"/>
                  </a:lnTo>
                  <a:cubicBezTo>
                    <a:pt x="5128596" y="0"/>
                    <a:pt x="5177928" y="49332"/>
                    <a:pt x="5177928" y="110186"/>
                  </a:cubicBezTo>
                  <a:lnTo>
                    <a:pt x="5177928" y="5205452"/>
                  </a:lnTo>
                  <a:cubicBezTo>
                    <a:pt x="5177928" y="5266306"/>
                    <a:pt x="5128596" y="5315639"/>
                    <a:pt x="5067741" y="5315639"/>
                  </a:cubicBezTo>
                  <a:lnTo>
                    <a:pt x="110186" y="5315639"/>
                  </a:lnTo>
                  <a:cubicBezTo>
                    <a:pt x="49332" y="5315639"/>
                    <a:pt x="0" y="5266306"/>
                    <a:pt x="0" y="5205452"/>
                  </a:cubicBezTo>
                  <a:lnTo>
                    <a:pt x="0" y="110186"/>
                  </a:lnTo>
                  <a:cubicBezTo>
                    <a:pt x="0" y="49332"/>
                    <a:pt x="49332" y="0"/>
                    <a:pt x="110186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83A3A9D2-43AB-4A9D-969E-2EB82B3A817E}"/>
                </a:ext>
              </a:extLst>
            </p:cNvPr>
            <p:cNvSpPr/>
            <p:nvPr/>
          </p:nvSpPr>
          <p:spPr>
            <a:xfrm>
              <a:off x="587566" y="1322024"/>
              <a:ext cx="5177928" cy="440675"/>
            </a:xfrm>
            <a:custGeom>
              <a:avLst/>
              <a:gdLst/>
              <a:ahLst/>
              <a:cxnLst/>
              <a:rect l="l" t="t" r="r" b="b"/>
              <a:pathLst>
                <a:path w="5177928" h="440675">
                  <a:moveTo>
                    <a:pt x="0" y="0"/>
                  </a:moveTo>
                  <a:lnTo>
                    <a:pt x="5177928" y="0"/>
                  </a:lnTo>
                  <a:lnTo>
                    <a:pt x="5177928" y="440675"/>
                  </a:lnTo>
                  <a:lnTo>
                    <a:pt x="0" y="440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FE845012-CBAD-4281-B1CF-6204887592BB}"/>
                </a:ext>
              </a:extLst>
            </p:cNvPr>
            <p:cNvSpPr/>
            <p:nvPr/>
          </p:nvSpPr>
          <p:spPr>
            <a:xfrm>
              <a:off x="697735" y="1468916"/>
              <a:ext cx="183614" cy="146892"/>
            </a:xfrm>
            <a:custGeom>
              <a:avLst/>
              <a:gdLst/>
              <a:ahLst/>
              <a:cxnLst/>
              <a:rect l="l" t="t" r="r" b="b"/>
              <a:pathLst>
                <a:path w="183614" h="146892">
                  <a:moveTo>
                    <a:pt x="100988" y="0"/>
                  </a:moveTo>
                  <a:cubicBezTo>
                    <a:pt x="100988" y="-5078"/>
                    <a:pt x="96885" y="-9181"/>
                    <a:pt x="91807" y="-9181"/>
                  </a:cubicBezTo>
                  <a:cubicBezTo>
                    <a:pt x="86729" y="-9181"/>
                    <a:pt x="82627" y="-5078"/>
                    <a:pt x="82627" y="0"/>
                  </a:cubicBezTo>
                  <a:lnTo>
                    <a:pt x="82627" y="18361"/>
                  </a:lnTo>
                  <a:lnTo>
                    <a:pt x="55084" y="18361"/>
                  </a:lnTo>
                  <a:cubicBezTo>
                    <a:pt x="39879" y="18361"/>
                    <a:pt x="27542" y="30698"/>
                    <a:pt x="27542" y="45904"/>
                  </a:cubicBezTo>
                  <a:lnTo>
                    <a:pt x="27542" y="110169"/>
                  </a:lnTo>
                  <a:cubicBezTo>
                    <a:pt x="27542" y="125374"/>
                    <a:pt x="39879" y="137711"/>
                    <a:pt x="55084" y="137711"/>
                  </a:cubicBezTo>
                  <a:lnTo>
                    <a:pt x="128530" y="137711"/>
                  </a:lnTo>
                  <a:cubicBezTo>
                    <a:pt x="143736" y="137711"/>
                    <a:pt x="156072" y="125374"/>
                    <a:pt x="156072" y="110169"/>
                  </a:cubicBezTo>
                  <a:lnTo>
                    <a:pt x="156072" y="45904"/>
                  </a:lnTo>
                  <a:cubicBezTo>
                    <a:pt x="156072" y="30698"/>
                    <a:pt x="143736" y="18361"/>
                    <a:pt x="128530" y="18361"/>
                  </a:cubicBezTo>
                  <a:lnTo>
                    <a:pt x="100988" y="18361"/>
                  </a:lnTo>
                  <a:lnTo>
                    <a:pt x="100988" y="0"/>
                  </a:lnTo>
                  <a:close/>
                  <a:moveTo>
                    <a:pt x="45904" y="105578"/>
                  </a:moveTo>
                  <a:cubicBezTo>
                    <a:pt x="45904" y="101763"/>
                    <a:pt x="48973" y="98693"/>
                    <a:pt x="52789" y="98693"/>
                  </a:cubicBezTo>
                  <a:lnTo>
                    <a:pt x="61970" y="98693"/>
                  </a:lnTo>
                  <a:cubicBezTo>
                    <a:pt x="65786" y="98693"/>
                    <a:pt x="68855" y="101763"/>
                    <a:pt x="68855" y="105578"/>
                  </a:cubicBezTo>
                  <a:cubicBezTo>
                    <a:pt x="68855" y="109394"/>
                    <a:pt x="65786" y="112464"/>
                    <a:pt x="61970" y="112464"/>
                  </a:cubicBezTo>
                  <a:lnTo>
                    <a:pt x="52789" y="112464"/>
                  </a:lnTo>
                  <a:cubicBezTo>
                    <a:pt x="48973" y="112464"/>
                    <a:pt x="45904" y="109394"/>
                    <a:pt x="45904" y="105578"/>
                  </a:cubicBezTo>
                  <a:close/>
                  <a:moveTo>
                    <a:pt x="80331" y="105578"/>
                  </a:moveTo>
                  <a:cubicBezTo>
                    <a:pt x="80331" y="101763"/>
                    <a:pt x="83401" y="98693"/>
                    <a:pt x="87217" y="98693"/>
                  </a:cubicBezTo>
                  <a:lnTo>
                    <a:pt x="96398" y="98693"/>
                  </a:lnTo>
                  <a:cubicBezTo>
                    <a:pt x="100213" y="98693"/>
                    <a:pt x="103283" y="101763"/>
                    <a:pt x="103283" y="105578"/>
                  </a:cubicBezTo>
                  <a:cubicBezTo>
                    <a:pt x="103283" y="109394"/>
                    <a:pt x="100213" y="112464"/>
                    <a:pt x="96398" y="112464"/>
                  </a:cubicBezTo>
                  <a:lnTo>
                    <a:pt x="87217" y="112464"/>
                  </a:lnTo>
                  <a:cubicBezTo>
                    <a:pt x="83401" y="112464"/>
                    <a:pt x="80331" y="109394"/>
                    <a:pt x="80331" y="105578"/>
                  </a:cubicBezTo>
                  <a:close/>
                  <a:moveTo>
                    <a:pt x="114759" y="105578"/>
                  </a:moveTo>
                  <a:cubicBezTo>
                    <a:pt x="114759" y="101763"/>
                    <a:pt x="117829" y="98693"/>
                    <a:pt x="121645" y="98693"/>
                  </a:cubicBezTo>
                  <a:lnTo>
                    <a:pt x="130825" y="98693"/>
                  </a:lnTo>
                  <a:cubicBezTo>
                    <a:pt x="134641" y="98693"/>
                    <a:pt x="137711" y="101763"/>
                    <a:pt x="137711" y="105578"/>
                  </a:cubicBezTo>
                  <a:cubicBezTo>
                    <a:pt x="137711" y="109394"/>
                    <a:pt x="134641" y="112464"/>
                    <a:pt x="130825" y="112464"/>
                  </a:cubicBezTo>
                  <a:lnTo>
                    <a:pt x="121645" y="112464"/>
                  </a:lnTo>
                  <a:cubicBezTo>
                    <a:pt x="117829" y="112464"/>
                    <a:pt x="114759" y="109394"/>
                    <a:pt x="114759" y="105578"/>
                  </a:cubicBezTo>
                  <a:close/>
                  <a:moveTo>
                    <a:pt x="64265" y="50494"/>
                  </a:moveTo>
                  <a:cubicBezTo>
                    <a:pt x="71866" y="50494"/>
                    <a:pt x="78036" y="56665"/>
                    <a:pt x="78036" y="64265"/>
                  </a:cubicBezTo>
                  <a:cubicBezTo>
                    <a:pt x="78036" y="71866"/>
                    <a:pt x="71866" y="78036"/>
                    <a:pt x="64265" y="78036"/>
                  </a:cubicBezTo>
                  <a:cubicBezTo>
                    <a:pt x="56665" y="78036"/>
                    <a:pt x="50494" y="71866"/>
                    <a:pt x="50494" y="64265"/>
                  </a:cubicBezTo>
                  <a:cubicBezTo>
                    <a:pt x="50494" y="56665"/>
                    <a:pt x="56665" y="50494"/>
                    <a:pt x="64265" y="50494"/>
                  </a:cubicBezTo>
                  <a:close/>
                  <a:moveTo>
                    <a:pt x="105578" y="64265"/>
                  </a:moveTo>
                  <a:cubicBezTo>
                    <a:pt x="105578" y="56665"/>
                    <a:pt x="111749" y="50494"/>
                    <a:pt x="119349" y="50494"/>
                  </a:cubicBezTo>
                  <a:cubicBezTo>
                    <a:pt x="126950" y="50494"/>
                    <a:pt x="133120" y="56665"/>
                    <a:pt x="133120" y="64265"/>
                  </a:cubicBezTo>
                  <a:cubicBezTo>
                    <a:pt x="133120" y="71866"/>
                    <a:pt x="126950" y="78036"/>
                    <a:pt x="119349" y="78036"/>
                  </a:cubicBezTo>
                  <a:cubicBezTo>
                    <a:pt x="111749" y="78036"/>
                    <a:pt x="105578" y="71866"/>
                    <a:pt x="105578" y="64265"/>
                  </a:cubicBezTo>
                  <a:close/>
                  <a:moveTo>
                    <a:pt x="18361" y="64265"/>
                  </a:moveTo>
                  <a:cubicBezTo>
                    <a:pt x="18361" y="59187"/>
                    <a:pt x="14259" y="55084"/>
                    <a:pt x="9181" y="55084"/>
                  </a:cubicBezTo>
                  <a:cubicBezTo>
                    <a:pt x="4103" y="55084"/>
                    <a:pt x="0" y="59187"/>
                    <a:pt x="0" y="64265"/>
                  </a:cubicBezTo>
                  <a:lnTo>
                    <a:pt x="0" y="91807"/>
                  </a:lnTo>
                  <a:cubicBezTo>
                    <a:pt x="0" y="96885"/>
                    <a:pt x="4103" y="100988"/>
                    <a:pt x="9181" y="100988"/>
                  </a:cubicBezTo>
                  <a:cubicBezTo>
                    <a:pt x="14259" y="100988"/>
                    <a:pt x="18361" y="96885"/>
                    <a:pt x="18361" y="91807"/>
                  </a:cubicBezTo>
                  <a:lnTo>
                    <a:pt x="18361" y="64265"/>
                  </a:lnTo>
                  <a:close/>
                  <a:moveTo>
                    <a:pt x="174434" y="55084"/>
                  </a:moveTo>
                  <a:cubicBezTo>
                    <a:pt x="169356" y="55084"/>
                    <a:pt x="165253" y="59187"/>
                    <a:pt x="165253" y="64265"/>
                  </a:cubicBezTo>
                  <a:lnTo>
                    <a:pt x="165253" y="91807"/>
                  </a:lnTo>
                  <a:cubicBezTo>
                    <a:pt x="165253" y="96885"/>
                    <a:pt x="169356" y="100988"/>
                    <a:pt x="174434" y="100988"/>
                  </a:cubicBezTo>
                  <a:cubicBezTo>
                    <a:pt x="179512" y="100988"/>
                    <a:pt x="183614" y="96885"/>
                    <a:pt x="183614" y="91807"/>
                  </a:cubicBezTo>
                  <a:lnTo>
                    <a:pt x="183614" y="64265"/>
                  </a:lnTo>
                  <a:cubicBezTo>
                    <a:pt x="183614" y="59187"/>
                    <a:pt x="179512" y="55084"/>
                    <a:pt x="174434" y="55084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21F47488-4FDE-4DE8-AB67-BC597BDBB431}"/>
                </a:ext>
              </a:extLst>
            </p:cNvPr>
            <p:cNvSpPr/>
            <p:nvPr/>
          </p:nvSpPr>
          <p:spPr>
            <a:xfrm>
              <a:off x="954795" y="1432193"/>
              <a:ext cx="135874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57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ИИ-Ассистент 1С</a:t>
              </a:r>
              <a:endParaRPr lang="en-US" sz="1600" dirty="0"/>
            </a:p>
          </p:txBody>
        </p:sp>
        <p:sp>
          <p:nvSpPr>
            <p:cNvPr id="47" name="Shape 9">
              <a:extLst>
                <a:ext uri="{FF2B5EF4-FFF2-40B4-BE49-F238E27FC236}">
                  <a16:creationId xmlns:a16="http://schemas.microsoft.com/office/drawing/2014/main" id="{4BE3D4C3-4A1E-45FB-98C7-4D07BE51406A}"/>
                </a:ext>
              </a:extLst>
            </p:cNvPr>
            <p:cNvSpPr/>
            <p:nvPr/>
          </p:nvSpPr>
          <p:spPr>
            <a:xfrm>
              <a:off x="5177928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FF6467"/>
            </a:solidFill>
            <a:ln/>
          </p:spPr>
        </p:sp>
        <p:sp>
          <p:nvSpPr>
            <p:cNvPr id="48" name="Shape 10">
              <a:extLst>
                <a:ext uri="{FF2B5EF4-FFF2-40B4-BE49-F238E27FC236}">
                  <a16:creationId xmlns:a16="http://schemas.microsoft.com/office/drawing/2014/main" id="{99604D54-0C7A-49F5-AF44-E9AD53971B7F}"/>
                </a:ext>
              </a:extLst>
            </p:cNvPr>
            <p:cNvSpPr/>
            <p:nvPr/>
          </p:nvSpPr>
          <p:spPr>
            <a:xfrm>
              <a:off x="5361542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FDC700"/>
            </a:solidFill>
            <a:ln/>
          </p:spPr>
        </p:sp>
        <p:sp>
          <p:nvSpPr>
            <p:cNvPr id="49" name="Shape 11">
              <a:extLst>
                <a:ext uri="{FF2B5EF4-FFF2-40B4-BE49-F238E27FC236}">
                  <a16:creationId xmlns:a16="http://schemas.microsoft.com/office/drawing/2014/main" id="{DCEEDE1E-62AE-45BC-8853-FEC731E47633}"/>
                </a:ext>
              </a:extLst>
            </p:cNvPr>
            <p:cNvSpPr/>
            <p:nvPr/>
          </p:nvSpPr>
          <p:spPr>
            <a:xfrm>
              <a:off x="5545157" y="1487277"/>
              <a:ext cx="110169" cy="110169"/>
            </a:xfrm>
            <a:custGeom>
              <a:avLst/>
              <a:gdLst/>
              <a:ahLst/>
              <a:cxnLst/>
              <a:rect l="l" t="t" r="r" b="b"/>
              <a:pathLst>
                <a:path w="110169" h="110169">
                  <a:moveTo>
                    <a:pt x="55084" y="0"/>
                  </a:moveTo>
                  <a:lnTo>
                    <a:pt x="55084" y="0"/>
                  </a:lnTo>
                  <a:cubicBezTo>
                    <a:pt x="85507" y="0"/>
                    <a:pt x="110169" y="24662"/>
                    <a:pt x="110169" y="55084"/>
                  </a:cubicBezTo>
                  <a:lnTo>
                    <a:pt x="110169" y="55084"/>
                  </a:lnTo>
                  <a:cubicBezTo>
                    <a:pt x="110169" y="85507"/>
                    <a:pt x="85507" y="110169"/>
                    <a:pt x="55084" y="110169"/>
                  </a:cubicBezTo>
                  <a:lnTo>
                    <a:pt x="55084" y="110169"/>
                  </a:lnTo>
                  <a:cubicBezTo>
                    <a:pt x="24662" y="110169"/>
                    <a:pt x="0" y="85507"/>
                    <a:pt x="0" y="55084"/>
                  </a:cubicBezTo>
                  <a:lnTo>
                    <a:pt x="0" y="55084"/>
                  </a:lnTo>
                  <a:cubicBezTo>
                    <a:pt x="0" y="24662"/>
                    <a:pt x="24662" y="0"/>
                    <a:pt x="55084" y="0"/>
                  </a:cubicBezTo>
                  <a:close/>
                </a:path>
              </a:pathLst>
            </a:custGeom>
            <a:solidFill>
              <a:srgbClr val="05DF72"/>
            </a:solidFill>
            <a:ln/>
          </p:spPr>
        </p:sp>
        <p:sp>
          <p:nvSpPr>
            <p:cNvPr id="50" name="Shape 12">
              <a:extLst>
                <a:ext uri="{FF2B5EF4-FFF2-40B4-BE49-F238E27FC236}">
                  <a16:creationId xmlns:a16="http://schemas.microsoft.com/office/drawing/2014/main" id="{CA1F84CD-311B-46E7-AF3B-671156117189}"/>
                </a:ext>
              </a:extLst>
            </p:cNvPr>
            <p:cNvSpPr/>
            <p:nvPr/>
          </p:nvSpPr>
          <p:spPr>
            <a:xfrm>
              <a:off x="3401917" y="1909590"/>
              <a:ext cx="2212554" cy="403952"/>
            </a:xfrm>
            <a:custGeom>
              <a:avLst/>
              <a:gdLst/>
              <a:ahLst/>
              <a:cxnLst/>
              <a:rect l="l" t="t" r="r" b="b"/>
              <a:pathLst>
                <a:path w="2212554" h="403952">
                  <a:moveTo>
                    <a:pt x="110170" y="0"/>
                  </a:moveTo>
                  <a:lnTo>
                    <a:pt x="2175831" y="0"/>
                  </a:lnTo>
                  <a:cubicBezTo>
                    <a:pt x="2196113" y="0"/>
                    <a:pt x="2212554" y="16442"/>
                    <a:pt x="2212554" y="36723"/>
                  </a:cubicBezTo>
                  <a:lnTo>
                    <a:pt x="2212554" y="293782"/>
                  </a:lnTo>
                  <a:cubicBezTo>
                    <a:pt x="2212554" y="354586"/>
                    <a:pt x="2163189" y="403952"/>
                    <a:pt x="2102384" y="403952"/>
                  </a:cubicBezTo>
                  <a:lnTo>
                    <a:pt x="110170" y="403952"/>
                  </a:lnTo>
                  <a:cubicBezTo>
                    <a:pt x="49325" y="403952"/>
                    <a:pt x="0" y="354627"/>
                    <a:pt x="0" y="293782"/>
                  </a:cubicBezTo>
                  <a:lnTo>
                    <a:pt x="0" y="110170"/>
                  </a:lnTo>
                  <a:cubicBezTo>
                    <a:pt x="0" y="49365"/>
                    <a:pt x="49365" y="0"/>
                    <a:pt x="11017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1" name="Text 13">
              <a:extLst>
                <a:ext uri="{FF2B5EF4-FFF2-40B4-BE49-F238E27FC236}">
                  <a16:creationId xmlns:a16="http://schemas.microsoft.com/office/drawing/2014/main" id="{54214D05-58CF-4AB2-88EB-F1859B2A291A}"/>
                </a:ext>
              </a:extLst>
            </p:cNvPr>
            <p:cNvSpPr/>
            <p:nvPr/>
          </p:nvSpPr>
          <p:spPr>
            <a:xfrm>
              <a:off x="3512085" y="2019759"/>
              <a:ext cx="205648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Покажи реализации за сентябрь</a:t>
              </a:r>
              <a:endParaRPr lang="en-US" sz="1600" dirty="0"/>
            </a:p>
          </p:txBody>
        </p:sp>
        <p:sp>
          <p:nvSpPr>
            <p:cNvPr id="52" name="Shape 14">
              <a:extLst>
                <a:ext uri="{FF2B5EF4-FFF2-40B4-BE49-F238E27FC236}">
                  <a16:creationId xmlns:a16="http://schemas.microsoft.com/office/drawing/2014/main" id="{55297D60-3FC5-4ACA-B259-D6A5C28967D7}"/>
                </a:ext>
              </a:extLst>
            </p:cNvPr>
            <p:cNvSpPr/>
            <p:nvPr/>
          </p:nvSpPr>
          <p:spPr>
            <a:xfrm>
              <a:off x="734458" y="2423711"/>
              <a:ext cx="2864386" cy="1432193"/>
            </a:xfrm>
            <a:custGeom>
              <a:avLst/>
              <a:gdLst/>
              <a:ahLst/>
              <a:cxnLst/>
              <a:rect l="l" t="t" r="r" b="b"/>
              <a:pathLst>
                <a:path w="2864386" h="1432193">
                  <a:moveTo>
                    <a:pt x="36721" y="0"/>
                  </a:moveTo>
                  <a:lnTo>
                    <a:pt x="2754221" y="0"/>
                  </a:lnTo>
                  <a:cubicBezTo>
                    <a:pt x="2815063" y="0"/>
                    <a:pt x="2864386" y="49322"/>
                    <a:pt x="2864386" y="110164"/>
                  </a:cubicBezTo>
                  <a:lnTo>
                    <a:pt x="2864386" y="1322029"/>
                  </a:lnTo>
                  <a:cubicBezTo>
                    <a:pt x="2864386" y="1382871"/>
                    <a:pt x="2815063" y="1432193"/>
                    <a:pt x="2754221" y="1432193"/>
                  </a:cubicBezTo>
                  <a:lnTo>
                    <a:pt x="110164" y="1432193"/>
                  </a:lnTo>
                  <a:cubicBezTo>
                    <a:pt x="49363" y="1432193"/>
                    <a:pt x="0" y="1382830"/>
                    <a:pt x="0" y="1322029"/>
                  </a:cubicBezTo>
                  <a:lnTo>
                    <a:pt x="0" y="36721"/>
                  </a:lnTo>
                  <a:cubicBezTo>
                    <a:pt x="0" y="16454"/>
                    <a:pt x="16454" y="0"/>
                    <a:pt x="36721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53" name="Text 15">
              <a:extLst>
                <a:ext uri="{FF2B5EF4-FFF2-40B4-BE49-F238E27FC236}">
                  <a16:creationId xmlns:a16="http://schemas.microsoft.com/office/drawing/2014/main" id="{263EF3EB-C5B9-4174-A035-95D244D3B2B3}"/>
                </a:ext>
              </a:extLst>
            </p:cNvPr>
            <p:cNvSpPr/>
            <p:nvPr/>
          </p:nvSpPr>
          <p:spPr>
            <a:xfrm>
              <a:off x="844627" y="2533880"/>
              <a:ext cx="2708313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Нашел 15 реализаций за сентябрь 2026:</a:t>
              </a:r>
              <a:endParaRPr lang="en-US" sz="1600" dirty="0"/>
            </a:p>
          </p:txBody>
        </p:sp>
        <p:sp>
          <p:nvSpPr>
            <p:cNvPr id="54" name="Shape 16">
              <a:extLst>
                <a:ext uri="{FF2B5EF4-FFF2-40B4-BE49-F238E27FC236}">
                  <a16:creationId xmlns:a16="http://schemas.microsoft.com/office/drawing/2014/main" id="{669E7864-801B-448A-BDEF-E9A40CEB1ACD}"/>
                </a:ext>
              </a:extLst>
            </p:cNvPr>
            <p:cNvSpPr/>
            <p:nvPr/>
          </p:nvSpPr>
          <p:spPr>
            <a:xfrm>
              <a:off x="844627" y="2790940"/>
              <a:ext cx="2644048" cy="661012"/>
            </a:xfrm>
            <a:custGeom>
              <a:avLst/>
              <a:gdLst/>
              <a:ahLst/>
              <a:cxnLst/>
              <a:rect l="l" t="t" r="r" b="b"/>
              <a:pathLst>
                <a:path w="2644048" h="661012">
                  <a:moveTo>
                    <a:pt x="73445" y="0"/>
                  </a:moveTo>
                  <a:lnTo>
                    <a:pt x="2570603" y="0"/>
                  </a:lnTo>
                  <a:cubicBezTo>
                    <a:pt x="2611166" y="0"/>
                    <a:pt x="2644048" y="32882"/>
                    <a:pt x="2644048" y="73445"/>
                  </a:cubicBezTo>
                  <a:lnTo>
                    <a:pt x="2644048" y="587567"/>
                  </a:lnTo>
                  <a:cubicBezTo>
                    <a:pt x="2644048" y="628130"/>
                    <a:pt x="2611166" y="661012"/>
                    <a:pt x="2570603" y="661012"/>
                  </a:cubicBezTo>
                  <a:lnTo>
                    <a:pt x="73445" y="661012"/>
                  </a:lnTo>
                  <a:cubicBezTo>
                    <a:pt x="32882" y="661012"/>
                    <a:pt x="0" y="628130"/>
                    <a:pt x="0" y="587567"/>
                  </a:cubicBezTo>
                  <a:lnTo>
                    <a:pt x="0" y="73445"/>
                  </a:lnTo>
                  <a:cubicBezTo>
                    <a:pt x="0" y="32910"/>
                    <a:pt x="32910" y="0"/>
                    <a:pt x="73445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13AA8D31-D367-4588-8386-85E3085C048A}"/>
                </a:ext>
              </a:extLst>
            </p:cNvPr>
            <p:cNvSpPr/>
            <p:nvPr/>
          </p:nvSpPr>
          <p:spPr>
            <a:xfrm>
              <a:off x="918072" y="2864386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Реализация №124 от 05.09 — ООО Ромашка</a:t>
              </a:r>
              <a:endParaRPr lang="en-US" sz="1600" dirty="0"/>
            </a:p>
          </p:txBody>
        </p:sp>
        <p:sp>
          <p:nvSpPr>
            <p:cNvPr id="56" name="Text 18">
              <a:extLst>
                <a:ext uri="{FF2B5EF4-FFF2-40B4-BE49-F238E27FC236}">
                  <a16:creationId xmlns:a16="http://schemas.microsoft.com/office/drawing/2014/main" id="{E6CB17FE-8A52-4947-A0D0-4ABD2077D35A}"/>
                </a:ext>
              </a:extLst>
            </p:cNvPr>
            <p:cNvSpPr/>
            <p:nvPr/>
          </p:nvSpPr>
          <p:spPr>
            <a:xfrm>
              <a:off x="918072" y="3048000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Реализация №125 от 12.09 — ИП Иванов</a:t>
              </a:r>
              <a:endParaRPr lang="en-US" sz="1600" dirty="0"/>
            </a:p>
          </p:txBody>
        </p:sp>
        <p:sp>
          <p:nvSpPr>
            <p:cNvPr id="57" name="Text 19">
              <a:extLst>
                <a:ext uri="{FF2B5EF4-FFF2-40B4-BE49-F238E27FC236}">
                  <a16:creationId xmlns:a16="http://schemas.microsoft.com/office/drawing/2014/main" id="{0323E867-4E84-4E1E-90E2-DDCEB9AB530A}"/>
                </a:ext>
              </a:extLst>
            </p:cNvPr>
            <p:cNvSpPr/>
            <p:nvPr/>
          </p:nvSpPr>
          <p:spPr>
            <a:xfrm>
              <a:off x="918072" y="3231614"/>
              <a:ext cx="2552241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• ... и еще 13 документов</a:t>
              </a:r>
              <a:endParaRPr lang="en-US" sz="1600" dirty="0"/>
            </a:p>
          </p:txBody>
        </p:sp>
        <p:sp>
          <p:nvSpPr>
            <p:cNvPr id="58" name="Shape 20">
              <a:extLst>
                <a:ext uri="{FF2B5EF4-FFF2-40B4-BE49-F238E27FC236}">
                  <a16:creationId xmlns:a16="http://schemas.microsoft.com/office/drawing/2014/main" id="{F69DB2AF-2F33-48FD-9504-76AFE59CCBE9}"/>
                </a:ext>
              </a:extLst>
            </p:cNvPr>
            <p:cNvSpPr/>
            <p:nvPr/>
          </p:nvSpPr>
          <p:spPr>
            <a:xfrm>
              <a:off x="844627" y="3525398"/>
              <a:ext cx="1120048" cy="220337"/>
            </a:xfrm>
            <a:custGeom>
              <a:avLst/>
              <a:gdLst/>
              <a:ahLst/>
              <a:cxnLst/>
              <a:rect l="l" t="t" r="r" b="b"/>
              <a:pathLst>
                <a:path w="1120048" h="220337">
                  <a:moveTo>
                    <a:pt x="36724" y="0"/>
                  </a:moveTo>
                  <a:lnTo>
                    <a:pt x="1083325" y="0"/>
                  </a:lnTo>
                  <a:cubicBezTo>
                    <a:pt x="1103593" y="0"/>
                    <a:pt x="1120048" y="16455"/>
                    <a:pt x="1120048" y="36724"/>
                  </a:cubicBezTo>
                  <a:lnTo>
                    <a:pt x="1120048" y="183614"/>
                  </a:lnTo>
                  <a:cubicBezTo>
                    <a:pt x="1120048" y="203896"/>
                    <a:pt x="1103606" y="220337"/>
                    <a:pt x="1083325" y="220337"/>
                  </a:cubicBezTo>
                  <a:lnTo>
                    <a:pt x="36724" y="220337"/>
                  </a:lnTo>
                  <a:cubicBezTo>
                    <a:pt x="16455" y="220337"/>
                    <a:pt x="0" y="203882"/>
                    <a:pt x="0" y="183614"/>
                  </a:cubicBezTo>
                  <a:lnTo>
                    <a:pt x="0" y="36724"/>
                  </a:lnTo>
                  <a:cubicBezTo>
                    <a:pt x="0" y="16442"/>
                    <a:pt x="16442" y="0"/>
                    <a:pt x="3672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59" name="Text 21">
              <a:extLst>
                <a:ext uri="{FF2B5EF4-FFF2-40B4-BE49-F238E27FC236}">
                  <a16:creationId xmlns:a16="http://schemas.microsoft.com/office/drawing/2014/main" id="{82F710CE-F5C6-4693-9657-4FE4EB6DCAFB}"/>
                </a:ext>
              </a:extLst>
            </p:cNvPr>
            <p:cNvSpPr/>
            <p:nvPr/>
          </p:nvSpPr>
          <p:spPr>
            <a:xfrm>
              <a:off x="817084" y="3525398"/>
              <a:ext cx="1175133" cy="220337"/>
            </a:xfrm>
            <a:prstGeom prst="rect">
              <a:avLst/>
            </a:prstGeom>
            <a:noFill/>
            <a:ln/>
          </p:spPr>
          <p:txBody>
            <a:bodyPr wrap="square" lIns="110169" tIns="36723" rIns="110169" bIns="36723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Открыть список</a:t>
              </a:r>
              <a:endParaRPr lang="en-US" sz="1600" dirty="0"/>
            </a:p>
          </p:txBody>
        </p:sp>
        <p:sp>
          <p:nvSpPr>
            <p:cNvPr id="60" name="Shape 22">
              <a:extLst>
                <a:ext uri="{FF2B5EF4-FFF2-40B4-BE49-F238E27FC236}">
                  <a16:creationId xmlns:a16="http://schemas.microsoft.com/office/drawing/2014/main" id="{0B66B01B-1CD9-43A7-B783-BCFE5DF898B6}"/>
                </a:ext>
              </a:extLst>
            </p:cNvPr>
            <p:cNvSpPr/>
            <p:nvPr/>
          </p:nvSpPr>
          <p:spPr>
            <a:xfrm>
              <a:off x="2040722" y="3525398"/>
              <a:ext cx="615108" cy="220337"/>
            </a:xfrm>
            <a:custGeom>
              <a:avLst/>
              <a:gdLst/>
              <a:ahLst/>
              <a:cxnLst/>
              <a:rect l="l" t="t" r="r" b="b"/>
              <a:pathLst>
                <a:path w="615108" h="220337">
                  <a:moveTo>
                    <a:pt x="36724" y="0"/>
                  </a:moveTo>
                  <a:lnTo>
                    <a:pt x="578385" y="0"/>
                  </a:lnTo>
                  <a:cubicBezTo>
                    <a:pt x="598653" y="0"/>
                    <a:pt x="615108" y="16455"/>
                    <a:pt x="615108" y="36724"/>
                  </a:cubicBezTo>
                  <a:lnTo>
                    <a:pt x="615108" y="183614"/>
                  </a:lnTo>
                  <a:cubicBezTo>
                    <a:pt x="615108" y="203896"/>
                    <a:pt x="598667" y="220337"/>
                    <a:pt x="578385" y="220337"/>
                  </a:cubicBezTo>
                  <a:lnTo>
                    <a:pt x="36724" y="220337"/>
                  </a:lnTo>
                  <a:cubicBezTo>
                    <a:pt x="16455" y="220337"/>
                    <a:pt x="0" y="203882"/>
                    <a:pt x="0" y="183614"/>
                  </a:cubicBezTo>
                  <a:lnTo>
                    <a:pt x="0" y="36724"/>
                  </a:lnTo>
                  <a:cubicBezTo>
                    <a:pt x="0" y="16442"/>
                    <a:pt x="16442" y="0"/>
                    <a:pt x="3672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61" name="Text 23">
              <a:extLst>
                <a:ext uri="{FF2B5EF4-FFF2-40B4-BE49-F238E27FC236}">
                  <a16:creationId xmlns:a16="http://schemas.microsoft.com/office/drawing/2014/main" id="{6E6010C1-97AF-46BA-B45D-EA486A545FE2}"/>
                </a:ext>
              </a:extLst>
            </p:cNvPr>
            <p:cNvSpPr/>
            <p:nvPr/>
          </p:nvSpPr>
          <p:spPr>
            <a:xfrm>
              <a:off x="2013180" y="3525398"/>
              <a:ext cx="670193" cy="220337"/>
            </a:xfrm>
            <a:prstGeom prst="rect">
              <a:avLst/>
            </a:prstGeom>
            <a:noFill/>
            <a:ln/>
          </p:spPr>
          <p:txBody>
            <a:bodyPr wrap="square" lIns="110169" tIns="36723" rIns="110169" bIns="36723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Фильтр</a:t>
              </a:r>
              <a:endParaRPr lang="en-US" sz="1600" dirty="0"/>
            </a:p>
          </p:txBody>
        </p:sp>
        <p:sp>
          <p:nvSpPr>
            <p:cNvPr id="62" name="Shape 24">
              <a:extLst>
                <a:ext uri="{FF2B5EF4-FFF2-40B4-BE49-F238E27FC236}">
                  <a16:creationId xmlns:a16="http://schemas.microsoft.com/office/drawing/2014/main" id="{77CBCB4C-05EE-4A17-AE7A-735C599D8D32}"/>
                </a:ext>
              </a:extLst>
            </p:cNvPr>
            <p:cNvSpPr/>
            <p:nvPr/>
          </p:nvSpPr>
          <p:spPr>
            <a:xfrm>
              <a:off x="2892081" y="3966072"/>
              <a:ext cx="2726675" cy="403952"/>
            </a:xfrm>
            <a:custGeom>
              <a:avLst/>
              <a:gdLst/>
              <a:ahLst/>
              <a:cxnLst/>
              <a:rect l="l" t="t" r="r" b="b"/>
              <a:pathLst>
                <a:path w="2726675" h="403952">
                  <a:moveTo>
                    <a:pt x="110170" y="0"/>
                  </a:moveTo>
                  <a:lnTo>
                    <a:pt x="2689951" y="0"/>
                  </a:lnTo>
                  <a:cubicBezTo>
                    <a:pt x="2710233" y="0"/>
                    <a:pt x="2726675" y="16442"/>
                    <a:pt x="2726675" y="36723"/>
                  </a:cubicBezTo>
                  <a:lnTo>
                    <a:pt x="2726675" y="293782"/>
                  </a:lnTo>
                  <a:cubicBezTo>
                    <a:pt x="2726675" y="354586"/>
                    <a:pt x="2677309" y="403952"/>
                    <a:pt x="2616505" y="403952"/>
                  </a:cubicBezTo>
                  <a:lnTo>
                    <a:pt x="110170" y="403952"/>
                  </a:lnTo>
                  <a:cubicBezTo>
                    <a:pt x="49325" y="403952"/>
                    <a:pt x="0" y="354627"/>
                    <a:pt x="0" y="293782"/>
                  </a:cubicBezTo>
                  <a:lnTo>
                    <a:pt x="0" y="110170"/>
                  </a:lnTo>
                  <a:cubicBezTo>
                    <a:pt x="0" y="49365"/>
                    <a:pt x="49365" y="0"/>
                    <a:pt x="110170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63" name="Text 25">
              <a:extLst>
                <a:ext uri="{FF2B5EF4-FFF2-40B4-BE49-F238E27FC236}">
                  <a16:creationId xmlns:a16="http://schemas.microsoft.com/office/drawing/2014/main" id="{DFFBE9F5-D4F7-4F89-BDE8-4F85B4B4A78E}"/>
                </a:ext>
              </a:extLst>
            </p:cNvPr>
            <p:cNvSpPr/>
            <p:nvPr/>
          </p:nvSpPr>
          <p:spPr>
            <a:xfrm>
              <a:off x="3002249" y="4076241"/>
              <a:ext cx="257060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Сколько осталось товара "Ноутбук Dell"?</a:t>
              </a:r>
              <a:endParaRPr lang="en-US" sz="1600" dirty="0"/>
            </a:p>
          </p:txBody>
        </p:sp>
        <p:sp>
          <p:nvSpPr>
            <p:cNvPr id="64" name="Shape 26">
              <a:extLst>
                <a:ext uri="{FF2B5EF4-FFF2-40B4-BE49-F238E27FC236}">
                  <a16:creationId xmlns:a16="http://schemas.microsoft.com/office/drawing/2014/main" id="{DDB78B60-8204-4C6A-AE0E-A0AAFE9951C6}"/>
                </a:ext>
              </a:extLst>
            </p:cNvPr>
            <p:cNvSpPr/>
            <p:nvPr/>
          </p:nvSpPr>
          <p:spPr>
            <a:xfrm>
              <a:off x="734458" y="4480193"/>
              <a:ext cx="2084024" cy="1101687"/>
            </a:xfrm>
            <a:custGeom>
              <a:avLst/>
              <a:gdLst/>
              <a:ahLst/>
              <a:cxnLst/>
              <a:rect l="l" t="t" r="r" b="b"/>
              <a:pathLst>
                <a:path w="2084024" h="1101687">
                  <a:moveTo>
                    <a:pt x="36719" y="0"/>
                  </a:moveTo>
                  <a:lnTo>
                    <a:pt x="1973855" y="0"/>
                  </a:lnTo>
                  <a:cubicBezTo>
                    <a:pt x="2034700" y="0"/>
                    <a:pt x="2084024" y="49324"/>
                    <a:pt x="2084024" y="110169"/>
                  </a:cubicBezTo>
                  <a:lnTo>
                    <a:pt x="2084024" y="991518"/>
                  </a:lnTo>
                  <a:cubicBezTo>
                    <a:pt x="2084024" y="1052363"/>
                    <a:pt x="2034700" y="1101687"/>
                    <a:pt x="1973855" y="1101687"/>
                  </a:cubicBezTo>
                  <a:lnTo>
                    <a:pt x="110169" y="1101687"/>
                  </a:lnTo>
                  <a:cubicBezTo>
                    <a:pt x="49324" y="1101687"/>
                    <a:pt x="0" y="1052363"/>
                    <a:pt x="0" y="991518"/>
                  </a:cubicBezTo>
                  <a:lnTo>
                    <a:pt x="0" y="36719"/>
                  </a:lnTo>
                  <a:cubicBezTo>
                    <a:pt x="0" y="16453"/>
                    <a:pt x="16453" y="0"/>
                    <a:pt x="36719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65" name="Text 27">
              <a:extLst>
                <a:ext uri="{FF2B5EF4-FFF2-40B4-BE49-F238E27FC236}">
                  <a16:creationId xmlns:a16="http://schemas.microsoft.com/office/drawing/2014/main" id="{FE1D1D2A-A052-408E-A267-39A0D5548E54}"/>
                </a:ext>
              </a:extLst>
            </p:cNvPr>
            <p:cNvSpPr/>
            <p:nvPr/>
          </p:nvSpPr>
          <p:spPr>
            <a:xfrm>
              <a:off x="844627" y="4590361"/>
              <a:ext cx="1927952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12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Остаток товара "Ноутбук Dell":</a:t>
              </a:r>
              <a:endParaRPr lang="en-US" sz="1600" dirty="0"/>
            </a:p>
          </p:txBody>
        </p:sp>
        <p:sp>
          <p:nvSpPr>
            <p:cNvPr id="66" name="Shape 28">
              <a:extLst>
                <a:ext uri="{FF2B5EF4-FFF2-40B4-BE49-F238E27FC236}">
                  <a16:creationId xmlns:a16="http://schemas.microsoft.com/office/drawing/2014/main" id="{4ACFF08B-4A92-47A5-B03E-8A07CA2AF59D}"/>
                </a:ext>
              </a:extLst>
            </p:cNvPr>
            <p:cNvSpPr/>
            <p:nvPr/>
          </p:nvSpPr>
          <p:spPr>
            <a:xfrm>
              <a:off x="844627" y="4847422"/>
              <a:ext cx="1863687" cy="624289"/>
            </a:xfrm>
            <a:custGeom>
              <a:avLst/>
              <a:gdLst/>
              <a:ahLst/>
              <a:cxnLst/>
              <a:rect l="l" t="t" r="r" b="b"/>
              <a:pathLst>
                <a:path w="1863687" h="624289">
                  <a:moveTo>
                    <a:pt x="73448" y="0"/>
                  </a:moveTo>
                  <a:lnTo>
                    <a:pt x="1790239" y="0"/>
                  </a:lnTo>
                  <a:cubicBezTo>
                    <a:pt x="1830803" y="0"/>
                    <a:pt x="1863687" y="32884"/>
                    <a:pt x="1863687" y="73448"/>
                  </a:cubicBezTo>
                  <a:lnTo>
                    <a:pt x="1863687" y="550842"/>
                  </a:lnTo>
                  <a:cubicBezTo>
                    <a:pt x="1863687" y="591406"/>
                    <a:pt x="1830803" y="624289"/>
                    <a:pt x="1790239" y="624289"/>
                  </a:cubicBezTo>
                  <a:lnTo>
                    <a:pt x="73448" y="624289"/>
                  </a:lnTo>
                  <a:cubicBezTo>
                    <a:pt x="32884" y="624289"/>
                    <a:pt x="0" y="591406"/>
                    <a:pt x="0" y="550842"/>
                  </a:cubicBezTo>
                  <a:lnTo>
                    <a:pt x="0" y="73448"/>
                  </a:lnTo>
                  <a:cubicBezTo>
                    <a:pt x="0" y="32911"/>
                    <a:pt x="32911" y="0"/>
                    <a:pt x="73448" y="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67" name="Text 29">
              <a:extLst>
                <a:ext uri="{FF2B5EF4-FFF2-40B4-BE49-F238E27FC236}">
                  <a16:creationId xmlns:a16="http://schemas.microsoft.com/office/drawing/2014/main" id="{A5F937F7-D284-4DF5-8E5B-A446EFEF6D83}"/>
                </a:ext>
              </a:extLst>
            </p:cNvPr>
            <p:cNvSpPr/>
            <p:nvPr/>
          </p:nvSpPr>
          <p:spPr>
            <a:xfrm>
              <a:off x="918072" y="4920867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Склад основной:</a:t>
              </a: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25 шт.</a:t>
              </a:r>
              <a:endParaRPr lang="en-US" sz="1600" dirty="0"/>
            </a:p>
          </p:txBody>
        </p:sp>
        <p:sp>
          <p:nvSpPr>
            <p:cNvPr id="68" name="Text 30">
              <a:extLst>
                <a:ext uri="{FF2B5EF4-FFF2-40B4-BE49-F238E27FC236}">
                  <a16:creationId xmlns:a16="http://schemas.microsoft.com/office/drawing/2014/main" id="{06D5D251-B02A-48CB-A31D-FC5D16015E3E}"/>
                </a:ext>
              </a:extLst>
            </p:cNvPr>
            <p:cNvSpPr/>
            <p:nvPr/>
          </p:nvSpPr>
          <p:spPr>
            <a:xfrm>
              <a:off x="918072" y="5067759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Склад резервный:</a:t>
              </a: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8 шт.</a:t>
              </a:r>
              <a:endParaRPr lang="en-US" sz="1600" dirty="0"/>
            </a:p>
          </p:txBody>
        </p:sp>
        <p:sp>
          <p:nvSpPr>
            <p:cNvPr id="69" name="Text 31">
              <a:extLst>
                <a:ext uri="{FF2B5EF4-FFF2-40B4-BE49-F238E27FC236}">
                  <a16:creationId xmlns:a16="http://schemas.microsoft.com/office/drawing/2014/main" id="{818A6811-A3B9-43C0-99D4-194711C5B596}"/>
                </a:ext>
              </a:extLst>
            </p:cNvPr>
            <p:cNvSpPr/>
            <p:nvPr/>
          </p:nvSpPr>
          <p:spPr>
            <a:xfrm>
              <a:off x="918072" y="5251373"/>
              <a:ext cx="1771880" cy="146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867" b="1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Итого:</a:t>
              </a:r>
              <a:r>
                <a:rPr lang="en-US" sz="867" dirty="0">
                  <a:solidFill>
                    <a:srgbClr val="FF6B3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33 шт.</a:t>
              </a:r>
              <a:endParaRPr lang="en-US" sz="1600" dirty="0"/>
            </a:p>
          </p:txBody>
        </p:sp>
        <p:sp>
          <p:nvSpPr>
            <p:cNvPr id="70" name="Shape 32">
              <a:extLst>
                <a:ext uri="{FF2B5EF4-FFF2-40B4-BE49-F238E27FC236}">
                  <a16:creationId xmlns:a16="http://schemas.microsoft.com/office/drawing/2014/main" id="{B1D87F51-A4D9-4630-B1C5-EB0503D33AE0}"/>
                </a:ext>
              </a:extLst>
            </p:cNvPr>
            <p:cNvSpPr/>
            <p:nvPr/>
          </p:nvSpPr>
          <p:spPr>
            <a:xfrm>
              <a:off x="587566" y="5733361"/>
              <a:ext cx="5177928" cy="904301"/>
            </a:xfrm>
            <a:custGeom>
              <a:avLst/>
              <a:gdLst/>
              <a:ahLst/>
              <a:cxnLst/>
              <a:rect l="l" t="t" r="r" b="b"/>
              <a:pathLst>
                <a:path w="5177928" h="904301">
                  <a:moveTo>
                    <a:pt x="0" y="0"/>
                  </a:moveTo>
                  <a:lnTo>
                    <a:pt x="5177928" y="0"/>
                  </a:lnTo>
                  <a:lnTo>
                    <a:pt x="5177928" y="904301"/>
                  </a:lnTo>
                  <a:lnTo>
                    <a:pt x="0" y="904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/>
          </p:spPr>
        </p:sp>
        <p:sp>
          <p:nvSpPr>
            <p:cNvPr id="71" name="Shape 33">
              <a:extLst>
                <a:ext uri="{FF2B5EF4-FFF2-40B4-BE49-F238E27FC236}">
                  <a16:creationId xmlns:a16="http://schemas.microsoft.com/office/drawing/2014/main" id="{3A7D2DAD-E5CA-48BD-B742-5A75290A91DC}"/>
                </a:ext>
              </a:extLst>
            </p:cNvPr>
            <p:cNvSpPr/>
            <p:nvPr/>
          </p:nvSpPr>
          <p:spPr>
            <a:xfrm>
              <a:off x="587566" y="5733361"/>
              <a:ext cx="5177928" cy="9181"/>
            </a:xfrm>
            <a:custGeom>
              <a:avLst/>
              <a:gdLst/>
              <a:ahLst/>
              <a:cxnLst/>
              <a:rect l="l" t="t" r="r" b="b"/>
              <a:pathLst>
                <a:path w="5177928" h="9181">
                  <a:moveTo>
                    <a:pt x="0" y="0"/>
                  </a:moveTo>
                  <a:lnTo>
                    <a:pt x="5177928" y="0"/>
                  </a:lnTo>
                  <a:lnTo>
                    <a:pt x="5177928" y="9181"/>
                  </a:lnTo>
                  <a:lnTo>
                    <a:pt x="0" y="9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72" name="Shape 34">
              <a:extLst>
                <a:ext uri="{FF2B5EF4-FFF2-40B4-BE49-F238E27FC236}">
                  <a16:creationId xmlns:a16="http://schemas.microsoft.com/office/drawing/2014/main" id="{EF78D698-82B5-43B5-990D-0CDDE31B0459}"/>
                </a:ext>
              </a:extLst>
            </p:cNvPr>
            <p:cNvSpPr/>
            <p:nvPr/>
          </p:nvSpPr>
          <p:spPr>
            <a:xfrm>
              <a:off x="702325" y="5861892"/>
              <a:ext cx="4287398" cy="339687"/>
            </a:xfrm>
            <a:custGeom>
              <a:avLst/>
              <a:gdLst/>
              <a:ahLst/>
              <a:cxnLst/>
              <a:rect l="l" t="t" r="r" b="b"/>
              <a:pathLst>
                <a:path w="4287398" h="339687">
                  <a:moveTo>
                    <a:pt x="73447" y="0"/>
                  </a:moveTo>
                  <a:lnTo>
                    <a:pt x="4213951" y="0"/>
                  </a:lnTo>
                  <a:cubicBezTo>
                    <a:pt x="4254487" y="0"/>
                    <a:pt x="4287398" y="32911"/>
                    <a:pt x="4287398" y="73447"/>
                  </a:cubicBezTo>
                  <a:lnTo>
                    <a:pt x="4287398" y="266240"/>
                  </a:lnTo>
                  <a:cubicBezTo>
                    <a:pt x="4287398" y="306803"/>
                    <a:pt x="4254514" y="339687"/>
                    <a:pt x="4213951" y="339687"/>
                  </a:cubicBezTo>
                  <a:lnTo>
                    <a:pt x="73447" y="339687"/>
                  </a:lnTo>
                  <a:cubicBezTo>
                    <a:pt x="32911" y="339687"/>
                    <a:pt x="0" y="306776"/>
                    <a:pt x="0" y="266240"/>
                  </a:cubicBezTo>
                  <a:lnTo>
                    <a:pt x="0" y="73447"/>
                  </a:lnTo>
                  <a:cubicBezTo>
                    <a:pt x="0" y="32911"/>
                    <a:pt x="32911" y="0"/>
                    <a:pt x="73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73" name="Shape 35">
              <a:extLst>
                <a:ext uri="{FF2B5EF4-FFF2-40B4-BE49-F238E27FC236}">
                  <a16:creationId xmlns:a16="http://schemas.microsoft.com/office/drawing/2014/main" id="{0E35AEF3-B247-45C6-AACE-6ECFF3940512}"/>
                </a:ext>
              </a:extLst>
            </p:cNvPr>
            <p:cNvSpPr/>
            <p:nvPr/>
          </p:nvSpPr>
          <p:spPr>
            <a:xfrm>
              <a:off x="5288096" y="5848120"/>
              <a:ext cx="367229" cy="367229"/>
            </a:xfrm>
            <a:custGeom>
              <a:avLst/>
              <a:gdLst/>
              <a:ahLst/>
              <a:cxnLst/>
              <a:rect l="l" t="t" r="r" b="b"/>
              <a:pathLst>
                <a:path w="367229" h="367229">
                  <a:moveTo>
                    <a:pt x="73446" y="0"/>
                  </a:moveTo>
                  <a:lnTo>
                    <a:pt x="293783" y="0"/>
                  </a:lnTo>
                  <a:cubicBezTo>
                    <a:pt x="334346" y="0"/>
                    <a:pt x="367229" y="32883"/>
                    <a:pt x="367229" y="73446"/>
                  </a:cubicBezTo>
                  <a:lnTo>
                    <a:pt x="367229" y="293783"/>
                  </a:lnTo>
                  <a:cubicBezTo>
                    <a:pt x="367229" y="334346"/>
                    <a:pt x="334346" y="367229"/>
                    <a:pt x="293783" y="367229"/>
                  </a:cubicBezTo>
                  <a:lnTo>
                    <a:pt x="73446" y="367229"/>
                  </a:lnTo>
                  <a:cubicBezTo>
                    <a:pt x="32883" y="367229"/>
                    <a:pt x="0" y="334346"/>
                    <a:pt x="0" y="293783"/>
                  </a:cubicBezTo>
                  <a:lnTo>
                    <a:pt x="0" y="73446"/>
                  </a:lnTo>
                  <a:cubicBezTo>
                    <a:pt x="0" y="32910"/>
                    <a:pt x="32910" y="0"/>
                    <a:pt x="73446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74" name="Shape 36">
              <a:extLst>
                <a:ext uri="{FF2B5EF4-FFF2-40B4-BE49-F238E27FC236}">
                  <a16:creationId xmlns:a16="http://schemas.microsoft.com/office/drawing/2014/main" id="{EA6D6BA4-A4F6-4A24-9855-71C108505DA5}"/>
                </a:ext>
              </a:extLst>
            </p:cNvPr>
            <p:cNvSpPr/>
            <p:nvPr/>
          </p:nvSpPr>
          <p:spPr>
            <a:xfrm>
              <a:off x="5389084" y="5958289"/>
              <a:ext cx="165253" cy="146892"/>
            </a:xfrm>
            <a:custGeom>
              <a:avLst/>
              <a:gdLst/>
              <a:ahLst/>
              <a:cxnLst/>
              <a:rect l="l" t="t" r="r" b="b"/>
              <a:pathLst>
                <a:path w="165253" h="146892">
                  <a:moveTo>
                    <a:pt x="153892" y="-7545"/>
                  </a:moveTo>
                  <a:cubicBezTo>
                    <a:pt x="156703" y="-8550"/>
                    <a:pt x="159802" y="-7832"/>
                    <a:pt x="161925" y="-5738"/>
                  </a:cubicBezTo>
                  <a:cubicBezTo>
                    <a:pt x="164048" y="-3644"/>
                    <a:pt x="164737" y="-516"/>
                    <a:pt x="163732" y="2295"/>
                  </a:cubicBezTo>
                  <a:lnTo>
                    <a:pt x="112665" y="144855"/>
                  </a:lnTo>
                  <a:cubicBezTo>
                    <a:pt x="111230" y="148842"/>
                    <a:pt x="107472" y="151482"/>
                    <a:pt x="103254" y="151482"/>
                  </a:cubicBezTo>
                  <a:cubicBezTo>
                    <a:pt x="99180" y="151482"/>
                    <a:pt x="95508" y="149015"/>
                    <a:pt x="93988" y="145256"/>
                  </a:cubicBezTo>
                  <a:lnTo>
                    <a:pt x="75569" y="99926"/>
                  </a:lnTo>
                  <a:cubicBezTo>
                    <a:pt x="74278" y="96771"/>
                    <a:pt x="74852" y="93156"/>
                    <a:pt x="77061" y="90574"/>
                  </a:cubicBezTo>
                  <a:lnTo>
                    <a:pt x="104173" y="58326"/>
                  </a:lnTo>
                  <a:cubicBezTo>
                    <a:pt x="105636" y="56576"/>
                    <a:pt x="105521" y="54023"/>
                    <a:pt x="103914" y="52416"/>
                  </a:cubicBezTo>
                  <a:cubicBezTo>
                    <a:pt x="102308" y="50810"/>
                    <a:pt x="99726" y="50695"/>
                    <a:pt x="98004" y="52158"/>
                  </a:cubicBezTo>
                  <a:lnTo>
                    <a:pt x="65757" y="79212"/>
                  </a:lnTo>
                  <a:cubicBezTo>
                    <a:pt x="63146" y="81393"/>
                    <a:pt x="59560" y="81967"/>
                    <a:pt x="56404" y="80704"/>
                  </a:cubicBezTo>
                  <a:lnTo>
                    <a:pt x="10931" y="62199"/>
                  </a:lnTo>
                  <a:cubicBezTo>
                    <a:pt x="7172" y="60679"/>
                    <a:pt x="4705" y="57007"/>
                    <a:pt x="4705" y="52933"/>
                  </a:cubicBezTo>
                  <a:cubicBezTo>
                    <a:pt x="4705" y="48715"/>
                    <a:pt x="7345" y="44957"/>
                    <a:pt x="11332" y="43522"/>
                  </a:cubicBezTo>
                  <a:lnTo>
                    <a:pt x="153892" y="-754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75" name="Shape 37">
              <a:extLst>
                <a:ext uri="{FF2B5EF4-FFF2-40B4-BE49-F238E27FC236}">
                  <a16:creationId xmlns:a16="http://schemas.microsoft.com/office/drawing/2014/main" id="{C7ABB250-BB41-45AB-9093-3B03FC7FA43A}"/>
                </a:ext>
              </a:extLst>
            </p:cNvPr>
            <p:cNvSpPr/>
            <p:nvPr/>
          </p:nvSpPr>
          <p:spPr>
            <a:xfrm>
              <a:off x="702325" y="6293386"/>
              <a:ext cx="780361" cy="229518"/>
            </a:xfrm>
            <a:custGeom>
              <a:avLst/>
              <a:gdLst/>
              <a:ahLst/>
              <a:cxnLst/>
              <a:rect l="l" t="t" r="r" b="b"/>
              <a:pathLst>
                <a:path w="780361" h="229518">
                  <a:moveTo>
                    <a:pt x="36723" y="0"/>
                  </a:moveTo>
                  <a:lnTo>
                    <a:pt x="743639" y="0"/>
                  </a:lnTo>
                  <a:cubicBezTo>
                    <a:pt x="763920" y="0"/>
                    <a:pt x="780361" y="16441"/>
                    <a:pt x="780361" y="36723"/>
                  </a:cubicBezTo>
                  <a:lnTo>
                    <a:pt x="780361" y="192795"/>
                  </a:lnTo>
                  <a:cubicBezTo>
                    <a:pt x="780361" y="213077"/>
                    <a:pt x="763920" y="229518"/>
                    <a:pt x="743639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76" name="Text 38">
              <a:extLst>
                <a:ext uri="{FF2B5EF4-FFF2-40B4-BE49-F238E27FC236}">
                  <a16:creationId xmlns:a16="http://schemas.microsoft.com/office/drawing/2014/main" id="{697B16B2-FA96-4C15-A5C5-D6047AF59654}"/>
                </a:ext>
              </a:extLst>
            </p:cNvPr>
            <p:cNvSpPr/>
            <p:nvPr/>
          </p:nvSpPr>
          <p:spPr>
            <a:xfrm>
              <a:off x="697735" y="6288795"/>
              <a:ext cx="826265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Реализации</a:t>
              </a:r>
              <a:endParaRPr lang="en-US" sz="1600" dirty="0"/>
            </a:p>
          </p:txBody>
        </p:sp>
        <p:sp>
          <p:nvSpPr>
            <p:cNvPr id="77" name="Shape 39">
              <a:extLst>
                <a:ext uri="{FF2B5EF4-FFF2-40B4-BE49-F238E27FC236}">
                  <a16:creationId xmlns:a16="http://schemas.microsoft.com/office/drawing/2014/main" id="{8988DF1A-5725-4501-8C6C-F9D3D21ED51E}"/>
                </a:ext>
              </a:extLst>
            </p:cNvPr>
            <p:cNvSpPr/>
            <p:nvPr/>
          </p:nvSpPr>
          <p:spPr>
            <a:xfrm>
              <a:off x="1564395" y="6293386"/>
              <a:ext cx="587566" cy="229518"/>
            </a:xfrm>
            <a:custGeom>
              <a:avLst/>
              <a:gdLst/>
              <a:ahLst/>
              <a:cxnLst/>
              <a:rect l="l" t="t" r="r" b="b"/>
              <a:pathLst>
                <a:path w="587566" h="229518">
                  <a:moveTo>
                    <a:pt x="36723" y="0"/>
                  </a:moveTo>
                  <a:lnTo>
                    <a:pt x="550843" y="0"/>
                  </a:lnTo>
                  <a:cubicBezTo>
                    <a:pt x="571125" y="0"/>
                    <a:pt x="587566" y="16441"/>
                    <a:pt x="587566" y="36723"/>
                  </a:cubicBezTo>
                  <a:lnTo>
                    <a:pt x="587566" y="192795"/>
                  </a:lnTo>
                  <a:cubicBezTo>
                    <a:pt x="587566" y="213077"/>
                    <a:pt x="571125" y="229518"/>
                    <a:pt x="550843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78" name="Text 40">
              <a:extLst>
                <a:ext uri="{FF2B5EF4-FFF2-40B4-BE49-F238E27FC236}">
                  <a16:creationId xmlns:a16="http://schemas.microsoft.com/office/drawing/2014/main" id="{10B42EF5-1938-4B80-97EB-EEC2376D3B98}"/>
                </a:ext>
              </a:extLst>
            </p:cNvPr>
            <p:cNvSpPr/>
            <p:nvPr/>
          </p:nvSpPr>
          <p:spPr>
            <a:xfrm>
              <a:off x="1559805" y="6288795"/>
              <a:ext cx="633470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Остатки</a:t>
              </a:r>
              <a:endParaRPr lang="en-US" sz="1600" dirty="0"/>
            </a:p>
          </p:txBody>
        </p:sp>
        <p:sp>
          <p:nvSpPr>
            <p:cNvPr id="79" name="Shape 41">
              <a:extLst>
                <a:ext uri="{FF2B5EF4-FFF2-40B4-BE49-F238E27FC236}">
                  <a16:creationId xmlns:a16="http://schemas.microsoft.com/office/drawing/2014/main" id="{BA61BE3F-A367-4827-AA1E-CC3A8FE3AB12}"/>
                </a:ext>
              </a:extLst>
            </p:cNvPr>
            <p:cNvSpPr/>
            <p:nvPr/>
          </p:nvSpPr>
          <p:spPr>
            <a:xfrm>
              <a:off x="2230151" y="6293386"/>
              <a:ext cx="532482" cy="229518"/>
            </a:xfrm>
            <a:custGeom>
              <a:avLst/>
              <a:gdLst/>
              <a:ahLst/>
              <a:cxnLst/>
              <a:rect l="l" t="t" r="r" b="b"/>
              <a:pathLst>
                <a:path w="532482" h="229518">
                  <a:moveTo>
                    <a:pt x="36723" y="0"/>
                  </a:moveTo>
                  <a:lnTo>
                    <a:pt x="495759" y="0"/>
                  </a:lnTo>
                  <a:cubicBezTo>
                    <a:pt x="516041" y="0"/>
                    <a:pt x="532482" y="16441"/>
                    <a:pt x="532482" y="36723"/>
                  </a:cubicBezTo>
                  <a:lnTo>
                    <a:pt x="532482" y="192795"/>
                  </a:lnTo>
                  <a:cubicBezTo>
                    <a:pt x="532482" y="213077"/>
                    <a:pt x="516041" y="229518"/>
                    <a:pt x="495759" y="229518"/>
                  </a:cubicBezTo>
                  <a:lnTo>
                    <a:pt x="36723" y="229518"/>
                  </a:lnTo>
                  <a:cubicBezTo>
                    <a:pt x="16441" y="229518"/>
                    <a:pt x="0" y="213077"/>
                    <a:pt x="0" y="192795"/>
                  </a:cubicBezTo>
                  <a:lnTo>
                    <a:pt x="0" y="36723"/>
                  </a:lnTo>
                  <a:cubicBezTo>
                    <a:pt x="0" y="16455"/>
                    <a:pt x="16455" y="0"/>
                    <a:pt x="3672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80" name="Text 42">
              <a:extLst>
                <a:ext uri="{FF2B5EF4-FFF2-40B4-BE49-F238E27FC236}">
                  <a16:creationId xmlns:a16="http://schemas.microsoft.com/office/drawing/2014/main" id="{B4B9CEEF-115F-4287-8C67-BB11E3FA2159}"/>
                </a:ext>
              </a:extLst>
            </p:cNvPr>
            <p:cNvSpPr/>
            <p:nvPr/>
          </p:nvSpPr>
          <p:spPr>
            <a:xfrm>
              <a:off x="2225560" y="6288795"/>
              <a:ext cx="578386" cy="220337"/>
            </a:xfrm>
            <a:prstGeom prst="rect">
              <a:avLst/>
            </a:prstGeom>
            <a:noFill/>
            <a:ln/>
          </p:spPr>
          <p:txBody>
            <a:bodyPr wrap="square" lIns="73446" tIns="36723" rIns="73446" bIns="36723" rtlCol="0" anchor="ctr"/>
            <a:lstStyle/>
            <a:p>
              <a:pPr>
                <a:lnSpc>
                  <a:spcPct val="110000"/>
                </a:lnSpc>
              </a:pPr>
              <a:r>
                <a:rPr lang="en-US" sz="867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Заказы</a:t>
              </a:r>
              <a:endParaRPr lang="en-US" sz="1600" dirty="0"/>
            </a:p>
          </p:txBody>
        </p: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15D5719B-7ABC-491F-889C-441D5B0414D5}"/>
              </a:ext>
            </a:extLst>
          </p:cNvPr>
          <p:cNvGrpSpPr/>
          <p:nvPr/>
        </p:nvGrpSpPr>
        <p:grpSpPr>
          <a:xfrm>
            <a:off x="13043413" y="1279179"/>
            <a:ext cx="5618602" cy="3709012"/>
            <a:chOff x="6261613" y="1279179"/>
            <a:chExt cx="5618602" cy="3709012"/>
          </a:xfrm>
        </p:grpSpPr>
        <p:sp>
          <p:nvSpPr>
            <p:cNvPr id="82" name="Shape 43">
              <a:extLst>
                <a:ext uri="{FF2B5EF4-FFF2-40B4-BE49-F238E27FC236}">
                  <a16:creationId xmlns:a16="http://schemas.microsoft.com/office/drawing/2014/main" id="{D37BC86A-C95E-4522-A470-9E8EF31CBF61}"/>
                </a:ext>
              </a:extLst>
            </p:cNvPr>
            <p:cNvSpPr/>
            <p:nvPr/>
          </p:nvSpPr>
          <p:spPr>
            <a:xfrm>
              <a:off x="6261613" y="1279179"/>
              <a:ext cx="5618602" cy="3709012"/>
            </a:xfrm>
            <a:custGeom>
              <a:avLst/>
              <a:gdLst/>
              <a:ahLst/>
              <a:cxnLst/>
              <a:rect l="l" t="t" r="r" b="b"/>
              <a:pathLst>
                <a:path w="5618602" h="3709012">
                  <a:moveTo>
                    <a:pt x="146877" y="0"/>
                  </a:moveTo>
                  <a:lnTo>
                    <a:pt x="5471726" y="0"/>
                  </a:lnTo>
                  <a:cubicBezTo>
                    <a:pt x="5552843" y="0"/>
                    <a:pt x="5618602" y="65759"/>
                    <a:pt x="5618602" y="146877"/>
                  </a:cubicBezTo>
                  <a:lnTo>
                    <a:pt x="5618602" y="3562135"/>
                  </a:lnTo>
                  <a:cubicBezTo>
                    <a:pt x="5618602" y="3643253"/>
                    <a:pt x="5552843" y="3709012"/>
                    <a:pt x="5471726" y="3709012"/>
                  </a:cubicBezTo>
                  <a:lnTo>
                    <a:pt x="146877" y="3709012"/>
                  </a:lnTo>
                  <a:cubicBezTo>
                    <a:pt x="65759" y="3709012"/>
                    <a:pt x="0" y="3643253"/>
                    <a:pt x="0" y="3562135"/>
                  </a:cubicBezTo>
                  <a:lnTo>
                    <a:pt x="0" y="146877"/>
                  </a:lnTo>
                  <a:cubicBezTo>
                    <a:pt x="0" y="65813"/>
                    <a:pt x="65813" y="0"/>
                    <a:pt x="146877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83" name="Text 44">
              <a:extLst>
                <a:ext uri="{FF2B5EF4-FFF2-40B4-BE49-F238E27FC236}">
                  <a16:creationId xmlns:a16="http://schemas.microsoft.com/office/drawing/2014/main" id="{3B056B16-2767-4CF0-9D6A-66C5DFEF207F}"/>
                </a:ext>
              </a:extLst>
            </p:cNvPr>
            <p:cNvSpPr/>
            <p:nvPr/>
          </p:nvSpPr>
          <p:spPr>
            <a:xfrm>
              <a:off x="6445227" y="1462793"/>
              <a:ext cx="5343181" cy="367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Элементы интерфейса</a:t>
              </a:r>
              <a:endParaRPr lang="en-US" sz="2400" dirty="0"/>
            </a:p>
          </p:txBody>
        </p:sp>
        <p:sp>
          <p:nvSpPr>
            <p:cNvPr id="84" name="Shape 45">
              <a:extLst>
                <a:ext uri="{FF2B5EF4-FFF2-40B4-BE49-F238E27FC236}">
                  <a16:creationId xmlns:a16="http://schemas.microsoft.com/office/drawing/2014/main" id="{06BB9B54-9FAC-4DD8-890D-2A39C9BA55AC}"/>
                </a:ext>
              </a:extLst>
            </p:cNvPr>
            <p:cNvSpPr/>
            <p:nvPr/>
          </p:nvSpPr>
          <p:spPr>
            <a:xfrm>
              <a:off x="6445227" y="1976914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5" name="Shape 46">
              <a:extLst>
                <a:ext uri="{FF2B5EF4-FFF2-40B4-BE49-F238E27FC236}">
                  <a16:creationId xmlns:a16="http://schemas.microsoft.com/office/drawing/2014/main" id="{A6635336-BAD3-482A-B57F-0F1B52DEA689}"/>
                </a:ext>
              </a:extLst>
            </p:cNvPr>
            <p:cNvSpPr/>
            <p:nvPr/>
          </p:nvSpPr>
          <p:spPr>
            <a:xfrm>
              <a:off x="6566872" y="2197251"/>
              <a:ext cx="206566" cy="183614"/>
            </a:xfrm>
            <a:custGeom>
              <a:avLst/>
              <a:gdLst/>
              <a:ahLst/>
              <a:cxnLst/>
              <a:rect l="l" t="t" r="r" b="b"/>
              <a:pathLst>
                <a:path w="206566" h="183614">
                  <a:moveTo>
                    <a:pt x="137711" y="51642"/>
                  </a:moveTo>
                  <a:cubicBezTo>
                    <a:pt x="137711" y="86500"/>
                    <a:pt x="106869" y="114759"/>
                    <a:pt x="68855" y="114759"/>
                  </a:cubicBezTo>
                  <a:cubicBezTo>
                    <a:pt x="59280" y="114759"/>
                    <a:pt x="50171" y="112966"/>
                    <a:pt x="41887" y="109738"/>
                  </a:cubicBezTo>
                  <a:lnTo>
                    <a:pt x="12623" y="125231"/>
                  </a:lnTo>
                  <a:cubicBezTo>
                    <a:pt x="9288" y="126988"/>
                    <a:pt x="5200" y="126378"/>
                    <a:pt x="2510" y="123725"/>
                  </a:cubicBezTo>
                  <a:cubicBezTo>
                    <a:pt x="-179" y="121071"/>
                    <a:pt x="-789" y="116947"/>
                    <a:pt x="1004" y="113611"/>
                  </a:cubicBezTo>
                  <a:lnTo>
                    <a:pt x="13771" y="89512"/>
                  </a:lnTo>
                  <a:cubicBezTo>
                    <a:pt x="5128" y="78969"/>
                    <a:pt x="0" y="65843"/>
                    <a:pt x="0" y="51642"/>
                  </a:cubicBezTo>
                  <a:cubicBezTo>
                    <a:pt x="0" y="16784"/>
                    <a:pt x="30841" y="-11476"/>
                    <a:pt x="68855" y="-11476"/>
                  </a:cubicBezTo>
                  <a:cubicBezTo>
                    <a:pt x="106869" y="-11476"/>
                    <a:pt x="137711" y="16784"/>
                    <a:pt x="137711" y="51642"/>
                  </a:cubicBezTo>
                  <a:close/>
                  <a:moveTo>
                    <a:pt x="137711" y="183614"/>
                  </a:moveTo>
                  <a:cubicBezTo>
                    <a:pt x="103965" y="183614"/>
                    <a:pt x="75884" y="161344"/>
                    <a:pt x="70003" y="131973"/>
                  </a:cubicBezTo>
                  <a:cubicBezTo>
                    <a:pt x="113038" y="131435"/>
                    <a:pt x="150442" y="100809"/>
                    <a:pt x="154566" y="59280"/>
                  </a:cubicBezTo>
                  <a:cubicBezTo>
                    <a:pt x="184439" y="66166"/>
                    <a:pt x="206566" y="90947"/>
                    <a:pt x="206566" y="120497"/>
                  </a:cubicBezTo>
                  <a:cubicBezTo>
                    <a:pt x="206566" y="134698"/>
                    <a:pt x="201438" y="147824"/>
                    <a:pt x="192795" y="158367"/>
                  </a:cubicBezTo>
                  <a:lnTo>
                    <a:pt x="205562" y="182467"/>
                  </a:lnTo>
                  <a:cubicBezTo>
                    <a:pt x="207319" y="185802"/>
                    <a:pt x="206710" y="189890"/>
                    <a:pt x="204056" y="192580"/>
                  </a:cubicBezTo>
                  <a:cubicBezTo>
                    <a:pt x="201402" y="195270"/>
                    <a:pt x="197278" y="195879"/>
                    <a:pt x="193943" y="194086"/>
                  </a:cubicBezTo>
                  <a:lnTo>
                    <a:pt x="164679" y="178594"/>
                  </a:lnTo>
                  <a:cubicBezTo>
                    <a:pt x="156395" y="181821"/>
                    <a:pt x="147286" y="183614"/>
                    <a:pt x="137711" y="183614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86" name="Text 47">
              <a:extLst>
                <a:ext uri="{FF2B5EF4-FFF2-40B4-BE49-F238E27FC236}">
                  <a16:creationId xmlns:a16="http://schemas.microsoft.com/office/drawing/2014/main" id="{0473263A-44F4-48FE-80FD-DE7AEA9960D6}"/>
                </a:ext>
              </a:extLst>
            </p:cNvPr>
            <p:cNvSpPr/>
            <p:nvPr/>
          </p:nvSpPr>
          <p:spPr>
            <a:xfrm>
              <a:off x="6895083" y="2087082"/>
              <a:ext cx="2322723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Чат-панель</a:t>
              </a:r>
              <a:endParaRPr lang="en-US" sz="2400" dirty="0"/>
            </a:p>
          </p:txBody>
        </p:sp>
        <p:sp>
          <p:nvSpPr>
            <p:cNvPr id="87" name="Text 48">
              <a:extLst>
                <a:ext uri="{FF2B5EF4-FFF2-40B4-BE49-F238E27FC236}">
                  <a16:creationId xmlns:a16="http://schemas.microsoft.com/office/drawing/2014/main" id="{D58B5A08-A032-4DBA-9B07-A53A0E465328}"/>
                </a:ext>
              </a:extLst>
            </p:cNvPr>
            <p:cNvSpPr/>
            <p:nvPr/>
          </p:nvSpPr>
          <p:spPr>
            <a:xfrm>
              <a:off x="6895082" y="2307420"/>
              <a:ext cx="3950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Естественный диалог с ассистентом</a:t>
              </a:r>
              <a:endParaRPr lang="en-US" sz="2400" dirty="0"/>
            </a:p>
          </p:txBody>
        </p:sp>
        <p:sp>
          <p:nvSpPr>
            <p:cNvPr id="88" name="Shape 49">
              <a:extLst>
                <a:ext uri="{FF2B5EF4-FFF2-40B4-BE49-F238E27FC236}">
                  <a16:creationId xmlns:a16="http://schemas.microsoft.com/office/drawing/2014/main" id="{BEFF4D83-ADC6-4A4E-9258-43561264DFCC}"/>
                </a:ext>
              </a:extLst>
            </p:cNvPr>
            <p:cNvSpPr/>
            <p:nvPr/>
          </p:nvSpPr>
          <p:spPr>
            <a:xfrm>
              <a:off x="6445227" y="2711372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9" name="Shape 50">
              <a:extLst>
                <a:ext uri="{FF2B5EF4-FFF2-40B4-BE49-F238E27FC236}">
                  <a16:creationId xmlns:a16="http://schemas.microsoft.com/office/drawing/2014/main" id="{070E9003-FCF3-4B54-BA96-1AB0E8880CC2}"/>
                </a:ext>
              </a:extLst>
            </p:cNvPr>
            <p:cNvSpPr/>
            <p:nvPr/>
          </p:nvSpPr>
          <p:spPr>
            <a:xfrm>
              <a:off x="6589824" y="2931709"/>
              <a:ext cx="160663" cy="183614"/>
            </a:xfrm>
            <a:custGeom>
              <a:avLst/>
              <a:gdLst/>
              <a:ahLst/>
              <a:cxnLst/>
              <a:rect l="l" t="t" r="r" b="b"/>
              <a:pathLst>
                <a:path w="160663" h="183614">
                  <a:moveTo>
                    <a:pt x="121501" y="-3550"/>
                  </a:moveTo>
                  <a:cubicBezTo>
                    <a:pt x="125769" y="-466"/>
                    <a:pt x="127347" y="5128"/>
                    <a:pt x="125410" y="10006"/>
                  </a:cubicBezTo>
                  <a:lnTo>
                    <a:pt x="97294" y="80331"/>
                  </a:lnTo>
                  <a:lnTo>
                    <a:pt x="149187" y="80331"/>
                  </a:lnTo>
                  <a:cubicBezTo>
                    <a:pt x="154028" y="80331"/>
                    <a:pt x="158332" y="83344"/>
                    <a:pt x="159981" y="87898"/>
                  </a:cubicBezTo>
                  <a:cubicBezTo>
                    <a:pt x="161631" y="92453"/>
                    <a:pt x="160232" y="97545"/>
                    <a:pt x="156538" y="100629"/>
                  </a:cubicBezTo>
                  <a:lnTo>
                    <a:pt x="53255" y="186699"/>
                  </a:lnTo>
                  <a:cubicBezTo>
                    <a:pt x="49203" y="190070"/>
                    <a:pt x="43429" y="190249"/>
                    <a:pt x="39162" y="187165"/>
                  </a:cubicBezTo>
                  <a:cubicBezTo>
                    <a:pt x="34894" y="184081"/>
                    <a:pt x="33316" y="178486"/>
                    <a:pt x="35253" y="173609"/>
                  </a:cubicBezTo>
                  <a:lnTo>
                    <a:pt x="63369" y="103283"/>
                  </a:lnTo>
                  <a:lnTo>
                    <a:pt x="11476" y="103283"/>
                  </a:lnTo>
                  <a:cubicBezTo>
                    <a:pt x="6635" y="103283"/>
                    <a:pt x="2331" y="100271"/>
                    <a:pt x="681" y="95716"/>
                  </a:cubicBezTo>
                  <a:cubicBezTo>
                    <a:pt x="-968" y="91162"/>
                    <a:pt x="430" y="86069"/>
                    <a:pt x="4124" y="82985"/>
                  </a:cubicBezTo>
                  <a:lnTo>
                    <a:pt x="107407" y="-3084"/>
                  </a:lnTo>
                  <a:cubicBezTo>
                    <a:pt x="111460" y="-6455"/>
                    <a:pt x="117234" y="-6635"/>
                    <a:pt x="121501" y="-355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0" name="Text 51">
              <a:extLst>
                <a:ext uri="{FF2B5EF4-FFF2-40B4-BE49-F238E27FC236}">
                  <a16:creationId xmlns:a16="http://schemas.microsoft.com/office/drawing/2014/main" id="{B6C712ED-F9F2-49D1-A260-298C2350BCE6}"/>
                </a:ext>
              </a:extLst>
            </p:cNvPr>
            <p:cNvSpPr/>
            <p:nvPr/>
          </p:nvSpPr>
          <p:spPr>
            <a:xfrm>
              <a:off x="6895083" y="2821540"/>
              <a:ext cx="267436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Быстрые действия</a:t>
              </a:r>
              <a:endParaRPr lang="en-US" sz="2400" dirty="0"/>
            </a:p>
          </p:txBody>
        </p:sp>
        <p:sp>
          <p:nvSpPr>
            <p:cNvPr id="91" name="Text 52">
              <a:extLst>
                <a:ext uri="{FF2B5EF4-FFF2-40B4-BE49-F238E27FC236}">
                  <a16:creationId xmlns:a16="http://schemas.microsoft.com/office/drawing/2014/main" id="{CC170587-A8AA-41F4-8708-5ABE92DBE489}"/>
                </a:ext>
              </a:extLst>
            </p:cNvPr>
            <p:cNvSpPr/>
            <p:nvPr/>
          </p:nvSpPr>
          <p:spPr>
            <a:xfrm>
              <a:off x="6895082" y="3041878"/>
              <a:ext cx="3442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Кнопки частых команд</a:t>
              </a:r>
              <a:endParaRPr lang="en-US" sz="2400" dirty="0"/>
            </a:p>
          </p:txBody>
        </p:sp>
        <p:sp>
          <p:nvSpPr>
            <p:cNvPr id="92" name="Shape 53">
              <a:extLst>
                <a:ext uri="{FF2B5EF4-FFF2-40B4-BE49-F238E27FC236}">
                  <a16:creationId xmlns:a16="http://schemas.microsoft.com/office/drawing/2014/main" id="{E61A46BF-F3BA-4C70-9070-D9C93071BDCF}"/>
                </a:ext>
              </a:extLst>
            </p:cNvPr>
            <p:cNvSpPr/>
            <p:nvPr/>
          </p:nvSpPr>
          <p:spPr>
            <a:xfrm>
              <a:off x="6445227" y="3445829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3" name="Shape 54">
              <a:extLst>
                <a:ext uri="{FF2B5EF4-FFF2-40B4-BE49-F238E27FC236}">
                  <a16:creationId xmlns:a16="http://schemas.microsoft.com/office/drawing/2014/main" id="{B69ADCCC-CD6E-41DB-B833-62064DFBFAF0}"/>
                </a:ext>
              </a:extLst>
            </p:cNvPr>
            <p:cNvSpPr/>
            <p:nvPr/>
          </p:nvSpPr>
          <p:spPr>
            <a:xfrm>
              <a:off x="6589824" y="3666167"/>
              <a:ext cx="160663" cy="183614"/>
            </a:xfrm>
            <a:custGeom>
              <a:avLst/>
              <a:gdLst/>
              <a:ahLst/>
              <a:cxnLst/>
              <a:rect l="l" t="t" r="r" b="b"/>
              <a:pathLst>
                <a:path w="160663" h="183614">
                  <a:moveTo>
                    <a:pt x="91807" y="57380"/>
                  </a:moveTo>
                  <a:lnTo>
                    <a:pt x="91807" y="91807"/>
                  </a:lnTo>
                  <a:lnTo>
                    <a:pt x="137711" y="91807"/>
                  </a:lnTo>
                  <a:lnTo>
                    <a:pt x="137711" y="57380"/>
                  </a:lnTo>
                  <a:lnTo>
                    <a:pt x="91807" y="57380"/>
                  </a:lnTo>
                  <a:close/>
                  <a:moveTo>
                    <a:pt x="68855" y="57380"/>
                  </a:moveTo>
                  <a:lnTo>
                    <a:pt x="22952" y="57380"/>
                  </a:lnTo>
                  <a:lnTo>
                    <a:pt x="22952" y="91807"/>
                  </a:lnTo>
                  <a:lnTo>
                    <a:pt x="68855" y="91807"/>
                  </a:lnTo>
                  <a:lnTo>
                    <a:pt x="68855" y="57380"/>
                  </a:lnTo>
                  <a:close/>
                  <a:moveTo>
                    <a:pt x="0" y="114759"/>
                  </a:moveTo>
                  <a:lnTo>
                    <a:pt x="0" y="34428"/>
                  </a:lnTo>
                  <a:cubicBezTo>
                    <a:pt x="0" y="21768"/>
                    <a:pt x="10292" y="11476"/>
                    <a:pt x="22952" y="11476"/>
                  </a:cubicBezTo>
                  <a:lnTo>
                    <a:pt x="137711" y="11476"/>
                  </a:lnTo>
                  <a:cubicBezTo>
                    <a:pt x="150370" y="11476"/>
                    <a:pt x="160663" y="21768"/>
                    <a:pt x="160663" y="34428"/>
                  </a:cubicBezTo>
                  <a:lnTo>
                    <a:pt x="160663" y="149187"/>
                  </a:lnTo>
                  <a:cubicBezTo>
                    <a:pt x="160663" y="161846"/>
                    <a:pt x="150370" y="172139"/>
                    <a:pt x="137711" y="172139"/>
                  </a:cubicBezTo>
                  <a:lnTo>
                    <a:pt x="22952" y="172139"/>
                  </a:lnTo>
                  <a:cubicBezTo>
                    <a:pt x="10292" y="172139"/>
                    <a:pt x="0" y="161846"/>
                    <a:pt x="0" y="149187"/>
                  </a:cubicBezTo>
                  <a:lnTo>
                    <a:pt x="0" y="114759"/>
                  </a:lnTo>
                  <a:close/>
                  <a:moveTo>
                    <a:pt x="137711" y="114759"/>
                  </a:moveTo>
                  <a:lnTo>
                    <a:pt x="91807" y="114759"/>
                  </a:lnTo>
                  <a:lnTo>
                    <a:pt x="91807" y="149187"/>
                  </a:lnTo>
                  <a:lnTo>
                    <a:pt x="137711" y="149187"/>
                  </a:lnTo>
                  <a:lnTo>
                    <a:pt x="137711" y="114759"/>
                  </a:lnTo>
                  <a:close/>
                  <a:moveTo>
                    <a:pt x="68855" y="149187"/>
                  </a:moveTo>
                  <a:lnTo>
                    <a:pt x="68855" y="114759"/>
                  </a:lnTo>
                  <a:lnTo>
                    <a:pt x="22952" y="114759"/>
                  </a:lnTo>
                  <a:lnTo>
                    <a:pt x="22952" y="149187"/>
                  </a:lnTo>
                  <a:lnTo>
                    <a:pt x="68855" y="149187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4" name="Text 55">
              <a:extLst>
                <a:ext uri="{FF2B5EF4-FFF2-40B4-BE49-F238E27FC236}">
                  <a16:creationId xmlns:a16="http://schemas.microsoft.com/office/drawing/2014/main" id="{7A891A38-8E10-4CF7-BB79-1718313B48A6}"/>
                </a:ext>
              </a:extLst>
            </p:cNvPr>
            <p:cNvSpPr/>
            <p:nvPr/>
          </p:nvSpPr>
          <p:spPr>
            <a:xfrm>
              <a:off x="6895083" y="3555998"/>
              <a:ext cx="1808602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Результаты</a:t>
              </a:r>
              <a:endParaRPr lang="en-US" sz="2400" dirty="0"/>
            </a:p>
          </p:txBody>
        </p:sp>
        <p:sp>
          <p:nvSpPr>
            <p:cNvPr id="95" name="Text 56">
              <a:extLst>
                <a:ext uri="{FF2B5EF4-FFF2-40B4-BE49-F238E27FC236}">
                  <a16:creationId xmlns:a16="http://schemas.microsoft.com/office/drawing/2014/main" id="{C110333D-C892-4462-8EC0-84681C862EB1}"/>
                </a:ext>
              </a:extLst>
            </p:cNvPr>
            <p:cNvSpPr/>
            <p:nvPr/>
          </p:nvSpPr>
          <p:spPr>
            <a:xfrm>
              <a:off x="6895082" y="3776335"/>
              <a:ext cx="369671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Таблицы и карточки данных</a:t>
              </a:r>
              <a:endParaRPr lang="en-US" sz="2400" dirty="0"/>
            </a:p>
          </p:txBody>
        </p:sp>
        <p:sp>
          <p:nvSpPr>
            <p:cNvPr id="96" name="Shape 57">
              <a:extLst>
                <a:ext uri="{FF2B5EF4-FFF2-40B4-BE49-F238E27FC236}">
                  <a16:creationId xmlns:a16="http://schemas.microsoft.com/office/drawing/2014/main" id="{5BF02E9B-F7CB-4736-BF9C-796D183FDB7A}"/>
                </a:ext>
              </a:extLst>
            </p:cNvPr>
            <p:cNvSpPr/>
            <p:nvPr/>
          </p:nvSpPr>
          <p:spPr>
            <a:xfrm>
              <a:off x="6445227" y="4180287"/>
              <a:ext cx="5251373" cy="624289"/>
            </a:xfrm>
            <a:custGeom>
              <a:avLst/>
              <a:gdLst/>
              <a:ahLst/>
              <a:cxnLst/>
              <a:rect l="l" t="t" r="r" b="b"/>
              <a:pathLst>
                <a:path w="5251373" h="624289">
                  <a:moveTo>
                    <a:pt x="110168" y="0"/>
                  </a:moveTo>
                  <a:lnTo>
                    <a:pt x="5141205" y="0"/>
                  </a:lnTo>
                  <a:cubicBezTo>
                    <a:pt x="5202049" y="0"/>
                    <a:pt x="5251373" y="49324"/>
                    <a:pt x="5251373" y="110168"/>
                  </a:cubicBezTo>
                  <a:lnTo>
                    <a:pt x="5251373" y="514121"/>
                  </a:lnTo>
                  <a:cubicBezTo>
                    <a:pt x="5251373" y="574965"/>
                    <a:pt x="5202049" y="624289"/>
                    <a:pt x="5141205" y="624289"/>
                  </a:cubicBezTo>
                  <a:lnTo>
                    <a:pt x="110168" y="624289"/>
                  </a:lnTo>
                  <a:cubicBezTo>
                    <a:pt x="49365" y="624289"/>
                    <a:pt x="0" y="574924"/>
                    <a:pt x="0" y="514121"/>
                  </a:cubicBezTo>
                  <a:lnTo>
                    <a:pt x="0" y="110168"/>
                  </a:lnTo>
                  <a:cubicBezTo>
                    <a:pt x="0" y="49324"/>
                    <a:pt x="49324" y="0"/>
                    <a:pt x="11016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84" dist="3672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7" name="Shape 58">
              <a:extLst>
                <a:ext uri="{FF2B5EF4-FFF2-40B4-BE49-F238E27FC236}">
                  <a16:creationId xmlns:a16="http://schemas.microsoft.com/office/drawing/2014/main" id="{289AE3BD-1FD3-4E9C-B205-5782C2389CAD}"/>
                </a:ext>
              </a:extLst>
            </p:cNvPr>
            <p:cNvSpPr/>
            <p:nvPr/>
          </p:nvSpPr>
          <p:spPr>
            <a:xfrm>
              <a:off x="6601299" y="4400625"/>
              <a:ext cx="137711" cy="183614"/>
            </a:xfrm>
            <a:custGeom>
              <a:avLst/>
              <a:gdLst/>
              <a:ahLst/>
              <a:cxnLst/>
              <a:rect l="l" t="t" r="r" b="b"/>
              <a:pathLst>
                <a:path w="137711" h="183614">
                  <a:moveTo>
                    <a:pt x="0" y="22952"/>
                  </a:moveTo>
                  <a:cubicBezTo>
                    <a:pt x="0" y="10292"/>
                    <a:pt x="10292" y="0"/>
                    <a:pt x="22952" y="0"/>
                  </a:cubicBezTo>
                  <a:lnTo>
                    <a:pt x="76566" y="0"/>
                  </a:lnTo>
                  <a:cubicBezTo>
                    <a:pt x="82662" y="0"/>
                    <a:pt x="88508" y="2403"/>
                    <a:pt x="92811" y="6706"/>
                  </a:cubicBezTo>
                  <a:lnTo>
                    <a:pt x="131005" y="44935"/>
                  </a:lnTo>
                  <a:cubicBezTo>
                    <a:pt x="135308" y="49239"/>
                    <a:pt x="137711" y="55084"/>
                    <a:pt x="137711" y="61181"/>
                  </a:cubicBezTo>
                  <a:lnTo>
                    <a:pt x="137711" y="160663"/>
                  </a:lnTo>
                  <a:cubicBezTo>
                    <a:pt x="137711" y="173322"/>
                    <a:pt x="127418" y="183614"/>
                    <a:pt x="114759" y="183614"/>
                  </a:cubicBezTo>
                  <a:lnTo>
                    <a:pt x="22952" y="183614"/>
                  </a:lnTo>
                  <a:cubicBezTo>
                    <a:pt x="10292" y="183614"/>
                    <a:pt x="0" y="173322"/>
                    <a:pt x="0" y="160663"/>
                  </a:cubicBezTo>
                  <a:lnTo>
                    <a:pt x="0" y="22952"/>
                  </a:lnTo>
                  <a:close/>
                  <a:moveTo>
                    <a:pt x="74593" y="20979"/>
                  </a:moveTo>
                  <a:lnTo>
                    <a:pt x="74593" y="54511"/>
                  </a:lnTo>
                  <a:cubicBezTo>
                    <a:pt x="74593" y="59280"/>
                    <a:pt x="78431" y="63117"/>
                    <a:pt x="83200" y="63117"/>
                  </a:cubicBezTo>
                  <a:lnTo>
                    <a:pt x="116731" y="63117"/>
                  </a:lnTo>
                  <a:lnTo>
                    <a:pt x="74593" y="20979"/>
                  </a:lnTo>
                  <a:close/>
                  <a:moveTo>
                    <a:pt x="43035" y="91807"/>
                  </a:moveTo>
                  <a:cubicBezTo>
                    <a:pt x="38265" y="91807"/>
                    <a:pt x="34428" y="95644"/>
                    <a:pt x="34428" y="100414"/>
                  </a:cubicBezTo>
                  <a:cubicBezTo>
                    <a:pt x="34428" y="105184"/>
                    <a:pt x="38265" y="109021"/>
                    <a:pt x="43035" y="109021"/>
                  </a:cubicBezTo>
                  <a:lnTo>
                    <a:pt x="94676" y="109021"/>
                  </a:lnTo>
                  <a:cubicBezTo>
                    <a:pt x="99446" y="109021"/>
                    <a:pt x="103283" y="105184"/>
                    <a:pt x="103283" y="100414"/>
                  </a:cubicBezTo>
                  <a:cubicBezTo>
                    <a:pt x="103283" y="95644"/>
                    <a:pt x="99446" y="91807"/>
                    <a:pt x="94676" y="91807"/>
                  </a:cubicBezTo>
                  <a:lnTo>
                    <a:pt x="43035" y="91807"/>
                  </a:lnTo>
                  <a:close/>
                  <a:moveTo>
                    <a:pt x="43035" y="126235"/>
                  </a:moveTo>
                  <a:cubicBezTo>
                    <a:pt x="38265" y="126235"/>
                    <a:pt x="34428" y="130072"/>
                    <a:pt x="34428" y="134842"/>
                  </a:cubicBezTo>
                  <a:cubicBezTo>
                    <a:pt x="34428" y="139612"/>
                    <a:pt x="38265" y="143449"/>
                    <a:pt x="43035" y="143449"/>
                  </a:cubicBezTo>
                  <a:lnTo>
                    <a:pt x="94676" y="143449"/>
                  </a:lnTo>
                  <a:cubicBezTo>
                    <a:pt x="99446" y="143449"/>
                    <a:pt x="103283" y="139612"/>
                    <a:pt x="103283" y="134842"/>
                  </a:cubicBezTo>
                  <a:cubicBezTo>
                    <a:pt x="103283" y="130072"/>
                    <a:pt x="99446" y="126235"/>
                    <a:pt x="94676" y="126235"/>
                  </a:cubicBezTo>
                  <a:lnTo>
                    <a:pt x="43035" y="126235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98" name="Text 59">
              <a:extLst>
                <a:ext uri="{FF2B5EF4-FFF2-40B4-BE49-F238E27FC236}">
                  <a16:creationId xmlns:a16="http://schemas.microsoft.com/office/drawing/2014/main" id="{AB4D69E6-012D-47D1-846B-307B86BEC690}"/>
                </a:ext>
              </a:extLst>
            </p:cNvPr>
            <p:cNvSpPr/>
            <p:nvPr/>
          </p:nvSpPr>
          <p:spPr>
            <a:xfrm>
              <a:off x="6895082" y="4290456"/>
              <a:ext cx="3347467" cy="220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Предзаполненные формы</a:t>
              </a:r>
              <a:endParaRPr lang="en-US" sz="2400" dirty="0"/>
            </a:p>
          </p:txBody>
        </p:sp>
        <p:sp>
          <p:nvSpPr>
            <p:cNvPr id="99" name="Text 60">
              <a:extLst>
                <a:ext uri="{FF2B5EF4-FFF2-40B4-BE49-F238E27FC236}">
                  <a16:creationId xmlns:a16="http://schemas.microsoft.com/office/drawing/2014/main" id="{8F5E0C9D-13E9-4EAC-8C53-B159485635CA}"/>
                </a:ext>
              </a:extLst>
            </p:cNvPr>
            <p:cNvSpPr/>
            <p:nvPr/>
          </p:nvSpPr>
          <p:spPr>
            <a:xfrm>
              <a:off x="6895083" y="4510793"/>
              <a:ext cx="3347467" cy="18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Черновики документов</a:t>
              </a:r>
              <a:endParaRPr lang="en-US" sz="2400" dirty="0"/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3F861651-7616-4D7B-8F34-A79B5F65BD38}"/>
              </a:ext>
            </a:extLst>
          </p:cNvPr>
          <p:cNvGrpSpPr/>
          <p:nvPr/>
        </p:nvGrpSpPr>
        <p:grpSpPr>
          <a:xfrm>
            <a:off x="6261613" y="7356994"/>
            <a:ext cx="5618602" cy="734458"/>
            <a:chOff x="6261613" y="6004444"/>
            <a:chExt cx="5618602" cy="734458"/>
          </a:xfrm>
        </p:grpSpPr>
        <p:sp>
          <p:nvSpPr>
            <p:cNvPr id="101" name="Shape 61">
              <a:extLst>
                <a:ext uri="{FF2B5EF4-FFF2-40B4-BE49-F238E27FC236}">
                  <a16:creationId xmlns:a16="http://schemas.microsoft.com/office/drawing/2014/main" id="{8B152B81-37E1-4B5F-9218-33B2FC484466}"/>
                </a:ext>
              </a:extLst>
            </p:cNvPr>
            <p:cNvSpPr/>
            <p:nvPr/>
          </p:nvSpPr>
          <p:spPr>
            <a:xfrm>
              <a:off x="6261613" y="6004444"/>
              <a:ext cx="5618602" cy="734458"/>
            </a:xfrm>
            <a:custGeom>
              <a:avLst/>
              <a:gdLst/>
              <a:ahLst/>
              <a:cxnLst/>
              <a:rect l="l" t="t" r="r" b="b"/>
              <a:pathLst>
                <a:path w="5618602" h="734458">
                  <a:moveTo>
                    <a:pt x="110169" y="0"/>
                  </a:moveTo>
                  <a:lnTo>
                    <a:pt x="5508434" y="0"/>
                  </a:lnTo>
                  <a:cubicBezTo>
                    <a:pt x="5569278" y="0"/>
                    <a:pt x="5618602" y="49324"/>
                    <a:pt x="5618602" y="110169"/>
                  </a:cubicBezTo>
                  <a:lnTo>
                    <a:pt x="5618602" y="624289"/>
                  </a:lnTo>
                  <a:cubicBezTo>
                    <a:pt x="5618602" y="685134"/>
                    <a:pt x="5569278" y="734458"/>
                    <a:pt x="5508434" y="734458"/>
                  </a:cubicBezTo>
                  <a:lnTo>
                    <a:pt x="110169" y="734458"/>
                  </a:lnTo>
                  <a:cubicBezTo>
                    <a:pt x="49365" y="734458"/>
                    <a:pt x="0" y="685093"/>
                    <a:pt x="0" y="624289"/>
                  </a:cubicBezTo>
                  <a:lnTo>
                    <a:pt x="0" y="110169"/>
                  </a:lnTo>
                  <a:cubicBezTo>
                    <a:pt x="0" y="49365"/>
                    <a:pt x="49365" y="0"/>
                    <a:pt x="1101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2" name="Shape 62">
              <a:extLst>
                <a:ext uri="{FF2B5EF4-FFF2-40B4-BE49-F238E27FC236}">
                  <a16:creationId xmlns:a16="http://schemas.microsoft.com/office/drawing/2014/main" id="{6270F1C6-6D79-494F-AF13-51A31F1A31C5}"/>
                </a:ext>
              </a:extLst>
            </p:cNvPr>
            <p:cNvSpPr/>
            <p:nvPr/>
          </p:nvSpPr>
          <p:spPr>
            <a:xfrm>
              <a:off x="6436046" y="6261505"/>
              <a:ext cx="165253" cy="220337"/>
            </a:xfrm>
            <a:custGeom>
              <a:avLst/>
              <a:gdLst/>
              <a:ahLst/>
              <a:cxnLst/>
              <a:rect l="l" t="t" r="r" b="b"/>
              <a:pathLst>
                <a:path w="165253" h="220337">
                  <a:moveTo>
                    <a:pt x="126048" y="165253"/>
                  </a:moveTo>
                  <a:cubicBezTo>
                    <a:pt x="129190" y="155656"/>
                    <a:pt x="135473" y="146963"/>
                    <a:pt x="142574" y="139475"/>
                  </a:cubicBezTo>
                  <a:cubicBezTo>
                    <a:pt x="156646" y="124671"/>
                    <a:pt x="165253" y="104660"/>
                    <a:pt x="165253" y="82627"/>
                  </a:cubicBezTo>
                  <a:cubicBezTo>
                    <a:pt x="165253" y="37010"/>
                    <a:pt x="128243" y="0"/>
                    <a:pt x="82627" y="0"/>
                  </a:cubicBezTo>
                  <a:cubicBezTo>
                    <a:pt x="37010" y="0"/>
                    <a:pt x="0" y="37010"/>
                    <a:pt x="0" y="82627"/>
                  </a:cubicBezTo>
                  <a:cubicBezTo>
                    <a:pt x="0" y="104660"/>
                    <a:pt x="8607" y="124671"/>
                    <a:pt x="22679" y="139475"/>
                  </a:cubicBezTo>
                  <a:cubicBezTo>
                    <a:pt x="29780" y="146963"/>
                    <a:pt x="36106" y="155656"/>
                    <a:pt x="39205" y="165253"/>
                  </a:cubicBezTo>
                  <a:lnTo>
                    <a:pt x="126005" y="165253"/>
                  </a:lnTo>
                  <a:close/>
                  <a:moveTo>
                    <a:pt x="123940" y="185910"/>
                  </a:moveTo>
                  <a:lnTo>
                    <a:pt x="41313" y="185910"/>
                  </a:lnTo>
                  <a:lnTo>
                    <a:pt x="41313" y="192795"/>
                  </a:lnTo>
                  <a:cubicBezTo>
                    <a:pt x="41313" y="211816"/>
                    <a:pt x="56720" y="227223"/>
                    <a:pt x="75741" y="227223"/>
                  </a:cubicBezTo>
                  <a:lnTo>
                    <a:pt x="89512" y="227223"/>
                  </a:lnTo>
                  <a:cubicBezTo>
                    <a:pt x="108533" y="227223"/>
                    <a:pt x="123940" y="211816"/>
                    <a:pt x="123940" y="192795"/>
                  </a:cubicBezTo>
                  <a:lnTo>
                    <a:pt x="123940" y="185910"/>
                  </a:lnTo>
                  <a:close/>
                  <a:moveTo>
                    <a:pt x="79184" y="48199"/>
                  </a:moveTo>
                  <a:cubicBezTo>
                    <a:pt x="62056" y="48199"/>
                    <a:pt x="48199" y="62056"/>
                    <a:pt x="48199" y="79184"/>
                  </a:cubicBezTo>
                  <a:cubicBezTo>
                    <a:pt x="48199" y="84907"/>
                    <a:pt x="43594" y="89512"/>
                    <a:pt x="37870" y="89512"/>
                  </a:cubicBezTo>
                  <a:cubicBezTo>
                    <a:pt x="32147" y="89512"/>
                    <a:pt x="27542" y="84907"/>
                    <a:pt x="27542" y="79184"/>
                  </a:cubicBezTo>
                  <a:cubicBezTo>
                    <a:pt x="27542" y="50652"/>
                    <a:pt x="50652" y="27542"/>
                    <a:pt x="79184" y="27542"/>
                  </a:cubicBezTo>
                  <a:cubicBezTo>
                    <a:pt x="84907" y="27542"/>
                    <a:pt x="89512" y="32147"/>
                    <a:pt x="89512" y="37870"/>
                  </a:cubicBezTo>
                  <a:cubicBezTo>
                    <a:pt x="89512" y="43594"/>
                    <a:pt x="84907" y="48199"/>
                    <a:pt x="79184" y="4819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3" name="Text 63">
              <a:extLst>
                <a:ext uri="{FF2B5EF4-FFF2-40B4-BE49-F238E27FC236}">
                  <a16:creationId xmlns:a16="http://schemas.microsoft.com/office/drawing/2014/main" id="{9A8DD874-814B-43BA-AA59-49E25BA6AF9D}"/>
                </a:ext>
              </a:extLst>
            </p:cNvPr>
            <p:cNvSpPr/>
            <p:nvPr/>
          </p:nvSpPr>
          <p:spPr>
            <a:xfrm>
              <a:off x="6738245" y="6151336"/>
              <a:ext cx="5067759" cy="440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5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Дизайн в стиле 1С: минималистичный, функциональный, привычный пользователям</a:t>
              </a:r>
              <a:endParaRPr lang="en-US" sz="1600" dirty="0"/>
            </a:p>
          </p:txBody>
        </p:sp>
      </p:grpSp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3797ED10-EF6D-46BE-A108-CCDB0F123BAC}"/>
              </a:ext>
            </a:extLst>
          </p:cNvPr>
          <p:cNvGrpSpPr/>
          <p:nvPr/>
        </p:nvGrpSpPr>
        <p:grpSpPr>
          <a:xfrm>
            <a:off x="-4928671" y="367229"/>
            <a:ext cx="4847422" cy="516460"/>
            <a:chOff x="367229" y="367229"/>
            <a:chExt cx="4847422" cy="516460"/>
          </a:xfrm>
        </p:grpSpPr>
        <p:sp>
          <p:nvSpPr>
            <p:cNvPr id="105" name="Shape 0">
              <a:extLst>
                <a:ext uri="{FF2B5EF4-FFF2-40B4-BE49-F238E27FC236}">
                  <a16:creationId xmlns:a16="http://schemas.microsoft.com/office/drawing/2014/main" id="{8F35EEEE-9C3D-4F2A-AC4D-B220EBD76207}"/>
                </a:ext>
              </a:extLst>
            </p:cNvPr>
            <p:cNvSpPr/>
            <p:nvPr/>
          </p:nvSpPr>
          <p:spPr>
            <a:xfrm>
              <a:off x="367229" y="367229"/>
              <a:ext cx="514120" cy="514120"/>
            </a:xfrm>
            <a:custGeom>
              <a:avLst/>
              <a:gdLst/>
              <a:ahLst/>
              <a:cxnLst/>
              <a:rect l="l" t="t" r="r" b="b"/>
              <a:pathLst>
                <a:path w="514120" h="514120">
                  <a:moveTo>
                    <a:pt x="110171" y="0"/>
                  </a:moveTo>
                  <a:lnTo>
                    <a:pt x="403950" y="0"/>
                  </a:lnTo>
                  <a:cubicBezTo>
                    <a:pt x="464755" y="0"/>
                    <a:pt x="514120" y="49366"/>
                    <a:pt x="514120" y="110171"/>
                  </a:cubicBezTo>
                  <a:lnTo>
                    <a:pt x="514120" y="403950"/>
                  </a:lnTo>
                  <a:cubicBezTo>
                    <a:pt x="514120" y="464795"/>
                    <a:pt x="464795" y="514120"/>
                    <a:pt x="403950" y="514120"/>
                  </a:cubicBezTo>
                  <a:lnTo>
                    <a:pt x="110171" y="514120"/>
                  </a:lnTo>
                  <a:cubicBezTo>
                    <a:pt x="49366" y="514120"/>
                    <a:pt x="0" y="464755"/>
                    <a:pt x="0" y="403950"/>
                  </a:cubicBezTo>
                  <a:lnTo>
                    <a:pt x="0" y="110171"/>
                  </a:lnTo>
                  <a:cubicBezTo>
                    <a:pt x="0" y="49325"/>
                    <a:pt x="49325" y="0"/>
                    <a:pt x="110171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6" name="Shape 1">
              <a:extLst>
                <a:ext uri="{FF2B5EF4-FFF2-40B4-BE49-F238E27FC236}">
                  <a16:creationId xmlns:a16="http://schemas.microsoft.com/office/drawing/2014/main" id="{C682D77A-D857-4524-B361-97C07538754B}"/>
                </a:ext>
              </a:extLst>
            </p:cNvPr>
            <p:cNvSpPr/>
            <p:nvPr/>
          </p:nvSpPr>
          <p:spPr>
            <a:xfrm>
              <a:off x="514120" y="514120"/>
              <a:ext cx="220337" cy="220337"/>
            </a:xfrm>
            <a:custGeom>
              <a:avLst/>
              <a:gdLst/>
              <a:ahLst/>
              <a:cxnLst/>
              <a:rect l="l" t="t" r="r" b="b"/>
              <a:pathLst>
                <a:path w="220337" h="220337">
                  <a:moveTo>
                    <a:pt x="27542" y="13771"/>
                  </a:moveTo>
                  <a:cubicBezTo>
                    <a:pt x="12351" y="13771"/>
                    <a:pt x="0" y="26122"/>
                    <a:pt x="0" y="41313"/>
                  </a:cubicBezTo>
                  <a:lnTo>
                    <a:pt x="0" y="151482"/>
                  </a:lnTo>
                  <a:cubicBezTo>
                    <a:pt x="0" y="166673"/>
                    <a:pt x="12351" y="179024"/>
                    <a:pt x="27542" y="179024"/>
                  </a:cubicBezTo>
                  <a:lnTo>
                    <a:pt x="89512" y="179024"/>
                  </a:lnTo>
                  <a:lnTo>
                    <a:pt x="82627" y="199681"/>
                  </a:lnTo>
                  <a:lnTo>
                    <a:pt x="51642" y="199681"/>
                  </a:lnTo>
                  <a:cubicBezTo>
                    <a:pt x="45918" y="199681"/>
                    <a:pt x="41313" y="204285"/>
                    <a:pt x="41313" y="210009"/>
                  </a:cubicBezTo>
                  <a:cubicBezTo>
                    <a:pt x="41313" y="215733"/>
                    <a:pt x="45918" y="220337"/>
                    <a:pt x="51642" y="220337"/>
                  </a:cubicBezTo>
                  <a:lnTo>
                    <a:pt x="168696" y="220337"/>
                  </a:lnTo>
                  <a:cubicBezTo>
                    <a:pt x="174419" y="220337"/>
                    <a:pt x="179024" y="215733"/>
                    <a:pt x="179024" y="210009"/>
                  </a:cubicBezTo>
                  <a:cubicBezTo>
                    <a:pt x="179024" y="204285"/>
                    <a:pt x="174419" y="199681"/>
                    <a:pt x="168696" y="199681"/>
                  </a:cubicBezTo>
                  <a:lnTo>
                    <a:pt x="137711" y="199681"/>
                  </a:lnTo>
                  <a:lnTo>
                    <a:pt x="130825" y="179024"/>
                  </a:lnTo>
                  <a:lnTo>
                    <a:pt x="192795" y="179024"/>
                  </a:lnTo>
                  <a:cubicBezTo>
                    <a:pt x="207986" y="179024"/>
                    <a:pt x="220337" y="166673"/>
                    <a:pt x="220337" y="151482"/>
                  </a:cubicBezTo>
                  <a:lnTo>
                    <a:pt x="220337" y="41313"/>
                  </a:lnTo>
                  <a:cubicBezTo>
                    <a:pt x="220337" y="26122"/>
                    <a:pt x="207986" y="13771"/>
                    <a:pt x="192795" y="13771"/>
                  </a:cubicBezTo>
                  <a:lnTo>
                    <a:pt x="27542" y="13771"/>
                  </a:lnTo>
                  <a:close/>
                  <a:moveTo>
                    <a:pt x="41313" y="41313"/>
                  </a:moveTo>
                  <a:lnTo>
                    <a:pt x="179024" y="41313"/>
                  </a:lnTo>
                  <a:cubicBezTo>
                    <a:pt x="186641" y="41313"/>
                    <a:pt x="192795" y="47467"/>
                    <a:pt x="192795" y="55084"/>
                  </a:cubicBezTo>
                  <a:lnTo>
                    <a:pt x="192795" y="123940"/>
                  </a:lnTo>
                  <a:cubicBezTo>
                    <a:pt x="192795" y="131557"/>
                    <a:pt x="186641" y="137711"/>
                    <a:pt x="179024" y="137711"/>
                  </a:cubicBezTo>
                  <a:lnTo>
                    <a:pt x="41313" y="137711"/>
                  </a:lnTo>
                  <a:cubicBezTo>
                    <a:pt x="33696" y="137711"/>
                    <a:pt x="27542" y="131557"/>
                    <a:pt x="27542" y="123940"/>
                  </a:cubicBezTo>
                  <a:lnTo>
                    <a:pt x="27542" y="55084"/>
                  </a:lnTo>
                  <a:cubicBezTo>
                    <a:pt x="27542" y="47467"/>
                    <a:pt x="33696" y="41313"/>
                    <a:pt x="41313" y="4131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7" name="Text 2">
              <a:extLst>
                <a:ext uri="{FF2B5EF4-FFF2-40B4-BE49-F238E27FC236}">
                  <a16:creationId xmlns:a16="http://schemas.microsoft.com/office/drawing/2014/main" id="{9D17827B-1A89-4A83-AF21-0FF6D959F6C8}"/>
                </a:ext>
              </a:extLst>
            </p:cNvPr>
            <p:cNvSpPr/>
            <p:nvPr/>
          </p:nvSpPr>
          <p:spPr>
            <a:xfrm>
              <a:off x="1028241" y="385590"/>
              <a:ext cx="4186410" cy="367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602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Интерфейс пользователя</a:t>
              </a:r>
              <a:endParaRPr lang="en-US" sz="1600" dirty="0"/>
            </a:p>
          </p:txBody>
        </p:sp>
        <p:sp>
          <p:nvSpPr>
            <p:cNvPr id="108" name="Shape 3">
              <a:extLst>
                <a:ext uri="{FF2B5EF4-FFF2-40B4-BE49-F238E27FC236}">
                  <a16:creationId xmlns:a16="http://schemas.microsoft.com/office/drawing/2014/main" id="{8F2BE000-5673-4937-82C8-C84161D3FCE5}"/>
                </a:ext>
              </a:extLst>
            </p:cNvPr>
            <p:cNvSpPr/>
            <p:nvPr/>
          </p:nvSpPr>
          <p:spPr>
            <a:xfrm>
              <a:off x="752819" y="837970"/>
              <a:ext cx="4425109" cy="45719"/>
            </a:xfrm>
            <a:custGeom>
              <a:avLst/>
              <a:gdLst/>
              <a:ahLst/>
              <a:cxnLst/>
              <a:rect l="l" t="t" r="r" b="b"/>
              <a:pathLst>
                <a:path w="881349" h="36723">
                  <a:moveTo>
                    <a:pt x="0" y="0"/>
                  </a:moveTo>
                  <a:lnTo>
                    <a:pt x="881349" y="0"/>
                  </a:lnTo>
                  <a:lnTo>
                    <a:pt x="881349" y="36723"/>
                  </a:lnTo>
                  <a:lnTo>
                    <a:pt x="0" y="36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09" name="Text 7">
            <a:extLst>
              <a:ext uri="{FF2B5EF4-FFF2-40B4-BE49-F238E27FC236}">
                <a16:creationId xmlns:a16="http://schemas.microsoft.com/office/drawing/2014/main" id="{5AE2165D-30DB-456A-B284-61AE692B129C}"/>
              </a:ext>
            </a:extLst>
          </p:cNvPr>
          <p:cNvSpPr/>
          <p:nvPr/>
        </p:nvSpPr>
        <p:spPr>
          <a:xfrm>
            <a:off x="127655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14</a:t>
            </a:r>
            <a:endParaRPr lang="en-US" sz="1600" dirty="0"/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0BBAD010-ACC3-46AF-AFFB-4A09F3D04F1E}"/>
              </a:ext>
            </a:extLst>
          </p:cNvPr>
          <p:cNvGrpSpPr/>
          <p:nvPr/>
        </p:nvGrpSpPr>
        <p:grpSpPr>
          <a:xfrm>
            <a:off x="381000" y="381000"/>
            <a:ext cx="4429125" cy="533400"/>
            <a:chOff x="381000" y="381000"/>
            <a:chExt cx="4429125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28575"/>
                  </a:moveTo>
                  <a:cubicBezTo>
                    <a:pt x="28575" y="20672"/>
                    <a:pt x="22190" y="14288"/>
                    <a:pt x="14288" y="14288"/>
                  </a:cubicBezTo>
                  <a:cubicBezTo>
                    <a:pt x="6385" y="14288"/>
                    <a:pt x="0" y="20672"/>
                    <a:pt x="0" y="28575"/>
                  </a:cubicBezTo>
                  <a:lnTo>
                    <a:pt x="0" y="178594"/>
                  </a:lnTo>
                  <a:cubicBezTo>
                    <a:pt x="0" y="198328"/>
                    <a:pt x="15984" y="214313"/>
                    <a:pt x="35719" y="214313"/>
                  </a:cubicBezTo>
                  <a:lnTo>
                    <a:pt x="214313" y="214313"/>
                  </a:lnTo>
                  <a:cubicBezTo>
                    <a:pt x="222215" y="214313"/>
                    <a:pt x="228600" y="207928"/>
                    <a:pt x="228600" y="200025"/>
                  </a:cubicBezTo>
                  <a:cubicBezTo>
                    <a:pt x="228600" y="192122"/>
                    <a:pt x="222215" y="185738"/>
                    <a:pt x="214313" y="185738"/>
                  </a:cubicBezTo>
                  <a:lnTo>
                    <a:pt x="35719" y="185738"/>
                  </a:lnTo>
                  <a:cubicBezTo>
                    <a:pt x="31790" y="185738"/>
                    <a:pt x="28575" y="182523"/>
                    <a:pt x="28575" y="178594"/>
                  </a:cubicBezTo>
                  <a:lnTo>
                    <a:pt x="28575" y="28575"/>
                  </a:lnTo>
                  <a:close/>
                  <a:moveTo>
                    <a:pt x="210116" y="67241"/>
                  </a:moveTo>
                  <a:cubicBezTo>
                    <a:pt x="215697" y="61659"/>
                    <a:pt x="215697" y="52596"/>
                    <a:pt x="210116" y="47015"/>
                  </a:cubicBezTo>
                  <a:cubicBezTo>
                    <a:pt x="204534" y="41434"/>
                    <a:pt x="195471" y="41434"/>
                    <a:pt x="189890" y="47015"/>
                  </a:cubicBezTo>
                  <a:lnTo>
                    <a:pt x="142875" y="94074"/>
                  </a:lnTo>
                  <a:lnTo>
                    <a:pt x="117247" y="68491"/>
                  </a:lnTo>
                  <a:cubicBezTo>
                    <a:pt x="111666" y="62910"/>
                    <a:pt x="102602" y="62910"/>
                    <a:pt x="97021" y="68491"/>
                  </a:cubicBezTo>
                  <a:lnTo>
                    <a:pt x="54159" y="111353"/>
                  </a:lnTo>
                  <a:cubicBezTo>
                    <a:pt x="48578" y="116934"/>
                    <a:pt x="48578" y="125998"/>
                    <a:pt x="54159" y="131579"/>
                  </a:cubicBezTo>
                  <a:cubicBezTo>
                    <a:pt x="59740" y="137160"/>
                    <a:pt x="68803" y="137160"/>
                    <a:pt x="74384" y="131579"/>
                  </a:cubicBezTo>
                  <a:lnTo>
                    <a:pt x="107156" y="98807"/>
                  </a:lnTo>
                  <a:lnTo>
                    <a:pt x="132784" y="124435"/>
                  </a:lnTo>
                  <a:cubicBezTo>
                    <a:pt x="138366" y="130016"/>
                    <a:pt x="147429" y="130016"/>
                    <a:pt x="153010" y="124435"/>
                  </a:cubicBezTo>
                  <a:lnTo>
                    <a:pt x="210160" y="6728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37433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Эффект от внедрения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47713" y="866772"/>
              <a:ext cx="3986212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9A158269-D7C0-45D2-9A9B-BC3F7788E261}"/>
              </a:ext>
            </a:extLst>
          </p:cNvPr>
          <p:cNvGrpSpPr/>
          <p:nvPr/>
        </p:nvGrpSpPr>
        <p:grpSpPr>
          <a:xfrm>
            <a:off x="381000" y="1142999"/>
            <a:ext cx="5600700" cy="2612905"/>
            <a:chOff x="381000" y="1142999"/>
            <a:chExt cx="5600700" cy="2612905"/>
          </a:xfrm>
        </p:grpSpPr>
        <p:sp>
          <p:nvSpPr>
            <p:cNvPr id="6" name="Shape 4"/>
            <p:cNvSpPr/>
            <p:nvPr/>
          </p:nvSpPr>
          <p:spPr>
            <a:xfrm>
              <a:off x="381000" y="1142999"/>
              <a:ext cx="5600700" cy="2612905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571500" y="15049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812006" y="17430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cubicBezTo>
                    <a:pt x="221730" y="0"/>
                    <a:pt x="285750" y="64020"/>
                    <a:pt x="285750" y="142875"/>
                  </a:cubicBezTo>
                  <a:cubicBezTo>
                    <a:pt x="285750" y="221730"/>
                    <a:pt x="221730" y="285750"/>
                    <a:pt x="142875" y="285750"/>
                  </a:cubicBezTo>
                  <a:cubicBezTo>
                    <a:pt x="64020" y="285750"/>
                    <a:pt x="0" y="221730"/>
                    <a:pt x="0" y="142875"/>
                  </a:cubicBezTo>
                  <a:cubicBezTo>
                    <a:pt x="0" y="64020"/>
                    <a:pt x="64020" y="0"/>
                    <a:pt x="142875" y="0"/>
                  </a:cubicBezTo>
                  <a:close/>
                  <a:moveTo>
                    <a:pt x="129480" y="66973"/>
                  </a:moveTo>
                  <a:lnTo>
                    <a:pt x="129480" y="142875"/>
                  </a:lnTo>
                  <a:cubicBezTo>
                    <a:pt x="129480" y="147340"/>
                    <a:pt x="131713" y="151526"/>
                    <a:pt x="135452" y="154037"/>
                  </a:cubicBezTo>
                  <a:lnTo>
                    <a:pt x="189030" y="189756"/>
                  </a:lnTo>
                  <a:cubicBezTo>
                    <a:pt x="195169" y="193886"/>
                    <a:pt x="203485" y="192212"/>
                    <a:pt x="207615" y="186017"/>
                  </a:cubicBezTo>
                  <a:cubicBezTo>
                    <a:pt x="211745" y="179822"/>
                    <a:pt x="210071" y="171562"/>
                    <a:pt x="203876" y="167432"/>
                  </a:cubicBezTo>
                  <a:lnTo>
                    <a:pt x="156270" y="135731"/>
                  </a:lnTo>
                  <a:lnTo>
                    <a:pt x="156270" y="66973"/>
                  </a:lnTo>
                  <a:cubicBezTo>
                    <a:pt x="156270" y="59550"/>
                    <a:pt x="150298" y="53578"/>
                    <a:pt x="142875" y="53578"/>
                  </a:cubicBezTo>
                  <a:cubicBezTo>
                    <a:pt x="135452" y="53578"/>
                    <a:pt x="129480" y="59550"/>
                    <a:pt x="129480" y="6697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524000" y="1333500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Экономия времени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524000" y="1638300"/>
              <a:ext cx="4343400" cy="1390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Сокращение времени на типовые операции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509713" y="3144777"/>
              <a:ext cx="1390650" cy="495300"/>
            </a:xfrm>
            <a:custGeom>
              <a:avLst/>
              <a:gdLst/>
              <a:ahLst/>
              <a:cxnLst/>
              <a:rect l="l" t="t" r="r" b="b"/>
              <a:pathLst>
                <a:path w="1390650" h="495300">
                  <a:moveTo>
                    <a:pt x="76202" y="0"/>
                  </a:moveTo>
                  <a:lnTo>
                    <a:pt x="1314448" y="0"/>
                  </a:lnTo>
                  <a:cubicBezTo>
                    <a:pt x="1356533" y="0"/>
                    <a:pt x="1390650" y="34117"/>
                    <a:pt x="1390650" y="76202"/>
                  </a:cubicBezTo>
                  <a:lnTo>
                    <a:pt x="1390650" y="419098"/>
                  </a:lnTo>
                  <a:cubicBezTo>
                    <a:pt x="1390650" y="461183"/>
                    <a:pt x="1356533" y="495300"/>
                    <a:pt x="131444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1662113" y="3206690"/>
              <a:ext cx="1224597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60-70%</a:t>
              </a:r>
              <a:endParaRPr lang="en-US" sz="1600" dirty="0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13F3D470-2791-4613-A827-9D8CEA5139E5}"/>
              </a:ext>
            </a:extLst>
          </p:cNvPr>
          <p:cNvGrpSpPr/>
          <p:nvPr/>
        </p:nvGrpSpPr>
        <p:grpSpPr>
          <a:xfrm>
            <a:off x="381000" y="3994030"/>
            <a:ext cx="5600700" cy="2458888"/>
            <a:chOff x="381000" y="3994030"/>
            <a:chExt cx="5600700" cy="2458888"/>
          </a:xfrm>
        </p:grpSpPr>
        <p:sp>
          <p:nvSpPr>
            <p:cNvPr id="13" name="Shape 11"/>
            <p:cNvSpPr/>
            <p:nvPr/>
          </p:nvSpPr>
          <p:spPr>
            <a:xfrm>
              <a:off x="381000" y="3994030"/>
              <a:ext cx="5600700" cy="2458888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571500" y="423125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812006" y="4469382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285750"/>
                  </a:moveTo>
                  <a:cubicBezTo>
                    <a:pt x="221730" y="285750"/>
                    <a:pt x="285750" y="221730"/>
                    <a:pt x="285750" y="142875"/>
                  </a:cubicBezTo>
                  <a:cubicBezTo>
                    <a:pt x="285750" y="64020"/>
                    <a:pt x="221730" y="0"/>
                    <a:pt x="142875" y="0"/>
                  </a:cubicBezTo>
                  <a:cubicBezTo>
                    <a:pt x="64020" y="0"/>
                    <a:pt x="0" y="64020"/>
                    <a:pt x="0" y="142875"/>
                  </a:cubicBezTo>
                  <a:cubicBezTo>
                    <a:pt x="0" y="221730"/>
                    <a:pt x="64020" y="285750"/>
                    <a:pt x="142875" y="285750"/>
                  </a:cubicBezTo>
                  <a:close/>
                  <a:moveTo>
                    <a:pt x="93204" y="93204"/>
                  </a:moveTo>
                  <a:cubicBezTo>
                    <a:pt x="98450" y="87957"/>
                    <a:pt x="106933" y="87957"/>
                    <a:pt x="112123" y="93204"/>
                  </a:cubicBezTo>
                  <a:lnTo>
                    <a:pt x="142819" y="123899"/>
                  </a:lnTo>
                  <a:lnTo>
                    <a:pt x="173515" y="93204"/>
                  </a:lnTo>
                  <a:cubicBezTo>
                    <a:pt x="178761" y="87957"/>
                    <a:pt x="187244" y="87957"/>
                    <a:pt x="192435" y="93204"/>
                  </a:cubicBezTo>
                  <a:cubicBezTo>
                    <a:pt x="197625" y="98450"/>
                    <a:pt x="197681" y="106933"/>
                    <a:pt x="192435" y="112123"/>
                  </a:cubicBezTo>
                  <a:lnTo>
                    <a:pt x="161739" y="142819"/>
                  </a:lnTo>
                  <a:lnTo>
                    <a:pt x="192435" y="173515"/>
                  </a:lnTo>
                  <a:cubicBezTo>
                    <a:pt x="197681" y="178761"/>
                    <a:pt x="197681" y="187244"/>
                    <a:pt x="192435" y="192435"/>
                  </a:cubicBezTo>
                  <a:cubicBezTo>
                    <a:pt x="187189" y="197625"/>
                    <a:pt x="178705" y="197681"/>
                    <a:pt x="173515" y="192435"/>
                  </a:cubicBezTo>
                  <a:lnTo>
                    <a:pt x="142819" y="161739"/>
                  </a:lnTo>
                  <a:lnTo>
                    <a:pt x="112123" y="192435"/>
                  </a:lnTo>
                  <a:cubicBezTo>
                    <a:pt x="106877" y="197681"/>
                    <a:pt x="98394" y="197681"/>
                    <a:pt x="93204" y="192435"/>
                  </a:cubicBezTo>
                  <a:cubicBezTo>
                    <a:pt x="88013" y="187189"/>
                    <a:pt x="87957" y="178705"/>
                    <a:pt x="93204" y="173515"/>
                  </a:cubicBezTo>
                  <a:lnTo>
                    <a:pt x="123899" y="142819"/>
                  </a:lnTo>
                  <a:lnTo>
                    <a:pt x="93204" y="112123"/>
                  </a:lnTo>
                  <a:cubicBezTo>
                    <a:pt x="87957" y="106877"/>
                    <a:pt x="87957" y="98394"/>
                    <a:pt x="93204" y="9320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1524000" y="4247072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Снижение ошибок</a:t>
              </a:r>
              <a:endParaRPr lang="en-US" sz="28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509713" y="4616166"/>
              <a:ext cx="4343400" cy="1072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Автоматическая проверка данных</a:t>
              </a:r>
              <a:endParaRPr lang="en-US" sz="2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509713" y="5790930"/>
              <a:ext cx="876300" cy="495300"/>
            </a:xfrm>
            <a:custGeom>
              <a:avLst/>
              <a:gdLst/>
              <a:ahLst/>
              <a:cxnLst/>
              <a:rect l="l" t="t" r="r" b="b"/>
              <a:pathLst>
                <a:path w="876300" h="495300">
                  <a:moveTo>
                    <a:pt x="76202" y="0"/>
                  </a:moveTo>
                  <a:lnTo>
                    <a:pt x="800098" y="0"/>
                  </a:lnTo>
                  <a:cubicBezTo>
                    <a:pt x="842183" y="0"/>
                    <a:pt x="876300" y="34117"/>
                    <a:pt x="876300" y="76202"/>
                  </a:cubicBezTo>
                  <a:lnTo>
                    <a:pt x="876300" y="419098"/>
                  </a:lnTo>
                  <a:cubicBezTo>
                    <a:pt x="876300" y="461183"/>
                    <a:pt x="842183" y="495300"/>
                    <a:pt x="8000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1662113" y="5852843"/>
              <a:ext cx="716280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75%</a:t>
              </a:r>
              <a:endParaRPr lang="en-US" sz="16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A8745DE-01B9-49AF-A3DB-2762C8C6A36D}"/>
              </a:ext>
            </a:extLst>
          </p:cNvPr>
          <p:cNvGrpSpPr/>
          <p:nvPr/>
        </p:nvGrpSpPr>
        <p:grpSpPr>
          <a:xfrm>
            <a:off x="6222206" y="3994030"/>
            <a:ext cx="5600700" cy="2458888"/>
            <a:chOff x="6222206" y="3994030"/>
            <a:chExt cx="5600700" cy="2458888"/>
          </a:xfrm>
        </p:grpSpPr>
        <p:sp>
          <p:nvSpPr>
            <p:cNvPr id="20" name="Shape 18"/>
            <p:cNvSpPr/>
            <p:nvPr/>
          </p:nvSpPr>
          <p:spPr>
            <a:xfrm>
              <a:off x="6222206" y="3994030"/>
              <a:ext cx="5600700" cy="2458888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412706" y="423125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6671072" y="4469382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25016" y="35719"/>
                  </a:moveTo>
                  <a:cubicBezTo>
                    <a:pt x="80925" y="35719"/>
                    <a:pt x="44258" y="67698"/>
                    <a:pt x="37002" y="109779"/>
                  </a:cubicBezTo>
                  <a:cubicBezTo>
                    <a:pt x="42193" y="108105"/>
                    <a:pt x="47774" y="107156"/>
                    <a:pt x="53578" y="107156"/>
                  </a:cubicBezTo>
                  <a:lnTo>
                    <a:pt x="62508" y="107156"/>
                  </a:lnTo>
                  <a:cubicBezTo>
                    <a:pt x="77298" y="107156"/>
                    <a:pt x="89297" y="119156"/>
                    <a:pt x="89297" y="133945"/>
                  </a:cubicBezTo>
                  <a:lnTo>
                    <a:pt x="89297" y="187523"/>
                  </a:lnTo>
                  <a:cubicBezTo>
                    <a:pt x="89297" y="202313"/>
                    <a:pt x="77298" y="214313"/>
                    <a:pt x="62508" y="214313"/>
                  </a:cubicBezTo>
                  <a:lnTo>
                    <a:pt x="53578" y="214313"/>
                  </a:lnTo>
                  <a:cubicBezTo>
                    <a:pt x="23999" y="214313"/>
                    <a:pt x="0" y="190314"/>
                    <a:pt x="0" y="160734"/>
                  </a:cubicBezTo>
                  <a:lnTo>
                    <a:pt x="0" y="125016"/>
                  </a:lnTo>
                  <a:cubicBezTo>
                    <a:pt x="0" y="55978"/>
                    <a:pt x="55978" y="0"/>
                    <a:pt x="125016" y="0"/>
                  </a:cubicBezTo>
                  <a:cubicBezTo>
                    <a:pt x="194053" y="0"/>
                    <a:pt x="250031" y="55978"/>
                    <a:pt x="250031" y="125016"/>
                  </a:cubicBezTo>
                  <a:lnTo>
                    <a:pt x="250031" y="218833"/>
                  </a:lnTo>
                  <a:cubicBezTo>
                    <a:pt x="250031" y="255836"/>
                    <a:pt x="220005" y="285806"/>
                    <a:pt x="183003" y="285806"/>
                  </a:cubicBezTo>
                  <a:lnTo>
                    <a:pt x="133945" y="285750"/>
                  </a:lnTo>
                  <a:lnTo>
                    <a:pt x="116086" y="285750"/>
                  </a:lnTo>
                  <a:cubicBezTo>
                    <a:pt x="101296" y="285750"/>
                    <a:pt x="89297" y="273751"/>
                    <a:pt x="89297" y="258961"/>
                  </a:cubicBezTo>
                  <a:cubicBezTo>
                    <a:pt x="89297" y="244171"/>
                    <a:pt x="101296" y="232172"/>
                    <a:pt x="116086" y="232172"/>
                  </a:cubicBezTo>
                  <a:lnTo>
                    <a:pt x="133945" y="232172"/>
                  </a:lnTo>
                  <a:cubicBezTo>
                    <a:pt x="148735" y="232172"/>
                    <a:pt x="160734" y="244171"/>
                    <a:pt x="160734" y="258961"/>
                  </a:cubicBezTo>
                  <a:lnTo>
                    <a:pt x="160734" y="258961"/>
                  </a:lnTo>
                  <a:lnTo>
                    <a:pt x="183059" y="258961"/>
                  </a:lnTo>
                  <a:cubicBezTo>
                    <a:pt x="205271" y="258961"/>
                    <a:pt x="223242" y="240990"/>
                    <a:pt x="223242" y="218777"/>
                  </a:cubicBezTo>
                  <a:lnTo>
                    <a:pt x="223242" y="207113"/>
                  </a:lnTo>
                  <a:cubicBezTo>
                    <a:pt x="215373" y="211689"/>
                    <a:pt x="206220" y="214257"/>
                    <a:pt x="196453" y="214257"/>
                  </a:cubicBezTo>
                  <a:lnTo>
                    <a:pt x="187523" y="214257"/>
                  </a:lnTo>
                  <a:cubicBezTo>
                    <a:pt x="172734" y="214257"/>
                    <a:pt x="160734" y="202257"/>
                    <a:pt x="160734" y="187468"/>
                  </a:cubicBezTo>
                  <a:lnTo>
                    <a:pt x="160734" y="133890"/>
                  </a:lnTo>
                  <a:cubicBezTo>
                    <a:pt x="160734" y="119100"/>
                    <a:pt x="172734" y="107100"/>
                    <a:pt x="187523" y="107100"/>
                  </a:cubicBezTo>
                  <a:lnTo>
                    <a:pt x="196453" y="107100"/>
                  </a:lnTo>
                  <a:cubicBezTo>
                    <a:pt x="202257" y="107100"/>
                    <a:pt x="207783" y="107993"/>
                    <a:pt x="213029" y="109724"/>
                  </a:cubicBezTo>
                  <a:cubicBezTo>
                    <a:pt x="205773" y="67698"/>
                    <a:pt x="169162" y="35663"/>
                    <a:pt x="125016" y="3566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365206" y="4247072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Меньше обращений</a:t>
              </a:r>
              <a:endParaRPr lang="en-US" sz="28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365206" y="4642630"/>
              <a:ext cx="4343400" cy="1072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Снижение нагрузки на поддержку</a:t>
              </a:r>
              <a:endParaRPr lang="en-US" sz="2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350919" y="5790930"/>
              <a:ext cx="1409700" cy="495300"/>
            </a:xfrm>
            <a:custGeom>
              <a:avLst/>
              <a:gdLst/>
              <a:ahLst/>
              <a:cxnLst/>
              <a:rect l="l" t="t" r="r" b="b"/>
              <a:pathLst>
                <a:path w="1409700" h="495300">
                  <a:moveTo>
                    <a:pt x="76202" y="0"/>
                  </a:moveTo>
                  <a:lnTo>
                    <a:pt x="1333498" y="0"/>
                  </a:lnTo>
                  <a:cubicBezTo>
                    <a:pt x="1375583" y="0"/>
                    <a:pt x="1409700" y="34117"/>
                    <a:pt x="1409700" y="76202"/>
                  </a:cubicBezTo>
                  <a:lnTo>
                    <a:pt x="1409700" y="419098"/>
                  </a:lnTo>
                  <a:cubicBezTo>
                    <a:pt x="1409700" y="461183"/>
                    <a:pt x="1375583" y="495300"/>
                    <a:pt x="13334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7503319" y="5852843"/>
              <a:ext cx="1243013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40-50%</a:t>
              </a:r>
              <a:endParaRPr lang="en-US" sz="1600" dirty="0"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D15A490B-8D31-4A43-AA84-37E15640BA46}"/>
              </a:ext>
            </a:extLst>
          </p:cNvPr>
          <p:cNvGrpSpPr/>
          <p:nvPr/>
        </p:nvGrpSpPr>
        <p:grpSpPr>
          <a:xfrm>
            <a:off x="6210300" y="1143000"/>
            <a:ext cx="5600700" cy="2612904"/>
            <a:chOff x="6210300" y="1143000"/>
            <a:chExt cx="5600700" cy="2612904"/>
          </a:xfrm>
        </p:grpSpPr>
        <p:sp>
          <p:nvSpPr>
            <p:cNvPr id="27" name="Shape 25"/>
            <p:cNvSpPr/>
            <p:nvPr/>
          </p:nvSpPr>
          <p:spPr>
            <a:xfrm>
              <a:off x="6210300" y="1143000"/>
              <a:ext cx="5600700" cy="2612904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6400800" y="15049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6659166" y="1743075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34671" y="-7255"/>
                  </a:moveTo>
                  <a:cubicBezTo>
                    <a:pt x="128308" y="-8539"/>
                    <a:pt x="121779" y="-8539"/>
                    <a:pt x="115416" y="-7255"/>
                  </a:cubicBezTo>
                  <a:lnTo>
                    <a:pt x="10771" y="13674"/>
                  </a:lnTo>
                  <a:cubicBezTo>
                    <a:pt x="4521" y="14901"/>
                    <a:pt x="0" y="20427"/>
                    <a:pt x="0" y="26789"/>
                  </a:cubicBezTo>
                  <a:cubicBezTo>
                    <a:pt x="0" y="32538"/>
                    <a:pt x="3628" y="37560"/>
                    <a:pt x="8930" y="39402"/>
                  </a:cubicBezTo>
                  <a:lnTo>
                    <a:pt x="8930" y="80367"/>
                  </a:lnTo>
                  <a:lnTo>
                    <a:pt x="167" y="124234"/>
                  </a:lnTo>
                  <a:cubicBezTo>
                    <a:pt x="56" y="124737"/>
                    <a:pt x="0" y="125295"/>
                    <a:pt x="0" y="125853"/>
                  </a:cubicBezTo>
                  <a:cubicBezTo>
                    <a:pt x="0" y="130318"/>
                    <a:pt x="3628" y="134001"/>
                    <a:pt x="8148" y="134001"/>
                  </a:cubicBezTo>
                  <a:lnTo>
                    <a:pt x="27626" y="134001"/>
                  </a:lnTo>
                  <a:cubicBezTo>
                    <a:pt x="32091" y="134001"/>
                    <a:pt x="35775" y="130373"/>
                    <a:pt x="35775" y="125853"/>
                  </a:cubicBezTo>
                  <a:cubicBezTo>
                    <a:pt x="35775" y="125295"/>
                    <a:pt x="35719" y="124792"/>
                    <a:pt x="35607" y="124234"/>
                  </a:cubicBezTo>
                  <a:lnTo>
                    <a:pt x="26789" y="80367"/>
                  </a:lnTo>
                  <a:lnTo>
                    <a:pt x="26789" y="43142"/>
                  </a:lnTo>
                  <a:lnTo>
                    <a:pt x="53578" y="48499"/>
                  </a:lnTo>
                  <a:lnTo>
                    <a:pt x="53578" y="80367"/>
                  </a:lnTo>
                  <a:cubicBezTo>
                    <a:pt x="53578" y="119825"/>
                    <a:pt x="85558" y="151805"/>
                    <a:pt x="125016" y="151805"/>
                  </a:cubicBezTo>
                  <a:cubicBezTo>
                    <a:pt x="164474" y="151805"/>
                    <a:pt x="196453" y="119825"/>
                    <a:pt x="196453" y="80367"/>
                  </a:cubicBezTo>
                  <a:lnTo>
                    <a:pt x="196453" y="48499"/>
                  </a:lnTo>
                  <a:lnTo>
                    <a:pt x="239260" y="39960"/>
                  </a:lnTo>
                  <a:cubicBezTo>
                    <a:pt x="245511" y="38677"/>
                    <a:pt x="250031" y="33151"/>
                    <a:pt x="250031" y="26789"/>
                  </a:cubicBezTo>
                  <a:cubicBezTo>
                    <a:pt x="250031" y="20427"/>
                    <a:pt x="245511" y="14901"/>
                    <a:pt x="239260" y="13674"/>
                  </a:cubicBezTo>
                  <a:lnTo>
                    <a:pt x="134671" y="-7255"/>
                  </a:lnTo>
                  <a:close/>
                  <a:moveTo>
                    <a:pt x="125016" y="125016"/>
                  </a:moveTo>
                  <a:cubicBezTo>
                    <a:pt x="100347" y="125016"/>
                    <a:pt x="80367" y="105035"/>
                    <a:pt x="80367" y="80367"/>
                  </a:cubicBezTo>
                  <a:lnTo>
                    <a:pt x="169664" y="80367"/>
                  </a:lnTo>
                  <a:cubicBezTo>
                    <a:pt x="169664" y="105035"/>
                    <a:pt x="149684" y="125016"/>
                    <a:pt x="125016" y="125016"/>
                  </a:cubicBezTo>
                  <a:close/>
                  <a:moveTo>
                    <a:pt x="67028" y="178650"/>
                  </a:moveTo>
                  <a:cubicBezTo>
                    <a:pt x="32761" y="194388"/>
                    <a:pt x="8930" y="228991"/>
                    <a:pt x="8930" y="269174"/>
                  </a:cubicBezTo>
                  <a:cubicBezTo>
                    <a:pt x="8930" y="278327"/>
                    <a:pt x="16352" y="285750"/>
                    <a:pt x="25505" y="285750"/>
                  </a:cubicBezTo>
                  <a:lnTo>
                    <a:pt x="111621" y="285750"/>
                  </a:lnTo>
                  <a:lnTo>
                    <a:pt x="111621" y="204267"/>
                  </a:lnTo>
                  <a:lnTo>
                    <a:pt x="79586" y="180268"/>
                  </a:lnTo>
                  <a:cubicBezTo>
                    <a:pt x="75958" y="177533"/>
                    <a:pt x="71103" y="176808"/>
                    <a:pt x="66973" y="178705"/>
                  </a:cubicBezTo>
                  <a:close/>
                  <a:moveTo>
                    <a:pt x="138410" y="285750"/>
                  </a:moveTo>
                  <a:lnTo>
                    <a:pt x="224526" y="285750"/>
                  </a:lnTo>
                  <a:cubicBezTo>
                    <a:pt x="233679" y="285750"/>
                    <a:pt x="241102" y="278327"/>
                    <a:pt x="241102" y="269174"/>
                  </a:cubicBezTo>
                  <a:cubicBezTo>
                    <a:pt x="241102" y="228991"/>
                    <a:pt x="217270" y="194388"/>
                    <a:pt x="183003" y="178705"/>
                  </a:cubicBezTo>
                  <a:cubicBezTo>
                    <a:pt x="178873" y="176808"/>
                    <a:pt x="174017" y="177533"/>
                    <a:pt x="170390" y="180268"/>
                  </a:cubicBezTo>
                  <a:lnTo>
                    <a:pt x="138354" y="204267"/>
                  </a:lnTo>
                  <a:lnTo>
                    <a:pt x="138354" y="28575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7353300" y="1333500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Быстрая адаптация</a:t>
              </a:r>
              <a:endParaRPr lang="en-US" sz="28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353300" y="1638300"/>
              <a:ext cx="4343400" cy="1390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Новые сотрудники осваиваются быстрее</a:t>
              </a:r>
              <a:endParaRPr lang="en-US" sz="2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347268" y="3144777"/>
              <a:ext cx="647700" cy="495300"/>
            </a:xfrm>
            <a:custGeom>
              <a:avLst/>
              <a:gdLst/>
              <a:ahLst/>
              <a:cxnLst/>
              <a:rect l="l" t="t" r="r" b="b"/>
              <a:pathLst>
                <a:path w="647700" h="495300">
                  <a:moveTo>
                    <a:pt x="76202" y="0"/>
                  </a:moveTo>
                  <a:lnTo>
                    <a:pt x="571498" y="0"/>
                  </a:lnTo>
                  <a:cubicBezTo>
                    <a:pt x="613583" y="0"/>
                    <a:pt x="647700" y="34117"/>
                    <a:pt x="647700" y="76202"/>
                  </a:cubicBezTo>
                  <a:lnTo>
                    <a:pt x="647700" y="419098"/>
                  </a:lnTo>
                  <a:cubicBezTo>
                    <a:pt x="647700" y="461183"/>
                    <a:pt x="613583" y="495300"/>
                    <a:pt x="5714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499668" y="3206690"/>
              <a:ext cx="489268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2×</a:t>
              </a:r>
              <a:endParaRPr lang="en-US" sz="1600" dirty="0"/>
            </a:p>
          </p:txBody>
        </p:sp>
      </p:grpSp>
      <p:sp>
        <p:nvSpPr>
          <p:cNvPr id="40" name="Text 7">
            <a:extLst>
              <a:ext uri="{FF2B5EF4-FFF2-40B4-BE49-F238E27FC236}">
                <a16:creationId xmlns:a16="http://schemas.microsoft.com/office/drawing/2014/main" id="{E2A50C45-8CDD-4190-9FC9-10BBCD0459DF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15</a:t>
            </a:r>
            <a:endParaRPr lang="en-US" sz="1600" dirty="0"/>
          </a:p>
        </p:txBody>
      </p:sp>
      <p:grpSp>
        <p:nvGrpSpPr>
          <p:cNvPr id="110" name="Группа 109">
            <a:extLst>
              <a:ext uri="{FF2B5EF4-FFF2-40B4-BE49-F238E27FC236}">
                <a16:creationId xmlns:a16="http://schemas.microsoft.com/office/drawing/2014/main" id="{47BED1B6-94F8-4909-9C0C-97C03275172D}"/>
              </a:ext>
            </a:extLst>
          </p:cNvPr>
          <p:cNvGrpSpPr/>
          <p:nvPr/>
        </p:nvGrpSpPr>
        <p:grpSpPr>
          <a:xfrm>
            <a:off x="0" y="8877300"/>
            <a:ext cx="12192000" cy="6857437"/>
            <a:chOff x="0" y="0"/>
            <a:chExt cx="12192000" cy="6857437"/>
          </a:xfrm>
        </p:grpSpPr>
        <p:pic>
          <p:nvPicPr>
            <p:cNvPr id="111" name="Image 0" descr="https://kimi-web-img.moonshot.cn/img/thumbs.dreamstime.com/26368d7d247c4288444b5509ac884a0a7a524018.jpg">
              <a:extLst>
                <a:ext uri="{FF2B5EF4-FFF2-40B4-BE49-F238E27FC236}">
                  <a16:creationId xmlns:a16="http://schemas.microsoft.com/office/drawing/2014/main" id="{F761539A-BF0F-420B-ACD4-5F325247B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000"/>
            </a:blip>
            <a:srcRect t="4" b="4"/>
            <a:stretch/>
          </p:blipFill>
          <p:spPr>
            <a:xfrm>
              <a:off x="0" y="0"/>
              <a:ext cx="12192000" cy="6857437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112" name="Shape 0">
              <a:extLst>
                <a:ext uri="{FF2B5EF4-FFF2-40B4-BE49-F238E27FC236}">
                  <a16:creationId xmlns:a16="http://schemas.microsoft.com/office/drawing/2014/main" id="{B5B93B56-31F6-45B4-BC33-3421BC9A9E22}"/>
                </a:ext>
              </a:extLst>
            </p:cNvPr>
            <p:cNvSpPr/>
            <p:nvPr/>
          </p:nvSpPr>
          <p:spPr>
            <a:xfrm>
              <a:off x="0" y="0"/>
              <a:ext cx="12192000" cy="6857437"/>
            </a:xfrm>
            <a:custGeom>
              <a:avLst/>
              <a:gdLst/>
              <a:ahLst/>
              <a:cxnLst/>
              <a:rect l="l" t="t" r="r" b="b"/>
              <a:pathLst>
                <a:path w="12192000" h="6857437">
                  <a:moveTo>
                    <a:pt x="0" y="0"/>
                  </a:moveTo>
                  <a:lnTo>
                    <a:pt x="12192000" y="0"/>
                  </a:lnTo>
                  <a:lnTo>
                    <a:pt x="12192000" y="6857437"/>
                  </a:lnTo>
                  <a:lnTo>
                    <a:pt x="0" y="68574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D700">
                    <a:alpha val="30000"/>
                  </a:srgbClr>
                </a:gs>
                <a:gs pos="50000">
                  <a:srgbClr val="FFD700">
                    <a:alpha val="10000"/>
                  </a:srgbClr>
                </a:gs>
                <a:gs pos="100000">
                  <a:srgbClr val="FF6B35">
                    <a:alpha val="20000"/>
                  </a:srgbClr>
                </a:gs>
              </a:gsLst>
              <a:lin ang="2700000" scaled="1"/>
            </a:gradFill>
            <a:ln/>
          </p:spPr>
        </p:sp>
        <p:sp>
          <p:nvSpPr>
            <p:cNvPr id="113" name="Shape 1">
              <a:extLst>
                <a:ext uri="{FF2B5EF4-FFF2-40B4-BE49-F238E27FC236}">
                  <a16:creationId xmlns:a16="http://schemas.microsoft.com/office/drawing/2014/main" id="{F1ED6D15-5172-46ED-968F-4A28F26692C0}"/>
                </a:ext>
              </a:extLst>
            </p:cNvPr>
            <p:cNvSpPr/>
            <p:nvPr/>
          </p:nvSpPr>
          <p:spPr>
            <a:xfrm>
              <a:off x="5266379" y="704407"/>
              <a:ext cx="720887" cy="720887"/>
            </a:xfrm>
            <a:custGeom>
              <a:avLst/>
              <a:gdLst/>
              <a:ahLst/>
              <a:cxnLst/>
              <a:rect l="l" t="t" r="r" b="b"/>
              <a:pathLst>
                <a:path w="720887" h="720887">
                  <a:moveTo>
                    <a:pt x="144177" y="0"/>
                  </a:moveTo>
                  <a:lnTo>
                    <a:pt x="576710" y="0"/>
                  </a:lnTo>
                  <a:cubicBezTo>
                    <a:pt x="656283" y="0"/>
                    <a:pt x="720887" y="64604"/>
                    <a:pt x="720887" y="144177"/>
                  </a:cubicBezTo>
                  <a:lnTo>
                    <a:pt x="720887" y="576710"/>
                  </a:lnTo>
                  <a:cubicBezTo>
                    <a:pt x="720887" y="656283"/>
                    <a:pt x="656283" y="720887"/>
                    <a:pt x="576710" y="720887"/>
                  </a:cubicBezTo>
                  <a:lnTo>
                    <a:pt x="144177" y="720887"/>
                  </a:lnTo>
                  <a:cubicBezTo>
                    <a:pt x="64604" y="720887"/>
                    <a:pt x="0" y="656283"/>
                    <a:pt x="0" y="576710"/>
                  </a:cubicBezTo>
                  <a:lnTo>
                    <a:pt x="0" y="144177"/>
                  </a:lnTo>
                  <a:cubicBezTo>
                    <a:pt x="0" y="64604"/>
                    <a:pt x="64604" y="0"/>
                    <a:pt x="144177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031187F1-4227-4482-AF2D-C768277A689C}"/>
                </a:ext>
              </a:extLst>
            </p:cNvPr>
            <p:cNvSpPr/>
            <p:nvPr/>
          </p:nvSpPr>
          <p:spPr>
            <a:xfrm>
              <a:off x="5424073" y="902651"/>
              <a:ext cx="405499" cy="324399"/>
            </a:xfrm>
            <a:custGeom>
              <a:avLst/>
              <a:gdLst/>
              <a:ahLst/>
              <a:cxnLst/>
              <a:rect l="l" t="t" r="r" b="b"/>
              <a:pathLst>
                <a:path w="405499" h="324399">
                  <a:moveTo>
                    <a:pt x="223024" y="0"/>
                  </a:moveTo>
                  <a:cubicBezTo>
                    <a:pt x="223024" y="-11215"/>
                    <a:pt x="213964" y="-20275"/>
                    <a:pt x="202749" y="-20275"/>
                  </a:cubicBezTo>
                  <a:cubicBezTo>
                    <a:pt x="191535" y="-20275"/>
                    <a:pt x="182475" y="-11215"/>
                    <a:pt x="182475" y="0"/>
                  </a:cubicBezTo>
                  <a:lnTo>
                    <a:pt x="182475" y="40550"/>
                  </a:lnTo>
                  <a:lnTo>
                    <a:pt x="121650" y="40550"/>
                  </a:lnTo>
                  <a:cubicBezTo>
                    <a:pt x="88069" y="40550"/>
                    <a:pt x="60825" y="67794"/>
                    <a:pt x="60825" y="101375"/>
                  </a:cubicBezTo>
                  <a:lnTo>
                    <a:pt x="60825" y="243299"/>
                  </a:lnTo>
                  <a:cubicBezTo>
                    <a:pt x="60825" y="276880"/>
                    <a:pt x="88069" y="304124"/>
                    <a:pt x="121650" y="304124"/>
                  </a:cubicBezTo>
                  <a:lnTo>
                    <a:pt x="283849" y="304124"/>
                  </a:lnTo>
                  <a:cubicBezTo>
                    <a:pt x="317430" y="304124"/>
                    <a:pt x="344674" y="276880"/>
                    <a:pt x="344674" y="243299"/>
                  </a:cubicBezTo>
                  <a:lnTo>
                    <a:pt x="344674" y="101375"/>
                  </a:lnTo>
                  <a:cubicBezTo>
                    <a:pt x="344674" y="67794"/>
                    <a:pt x="317430" y="40550"/>
                    <a:pt x="283849" y="40550"/>
                  </a:cubicBezTo>
                  <a:lnTo>
                    <a:pt x="223024" y="40550"/>
                  </a:lnTo>
                  <a:lnTo>
                    <a:pt x="223024" y="0"/>
                  </a:lnTo>
                  <a:close/>
                  <a:moveTo>
                    <a:pt x="101375" y="233162"/>
                  </a:moveTo>
                  <a:cubicBezTo>
                    <a:pt x="101375" y="224735"/>
                    <a:pt x="108154" y="217956"/>
                    <a:pt x="116581" y="217956"/>
                  </a:cubicBezTo>
                  <a:lnTo>
                    <a:pt x="136856" y="217956"/>
                  </a:lnTo>
                  <a:cubicBezTo>
                    <a:pt x="145283" y="217956"/>
                    <a:pt x="152062" y="224735"/>
                    <a:pt x="152062" y="233162"/>
                  </a:cubicBezTo>
                  <a:cubicBezTo>
                    <a:pt x="152062" y="241589"/>
                    <a:pt x="145283" y="248368"/>
                    <a:pt x="136856" y="248368"/>
                  </a:cubicBezTo>
                  <a:lnTo>
                    <a:pt x="116581" y="248368"/>
                  </a:lnTo>
                  <a:cubicBezTo>
                    <a:pt x="108154" y="248368"/>
                    <a:pt x="101375" y="241589"/>
                    <a:pt x="101375" y="233162"/>
                  </a:cubicBezTo>
                  <a:close/>
                  <a:moveTo>
                    <a:pt x="177406" y="233162"/>
                  </a:moveTo>
                  <a:cubicBezTo>
                    <a:pt x="177406" y="224735"/>
                    <a:pt x="184185" y="217956"/>
                    <a:pt x="192612" y="217956"/>
                  </a:cubicBezTo>
                  <a:lnTo>
                    <a:pt x="212887" y="217956"/>
                  </a:lnTo>
                  <a:cubicBezTo>
                    <a:pt x="221314" y="217956"/>
                    <a:pt x="228093" y="224735"/>
                    <a:pt x="228093" y="233162"/>
                  </a:cubicBezTo>
                  <a:cubicBezTo>
                    <a:pt x="228093" y="241589"/>
                    <a:pt x="221314" y="248368"/>
                    <a:pt x="212887" y="248368"/>
                  </a:cubicBezTo>
                  <a:lnTo>
                    <a:pt x="192612" y="248368"/>
                  </a:lnTo>
                  <a:cubicBezTo>
                    <a:pt x="184185" y="248368"/>
                    <a:pt x="177406" y="241589"/>
                    <a:pt x="177406" y="233162"/>
                  </a:cubicBezTo>
                  <a:close/>
                  <a:moveTo>
                    <a:pt x="253437" y="233162"/>
                  </a:moveTo>
                  <a:cubicBezTo>
                    <a:pt x="253437" y="224735"/>
                    <a:pt x="260216" y="217956"/>
                    <a:pt x="268643" y="217956"/>
                  </a:cubicBezTo>
                  <a:lnTo>
                    <a:pt x="288918" y="217956"/>
                  </a:lnTo>
                  <a:cubicBezTo>
                    <a:pt x="297345" y="217956"/>
                    <a:pt x="304124" y="224735"/>
                    <a:pt x="304124" y="233162"/>
                  </a:cubicBezTo>
                  <a:cubicBezTo>
                    <a:pt x="304124" y="241589"/>
                    <a:pt x="297345" y="248368"/>
                    <a:pt x="288918" y="248368"/>
                  </a:cubicBezTo>
                  <a:lnTo>
                    <a:pt x="268643" y="248368"/>
                  </a:lnTo>
                  <a:cubicBezTo>
                    <a:pt x="260216" y="248368"/>
                    <a:pt x="253437" y="241589"/>
                    <a:pt x="253437" y="233162"/>
                  </a:cubicBezTo>
                  <a:close/>
                  <a:moveTo>
                    <a:pt x="141925" y="111512"/>
                  </a:moveTo>
                  <a:cubicBezTo>
                    <a:pt x="158710" y="111512"/>
                    <a:pt x="172337" y="125140"/>
                    <a:pt x="172337" y="141925"/>
                  </a:cubicBezTo>
                  <a:cubicBezTo>
                    <a:pt x="172337" y="158710"/>
                    <a:pt x="158710" y="172337"/>
                    <a:pt x="141925" y="172337"/>
                  </a:cubicBezTo>
                  <a:cubicBezTo>
                    <a:pt x="125140" y="172337"/>
                    <a:pt x="111512" y="158710"/>
                    <a:pt x="111512" y="141925"/>
                  </a:cubicBezTo>
                  <a:cubicBezTo>
                    <a:pt x="111512" y="125140"/>
                    <a:pt x="125140" y="111512"/>
                    <a:pt x="141925" y="111512"/>
                  </a:cubicBezTo>
                  <a:close/>
                  <a:moveTo>
                    <a:pt x="233162" y="141925"/>
                  </a:moveTo>
                  <a:cubicBezTo>
                    <a:pt x="233162" y="125140"/>
                    <a:pt x="246789" y="111512"/>
                    <a:pt x="263574" y="111512"/>
                  </a:cubicBezTo>
                  <a:cubicBezTo>
                    <a:pt x="280359" y="111512"/>
                    <a:pt x="293987" y="125140"/>
                    <a:pt x="293987" y="141925"/>
                  </a:cubicBezTo>
                  <a:cubicBezTo>
                    <a:pt x="293987" y="158710"/>
                    <a:pt x="280359" y="172337"/>
                    <a:pt x="263574" y="172337"/>
                  </a:cubicBezTo>
                  <a:cubicBezTo>
                    <a:pt x="246789" y="172337"/>
                    <a:pt x="233162" y="158710"/>
                    <a:pt x="233162" y="141925"/>
                  </a:cubicBezTo>
                  <a:close/>
                  <a:moveTo>
                    <a:pt x="40550" y="141925"/>
                  </a:moveTo>
                  <a:cubicBezTo>
                    <a:pt x="40550" y="130710"/>
                    <a:pt x="31490" y="121650"/>
                    <a:pt x="20275" y="121650"/>
                  </a:cubicBezTo>
                  <a:cubicBezTo>
                    <a:pt x="9060" y="121650"/>
                    <a:pt x="0" y="130710"/>
                    <a:pt x="0" y="141925"/>
                  </a:cubicBezTo>
                  <a:lnTo>
                    <a:pt x="0" y="202749"/>
                  </a:lnTo>
                  <a:cubicBezTo>
                    <a:pt x="0" y="213964"/>
                    <a:pt x="9060" y="223024"/>
                    <a:pt x="20275" y="223024"/>
                  </a:cubicBezTo>
                  <a:cubicBezTo>
                    <a:pt x="31490" y="223024"/>
                    <a:pt x="40550" y="213964"/>
                    <a:pt x="40550" y="202749"/>
                  </a:cubicBezTo>
                  <a:lnTo>
                    <a:pt x="40550" y="141925"/>
                  </a:lnTo>
                  <a:close/>
                  <a:moveTo>
                    <a:pt x="385224" y="121650"/>
                  </a:moveTo>
                  <a:cubicBezTo>
                    <a:pt x="374009" y="121650"/>
                    <a:pt x="364949" y="130710"/>
                    <a:pt x="364949" y="141925"/>
                  </a:cubicBezTo>
                  <a:lnTo>
                    <a:pt x="364949" y="202749"/>
                  </a:lnTo>
                  <a:cubicBezTo>
                    <a:pt x="364949" y="213964"/>
                    <a:pt x="374009" y="223024"/>
                    <a:pt x="385224" y="223024"/>
                  </a:cubicBezTo>
                  <a:cubicBezTo>
                    <a:pt x="396439" y="223024"/>
                    <a:pt x="405499" y="213964"/>
                    <a:pt x="405499" y="202749"/>
                  </a:cubicBezTo>
                  <a:lnTo>
                    <a:pt x="405499" y="141925"/>
                  </a:lnTo>
                  <a:cubicBezTo>
                    <a:pt x="405499" y="130710"/>
                    <a:pt x="396439" y="121650"/>
                    <a:pt x="385224" y="12165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15" name="Shape 3">
              <a:extLst>
                <a:ext uri="{FF2B5EF4-FFF2-40B4-BE49-F238E27FC236}">
                  <a16:creationId xmlns:a16="http://schemas.microsoft.com/office/drawing/2014/main" id="{1B9E0951-BB07-44FC-8295-998794139317}"/>
                </a:ext>
              </a:extLst>
            </p:cNvPr>
            <p:cNvSpPr/>
            <p:nvPr/>
          </p:nvSpPr>
          <p:spPr>
            <a:xfrm>
              <a:off x="6203532" y="704407"/>
              <a:ext cx="720887" cy="720887"/>
            </a:xfrm>
            <a:custGeom>
              <a:avLst/>
              <a:gdLst/>
              <a:ahLst/>
              <a:cxnLst/>
              <a:rect l="l" t="t" r="r" b="b"/>
              <a:pathLst>
                <a:path w="720887" h="720887">
                  <a:moveTo>
                    <a:pt x="144177" y="0"/>
                  </a:moveTo>
                  <a:lnTo>
                    <a:pt x="576710" y="0"/>
                  </a:lnTo>
                  <a:cubicBezTo>
                    <a:pt x="656283" y="0"/>
                    <a:pt x="720887" y="64604"/>
                    <a:pt x="720887" y="144177"/>
                  </a:cubicBezTo>
                  <a:lnTo>
                    <a:pt x="720887" y="576710"/>
                  </a:lnTo>
                  <a:cubicBezTo>
                    <a:pt x="720887" y="656283"/>
                    <a:pt x="656283" y="720887"/>
                    <a:pt x="576710" y="720887"/>
                  </a:cubicBezTo>
                  <a:lnTo>
                    <a:pt x="144177" y="720887"/>
                  </a:lnTo>
                  <a:cubicBezTo>
                    <a:pt x="64604" y="720887"/>
                    <a:pt x="0" y="656283"/>
                    <a:pt x="0" y="576710"/>
                  </a:cubicBezTo>
                  <a:lnTo>
                    <a:pt x="0" y="144177"/>
                  </a:lnTo>
                  <a:cubicBezTo>
                    <a:pt x="0" y="64604"/>
                    <a:pt x="64604" y="0"/>
                    <a:pt x="144177" y="0"/>
                  </a:cubicBezTo>
                  <a:close/>
                </a:path>
              </a:pathLst>
            </a:custGeom>
            <a:solidFill>
              <a:srgbClr val="1A1A1A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6" name="Text 4">
              <a:extLst>
                <a:ext uri="{FF2B5EF4-FFF2-40B4-BE49-F238E27FC236}">
                  <a16:creationId xmlns:a16="http://schemas.microsoft.com/office/drawing/2014/main" id="{0D9F7CEE-DB71-4335-B8F6-0E8F92508331}"/>
                </a:ext>
              </a:extLst>
            </p:cNvPr>
            <p:cNvSpPr/>
            <p:nvPr/>
          </p:nvSpPr>
          <p:spPr>
            <a:xfrm>
              <a:off x="6316321" y="902651"/>
              <a:ext cx="495610" cy="324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29" b="1" dirty="0">
                  <a:solidFill>
                    <a:srgbClr val="FFD700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</a:t>
              </a:r>
              <a:endParaRPr lang="en-US" sz="1600" dirty="0"/>
            </a:p>
          </p:txBody>
        </p:sp>
        <p:sp>
          <p:nvSpPr>
            <p:cNvPr id="117" name="Text 5">
              <a:extLst>
                <a:ext uri="{FF2B5EF4-FFF2-40B4-BE49-F238E27FC236}">
                  <a16:creationId xmlns:a16="http://schemas.microsoft.com/office/drawing/2014/main" id="{A40979D9-8749-463A-BF12-81826214C94E}"/>
                </a:ext>
              </a:extLst>
            </p:cNvPr>
            <p:cNvSpPr/>
            <p:nvPr/>
          </p:nvSpPr>
          <p:spPr>
            <a:xfrm>
              <a:off x="3770745" y="1709916"/>
              <a:ext cx="4865574" cy="4325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Заключение</a:t>
              </a:r>
              <a:endParaRPr lang="en-US" sz="2400" dirty="0"/>
            </a:p>
          </p:txBody>
        </p:sp>
        <p:sp>
          <p:nvSpPr>
            <p:cNvPr id="118" name="Shape 6">
              <a:extLst>
                <a:ext uri="{FF2B5EF4-FFF2-40B4-BE49-F238E27FC236}">
                  <a16:creationId xmlns:a16="http://schemas.microsoft.com/office/drawing/2014/main" id="{8204279E-091A-4603-A53D-2225F235C804}"/>
                </a:ext>
              </a:extLst>
            </p:cNvPr>
            <p:cNvSpPr/>
            <p:nvPr/>
          </p:nvSpPr>
          <p:spPr>
            <a:xfrm>
              <a:off x="5554734" y="2213765"/>
              <a:ext cx="1153419" cy="36044"/>
            </a:xfrm>
            <a:custGeom>
              <a:avLst/>
              <a:gdLst/>
              <a:ahLst/>
              <a:cxnLst/>
              <a:rect l="l" t="t" r="r" b="b"/>
              <a:pathLst>
                <a:path w="1153419" h="36044">
                  <a:moveTo>
                    <a:pt x="0" y="0"/>
                  </a:moveTo>
                  <a:lnTo>
                    <a:pt x="1153419" y="0"/>
                  </a:lnTo>
                  <a:lnTo>
                    <a:pt x="1153419" y="36044"/>
                  </a:lnTo>
                  <a:lnTo>
                    <a:pt x="0" y="36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19" name="Shape 7">
              <a:extLst>
                <a:ext uri="{FF2B5EF4-FFF2-40B4-BE49-F238E27FC236}">
                  <a16:creationId xmlns:a16="http://schemas.microsoft.com/office/drawing/2014/main" id="{06D8BCA0-7A66-4DF0-997D-ECDB060823BB}"/>
                </a:ext>
              </a:extLst>
            </p:cNvPr>
            <p:cNvSpPr/>
            <p:nvPr/>
          </p:nvSpPr>
          <p:spPr>
            <a:xfrm>
              <a:off x="2304885" y="2392443"/>
              <a:ext cx="7668435" cy="865064"/>
            </a:xfrm>
            <a:custGeom>
              <a:avLst/>
              <a:gdLst/>
              <a:ahLst/>
              <a:cxnLst/>
              <a:rect l="l" t="t" r="r" b="b"/>
              <a:pathLst>
                <a:path w="7668435" h="865064">
                  <a:moveTo>
                    <a:pt x="36044" y="0"/>
                  </a:moveTo>
                  <a:lnTo>
                    <a:pt x="7524254" y="0"/>
                  </a:lnTo>
                  <a:cubicBezTo>
                    <a:pt x="7603883" y="0"/>
                    <a:pt x="7668435" y="64552"/>
                    <a:pt x="7668435" y="144180"/>
                  </a:cubicBezTo>
                  <a:lnTo>
                    <a:pt x="7668435" y="720884"/>
                  </a:lnTo>
                  <a:cubicBezTo>
                    <a:pt x="7668435" y="800513"/>
                    <a:pt x="7603883" y="865064"/>
                    <a:pt x="7524254" y="865064"/>
                  </a:cubicBez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0" name="Shape 8">
              <a:extLst>
                <a:ext uri="{FF2B5EF4-FFF2-40B4-BE49-F238E27FC236}">
                  <a16:creationId xmlns:a16="http://schemas.microsoft.com/office/drawing/2014/main" id="{BEB0421A-3F5F-4BD3-87CE-9BF7EF018787}"/>
                </a:ext>
              </a:extLst>
            </p:cNvPr>
            <p:cNvSpPr/>
            <p:nvPr/>
          </p:nvSpPr>
          <p:spPr>
            <a:xfrm>
              <a:off x="2304885" y="2392443"/>
              <a:ext cx="36044" cy="865064"/>
            </a:xfrm>
            <a:custGeom>
              <a:avLst/>
              <a:gdLst/>
              <a:ahLst/>
              <a:cxnLst/>
              <a:rect l="l" t="t" r="r" b="b"/>
              <a:pathLst>
                <a:path w="36044" h="865064">
                  <a:moveTo>
                    <a:pt x="36044" y="0"/>
                  </a:moveTo>
                  <a:lnTo>
                    <a:pt x="36044" y="0"/>
                  </a:lnTo>
                  <a:lnTo>
                    <a:pt x="36044" y="865064"/>
                  </a:ln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1" name="Shape 9">
              <a:extLst>
                <a:ext uri="{FF2B5EF4-FFF2-40B4-BE49-F238E27FC236}">
                  <a16:creationId xmlns:a16="http://schemas.microsoft.com/office/drawing/2014/main" id="{93972F37-3297-4F5A-9184-68A0AA02AFDE}"/>
                </a:ext>
              </a:extLst>
            </p:cNvPr>
            <p:cNvSpPr/>
            <p:nvPr/>
          </p:nvSpPr>
          <p:spPr>
            <a:xfrm>
              <a:off x="2539174" y="2608709"/>
              <a:ext cx="432532" cy="432532"/>
            </a:xfrm>
            <a:custGeom>
              <a:avLst/>
              <a:gdLst/>
              <a:ahLst/>
              <a:cxnLst/>
              <a:rect l="l" t="t" r="r" b="b"/>
              <a:pathLst>
                <a:path w="432532" h="432532">
                  <a:moveTo>
                    <a:pt x="108133" y="0"/>
                  </a:moveTo>
                  <a:lnTo>
                    <a:pt x="324399" y="0"/>
                  </a:lnTo>
                  <a:cubicBezTo>
                    <a:pt x="384119" y="0"/>
                    <a:pt x="432532" y="48413"/>
                    <a:pt x="432532" y="108133"/>
                  </a:cubicBezTo>
                  <a:lnTo>
                    <a:pt x="432532" y="324399"/>
                  </a:lnTo>
                  <a:cubicBezTo>
                    <a:pt x="432532" y="384119"/>
                    <a:pt x="384119" y="432532"/>
                    <a:pt x="324399" y="432532"/>
                  </a:cubicBezTo>
                  <a:lnTo>
                    <a:pt x="108133" y="432532"/>
                  </a:lnTo>
                  <a:cubicBezTo>
                    <a:pt x="48413" y="432532"/>
                    <a:pt x="0" y="384119"/>
                    <a:pt x="0" y="324399"/>
                  </a:cubicBezTo>
                  <a:lnTo>
                    <a:pt x="0" y="108133"/>
                  </a:lnTo>
                  <a:cubicBezTo>
                    <a:pt x="0" y="48453"/>
                    <a:pt x="48453" y="0"/>
                    <a:pt x="108133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2" name="Shape 10">
              <a:extLst>
                <a:ext uri="{FF2B5EF4-FFF2-40B4-BE49-F238E27FC236}">
                  <a16:creationId xmlns:a16="http://schemas.microsoft.com/office/drawing/2014/main" id="{D7A45610-4786-4F38-86BB-1DCDA9CF6E51}"/>
                </a:ext>
              </a:extLst>
            </p:cNvPr>
            <p:cNvSpPr/>
            <p:nvPr/>
          </p:nvSpPr>
          <p:spPr>
            <a:xfrm>
              <a:off x="2647307" y="2716842"/>
              <a:ext cx="216266" cy="216266"/>
            </a:xfrm>
            <a:custGeom>
              <a:avLst/>
              <a:gdLst/>
              <a:ahLst/>
              <a:cxnLst/>
              <a:rect l="l" t="t" r="r" b="b"/>
              <a:pathLst>
                <a:path w="216266" h="216266">
                  <a:moveTo>
                    <a:pt x="108133" y="216266"/>
                  </a:moveTo>
                  <a:cubicBezTo>
                    <a:pt x="167813" y="216266"/>
                    <a:pt x="216266" y="167813"/>
                    <a:pt x="216266" y="108133"/>
                  </a:cubicBezTo>
                  <a:cubicBezTo>
                    <a:pt x="216266" y="48453"/>
                    <a:pt x="167813" y="0"/>
                    <a:pt x="108133" y="0"/>
                  </a:cubicBezTo>
                  <a:cubicBezTo>
                    <a:pt x="48453" y="0"/>
                    <a:pt x="0" y="48453"/>
                    <a:pt x="0" y="108133"/>
                  </a:cubicBezTo>
                  <a:cubicBezTo>
                    <a:pt x="0" y="167813"/>
                    <a:pt x="48453" y="216266"/>
                    <a:pt x="108133" y="216266"/>
                  </a:cubicBezTo>
                  <a:close/>
                  <a:moveTo>
                    <a:pt x="143783" y="89843"/>
                  </a:moveTo>
                  <a:lnTo>
                    <a:pt x="109992" y="143910"/>
                  </a:lnTo>
                  <a:cubicBezTo>
                    <a:pt x="108218" y="146740"/>
                    <a:pt x="105176" y="148514"/>
                    <a:pt x="101839" y="148683"/>
                  </a:cubicBezTo>
                  <a:cubicBezTo>
                    <a:pt x="98502" y="148852"/>
                    <a:pt x="95292" y="147331"/>
                    <a:pt x="93307" y="144628"/>
                  </a:cubicBezTo>
                  <a:lnTo>
                    <a:pt x="73032" y="117595"/>
                  </a:lnTo>
                  <a:cubicBezTo>
                    <a:pt x="69653" y="113117"/>
                    <a:pt x="70582" y="106781"/>
                    <a:pt x="75060" y="103402"/>
                  </a:cubicBezTo>
                  <a:cubicBezTo>
                    <a:pt x="79537" y="100023"/>
                    <a:pt x="85873" y="100952"/>
                    <a:pt x="89252" y="105430"/>
                  </a:cubicBezTo>
                  <a:lnTo>
                    <a:pt x="100657" y="120636"/>
                  </a:lnTo>
                  <a:lnTo>
                    <a:pt x="126592" y="79115"/>
                  </a:lnTo>
                  <a:cubicBezTo>
                    <a:pt x="129548" y="74384"/>
                    <a:pt x="135800" y="72905"/>
                    <a:pt x="140573" y="75904"/>
                  </a:cubicBezTo>
                  <a:cubicBezTo>
                    <a:pt x="145346" y="78903"/>
                    <a:pt x="146782" y="85113"/>
                    <a:pt x="143783" y="8988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3" name="Text 11">
              <a:extLst>
                <a:ext uri="{FF2B5EF4-FFF2-40B4-BE49-F238E27FC236}">
                  <a16:creationId xmlns:a16="http://schemas.microsoft.com/office/drawing/2014/main" id="{591BFC6F-1A4F-40F5-9315-D4B96DD17FFC}"/>
                </a:ext>
              </a:extLst>
            </p:cNvPr>
            <p:cNvSpPr/>
            <p:nvPr/>
          </p:nvSpPr>
          <p:spPr>
            <a:xfrm>
              <a:off x="3115883" y="2698820"/>
              <a:ext cx="6127539" cy="252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Разработан интеллектуальный ассистент, интегрированный в 1С:УНФ</a:t>
              </a:r>
              <a:endParaRPr lang="en-US" sz="2400" dirty="0"/>
            </a:p>
          </p:txBody>
        </p:sp>
        <p:sp>
          <p:nvSpPr>
            <p:cNvPr id="124" name="Shape 12">
              <a:extLst>
                <a:ext uri="{FF2B5EF4-FFF2-40B4-BE49-F238E27FC236}">
                  <a16:creationId xmlns:a16="http://schemas.microsoft.com/office/drawing/2014/main" id="{3FC98AFD-58B3-4107-B41B-B43E371DA033}"/>
                </a:ext>
              </a:extLst>
            </p:cNvPr>
            <p:cNvSpPr/>
            <p:nvPr/>
          </p:nvSpPr>
          <p:spPr>
            <a:xfrm>
              <a:off x="2304885" y="3437729"/>
              <a:ext cx="7668435" cy="865064"/>
            </a:xfrm>
            <a:custGeom>
              <a:avLst/>
              <a:gdLst/>
              <a:ahLst/>
              <a:cxnLst/>
              <a:rect l="l" t="t" r="r" b="b"/>
              <a:pathLst>
                <a:path w="7668435" h="865064">
                  <a:moveTo>
                    <a:pt x="36044" y="0"/>
                  </a:moveTo>
                  <a:lnTo>
                    <a:pt x="7524254" y="0"/>
                  </a:lnTo>
                  <a:cubicBezTo>
                    <a:pt x="7603883" y="0"/>
                    <a:pt x="7668435" y="64552"/>
                    <a:pt x="7668435" y="144180"/>
                  </a:cubicBezTo>
                  <a:lnTo>
                    <a:pt x="7668435" y="720884"/>
                  </a:lnTo>
                  <a:cubicBezTo>
                    <a:pt x="7668435" y="800513"/>
                    <a:pt x="7603883" y="865064"/>
                    <a:pt x="7524254" y="865064"/>
                  </a:cubicBez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5" name="Shape 13">
              <a:extLst>
                <a:ext uri="{FF2B5EF4-FFF2-40B4-BE49-F238E27FC236}">
                  <a16:creationId xmlns:a16="http://schemas.microsoft.com/office/drawing/2014/main" id="{55090AB4-4C4F-4709-88A3-33A7950DAB91}"/>
                </a:ext>
              </a:extLst>
            </p:cNvPr>
            <p:cNvSpPr/>
            <p:nvPr/>
          </p:nvSpPr>
          <p:spPr>
            <a:xfrm>
              <a:off x="2304885" y="3437729"/>
              <a:ext cx="36044" cy="865064"/>
            </a:xfrm>
            <a:custGeom>
              <a:avLst/>
              <a:gdLst/>
              <a:ahLst/>
              <a:cxnLst/>
              <a:rect l="l" t="t" r="r" b="b"/>
              <a:pathLst>
                <a:path w="36044" h="865064">
                  <a:moveTo>
                    <a:pt x="36044" y="0"/>
                  </a:moveTo>
                  <a:lnTo>
                    <a:pt x="36044" y="0"/>
                  </a:lnTo>
                  <a:lnTo>
                    <a:pt x="36044" y="865064"/>
                  </a:ln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6" name="Shape 14">
              <a:extLst>
                <a:ext uri="{FF2B5EF4-FFF2-40B4-BE49-F238E27FC236}">
                  <a16:creationId xmlns:a16="http://schemas.microsoft.com/office/drawing/2014/main" id="{FBF02145-7871-487C-A331-A61AE5191FCE}"/>
                </a:ext>
              </a:extLst>
            </p:cNvPr>
            <p:cNvSpPr/>
            <p:nvPr/>
          </p:nvSpPr>
          <p:spPr>
            <a:xfrm>
              <a:off x="2539174" y="3653995"/>
              <a:ext cx="432532" cy="432532"/>
            </a:xfrm>
            <a:custGeom>
              <a:avLst/>
              <a:gdLst/>
              <a:ahLst/>
              <a:cxnLst/>
              <a:rect l="l" t="t" r="r" b="b"/>
              <a:pathLst>
                <a:path w="432532" h="432532">
                  <a:moveTo>
                    <a:pt x="108133" y="0"/>
                  </a:moveTo>
                  <a:lnTo>
                    <a:pt x="324399" y="0"/>
                  </a:lnTo>
                  <a:cubicBezTo>
                    <a:pt x="384119" y="0"/>
                    <a:pt x="432532" y="48413"/>
                    <a:pt x="432532" y="108133"/>
                  </a:cubicBezTo>
                  <a:lnTo>
                    <a:pt x="432532" y="324399"/>
                  </a:lnTo>
                  <a:cubicBezTo>
                    <a:pt x="432532" y="384119"/>
                    <a:pt x="384119" y="432532"/>
                    <a:pt x="324399" y="432532"/>
                  </a:cubicBezTo>
                  <a:lnTo>
                    <a:pt x="108133" y="432532"/>
                  </a:lnTo>
                  <a:cubicBezTo>
                    <a:pt x="48413" y="432532"/>
                    <a:pt x="0" y="384119"/>
                    <a:pt x="0" y="324399"/>
                  </a:cubicBezTo>
                  <a:lnTo>
                    <a:pt x="0" y="108133"/>
                  </a:lnTo>
                  <a:cubicBezTo>
                    <a:pt x="0" y="48453"/>
                    <a:pt x="48453" y="0"/>
                    <a:pt x="108133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27" name="Shape 15">
              <a:extLst>
                <a:ext uri="{FF2B5EF4-FFF2-40B4-BE49-F238E27FC236}">
                  <a16:creationId xmlns:a16="http://schemas.microsoft.com/office/drawing/2014/main" id="{244C9A60-5F7D-4529-B72D-4EDFF1901590}"/>
                </a:ext>
              </a:extLst>
            </p:cNvPr>
            <p:cNvSpPr/>
            <p:nvPr/>
          </p:nvSpPr>
          <p:spPr>
            <a:xfrm>
              <a:off x="2660823" y="3762129"/>
              <a:ext cx="189233" cy="216266"/>
            </a:xfrm>
            <a:custGeom>
              <a:avLst/>
              <a:gdLst/>
              <a:ahLst/>
              <a:cxnLst/>
              <a:rect l="l" t="t" r="r" b="b"/>
              <a:pathLst>
                <a:path w="189233" h="216266">
                  <a:moveTo>
                    <a:pt x="189233" y="86929"/>
                  </a:moveTo>
                  <a:cubicBezTo>
                    <a:pt x="182981" y="91068"/>
                    <a:pt x="175801" y="94405"/>
                    <a:pt x="168324" y="97066"/>
                  </a:cubicBezTo>
                  <a:cubicBezTo>
                    <a:pt x="148472" y="104163"/>
                    <a:pt x="122410" y="108133"/>
                    <a:pt x="94616" y="108133"/>
                  </a:cubicBezTo>
                  <a:cubicBezTo>
                    <a:pt x="66823" y="108133"/>
                    <a:pt x="40719" y="104120"/>
                    <a:pt x="20909" y="97066"/>
                  </a:cubicBezTo>
                  <a:cubicBezTo>
                    <a:pt x="13474" y="94405"/>
                    <a:pt x="6251" y="91068"/>
                    <a:pt x="0" y="86929"/>
                  </a:cubicBezTo>
                  <a:lnTo>
                    <a:pt x="0" y="121650"/>
                  </a:lnTo>
                  <a:cubicBezTo>
                    <a:pt x="0" y="140320"/>
                    <a:pt x="42366" y="155441"/>
                    <a:pt x="94616" y="155441"/>
                  </a:cubicBezTo>
                  <a:cubicBezTo>
                    <a:pt x="146867" y="155441"/>
                    <a:pt x="189233" y="140320"/>
                    <a:pt x="189233" y="121650"/>
                  </a:cubicBezTo>
                  <a:lnTo>
                    <a:pt x="189233" y="86929"/>
                  </a:lnTo>
                  <a:close/>
                  <a:moveTo>
                    <a:pt x="189233" y="54067"/>
                  </a:moveTo>
                  <a:lnTo>
                    <a:pt x="189233" y="33792"/>
                  </a:lnTo>
                  <a:cubicBezTo>
                    <a:pt x="189233" y="15122"/>
                    <a:pt x="146867" y="0"/>
                    <a:pt x="94616" y="0"/>
                  </a:cubicBezTo>
                  <a:cubicBezTo>
                    <a:pt x="42366" y="0"/>
                    <a:pt x="0" y="15122"/>
                    <a:pt x="0" y="33792"/>
                  </a:cubicBezTo>
                  <a:lnTo>
                    <a:pt x="0" y="54067"/>
                  </a:lnTo>
                  <a:cubicBezTo>
                    <a:pt x="0" y="72736"/>
                    <a:pt x="42366" y="87858"/>
                    <a:pt x="94616" y="87858"/>
                  </a:cubicBezTo>
                  <a:cubicBezTo>
                    <a:pt x="146867" y="87858"/>
                    <a:pt x="189233" y="72736"/>
                    <a:pt x="189233" y="54067"/>
                  </a:cubicBezTo>
                  <a:close/>
                  <a:moveTo>
                    <a:pt x="168324" y="164649"/>
                  </a:moveTo>
                  <a:cubicBezTo>
                    <a:pt x="148514" y="171703"/>
                    <a:pt x="122452" y="175716"/>
                    <a:pt x="94616" y="175716"/>
                  </a:cubicBezTo>
                  <a:cubicBezTo>
                    <a:pt x="66781" y="175716"/>
                    <a:pt x="40719" y="171703"/>
                    <a:pt x="20909" y="164649"/>
                  </a:cubicBezTo>
                  <a:cubicBezTo>
                    <a:pt x="13474" y="161988"/>
                    <a:pt x="6251" y="158651"/>
                    <a:pt x="0" y="154512"/>
                  </a:cubicBezTo>
                  <a:lnTo>
                    <a:pt x="0" y="182475"/>
                  </a:lnTo>
                  <a:cubicBezTo>
                    <a:pt x="0" y="201144"/>
                    <a:pt x="42366" y="216266"/>
                    <a:pt x="94616" y="216266"/>
                  </a:cubicBezTo>
                  <a:cubicBezTo>
                    <a:pt x="146867" y="216266"/>
                    <a:pt x="189233" y="201144"/>
                    <a:pt x="189233" y="182475"/>
                  </a:cubicBezTo>
                  <a:lnTo>
                    <a:pt x="189233" y="154512"/>
                  </a:lnTo>
                  <a:cubicBezTo>
                    <a:pt x="182981" y="158651"/>
                    <a:pt x="175801" y="161988"/>
                    <a:pt x="168324" y="16464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28" name="Text 16">
              <a:extLst>
                <a:ext uri="{FF2B5EF4-FFF2-40B4-BE49-F238E27FC236}">
                  <a16:creationId xmlns:a16="http://schemas.microsoft.com/office/drawing/2014/main" id="{0458AC4A-F58F-40EF-9D03-33FC892771A0}"/>
                </a:ext>
              </a:extLst>
            </p:cNvPr>
            <p:cNvSpPr/>
            <p:nvPr/>
          </p:nvSpPr>
          <p:spPr>
            <a:xfrm>
              <a:off x="3115883" y="3744106"/>
              <a:ext cx="6731282" cy="252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Использована технология RAG для точных ответов на основе метаданных 1С</a:t>
              </a:r>
              <a:endParaRPr lang="en-US" sz="2400" dirty="0"/>
            </a:p>
          </p:txBody>
        </p:sp>
        <p:sp>
          <p:nvSpPr>
            <p:cNvPr id="129" name="Shape 17">
              <a:extLst>
                <a:ext uri="{FF2B5EF4-FFF2-40B4-BE49-F238E27FC236}">
                  <a16:creationId xmlns:a16="http://schemas.microsoft.com/office/drawing/2014/main" id="{EB4BEE78-5F71-4F5D-8177-D2418107048E}"/>
                </a:ext>
              </a:extLst>
            </p:cNvPr>
            <p:cNvSpPr/>
            <p:nvPr/>
          </p:nvSpPr>
          <p:spPr>
            <a:xfrm>
              <a:off x="2304885" y="4483015"/>
              <a:ext cx="7668435" cy="865064"/>
            </a:xfrm>
            <a:custGeom>
              <a:avLst/>
              <a:gdLst/>
              <a:ahLst/>
              <a:cxnLst/>
              <a:rect l="l" t="t" r="r" b="b"/>
              <a:pathLst>
                <a:path w="7668435" h="865064">
                  <a:moveTo>
                    <a:pt x="36044" y="0"/>
                  </a:moveTo>
                  <a:lnTo>
                    <a:pt x="7524254" y="0"/>
                  </a:lnTo>
                  <a:cubicBezTo>
                    <a:pt x="7603883" y="0"/>
                    <a:pt x="7668435" y="64552"/>
                    <a:pt x="7668435" y="144180"/>
                  </a:cubicBezTo>
                  <a:lnTo>
                    <a:pt x="7668435" y="720884"/>
                  </a:lnTo>
                  <a:cubicBezTo>
                    <a:pt x="7668435" y="800513"/>
                    <a:pt x="7603883" y="865064"/>
                    <a:pt x="7524254" y="865064"/>
                  </a:cubicBez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0" name="Shape 18">
              <a:extLst>
                <a:ext uri="{FF2B5EF4-FFF2-40B4-BE49-F238E27FC236}">
                  <a16:creationId xmlns:a16="http://schemas.microsoft.com/office/drawing/2014/main" id="{D1D08EFE-60D9-4E14-B92A-9F2EFC0EAC36}"/>
                </a:ext>
              </a:extLst>
            </p:cNvPr>
            <p:cNvSpPr/>
            <p:nvPr/>
          </p:nvSpPr>
          <p:spPr>
            <a:xfrm>
              <a:off x="2304885" y="4483015"/>
              <a:ext cx="36044" cy="865064"/>
            </a:xfrm>
            <a:custGeom>
              <a:avLst/>
              <a:gdLst/>
              <a:ahLst/>
              <a:cxnLst/>
              <a:rect l="l" t="t" r="r" b="b"/>
              <a:pathLst>
                <a:path w="36044" h="865064">
                  <a:moveTo>
                    <a:pt x="36044" y="0"/>
                  </a:moveTo>
                  <a:lnTo>
                    <a:pt x="36044" y="0"/>
                  </a:lnTo>
                  <a:lnTo>
                    <a:pt x="36044" y="865064"/>
                  </a:ln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1" name="Shape 19">
              <a:extLst>
                <a:ext uri="{FF2B5EF4-FFF2-40B4-BE49-F238E27FC236}">
                  <a16:creationId xmlns:a16="http://schemas.microsoft.com/office/drawing/2014/main" id="{97BBA261-376B-4433-8561-CF3C15929C44}"/>
                </a:ext>
              </a:extLst>
            </p:cNvPr>
            <p:cNvSpPr/>
            <p:nvPr/>
          </p:nvSpPr>
          <p:spPr>
            <a:xfrm>
              <a:off x="2539174" y="4699282"/>
              <a:ext cx="432532" cy="432532"/>
            </a:xfrm>
            <a:custGeom>
              <a:avLst/>
              <a:gdLst/>
              <a:ahLst/>
              <a:cxnLst/>
              <a:rect l="l" t="t" r="r" b="b"/>
              <a:pathLst>
                <a:path w="432532" h="432532">
                  <a:moveTo>
                    <a:pt x="108133" y="0"/>
                  </a:moveTo>
                  <a:lnTo>
                    <a:pt x="324399" y="0"/>
                  </a:lnTo>
                  <a:cubicBezTo>
                    <a:pt x="384119" y="0"/>
                    <a:pt x="432532" y="48413"/>
                    <a:pt x="432532" y="108133"/>
                  </a:cubicBezTo>
                  <a:lnTo>
                    <a:pt x="432532" y="324399"/>
                  </a:lnTo>
                  <a:cubicBezTo>
                    <a:pt x="432532" y="384119"/>
                    <a:pt x="384119" y="432532"/>
                    <a:pt x="324399" y="432532"/>
                  </a:cubicBezTo>
                  <a:lnTo>
                    <a:pt x="108133" y="432532"/>
                  </a:lnTo>
                  <a:cubicBezTo>
                    <a:pt x="48413" y="432532"/>
                    <a:pt x="0" y="384119"/>
                    <a:pt x="0" y="324399"/>
                  </a:cubicBezTo>
                  <a:lnTo>
                    <a:pt x="0" y="108133"/>
                  </a:lnTo>
                  <a:cubicBezTo>
                    <a:pt x="0" y="48453"/>
                    <a:pt x="48453" y="0"/>
                    <a:pt x="108133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</p:sp>
        <p:sp>
          <p:nvSpPr>
            <p:cNvPr id="132" name="Shape 20">
              <a:extLst>
                <a:ext uri="{FF2B5EF4-FFF2-40B4-BE49-F238E27FC236}">
                  <a16:creationId xmlns:a16="http://schemas.microsoft.com/office/drawing/2014/main" id="{A0BFF8B0-D95E-4443-986B-52D695E4A486}"/>
                </a:ext>
              </a:extLst>
            </p:cNvPr>
            <p:cNvSpPr/>
            <p:nvPr/>
          </p:nvSpPr>
          <p:spPr>
            <a:xfrm>
              <a:off x="2647307" y="4807415"/>
              <a:ext cx="216266" cy="216266"/>
            </a:xfrm>
            <a:custGeom>
              <a:avLst/>
              <a:gdLst/>
              <a:ahLst/>
              <a:cxnLst/>
              <a:rect l="l" t="t" r="r" b="b"/>
              <a:pathLst>
                <a:path w="216266" h="216266">
                  <a:moveTo>
                    <a:pt x="108133" y="0"/>
                  </a:moveTo>
                  <a:cubicBezTo>
                    <a:pt x="110076" y="0"/>
                    <a:pt x="112019" y="422"/>
                    <a:pt x="113793" y="1225"/>
                  </a:cubicBezTo>
                  <a:lnTo>
                    <a:pt x="193372" y="34974"/>
                  </a:lnTo>
                  <a:cubicBezTo>
                    <a:pt x="202665" y="38903"/>
                    <a:pt x="209592" y="48069"/>
                    <a:pt x="209550" y="59135"/>
                  </a:cubicBezTo>
                  <a:cubicBezTo>
                    <a:pt x="209339" y="101037"/>
                    <a:pt x="192105" y="177701"/>
                    <a:pt x="119326" y="212549"/>
                  </a:cubicBezTo>
                  <a:cubicBezTo>
                    <a:pt x="112273" y="215928"/>
                    <a:pt x="104078" y="215928"/>
                    <a:pt x="97024" y="212549"/>
                  </a:cubicBezTo>
                  <a:cubicBezTo>
                    <a:pt x="24203" y="177701"/>
                    <a:pt x="7012" y="101037"/>
                    <a:pt x="6801" y="59135"/>
                  </a:cubicBezTo>
                  <a:cubicBezTo>
                    <a:pt x="6758" y="48069"/>
                    <a:pt x="13686" y="38903"/>
                    <a:pt x="22978" y="34974"/>
                  </a:cubicBezTo>
                  <a:lnTo>
                    <a:pt x="102515" y="1225"/>
                  </a:lnTo>
                  <a:cubicBezTo>
                    <a:pt x="104289" y="422"/>
                    <a:pt x="106190" y="0"/>
                    <a:pt x="108133" y="0"/>
                  </a:cubicBezTo>
                  <a:close/>
                  <a:moveTo>
                    <a:pt x="108133" y="28216"/>
                  </a:moveTo>
                  <a:lnTo>
                    <a:pt x="108133" y="187923"/>
                  </a:lnTo>
                  <a:cubicBezTo>
                    <a:pt x="166424" y="159707"/>
                    <a:pt x="182094" y="97193"/>
                    <a:pt x="182475" y="59769"/>
                  </a:cubicBezTo>
                  <a:lnTo>
                    <a:pt x="108133" y="28258"/>
                  </a:lnTo>
                  <a:lnTo>
                    <a:pt x="108133" y="28258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33" name="Text 21">
              <a:extLst>
                <a:ext uri="{FF2B5EF4-FFF2-40B4-BE49-F238E27FC236}">
                  <a16:creationId xmlns:a16="http://schemas.microsoft.com/office/drawing/2014/main" id="{E41E3770-E714-4DD9-A52F-BB6DA122B617}"/>
                </a:ext>
              </a:extLst>
            </p:cNvPr>
            <p:cNvSpPr/>
            <p:nvPr/>
          </p:nvSpPr>
          <p:spPr>
            <a:xfrm>
              <a:off x="3115883" y="4789392"/>
              <a:ext cx="5893251" cy="252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Обеспечена безопасность и контроль пользователя на всех этапах</a:t>
              </a:r>
              <a:endParaRPr lang="en-US" sz="2400" dirty="0"/>
            </a:p>
          </p:txBody>
        </p:sp>
        <p:sp>
          <p:nvSpPr>
            <p:cNvPr id="134" name="Text 7">
              <a:extLst>
                <a:ext uri="{FF2B5EF4-FFF2-40B4-BE49-F238E27FC236}">
                  <a16:creationId xmlns:a16="http://schemas.microsoft.com/office/drawing/2014/main" id="{8A27F388-4D41-4554-8BEE-904ADB3176B7}"/>
                </a:ext>
              </a:extLst>
            </p:cNvPr>
            <p:cNvSpPr/>
            <p:nvPr/>
          </p:nvSpPr>
          <p:spPr>
            <a:xfrm>
              <a:off x="11127263" y="264318"/>
              <a:ext cx="752952" cy="728664"/>
            </a:xfrm>
            <a:prstGeom prst="rect">
              <a:avLst/>
            </a:prstGeom>
            <a:solidFill>
              <a:schemeClr val="bg1"/>
            </a:solidFill>
            <a:ln w="47625">
              <a:solidFill>
                <a:srgbClr val="FFC000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ru-RU" sz="3600" b="1" dirty="0">
                  <a:solidFill>
                    <a:srgbClr val="1A1A1A"/>
                  </a:solidFill>
                  <a:ea typeface="Alimama ShuHeiTi" pitchFamily="34" charset="-122"/>
                </a:rPr>
                <a:t>16</a:t>
              </a:r>
              <a:endParaRPr 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3797ED10-EF6D-46BE-A108-CCDB0F123BAC}"/>
              </a:ext>
            </a:extLst>
          </p:cNvPr>
          <p:cNvGrpSpPr/>
          <p:nvPr/>
        </p:nvGrpSpPr>
        <p:grpSpPr>
          <a:xfrm>
            <a:off x="-4928671" y="367229"/>
            <a:ext cx="4847422" cy="516460"/>
            <a:chOff x="367229" y="367229"/>
            <a:chExt cx="4847422" cy="516460"/>
          </a:xfrm>
        </p:grpSpPr>
        <p:sp>
          <p:nvSpPr>
            <p:cNvPr id="105" name="Shape 0">
              <a:extLst>
                <a:ext uri="{FF2B5EF4-FFF2-40B4-BE49-F238E27FC236}">
                  <a16:creationId xmlns:a16="http://schemas.microsoft.com/office/drawing/2014/main" id="{8F35EEEE-9C3D-4F2A-AC4D-B220EBD76207}"/>
                </a:ext>
              </a:extLst>
            </p:cNvPr>
            <p:cNvSpPr/>
            <p:nvPr/>
          </p:nvSpPr>
          <p:spPr>
            <a:xfrm>
              <a:off x="367229" y="367229"/>
              <a:ext cx="514120" cy="514120"/>
            </a:xfrm>
            <a:custGeom>
              <a:avLst/>
              <a:gdLst/>
              <a:ahLst/>
              <a:cxnLst/>
              <a:rect l="l" t="t" r="r" b="b"/>
              <a:pathLst>
                <a:path w="514120" h="514120">
                  <a:moveTo>
                    <a:pt x="110171" y="0"/>
                  </a:moveTo>
                  <a:lnTo>
                    <a:pt x="403950" y="0"/>
                  </a:lnTo>
                  <a:cubicBezTo>
                    <a:pt x="464755" y="0"/>
                    <a:pt x="514120" y="49366"/>
                    <a:pt x="514120" y="110171"/>
                  </a:cubicBezTo>
                  <a:lnTo>
                    <a:pt x="514120" y="403950"/>
                  </a:lnTo>
                  <a:cubicBezTo>
                    <a:pt x="514120" y="464795"/>
                    <a:pt x="464795" y="514120"/>
                    <a:pt x="403950" y="514120"/>
                  </a:cubicBezTo>
                  <a:lnTo>
                    <a:pt x="110171" y="514120"/>
                  </a:lnTo>
                  <a:cubicBezTo>
                    <a:pt x="49366" y="514120"/>
                    <a:pt x="0" y="464755"/>
                    <a:pt x="0" y="403950"/>
                  </a:cubicBezTo>
                  <a:lnTo>
                    <a:pt x="0" y="110171"/>
                  </a:lnTo>
                  <a:cubicBezTo>
                    <a:pt x="0" y="49325"/>
                    <a:pt x="49325" y="0"/>
                    <a:pt x="110171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6" name="Shape 1">
              <a:extLst>
                <a:ext uri="{FF2B5EF4-FFF2-40B4-BE49-F238E27FC236}">
                  <a16:creationId xmlns:a16="http://schemas.microsoft.com/office/drawing/2014/main" id="{C682D77A-D857-4524-B361-97C07538754B}"/>
                </a:ext>
              </a:extLst>
            </p:cNvPr>
            <p:cNvSpPr/>
            <p:nvPr/>
          </p:nvSpPr>
          <p:spPr>
            <a:xfrm>
              <a:off x="514120" y="514120"/>
              <a:ext cx="220337" cy="220337"/>
            </a:xfrm>
            <a:custGeom>
              <a:avLst/>
              <a:gdLst/>
              <a:ahLst/>
              <a:cxnLst/>
              <a:rect l="l" t="t" r="r" b="b"/>
              <a:pathLst>
                <a:path w="220337" h="220337">
                  <a:moveTo>
                    <a:pt x="27542" y="13771"/>
                  </a:moveTo>
                  <a:cubicBezTo>
                    <a:pt x="12351" y="13771"/>
                    <a:pt x="0" y="26122"/>
                    <a:pt x="0" y="41313"/>
                  </a:cubicBezTo>
                  <a:lnTo>
                    <a:pt x="0" y="151482"/>
                  </a:lnTo>
                  <a:cubicBezTo>
                    <a:pt x="0" y="166673"/>
                    <a:pt x="12351" y="179024"/>
                    <a:pt x="27542" y="179024"/>
                  </a:cubicBezTo>
                  <a:lnTo>
                    <a:pt x="89512" y="179024"/>
                  </a:lnTo>
                  <a:lnTo>
                    <a:pt x="82627" y="199681"/>
                  </a:lnTo>
                  <a:lnTo>
                    <a:pt x="51642" y="199681"/>
                  </a:lnTo>
                  <a:cubicBezTo>
                    <a:pt x="45918" y="199681"/>
                    <a:pt x="41313" y="204285"/>
                    <a:pt x="41313" y="210009"/>
                  </a:cubicBezTo>
                  <a:cubicBezTo>
                    <a:pt x="41313" y="215733"/>
                    <a:pt x="45918" y="220337"/>
                    <a:pt x="51642" y="220337"/>
                  </a:cubicBezTo>
                  <a:lnTo>
                    <a:pt x="168696" y="220337"/>
                  </a:lnTo>
                  <a:cubicBezTo>
                    <a:pt x="174419" y="220337"/>
                    <a:pt x="179024" y="215733"/>
                    <a:pt x="179024" y="210009"/>
                  </a:cubicBezTo>
                  <a:cubicBezTo>
                    <a:pt x="179024" y="204285"/>
                    <a:pt x="174419" y="199681"/>
                    <a:pt x="168696" y="199681"/>
                  </a:cubicBezTo>
                  <a:lnTo>
                    <a:pt x="137711" y="199681"/>
                  </a:lnTo>
                  <a:lnTo>
                    <a:pt x="130825" y="179024"/>
                  </a:lnTo>
                  <a:lnTo>
                    <a:pt x="192795" y="179024"/>
                  </a:lnTo>
                  <a:cubicBezTo>
                    <a:pt x="207986" y="179024"/>
                    <a:pt x="220337" y="166673"/>
                    <a:pt x="220337" y="151482"/>
                  </a:cubicBezTo>
                  <a:lnTo>
                    <a:pt x="220337" y="41313"/>
                  </a:lnTo>
                  <a:cubicBezTo>
                    <a:pt x="220337" y="26122"/>
                    <a:pt x="207986" y="13771"/>
                    <a:pt x="192795" y="13771"/>
                  </a:cubicBezTo>
                  <a:lnTo>
                    <a:pt x="27542" y="13771"/>
                  </a:lnTo>
                  <a:close/>
                  <a:moveTo>
                    <a:pt x="41313" y="41313"/>
                  </a:moveTo>
                  <a:lnTo>
                    <a:pt x="179024" y="41313"/>
                  </a:lnTo>
                  <a:cubicBezTo>
                    <a:pt x="186641" y="41313"/>
                    <a:pt x="192795" y="47467"/>
                    <a:pt x="192795" y="55084"/>
                  </a:cubicBezTo>
                  <a:lnTo>
                    <a:pt x="192795" y="123940"/>
                  </a:lnTo>
                  <a:cubicBezTo>
                    <a:pt x="192795" y="131557"/>
                    <a:pt x="186641" y="137711"/>
                    <a:pt x="179024" y="137711"/>
                  </a:cubicBezTo>
                  <a:lnTo>
                    <a:pt x="41313" y="137711"/>
                  </a:lnTo>
                  <a:cubicBezTo>
                    <a:pt x="33696" y="137711"/>
                    <a:pt x="27542" y="131557"/>
                    <a:pt x="27542" y="123940"/>
                  </a:cubicBezTo>
                  <a:lnTo>
                    <a:pt x="27542" y="55084"/>
                  </a:lnTo>
                  <a:cubicBezTo>
                    <a:pt x="27542" y="47467"/>
                    <a:pt x="33696" y="41313"/>
                    <a:pt x="41313" y="4131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107" name="Text 2">
              <a:extLst>
                <a:ext uri="{FF2B5EF4-FFF2-40B4-BE49-F238E27FC236}">
                  <a16:creationId xmlns:a16="http://schemas.microsoft.com/office/drawing/2014/main" id="{9D17827B-1A89-4A83-AF21-0FF6D959F6C8}"/>
                </a:ext>
              </a:extLst>
            </p:cNvPr>
            <p:cNvSpPr/>
            <p:nvPr/>
          </p:nvSpPr>
          <p:spPr>
            <a:xfrm>
              <a:off x="1028241" y="385590"/>
              <a:ext cx="4186410" cy="367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602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Интерфейс пользователя</a:t>
              </a:r>
              <a:endParaRPr lang="en-US" sz="1600" dirty="0"/>
            </a:p>
          </p:txBody>
        </p:sp>
        <p:sp>
          <p:nvSpPr>
            <p:cNvPr id="108" name="Shape 3">
              <a:extLst>
                <a:ext uri="{FF2B5EF4-FFF2-40B4-BE49-F238E27FC236}">
                  <a16:creationId xmlns:a16="http://schemas.microsoft.com/office/drawing/2014/main" id="{8F2BE000-5673-4937-82C8-C84161D3FCE5}"/>
                </a:ext>
              </a:extLst>
            </p:cNvPr>
            <p:cNvSpPr/>
            <p:nvPr/>
          </p:nvSpPr>
          <p:spPr>
            <a:xfrm>
              <a:off x="752819" y="837970"/>
              <a:ext cx="4425109" cy="45719"/>
            </a:xfrm>
            <a:custGeom>
              <a:avLst/>
              <a:gdLst/>
              <a:ahLst/>
              <a:cxnLst/>
              <a:rect l="l" t="t" r="r" b="b"/>
              <a:pathLst>
                <a:path w="881349" h="36723">
                  <a:moveTo>
                    <a:pt x="0" y="0"/>
                  </a:moveTo>
                  <a:lnTo>
                    <a:pt x="881349" y="0"/>
                  </a:lnTo>
                  <a:lnTo>
                    <a:pt x="881349" y="36723"/>
                  </a:lnTo>
                  <a:lnTo>
                    <a:pt x="0" y="36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109" name="Text 7">
            <a:extLst>
              <a:ext uri="{FF2B5EF4-FFF2-40B4-BE49-F238E27FC236}">
                <a16:creationId xmlns:a16="http://schemas.microsoft.com/office/drawing/2014/main" id="{5AE2165D-30DB-456A-B284-61AE692B129C}"/>
              </a:ext>
            </a:extLst>
          </p:cNvPr>
          <p:cNvSpPr/>
          <p:nvPr/>
        </p:nvSpPr>
        <p:spPr>
          <a:xfrm>
            <a:off x="127655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14</a:t>
            </a:r>
            <a:endParaRPr lang="en-US" sz="1600" dirty="0"/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0BBAD010-ACC3-46AF-AFFB-4A09F3D04F1E}"/>
              </a:ext>
            </a:extLst>
          </p:cNvPr>
          <p:cNvGrpSpPr/>
          <p:nvPr/>
        </p:nvGrpSpPr>
        <p:grpSpPr>
          <a:xfrm>
            <a:off x="381000" y="185736"/>
            <a:ext cx="6217920" cy="728664"/>
            <a:chOff x="381000" y="381000"/>
            <a:chExt cx="4429125" cy="533400"/>
          </a:xfrm>
        </p:grpSpPr>
        <p:sp>
          <p:nvSpPr>
            <p:cNvPr id="2" name="Shape 0"/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28575"/>
                  </a:moveTo>
                  <a:cubicBezTo>
                    <a:pt x="28575" y="20672"/>
                    <a:pt x="22190" y="14288"/>
                    <a:pt x="14288" y="14288"/>
                  </a:cubicBezTo>
                  <a:cubicBezTo>
                    <a:pt x="6385" y="14288"/>
                    <a:pt x="0" y="20672"/>
                    <a:pt x="0" y="28575"/>
                  </a:cubicBezTo>
                  <a:lnTo>
                    <a:pt x="0" y="178594"/>
                  </a:lnTo>
                  <a:cubicBezTo>
                    <a:pt x="0" y="198328"/>
                    <a:pt x="15984" y="214313"/>
                    <a:pt x="35719" y="214313"/>
                  </a:cubicBezTo>
                  <a:lnTo>
                    <a:pt x="214313" y="214313"/>
                  </a:lnTo>
                  <a:cubicBezTo>
                    <a:pt x="222215" y="214313"/>
                    <a:pt x="228600" y="207928"/>
                    <a:pt x="228600" y="200025"/>
                  </a:cubicBezTo>
                  <a:cubicBezTo>
                    <a:pt x="228600" y="192122"/>
                    <a:pt x="222215" y="185738"/>
                    <a:pt x="214313" y="185738"/>
                  </a:cubicBezTo>
                  <a:lnTo>
                    <a:pt x="35719" y="185738"/>
                  </a:lnTo>
                  <a:cubicBezTo>
                    <a:pt x="31790" y="185738"/>
                    <a:pt x="28575" y="182523"/>
                    <a:pt x="28575" y="178594"/>
                  </a:cubicBezTo>
                  <a:lnTo>
                    <a:pt x="28575" y="28575"/>
                  </a:lnTo>
                  <a:close/>
                  <a:moveTo>
                    <a:pt x="210116" y="67241"/>
                  </a:moveTo>
                  <a:cubicBezTo>
                    <a:pt x="215697" y="61659"/>
                    <a:pt x="215697" y="52596"/>
                    <a:pt x="210116" y="47015"/>
                  </a:cubicBezTo>
                  <a:cubicBezTo>
                    <a:pt x="204534" y="41434"/>
                    <a:pt x="195471" y="41434"/>
                    <a:pt x="189890" y="47015"/>
                  </a:cubicBezTo>
                  <a:lnTo>
                    <a:pt x="142875" y="94074"/>
                  </a:lnTo>
                  <a:lnTo>
                    <a:pt x="117247" y="68491"/>
                  </a:lnTo>
                  <a:cubicBezTo>
                    <a:pt x="111666" y="62910"/>
                    <a:pt x="102602" y="62910"/>
                    <a:pt x="97021" y="68491"/>
                  </a:cubicBezTo>
                  <a:lnTo>
                    <a:pt x="54159" y="111353"/>
                  </a:lnTo>
                  <a:cubicBezTo>
                    <a:pt x="48578" y="116934"/>
                    <a:pt x="48578" y="125998"/>
                    <a:pt x="54159" y="131579"/>
                  </a:cubicBezTo>
                  <a:cubicBezTo>
                    <a:pt x="59740" y="137160"/>
                    <a:pt x="68803" y="137160"/>
                    <a:pt x="74384" y="131579"/>
                  </a:cubicBezTo>
                  <a:lnTo>
                    <a:pt x="107156" y="98807"/>
                  </a:lnTo>
                  <a:lnTo>
                    <a:pt x="132784" y="124435"/>
                  </a:lnTo>
                  <a:cubicBezTo>
                    <a:pt x="138366" y="130016"/>
                    <a:pt x="147429" y="130016"/>
                    <a:pt x="153010" y="124435"/>
                  </a:cubicBezTo>
                  <a:lnTo>
                    <a:pt x="210160" y="6728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1066800" y="400050"/>
              <a:ext cx="59436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sz="2700" b="1">
                  <a:solidFill>
                    <a:srgbClr val="1A1A1A"/>
                  </a:solidFill>
                  <a:latin typeface="Alimama ShuHeiTi"/>
                </a:rPr>
                <a:t>Безопасность жизнедеятельности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47713" y="866772"/>
              <a:ext cx="6190488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</p:sp>
      </p:grpSp>
      <p:sp>
        <p:nvSpPr>
          <p:cNvPr id="40" name="Text 7">
            <a:extLst>
              <a:ext uri="{FF2B5EF4-FFF2-40B4-BE49-F238E27FC236}">
                <a16:creationId xmlns:a16="http://schemas.microsoft.com/office/drawing/2014/main" id="{E2A50C45-8CDD-4190-9FC9-10BBCD0459DF}"/>
              </a:ext>
            </a:extLst>
          </p:cNvPr>
          <p:cNvSpPr/>
          <p:nvPr/>
        </p:nvSpPr>
        <p:spPr>
          <a:xfrm>
            <a:off x="11127263" y="264318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16</a:t>
            </a:r>
            <a:endParaRPr lang="en-US" sz="1600" dirty="0"/>
          </a:p>
        </p:txBody>
      </p:sp>
      <p:pic>
        <p:nvPicPr>
          <p:cNvPr id="110" name="Picture 109" descr="slide_16_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672584" cy="491032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86400" y="1188720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MiSans"/>
              </a:defRPr>
            </a:pPr>
            <a:r>
              <a:t>1 – вешалка для одежды; 2 – мусорка, 3 – компьютерный стол, 4 – кресло, 5 – шкаф, 6 - стул, 7 – дверь, 8 – диван, 9 – раковина, 10 – унитаз</a:t>
            </a: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5486400" y="2194560"/>
          <a:ext cx="6217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Sans"/>
                        </a:rPr>
                        <a:t>Факторы условий труда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MiSans"/>
                        </a:rPr>
                        <a:t>Ед. изм.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MiSans"/>
                        </a:rPr>
                        <a:t>Нормативное значение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MiSans"/>
                        </a:rPr>
                        <a:t>Измеренное значение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MiSans"/>
                        </a:rPr>
                        <a:t>Заключение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MiSans"/>
                        </a:rPr>
                        <a:t>Ориентация светопроемов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север, северо-восток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юго-запад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C3545"/>
                          </a:solidFill>
                          <a:latin typeface="MiSans"/>
                        </a:rPr>
                        <a:t>не соответствует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MiSans"/>
                        </a:rPr>
                        <a:t>Падение естеств. света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слева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справа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C3545"/>
                          </a:solidFill>
                          <a:latin typeface="MiSans"/>
                        </a:rPr>
                        <a:t>Не соответствует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MiSans"/>
                        </a:rPr>
                        <a:t>Объем на одно рабочее место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куб. 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C3545"/>
                          </a:solidFill>
                          <a:latin typeface="MiSans"/>
                        </a:rPr>
                        <a:t>Не соответствует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MiSans"/>
                        </a:rPr>
                        <a:t>Наличие регулирующих устройств на окнах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должно быть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нет (окон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C757D"/>
                          </a:solidFill>
                          <a:latin typeface="MiSans"/>
                        </a:rPr>
                        <a:t>Не применимо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MiSans"/>
                        </a:rPr>
                        <a:t>Работа за ПК без перерыва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час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не более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MiSan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C3545"/>
                          </a:solidFill>
                          <a:latin typeface="MiSans"/>
                        </a:rPr>
                        <a:t>Не соответствует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E89AC-EC0E-47F8-20CC-5FBE1AED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>
            <a:extLst>
              <a:ext uri="{FF2B5EF4-FFF2-40B4-BE49-F238E27FC236}">
                <a16:creationId xmlns:a16="http://schemas.microsoft.com/office/drawing/2014/main" id="{D31C329B-9B1C-40D3-91EE-4BCE1EF3EC9A}"/>
              </a:ext>
            </a:extLst>
          </p:cNvPr>
          <p:cNvSpPr/>
          <p:nvPr/>
        </p:nvSpPr>
        <p:spPr>
          <a:xfrm>
            <a:off x="19050" y="19050"/>
            <a:ext cx="12192000" cy="6857437"/>
          </a:xfrm>
          <a:custGeom>
            <a:avLst/>
            <a:gdLst/>
            <a:ahLst/>
            <a:cxnLst/>
            <a:rect l="l" t="t" r="r" b="b"/>
            <a:pathLst>
              <a:path w="12192000" h="6857437">
                <a:moveTo>
                  <a:pt x="0" y="0"/>
                </a:moveTo>
                <a:lnTo>
                  <a:pt x="12192000" y="0"/>
                </a:lnTo>
                <a:lnTo>
                  <a:pt x="12192000" y="6857437"/>
                </a:lnTo>
                <a:lnTo>
                  <a:pt x="0" y="685743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D700">
                  <a:alpha val="30000"/>
                </a:srgbClr>
              </a:gs>
              <a:gs pos="50000">
                <a:srgbClr val="FFD700">
                  <a:alpha val="10000"/>
                </a:srgbClr>
              </a:gs>
              <a:gs pos="100000">
                <a:srgbClr val="FF6B35">
                  <a:alpha val="20000"/>
                </a:srgbClr>
              </a:gs>
            </a:gsLst>
            <a:lin ang="2700000" scaled="1"/>
          </a:gradFill>
          <a:ln/>
        </p:spPr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8388BE8E-7306-44CC-A6A2-286B02914251}"/>
              </a:ext>
            </a:extLst>
          </p:cNvPr>
          <p:cNvGrpSpPr/>
          <p:nvPr/>
        </p:nvGrpSpPr>
        <p:grpSpPr>
          <a:xfrm>
            <a:off x="0" y="0"/>
            <a:ext cx="12192000" cy="6857437"/>
            <a:chOff x="0" y="0"/>
            <a:chExt cx="12192000" cy="6857437"/>
          </a:xfrm>
        </p:grpSpPr>
        <p:pic>
          <p:nvPicPr>
            <p:cNvPr id="2" name="Image 0" descr="https://kimi-web-img.moonshot.cn/img/thumbs.dreamstime.com/26368d7d247c4288444b5509ac884a0a7a524018.jpg">
              <a:extLst>
                <a:ext uri="{FF2B5EF4-FFF2-40B4-BE49-F238E27FC236}">
                  <a16:creationId xmlns:a16="http://schemas.microsoft.com/office/drawing/2014/main" id="{9D501AA9-78F2-61D6-C060-D2CEC605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000"/>
            </a:blip>
            <a:srcRect t="4" b="4"/>
            <a:stretch/>
          </p:blipFill>
          <p:spPr>
            <a:xfrm>
              <a:off x="0" y="0"/>
              <a:ext cx="12192000" cy="6857437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B6CA498D-FFDC-083B-1C55-995E6941802F}"/>
                </a:ext>
              </a:extLst>
            </p:cNvPr>
            <p:cNvSpPr/>
            <p:nvPr/>
          </p:nvSpPr>
          <p:spPr>
            <a:xfrm>
              <a:off x="0" y="0"/>
              <a:ext cx="12192000" cy="6857437"/>
            </a:xfrm>
            <a:custGeom>
              <a:avLst/>
              <a:gdLst/>
              <a:ahLst/>
              <a:cxnLst/>
              <a:rect l="l" t="t" r="r" b="b"/>
              <a:pathLst>
                <a:path w="12192000" h="6857437">
                  <a:moveTo>
                    <a:pt x="0" y="0"/>
                  </a:moveTo>
                  <a:lnTo>
                    <a:pt x="12192000" y="0"/>
                  </a:lnTo>
                  <a:lnTo>
                    <a:pt x="12192000" y="6857437"/>
                  </a:lnTo>
                  <a:lnTo>
                    <a:pt x="0" y="68574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D700">
                    <a:alpha val="30000"/>
                  </a:srgbClr>
                </a:gs>
                <a:gs pos="50000">
                  <a:srgbClr val="FFD700">
                    <a:alpha val="10000"/>
                  </a:srgbClr>
                </a:gs>
                <a:gs pos="100000">
                  <a:srgbClr val="FF6B35">
                    <a:alpha val="2000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8EA5C79F-AC60-45BF-85E2-0CD6D248D4BC}"/>
                </a:ext>
              </a:extLst>
            </p:cNvPr>
            <p:cNvSpPr/>
            <p:nvPr/>
          </p:nvSpPr>
          <p:spPr>
            <a:xfrm>
              <a:off x="5266379" y="704407"/>
              <a:ext cx="720887" cy="720887"/>
            </a:xfrm>
            <a:custGeom>
              <a:avLst/>
              <a:gdLst/>
              <a:ahLst/>
              <a:cxnLst/>
              <a:rect l="l" t="t" r="r" b="b"/>
              <a:pathLst>
                <a:path w="720887" h="720887">
                  <a:moveTo>
                    <a:pt x="144177" y="0"/>
                  </a:moveTo>
                  <a:lnTo>
                    <a:pt x="576710" y="0"/>
                  </a:lnTo>
                  <a:cubicBezTo>
                    <a:pt x="656283" y="0"/>
                    <a:pt x="720887" y="64604"/>
                    <a:pt x="720887" y="144177"/>
                  </a:cubicBezTo>
                  <a:lnTo>
                    <a:pt x="720887" y="576710"/>
                  </a:lnTo>
                  <a:cubicBezTo>
                    <a:pt x="720887" y="656283"/>
                    <a:pt x="656283" y="720887"/>
                    <a:pt x="576710" y="720887"/>
                  </a:cubicBezTo>
                  <a:lnTo>
                    <a:pt x="144177" y="720887"/>
                  </a:lnTo>
                  <a:cubicBezTo>
                    <a:pt x="64604" y="720887"/>
                    <a:pt x="0" y="656283"/>
                    <a:pt x="0" y="576710"/>
                  </a:cubicBezTo>
                  <a:lnTo>
                    <a:pt x="0" y="144177"/>
                  </a:lnTo>
                  <a:cubicBezTo>
                    <a:pt x="0" y="64604"/>
                    <a:pt x="64604" y="0"/>
                    <a:pt x="144177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F613594B-5CB8-217E-95BB-F631D58AD63F}"/>
                </a:ext>
              </a:extLst>
            </p:cNvPr>
            <p:cNvSpPr/>
            <p:nvPr/>
          </p:nvSpPr>
          <p:spPr>
            <a:xfrm>
              <a:off x="5424073" y="902651"/>
              <a:ext cx="405499" cy="324399"/>
            </a:xfrm>
            <a:custGeom>
              <a:avLst/>
              <a:gdLst/>
              <a:ahLst/>
              <a:cxnLst/>
              <a:rect l="l" t="t" r="r" b="b"/>
              <a:pathLst>
                <a:path w="405499" h="324399">
                  <a:moveTo>
                    <a:pt x="223024" y="0"/>
                  </a:moveTo>
                  <a:cubicBezTo>
                    <a:pt x="223024" y="-11215"/>
                    <a:pt x="213964" y="-20275"/>
                    <a:pt x="202749" y="-20275"/>
                  </a:cubicBezTo>
                  <a:cubicBezTo>
                    <a:pt x="191535" y="-20275"/>
                    <a:pt x="182475" y="-11215"/>
                    <a:pt x="182475" y="0"/>
                  </a:cubicBezTo>
                  <a:lnTo>
                    <a:pt x="182475" y="40550"/>
                  </a:lnTo>
                  <a:lnTo>
                    <a:pt x="121650" y="40550"/>
                  </a:lnTo>
                  <a:cubicBezTo>
                    <a:pt x="88069" y="40550"/>
                    <a:pt x="60825" y="67794"/>
                    <a:pt x="60825" y="101375"/>
                  </a:cubicBezTo>
                  <a:lnTo>
                    <a:pt x="60825" y="243299"/>
                  </a:lnTo>
                  <a:cubicBezTo>
                    <a:pt x="60825" y="276880"/>
                    <a:pt x="88069" y="304124"/>
                    <a:pt x="121650" y="304124"/>
                  </a:cubicBezTo>
                  <a:lnTo>
                    <a:pt x="283849" y="304124"/>
                  </a:lnTo>
                  <a:cubicBezTo>
                    <a:pt x="317430" y="304124"/>
                    <a:pt x="344674" y="276880"/>
                    <a:pt x="344674" y="243299"/>
                  </a:cubicBezTo>
                  <a:lnTo>
                    <a:pt x="344674" y="101375"/>
                  </a:lnTo>
                  <a:cubicBezTo>
                    <a:pt x="344674" y="67794"/>
                    <a:pt x="317430" y="40550"/>
                    <a:pt x="283849" y="40550"/>
                  </a:cubicBezTo>
                  <a:lnTo>
                    <a:pt x="223024" y="40550"/>
                  </a:lnTo>
                  <a:lnTo>
                    <a:pt x="223024" y="0"/>
                  </a:lnTo>
                  <a:close/>
                  <a:moveTo>
                    <a:pt x="101375" y="233162"/>
                  </a:moveTo>
                  <a:cubicBezTo>
                    <a:pt x="101375" y="224735"/>
                    <a:pt x="108154" y="217956"/>
                    <a:pt x="116581" y="217956"/>
                  </a:cubicBezTo>
                  <a:lnTo>
                    <a:pt x="136856" y="217956"/>
                  </a:lnTo>
                  <a:cubicBezTo>
                    <a:pt x="145283" y="217956"/>
                    <a:pt x="152062" y="224735"/>
                    <a:pt x="152062" y="233162"/>
                  </a:cubicBezTo>
                  <a:cubicBezTo>
                    <a:pt x="152062" y="241589"/>
                    <a:pt x="145283" y="248368"/>
                    <a:pt x="136856" y="248368"/>
                  </a:cubicBezTo>
                  <a:lnTo>
                    <a:pt x="116581" y="248368"/>
                  </a:lnTo>
                  <a:cubicBezTo>
                    <a:pt x="108154" y="248368"/>
                    <a:pt x="101375" y="241589"/>
                    <a:pt x="101375" y="233162"/>
                  </a:cubicBezTo>
                  <a:close/>
                  <a:moveTo>
                    <a:pt x="177406" y="233162"/>
                  </a:moveTo>
                  <a:cubicBezTo>
                    <a:pt x="177406" y="224735"/>
                    <a:pt x="184185" y="217956"/>
                    <a:pt x="192612" y="217956"/>
                  </a:cubicBezTo>
                  <a:lnTo>
                    <a:pt x="212887" y="217956"/>
                  </a:lnTo>
                  <a:cubicBezTo>
                    <a:pt x="221314" y="217956"/>
                    <a:pt x="228093" y="224735"/>
                    <a:pt x="228093" y="233162"/>
                  </a:cubicBezTo>
                  <a:cubicBezTo>
                    <a:pt x="228093" y="241589"/>
                    <a:pt x="221314" y="248368"/>
                    <a:pt x="212887" y="248368"/>
                  </a:cubicBezTo>
                  <a:lnTo>
                    <a:pt x="192612" y="248368"/>
                  </a:lnTo>
                  <a:cubicBezTo>
                    <a:pt x="184185" y="248368"/>
                    <a:pt x="177406" y="241589"/>
                    <a:pt x="177406" y="233162"/>
                  </a:cubicBezTo>
                  <a:close/>
                  <a:moveTo>
                    <a:pt x="253437" y="233162"/>
                  </a:moveTo>
                  <a:cubicBezTo>
                    <a:pt x="253437" y="224735"/>
                    <a:pt x="260216" y="217956"/>
                    <a:pt x="268643" y="217956"/>
                  </a:cubicBezTo>
                  <a:lnTo>
                    <a:pt x="288918" y="217956"/>
                  </a:lnTo>
                  <a:cubicBezTo>
                    <a:pt x="297345" y="217956"/>
                    <a:pt x="304124" y="224735"/>
                    <a:pt x="304124" y="233162"/>
                  </a:cubicBezTo>
                  <a:cubicBezTo>
                    <a:pt x="304124" y="241589"/>
                    <a:pt x="297345" y="248368"/>
                    <a:pt x="288918" y="248368"/>
                  </a:cubicBezTo>
                  <a:lnTo>
                    <a:pt x="268643" y="248368"/>
                  </a:lnTo>
                  <a:cubicBezTo>
                    <a:pt x="260216" y="248368"/>
                    <a:pt x="253437" y="241589"/>
                    <a:pt x="253437" y="233162"/>
                  </a:cubicBezTo>
                  <a:close/>
                  <a:moveTo>
                    <a:pt x="141925" y="111512"/>
                  </a:moveTo>
                  <a:cubicBezTo>
                    <a:pt x="158710" y="111512"/>
                    <a:pt x="172337" y="125140"/>
                    <a:pt x="172337" y="141925"/>
                  </a:cubicBezTo>
                  <a:cubicBezTo>
                    <a:pt x="172337" y="158710"/>
                    <a:pt x="158710" y="172337"/>
                    <a:pt x="141925" y="172337"/>
                  </a:cubicBezTo>
                  <a:cubicBezTo>
                    <a:pt x="125140" y="172337"/>
                    <a:pt x="111512" y="158710"/>
                    <a:pt x="111512" y="141925"/>
                  </a:cubicBezTo>
                  <a:cubicBezTo>
                    <a:pt x="111512" y="125140"/>
                    <a:pt x="125140" y="111512"/>
                    <a:pt x="141925" y="111512"/>
                  </a:cubicBezTo>
                  <a:close/>
                  <a:moveTo>
                    <a:pt x="233162" y="141925"/>
                  </a:moveTo>
                  <a:cubicBezTo>
                    <a:pt x="233162" y="125140"/>
                    <a:pt x="246789" y="111512"/>
                    <a:pt x="263574" y="111512"/>
                  </a:cubicBezTo>
                  <a:cubicBezTo>
                    <a:pt x="280359" y="111512"/>
                    <a:pt x="293987" y="125140"/>
                    <a:pt x="293987" y="141925"/>
                  </a:cubicBezTo>
                  <a:cubicBezTo>
                    <a:pt x="293987" y="158710"/>
                    <a:pt x="280359" y="172337"/>
                    <a:pt x="263574" y="172337"/>
                  </a:cubicBezTo>
                  <a:cubicBezTo>
                    <a:pt x="246789" y="172337"/>
                    <a:pt x="233162" y="158710"/>
                    <a:pt x="233162" y="141925"/>
                  </a:cubicBezTo>
                  <a:close/>
                  <a:moveTo>
                    <a:pt x="40550" y="141925"/>
                  </a:moveTo>
                  <a:cubicBezTo>
                    <a:pt x="40550" y="130710"/>
                    <a:pt x="31490" y="121650"/>
                    <a:pt x="20275" y="121650"/>
                  </a:cubicBezTo>
                  <a:cubicBezTo>
                    <a:pt x="9060" y="121650"/>
                    <a:pt x="0" y="130710"/>
                    <a:pt x="0" y="141925"/>
                  </a:cubicBezTo>
                  <a:lnTo>
                    <a:pt x="0" y="202749"/>
                  </a:lnTo>
                  <a:cubicBezTo>
                    <a:pt x="0" y="213964"/>
                    <a:pt x="9060" y="223024"/>
                    <a:pt x="20275" y="223024"/>
                  </a:cubicBezTo>
                  <a:cubicBezTo>
                    <a:pt x="31490" y="223024"/>
                    <a:pt x="40550" y="213964"/>
                    <a:pt x="40550" y="202749"/>
                  </a:cubicBezTo>
                  <a:lnTo>
                    <a:pt x="40550" y="141925"/>
                  </a:lnTo>
                  <a:close/>
                  <a:moveTo>
                    <a:pt x="385224" y="121650"/>
                  </a:moveTo>
                  <a:cubicBezTo>
                    <a:pt x="374009" y="121650"/>
                    <a:pt x="364949" y="130710"/>
                    <a:pt x="364949" y="141925"/>
                  </a:cubicBezTo>
                  <a:lnTo>
                    <a:pt x="364949" y="202749"/>
                  </a:lnTo>
                  <a:cubicBezTo>
                    <a:pt x="364949" y="213964"/>
                    <a:pt x="374009" y="223024"/>
                    <a:pt x="385224" y="223024"/>
                  </a:cubicBezTo>
                  <a:cubicBezTo>
                    <a:pt x="396439" y="223024"/>
                    <a:pt x="405499" y="213964"/>
                    <a:pt x="405499" y="202749"/>
                  </a:cubicBezTo>
                  <a:lnTo>
                    <a:pt x="405499" y="141925"/>
                  </a:lnTo>
                  <a:cubicBezTo>
                    <a:pt x="405499" y="130710"/>
                    <a:pt x="396439" y="121650"/>
                    <a:pt x="385224" y="121650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47094D0F-FCD0-E3FA-E1AD-070597EC1D39}"/>
                </a:ext>
              </a:extLst>
            </p:cNvPr>
            <p:cNvSpPr/>
            <p:nvPr/>
          </p:nvSpPr>
          <p:spPr>
            <a:xfrm>
              <a:off x="6203532" y="704407"/>
              <a:ext cx="720887" cy="720887"/>
            </a:xfrm>
            <a:custGeom>
              <a:avLst/>
              <a:gdLst/>
              <a:ahLst/>
              <a:cxnLst/>
              <a:rect l="l" t="t" r="r" b="b"/>
              <a:pathLst>
                <a:path w="720887" h="720887">
                  <a:moveTo>
                    <a:pt x="144177" y="0"/>
                  </a:moveTo>
                  <a:lnTo>
                    <a:pt x="576710" y="0"/>
                  </a:lnTo>
                  <a:cubicBezTo>
                    <a:pt x="656283" y="0"/>
                    <a:pt x="720887" y="64604"/>
                    <a:pt x="720887" y="144177"/>
                  </a:cubicBezTo>
                  <a:lnTo>
                    <a:pt x="720887" y="576710"/>
                  </a:lnTo>
                  <a:cubicBezTo>
                    <a:pt x="720887" y="656283"/>
                    <a:pt x="656283" y="720887"/>
                    <a:pt x="576710" y="720887"/>
                  </a:cubicBezTo>
                  <a:lnTo>
                    <a:pt x="144177" y="720887"/>
                  </a:lnTo>
                  <a:cubicBezTo>
                    <a:pt x="64604" y="720887"/>
                    <a:pt x="0" y="656283"/>
                    <a:pt x="0" y="576710"/>
                  </a:cubicBezTo>
                  <a:lnTo>
                    <a:pt x="0" y="144177"/>
                  </a:lnTo>
                  <a:cubicBezTo>
                    <a:pt x="0" y="64604"/>
                    <a:pt x="64604" y="0"/>
                    <a:pt x="144177" y="0"/>
                  </a:cubicBezTo>
                  <a:close/>
                </a:path>
              </a:pathLst>
            </a:custGeom>
            <a:solidFill>
              <a:srgbClr val="1A1A1A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18C09D2-DB80-58BA-041C-5A6E9BF41F6F}"/>
                </a:ext>
              </a:extLst>
            </p:cNvPr>
            <p:cNvSpPr/>
            <p:nvPr/>
          </p:nvSpPr>
          <p:spPr>
            <a:xfrm>
              <a:off x="6316321" y="902651"/>
              <a:ext cx="495610" cy="324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29" b="1" dirty="0">
                  <a:solidFill>
                    <a:srgbClr val="FFD700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1С</a:t>
              </a:r>
              <a:endParaRPr lang="en-US" sz="16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95936D3E-1F47-537B-4CFB-94574E28538F}"/>
                </a:ext>
              </a:extLst>
            </p:cNvPr>
            <p:cNvSpPr/>
            <p:nvPr/>
          </p:nvSpPr>
          <p:spPr>
            <a:xfrm>
              <a:off x="3770745" y="1709916"/>
              <a:ext cx="4865574" cy="4325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4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Заключение</a:t>
              </a:r>
              <a:endParaRPr lang="en-US" sz="2400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79695A87-3EBF-3797-D15B-A08162D60AE3}"/>
                </a:ext>
              </a:extLst>
            </p:cNvPr>
            <p:cNvSpPr/>
            <p:nvPr/>
          </p:nvSpPr>
          <p:spPr>
            <a:xfrm>
              <a:off x="5554734" y="2213765"/>
              <a:ext cx="1153419" cy="36044"/>
            </a:xfrm>
            <a:custGeom>
              <a:avLst/>
              <a:gdLst/>
              <a:ahLst/>
              <a:cxnLst/>
              <a:rect l="l" t="t" r="r" b="b"/>
              <a:pathLst>
                <a:path w="1153419" h="36044">
                  <a:moveTo>
                    <a:pt x="0" y="0"/>
                  </a:moveTo>
                  <a:lnTo>
                    <a:pt x="1153419" y="0"/>
                  </a:lnTo>
                  <a:lnTo>
                    <a:pt x="1153419" y="36044"/>
                  </a:lnTo>
                  <a:lnTo>
                    <a:pt x="0" y="36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06C20ECE-C792-D1D9-4D87-813CA9A1EB8D}"/>
                </a:ext>
              </a:extLst>
            </p:cNvPr>
            <p:cNvSpPr/>
            <p:nvPr/>
          </p:nvSpPr>
          <p:spPr>
            <a:xfrm>
              <a:off x="2304885" y="2392443"/>
              <a:ext cx="7668435" cy="865064"/>
            </a:xfrm>
            <a:custGeom>
              <a:avLst/>
              <a:gdLst/>
              <a:ahLst/>
              <a:cxnLst/>
              <a:rect l="l" t="t" r="r" b="b"/>
              <a:pathLst>
                <a:path w="7668435" h="865064">
                  <a:moveTo>
                    <a:pt x="36044" y="0"/>
                  </a:moveTo>
                  <a:lnTo>
                    <a:pt x="7524254" y="0"/>
                  </a:lnTo>
                  <a:cubicBezTo>
                    <a:pt x="7603883" y="0"/>
                    <a:pt x="7668435" y="64552"/>
                    <a:pt x="7668435" y="144180"/>
                  </a:cubicBezTo>
                  <a:lnTo>
                    <a:pt x="7668435" y="720884"/>
                  </a:lnTo>
                  <a:cubicBezTo>
                    <a:pt x="7668435" y="800513"/>
                    <a:pt x="7603883" y="865064"/>
                    <a:pt x="7524254" y="865064"/>
                  </a:cubicBez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A3D9DDFC-4C39-2E04-24EA-B54009B2418C}"/>
                </a:ext>
              </a:extLst>
            </p:cNvPr>
            <p:cNvSpPr/>
            <p:nvPr/>
          </p:nvSpPr>
          <p:spPr>
            <a:xfrm>
              <a:off x="2304885" y="2392443"/>
              <a:ext cx="36044" cy="865064"/>
            </a:xfrm>
            <a:custGeom>
              <a:avLst/>
              <a:gdLst/>
              <a:ahLst/>
              <a:cxnLst/>
              <a:rect l="l" t="t" r="r" b="b"/>
              <a:pathLst>
                <a:path w="36044" h="865064">
                  <a:moveTo>
                    <a:pt x="36044" y="0"/>
                  </a:moveTo>
                  <a:lnTo>
                    <a:pt x="36044" y="0"/>
                  </a:lnTo>
                  <a:lnTo>
                    <a:pt x="36044" y="865064"/>
                  </a:ln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D45D04E9-9536-F425-86C5-0AC2B458238E}"/>
                </a:ext>
              </a:extLst>
            </p:cNvPr>
            <p:cNvSpPr/>
            <p:nvPr/>
          </p:nvSpPr>
          <p:spPr>
            <a:xfrm>
              <a:off x="2539174" y="2608709"/>
              <a:ext cx="432532" cy="432532"/>
            </a:xfrm>
            <a:custGeom>
              <a:avLst/>
              <a:gdLst/>
              <a:ahLst/>
              <a:cxnLst/>
              <a:rect l="l" t="t" r="r" b="b"/>
              <a:pathLst>
                <a:path w="432532" h="432532">
                  <a:moveTo>
                    <a:pt x="108133" y="0"/>
                  </a:moveTo>
                  <a:lnTo>
                    <a:pt x="324399" y="0"/>
                  </a:lnTo>
                  <a:cubicBezTo>
                    <a:pt x="384119" y="0"/>
                    <a:pt x="432532" y="48413"/>
                    <a:pt x="432532" y="108133"/>
                  </a:cubicBezTo>
                  <a:lnTo>
                    <a:pt x="432532" y="324399"/>
                  </a:lnTo>
                  <a:cubicBezTo>
                    <a:pt x="432532" y="384119"/>
                    <a:pt x="384119" y="432532"/>
                    <a:pt x="324399" y="432532"/>
                  </a:cubicBezTo>
                  <a:lnTo>
                    <a:pt x="108133" y="432532"/>
                  </a:lnTo>
                  <a:cubicBezTo>
                    <a:pt x="48413" y="432532"/>
                    <a:pt x="0" y="384119"/>
                    <a:pt x="0" y="324399"/>
                  </a:cubicBezTo>
                  <a:lnTo>
                    <a:pt x="0" y="108133"/>
                  </a:lnTo>
                  <a:cubicBezTo>
                    <a:pt x="0" y="48453"/>
                    <a:pt x="48453" y="0"/>
                    <a:pt x="108133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CB1515F4-EED0-F483-470E-575FDEC0108E}"/>
                </a:ext>
              </a:extLst>
            </p:cNvPr>
            <p:cNvSpPr/>
            <p:nvPr/>
          </p:nvSpPr>
          <p:spPr>
            <a:xfrm>
              <a:off x="2647307" y="2716842"/>
              <a:ext cx="216266" cy="216266"/>
            </a:xfrm>
            <a:custGeom>
              <a:avLst/>
              <a:gdLst/>
              <a:ahLst/>
              <a:cxnLst/>
              <a:rect l="l" t="t" r="r" b="b"/>
              <a:pathLst>
                <a:path w="216266" h="216266">
                  <a:moveTo>
                    <a:pt x="108133" y="216266"/>
                  </a:moveTo>
                  <a:cubicBezTo>
                    <a:pt x="167813" y="216266"/>
                    <a:pt x="216266" y="167813"/>
                    <a:pt x="216266" y="108133"/>
                  </a:cubicBezTo>
                  <a:cubicBezTo>
                    <a:pt x="216266" y="48453"/>
                    <a:pt x="167813" y="0"/>
                    <a:pt x="108133" y="0"/>
                  </a:cubicBezTo>
                  <a:cubicBezTo>
                    <a:pt x="48453" y="0"/>
                    <a:pt x="0" y="48453"/>
                    <a:pt x="0" y="108133"/>
                  </a:cubicBezTo>
                  <a:cubicBezTo>
                    <a:pt x="0" y="167813"/>
                    <a:pt x="48453" y="216266"/>
                    <a:pt x="108133" y="216266"/>
                  </a:cubicBezTo>
                  <a:close/>
                  <a:moveTo>
                    <a:pt x="143783" y="89843"/>
                  </a:moveTo>
                  <a:lnTo>
                    <a:pt x="109992" y="143910"/>
                  </a:lnTo>
                  <a:cubicBezTo>
                    <a:pt x="108218" y="146740"/>
                    <a:pt x="105176" y="148514"/>
                    <a:pt x="101839" y="148683"/>
                  </a:cubicBezTo>
                  <a:cubicBezTo>
                    <a:pt x="98502" y="148852"/>
                    <a:pt x="95292" y="147331"/>
                    <a:pt x="93307" y="144628"/>
                  </a:cubicBezTo>
                  <a:lnTo>
                    <a:pt x="73032" y="117595"/>
                  </a:lnTo>
                  <a:cubicBezTo>
                    <a:pt x="69653" y="113117"/>
                    <a:pt x="70582" y="106781"/>
                    <a:pt x="75060" y="103402"/>
                  </a:cubicBezTo>
                  <a:cubicBezTo>
                    <a:pt x="79537" y="100023"/>
                    <a:pt x="85873" y="100952"/>
                    <a:pt x="89252" y="105430"/>
                  </a:cubicBezTo>
                  <a:lnTo>
                    <a:pt x="100657" y="120636"/>
                  </a:lnTo>
                  <a:lnTo>
                    <a:pt x="126592" y="79115"/>
                  </a:lnTo>
                  <a:cubicBezTo>
                    <a:pt x="129548" y="74384"/>
                    <a:pt x="135800" y="72905"/>
                    <a:pt x="140573" y="75904"/>
                  </a:cubicBezTo>
                  <a:cubicBezTo>
                    <a:pt x="145346" y="78903"/>
                    <a:pt x="146782" y="85113"/>
                    <a:pt x="143783" y="89886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F4C9537F-87B6-404A-2B93-DCA4F2F86996}"/>
                </a:ext>
              </a:extLst>
            </p:cNvPr>
            <p:cNvSpPr/>
            <p:nvPr/>
          </p:nvSpPr>
          <p:spPr>
            <a:xfrm>
              <a:off x="3115883" y="2698820"/>
              <a:ext cx="6127539" cy="252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Разработан интеллектуальный ассистент, интегрированный в 1С:УНФ</a:t>
              </a:r>
              <a:endParaRPr lang="en-US" sz="24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20D00123-2A78-A6F4-71E5-4CDCBDE4DE82}"/>
                </a:ext>
              </a:extLst>
            </p:cNvPr>
            <p:cNvSpPr/>
            <p:nvPr/>
          </p:nvSpPr>
          <p:spPr>
            <a:xfrm>
              <a:off x="2304885" y="3437729"/>
              <a:ext cx="7668435" cy="865064"/>
            </a:xfrm>
            <a:custGeom>
              <a:avLst/>
              <a:gdLst/>
              <a:ahLst/>
              <a:cxnLst/>
              <a:rect l="l" t="t" r="r" b="b"/>
              <a:pathLst>
                <a:path w="7668435" h="865064">
                  <a:moveTo>
                    <a:pt x="36044" y="0"/>
                  </a:moveTo>
                  <a:lnTo>
                    <a:pt x="7524254" y="0"/>
                  </a:lnTo>
                  <a:cubicBezTo>
                    <a:pt x="7603883" y="0"/>
                    <a:pt x="7668435" y="64552"/>
                    <a:pt x="7668435" y="144180"/>
                  </a:cubicBezTo>
                  <a:lnTo>
                    <a:pt x="7668435" y="720884"/>
                  </a:lnTo>
                  <a:cubicBezTo>
                    <a:pt x="7668435" y="800513"/>
                    <a:pt x="7603883" y="865064"/>
                    <a:pt x="7524254" y="865064"/>
                  </a:cubicBez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9F24111F-F064-01CD-28FB-5AE605F28717}"/>
                </a:ext>
              </a:extLst>
            </p:cNvPr>
            <p:cNvSpPr/>
            <p:nvPr/>
          </p:nvSpPr>
          <p:spPr>
            <a:xfrm>
              <a:off x="2304885" y="3437729"/>
              <a:ext cx="36044" cy="865064"/>
            </a:xfrm>
            <a:custGeom>
              <a:avLst/>
              <a:gdLst/>
              <a:ahLst/>
              <a:cxnLst/>
              <a:rect l="l" t="t" r="r" b="b"/>
              <a:pathLst>
                <a:path w="36044" h="865064">
                  <a:moveTo>
                    <a:pt x="36044" y="0"/>
                  </a:moveTo>
                  <a:lnTo>
                    <a:pt x="36044" y="0"/>
                  </a:lnTo>
                  <a:lnTo>
                    <a:pt x="36044" y="865064"/>
                  </a:ln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2F02DE0F-CBC5-E9DB-C46A-48CBB57A9834}"/>
                </a:ext>
              </a:extLst>
            </p:cNvPr>
            <p:cNvSpPr/>
            <p:nvPr/>
          </p:nvSpPr>
          <p:spPr>
            <a:xfrm>
              <a:off x="2539174" y="3653995"/>
              <a:ext cx="432532" cy="432532"/>
            </a:xfrm>
            <a:custGeom>
              <a:avLst/>
              <a:gdLst/>
              <a:ahLst/>
              <a:cxnLst/>
              <a:rect l="l" t="t" r="r" b="b"/>
              <a:pathLst>
                <a:path w="432532" h="432532">
                  <a:moveTo>
                    <a:pt x="108133" y="0"/>
                  </a:moveTo>
                  <a:lnTo>
                    <a:pt x="324399" y="0"/>
                  </a:lnTo>
                  <a:cubicBezTo>
                    <a:pt x="384119" y="0"/>
                    <a:pt x="432532" y="48413"/>
                    <a:pt x="432532" y="108133"/>
                  </a:cubicBezTo>
                  <a:lnTo>
                    <a:pt x="432532" y="324399"/>
                  </a:lnTo>
                  <a:cubicBezTo>
                    <a:pt x="432532" y="384119"/>
                    <a:pt x="384119" y="432532"/>
                    <a:pt x="324399" y="432532"/>
                  </a:cubicBezTo>
                  <a:lnTo>
                    <a:pt x="108133" y="432532"/>
                  </a:lnTo>
                  <a:cubicBezTo>
                    <a:pt x="48413" y="432532"/>
                    <a:pt x="0" y="384119"/>
                    <a:pt x="0" y="324399"/>
                  </a:cubicBezTo>
                  <a:lnTo>
                    <a:pt x="0" y="108133"/>
                  </a:lnTo>
                  <a:cubicBezTo>
                    <a:pt x="0" y="48453"/>
                    <a:pt x="48453" y="0"/>
                    <a:pt x="108133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AE734C92-530A-4D71-ABCA-A3D708CA0C70}"/>
                </a:ext>
              </a:extLst>
            </p:cNvPr>
            <p:cNvSpPr/>
            <p:nvPr/>
          </p:nvSpPr>
          <p:spPr>
            <a:xfrm>
              <a:off x="2660823" y="3762129"/>
              <a:ext cx="189233" cy="216266"/>
            </a:xfrm>
            <a:custGeom>
              <a:avLst/>
              <a:gdLst/>
              <a:ahLst/>
              <a:cxnLst/>
              <a:rect l="l" t="t" r="r" b="b"/>
              <a:pathLst>
                <a:path w="189233" h="216266">
                  <a:moveTo>
                    <a:pt x="189233" y="86929"/>
                  </a:moveTo>
                  <a:cubicBezTo>
                    <a:pt x="182981" y="91068"/>
                    <a:pt x="175801" y="94405"/>
                    <a:pt x="168324" y="97066"/>
                  </a:cubicBezTo>
                  <a:cubicBezTo>
                    <a:pt x="148472" y="104163"/>
                    <a:pt x="122410" y="108133"/>
                    <a:pt x="94616" y="108133"/>
                  </a:cubicBezTo>
                  <a:cubicBezTo>
                    <a:pt x="66823" y="108133"/>
                    <a:pt x="40719" y="104120"/>
                    <a:pt x="20909" y="97066"/>
                  </a:cubicBezTo>
                  <a:cubicBezTo>
                    <a:pt x="13474" y="94405"/>
                    <a:pt x="6251" y="91068"/>
                    <a:pt x="0" y="86929"/>
                  </a:cubicBezTo>
                  <a:lnTo>
                    <a:pt x="0" y="121650"/>
                  </a:lnTo>
                  <a:cubicBezTo>
                    <a:pt x="0" y="140320"/>
                    <a:pt x="42366" y="155441"/>
                    <a:pt x="94616" y="155441"/>
                  </a:cubicBezTo>
                  <a:cubicBezTo>
                    <a:pt x="146867" y="155441"/>
                    <a:pt x="189233" y="140320"/>
                    <a:pt x="189233" y="121650"/>
                  </a:cubicBezTo>
                  <a:lnTo>
                    <a:pt x="189233" y="86929"/>
                  </a:lnTo>
                  <a:close/>
                  <a:moveTo>
                    <a:pt x="189233" y="54067"/>
                  </a:moveTo>
                  <a:lnTo>
                    <a:pt x="189233" y="33792"/>
                  </a:lnTo>
                  <a:cubicBezTo>
                    <a:pt x="189233" y="15122"/>
                    <a:pt x="146867" y="0"/>
                    <a:pt x="94616" y="0"/>
                  </a:cubicBezTo>
                  <a:cubicBezTo>
                    <a:pt x="42366" y="0"/>
                    <a:pt x="0" y="15122"/>
                    <a:pt x="0" y="33792"/>
                  </a:cubicBezTo>
                  <a:lnTo>
                    <a:pt x="0" y="54067"/>
                  </a:lnTo>
                  <a:cubicBezTo>
                    <a:pt x="0" y="72736"/>
                    <a:pt x="42366" y="87858"/>
                    <a:pt x="94616" y="87858"/>
                  </a:cubicBezTo>
                  <a:cubicBezTo>
                    <a:pt x="146867" y="87858"/>
                    <a:pt x="189233" y="72736"/>
                    <a:pt x="189233" y="54067"/>
                  </a:cubicBezTo>
                  <a:close/>
                  <a:moveTo>
                    <a:pt x="168324" y="164649"/>
                  </a:moveTo>
                  <a:cubicBezTo>
                    <a:pt x="148514" y="171703"/>
                    <a:pt x="122452" y="175716"/>
                    <a:pt x="94616" y="175716"/>
                  </a:cubicBezTo>
                  <a:cubicBezTo>
                    <a:pt x="66781" y="175716"/>
                    <a:pt x="40719" y="171703"/>
                    <a:pt x="20909" y="164649"/>
                  </a:cubicBezTo>
                  <a:cubicBezTo>
                    <a:pt x="13474" y="161988"/>
                    <a:pt x="6251" y="158651"/>
                    <a:pt x="0" y="154512"/>
                  </a:cubicBezTo>
                  <a:lnTo>
                    <a:pt x="0" y="182475"/>
                  </a:lnTo>
                  <a:cubicBezTo>
                    <a:pt x="0" y="201144"/>
                    <a:pt x="42366" y="216266"/>
                    <a:pt x="94616" y="216266"/>
                  </a:cubicBezTo>
                  <a:cubicBezTo>
                    <a:pt x="146867" y="216266"/>
                    <a:pt x="189233" y="201144"/>
                    <a:pt x="189233" y="182475"/>
                  </a:cubicBezTo>
                  <a:lnTo>
                    <a:pt x="189233" y="154512"/>
                  </a:lnTo>
                  <a:cubicBezTo>
                    <a:pt x="182981" y="158651"/>
                    <a:pt x="175801" y="161988"/>
                    <a:pt x="168324" y="16464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884A1DA3-66B7-1250-9B02-85CCA705E832}"/>
                </a:ext>
              </a:extLst>
            </p:cNvPr>
            <p:cNvSpPr/>
            <p:nvPr/>
          </p:nvSpPr>
          <p:spPr>
            <a:xfrm>
              <a:off x="3115883" y="3744106"/>
              <a:ext cx="6731282" cy="252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Использована технология RAG для точных ответов на основе метаданных 1С</a:t>
              </a:r>
              <a:endParaRPr lang="en-US" sz="2400" dirty="0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10D48F5D-F55F-AE26-0E0A-5AD760EA796F}"/>
                </a:ext>
              </a:extLst>
            </p:cNvPr>
            <p:cNvSpPr/>
            <p:nvPr/>
          </p:nvSpPr>
          <p:spPr>
            <a:xfrm>
              <a:off x="2304885" y="4483015"/>
              <a:ext cx="7668435" cy="865064"/>
            </a:xfrm>
            <a:custGeom>
              <a:avLst/>
              <a:gdLst/>
              <a:ahLst/>
              <a:cxnLst/>
              <a:rect l="l" t="t" r="r" b="b"/>
              <a:pathLst>
                <a:path w="7668435" h="865064">
                  <a:moveTo>
                    <a:pt x="36044" y="0"/>
                  </a:moveTo>
                  <a:lnTo>
                    <a:pt x="7524254" y="0"/>
                  </a:lnTo>
                  <a:cubicBezTo>
                    <a:pt x="7603883" y="0"/>
                    <a:pt x="7668435" y="64552"/>
                    <a:pt x="7668435" y="144180"/>
                  </a:cubicBezTo>
                  <a:lnTo>
                    <a:pt x="7668435" y="720884"/>
                  </a:lnTo>
                  <a:cubicBezTo>
                    <a:pt x="7668435" y="800513"/>
                    <a:pt x="7603883" y="865064"/>
                    <a:pt x="7524254" y="865064"/>
                  </a:cubicBez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25277" dist="180222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D2EF2AE2-4CC3-627F-6C6F-D9B888299094}"/>
                </a:ext>
              </a:extLst>
            </p:cNvPr>
            <p:cNvSpPr/>
            <p:nvPr/>
          </p:nvSpPr>
          <p:spPr>
            <a:xfrm>
              <a:off x="2304885" y="4483015"/>
              <a:ext cx="36044" cy="865064"/>
            </a:xfrm>
            <a:custGeom>
              <a:avLst/>
              <a:gdLst/>
              <a:ahLst/>
              <a:cxnLst/>
              <a:rect l="l" t="t" r="r" b="b"/>
              <a:pathLst>
                <a:path w="36044" h="865064">
                  <a:moveTo>
                    <a:pt x="36044" y="0"/>
                  </a:moveTo>
                  <a:lnTo>
                    <a:pt x="36044" y="0"/>
                  </a:lnTo>
                  <a:lnTo>
                    <a:pt x="36044" y="865064"/>
                  </a:lnTo>
                  <a:lnTo>
                    <a:pt x="36044" y="865064"/>
                  </a:lnTo>
                  <a:cubicBezTo>
                    <a:pt x="16138" y="865064"/>
                    <a:pt x="0" y="848927"/>
                    <a:pt x="0" y="829020"/>
                  </a:cubicBezTo>
                  <a:lnTo>
                    <a:pt x="0" y="36044"/>
                  </a:lnTo>
                  <a:cubicBezTo>
                    <a:pt x="0" y="16151"/>
                    <a:pt x="16151" y="0"/>
                    <a:pt x="36044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0461EF6A-5366-6A83-B0BD-DE6056CE2CF6}"/>
                </a:ext>
              </a:extLst>
            </p:cNvPr>
            <p:cNvSpPr/>
            <p:nvPr/>
          </p:nvSpPr>
          <p:spPr>
            <a:xfrm>
              <a:off x="2539174" y="4699282"/>
              <a:ext cx="432532" cy="432532"/>
            </a:xfrm>
            <a:custGeom>
              <a:avLst/>
              <a:gdLst/>
              <a:ahLst/>
              <a:cxnLst/>
              <a:rect l="l" t="t" r="r" b="b"/>
              <a:pathLst>
                <a:path w="432532" h="432532">
                  <a:moveTo>
                    <a:pt x="108133" y="0"/>
                  </a:moveTo>
                  <a:lnTo>
                    <a:pt x="324399" y="0"/>
                  </a:lnTo>
                  <a:cubicBezTo>
                    <a:pt x="384119" y="0"/>
                    <a:pt x="432532" y="48413"/>
                    <a:pt x="432532" y="108133"/>
                  </a:cubicBezTo>
                  <a:lnTo>
                    <a:pt x="432532" y="324399"/>
                  </a:lnTo>
                  <a:cubicBezTo>
                    <a:pt x="432532" y="384119"/>
                    <a:pt x="384119" y="432532"/>
                    <a:pt x="324399" y="432532"/>
                  </a:cubicBezTo>
                  <a:lnTo>
                    <a:pt x="108133" y="432532"/>
                  </a:lnTo>
                  <a:cubicBezTo>
                    <a:pt x="48413" y="432532"/>
                    <a:pt x="0" y="384119"/>
                    <a:pt x="0" y="324399"/>
                  </a:cubicBezTo>
                  <a:lnTo>
                    <a:pt x="0" y="108133"/>
                  </a:lnTo>
                  <a:cubicBezTo>
                    <a:pt x="0" y="48453"/>
                    <a:pt x="48453" y="0"/>
                    <a:pt x="108133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72ECF079-F04B-69CA-4DE5-805C08BD49ED}"/>
                </a:ext>
              </a:extLst>
            </p:cNvPr>
            <p:cNvSpPr/>
            <p:nvPr/>
          </p:nvSpPr>
          <p:spPr>
            <a:xfrm>
              <a:off x="2647307" y="4807415"/>
              <a:ext cx="216266" cy="216266"/>
            </a:xfrm>
            <a:custGeom>
              <a:avLst/>
              <a:gdLst/>
              <a:ahLst/>
              <a:cxnLst/>
              <a:rect l="l" t="t" r="r" b="b"/>
              <a:pathLst>
                <a:path w="216266" h="216266">
                  <a:moveTo>
                    <a:pt x="108133" y="0"/>
                  </a:moveTo>
                  <a:cubicBezTo>
                    <a:pt x="110076" y="0"/>
                    <a:pt x="112019" y="422"/>
                    <a:pt x="113793" y="1225"/>
                  </a:cubicBezTo>
                  <a:lnTo>
                    <a:pt x="193372" y="34974"/>
                  </a:lnTo>
                  <a:cubicBezTo>
                    <a:pt x="202665" y="38903"/>
                    <a:pt x="209592" y="48069"/>
                    <a:pt x="209550" y="59135"/>
                  </a:cubicBezTo>
                  <a:cubicBezTo>
                    <a:pt x="209339" y="101037"/>
                    <a:pt x="192105" y="177701"/>
                    <a:pt x="119326" y="212549"/>
                  </a:cubicBezTo>
                  <a:cubicBezTo>
                    <a:pt x="112273" y="215928"/>
                    <a:pt x="104078" y="215928"/>
                    <a:pt x="97024" y="212549"/>
                  </a:cubicBezTo>
                  <a:cubicBezTo>
                    <a:pt x="24203" y="177701"/>
                    <a:pt x="7012" y="101037"/>
                    <a:pt x="6801" y="59135"/>
                  </a:cubicBezTo>
                  <a:cubicBezTo>
                    <a:pt x="6758" y="48069"/>
                    <a:pt x="13686" y="38903"/>
                    <a:pt x="22978" y="34974"/>
                  </a:cubicBezTo>
                  <a:lnTo>
                    <a:pt x="102515" y="1225"/>
                  </a:lnTo>
                  <a:cubicBezTo>
                    <a:pt x="104289" y="422"/>
                    <a:pt x="106190" y="0"/>
                    <a:pt x="108133" y="0"/>
                  </a:cubicBezTo>
                  <a:close/>
                  <a:moveTo>
                    <a:pt x="108133" y="28216"/>
                  </a:moveTo>
                  <a:lnTo>
                    <a:pt x="108133" y="187923"/>
                  </a:lnTo>
                  <a:cubicBezTo>
                    <a:pt x="166424" y="159707"/>
                    <a:pt x="182094" y="97193"/>
                    <a:pt x="182475" y="59769"/>
                  </a:cubicBezTo>
                  <a:lnTo>
                    <a:pt x="108133" y="28258"/>
                  </a:lnTo>
                  <a:lnTo>
                    <a:pt x="108133" y="28258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640D6C5D-EFB7-3D1E-4CC2-C33C8B8D9E63}"/>
                </a:ext>
              </a:extLst>
            </p:cNvPr>
            <p:cNvSpPr/>
            <p:nvPr/>
          </p:nvSpPr>
          <p:spPr>
            <a:xfrm>
              <a:off x="3115883" y="4789392"/>
              <a:ext cx="5893251" cy="252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Обеспечена безопасность и контроль пользователя на всех этапах</a:t>
              </a:r>
              <a:endParaRPr lang="en-US" sz="2400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798D4D9B-E3B9-43A0-9E26-F16079427EE9}"/>
                </a:ext>
              </a:extLst>
            </p:cNvPr>
            <p:cNvSpPr/>
            <p:nvPr/>
          </p:nvSpPr>
          <p:spPr>
            <a:xfrm>
              <a:off x="11127263" y="264318"/>
              <a:ext cx="752952" cy="728664"/>
            </a:xfrm>
            <a:prstGeom prst="rect">
              <a:avLst/>
            </a:prstGeom>
            <a:solidFill>
              <a:schemeClr val="bg1"/>
            </a:solidFill>
            <a:ln w="47625">
              <a:solidFill>
                <a:srgbClr val="FFC000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ru-RU" sz="3600" b="1" dirty="0">
                  <a:solidFill>
                    <a:srgbClr val="1A1A1A"/>
                  </a:solidFill>
                  <a:ea typeface="Alimama ShuHeiTi" pitchFamily="34" charset="-122"/>
                </a:rPr>
                <a:t>17</a:t>
              </a:r>
              <a:endParaRPr lang="en-US" sz="1600" dirty="0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B6B5F221-2936-425A-9E17-E138BDE81297}"/>
              </a:ext>
            </a:extLst>
          </p:cNvPr>
          <p:cNvGrpSpPr/>
          <p:nvPr/>
        </p:nvGrpSpPr>
        <p:grpSpPr>
          <a:xfrm>
            <a:off x="6414013" y="-2129906"/>
            <a:ext cx="5618602" cy="734458"/>
            <a:chOff x="6261613" y="6004444"/>
            <a:chExt cx="5618602" cy="734458"/>
          </a:xfrm>
        </p:grpSpPr>
        <p:sp>
          <p:nvSpPr>
            <p:cNvPr id="28" name="Shape 61">
              <a:extLst>
                <a:ext uri="{FF2B5EF4-FFF2-40B4-BE49-F238E27FC236}">
                  <a16:creationId xmlns:a16="http://schemas.microsoft.com/office/drawing/2014/main" id="{6523D41E-07B8-4E1B-A8E4-46EDB08FDA33}"/>
                </a:ext>
              </a:extLst>
            </p:cNvPr>
            <p:cNvSpPr/>
            <p:nvPr/>
          </p:nvSpPr>
          <p:spPr>
            <a:xfrm>
              <a:off x="6261613" y="6004444"/>
              <a:ext cx="5618602" cy="734458"/>
            </a:xfrm>
            <a:custGeom>
              <a:avLst/>
              <a:gdLst/>
              <a:ahLst/>
              <a:cxnLst/>
              <a:rect l="l" t="t" r="r" b="b"/>
              <a:pathLst>
                <a:path w="5618602" h="734458">
                  <a:moveTo>
                    <a:pt x="110169" y="0"/>
                  </a:moveTo>
                  <a:lnTo>
                    <a:pt x="5508434" y="0"/>
                  </a:lnTo>
                  <a:cubicBezTo>
                    <a:pt x="5569278" y="0"/>
                    <a:pt x="5618602" y="49324"/>
                    <a:pt x="5618602" y="110169"/>
                  </a:cubicBezTo>
                  <a:lnTo>
                    <a:pt x="5618602" y="624289"/>
                  </a:lnTo>
                  <a:cubicBezTo>
                    <a:pt x="5618602" y="685134"/>
                    <a:pt x="5569278" y="734458"/>
                    <a:pt x="5508434" y="734458"/>
                  </a:cubicBezTo>
                  <a:lnTo>
                    <a:pt x="110169" y="734458"/>
                  </a:lnTo>
                  <a:cubicBezTo>
                    <a:pt x="49365" y="734458"/>
                    <a:pt x="0" y="685093"/>
                    <a:pt x="0" y="624289"/>
                  </a:cubicBezTo>
                  <a:lnTo>
                    <a:pt x="0" y="110169"/>
                  </a:lnTo>
                  <a:cubicBezTo>
                    <a:pt x="0" y="49365"/>
                    <a:pt x="49365" y="0"/>
                    <a:pt x="1101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137711" dist="91807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29" name="Shape 62">
              <a:extLst>
                <a:ext uri="{FF2B5EF4-FFF2-40B4-BE49-F238E27FC236}">
                  <a16:creationId xmlns:a16="http://schemas.microsoft.com/office/drawing/2014/main" id="{4E4FD202-EA05-4FB4-9E00-781603656F83}"/>
                </a:ext>
              </a:extLst>
            </p:cNvPr>
            <p:cNvSpPr/>
            <p:nvPr/>
          </p:nvSpPr>
          <p:spPr>
            <a:xfrm>
              <a:off x="6436046" y="6261505"/>
              <a:ext cx="165253" cy="220337"/>
            </a:xfrm>
            <a:custGeom>
              <a:avLst/>
              <a:gdLst/>
              <a:ahLst/>
              <a:cxnLst/>
              <a:rect l="l" t="t" r="r" b="b"/>
              <a:pathLst>
                <a:path w="165253" h="220337">
                  <a:moveTo>
                    <a:pt x="126048" y="165253"/>
                  </a:moveTo>
                  <a:cubicBezTo>
                    <a:pt x="129190" y="155656"/>
                    <a:pt x="135473" y="146963"/>
                    <a:pt x="142574" y="139475"/>
                  </a:cubicBezTo>
                  <a:cubicBezTo>
                    <a:pt x="156646" y="124671"/>
                    <a:pt x="165253" y="104660"/>
                    <a:pt x="165253" y="82627"/>
                  </a:cubicBezTo>
                  <a:cubicBezTo>
                    <a:pt x="165253" y="37010"/>
                    <a:pt x="128243" y="0"/>
                    <a:pt x="82627" y="0"/>
                  </a:cubicBezTo>
                  <a:cubicBezTo>
                    <a:pt x="37010" y="0"/>
                    <a:pt x="0" y="37010"/>
                    <a:pt x="0" y="82627"/>
                  </a:cubicBezTo>
                  <a:cubicBezTo>
                    <a:pt x="0" y="104660"/>
                    <a:pt x="8607" y="124671"/>
                    <a:pt x="22679" y="139475"/>
                  </a:cubicBezTo>
                  <a:cubicBezTo>
                    <a:pt x="29780" y="146963"/>
                    <a:pt x="36106" y="155656"/>
                    <a:pt x="39205" y="165253"/>
                  </a:cubicBezTo>
                  <a:lnTo>
                    <a:pt x="126005" y="165253"/>
                  </a:lnTo>
                  <a:close/>
                  <a:moveTo>
                    <a:pt x="123940" y="185910"/>
                  </a:moveTo>
                  <a:lnTo>
                    <a:pt x="41313" y="185910"/>
                  </a:lnTo>
                  <a:lnTo>
                    <a:pt x="41313" y="192795"/>
                  </a:lnTo>
                  <a:cubicBezTo>
                    <a:pt x="41313" y="211816"/>
                    <a:pt x="56720" y="227223"/>
                    <a:pt x="75741" y="227223"/>
                  </a:cubicBezTo>
                  <a:lnTo>
                    <a:pt x="89512" y="227223"/>
                  </a:lnTo>
                  <a:cubicBezTo>
                    <a:pt x="108533" y="227223"/>
                    <a:pt x="123940" y="211816"/>
                    <a:pt x="123940" y="192795"/>
                  </a:cubicBezTo>
                  <a:lnTo>
                    <a:pt x="123940" y="185910"/>
                  </a:lnTo>
                  <a:close/>
                  <a:moveTo>
                    <a:pt x="79184" y="48199"/>
                  </a:moveTo>
                  <a:cubicBezTo>
                    <a:pt x="62056" y="48199"/>
                    <a:pt x="48199" y="62056"/>
                    <a:pt x="48199" y="79184"/>
                  </a:cubicBezTo>
                  <a:cubicBezTo>
                    <a:pt x="48199" y="84907"/>
                    <a:pt x="43594" y="89512"/>
                    <a:pt x="37870" y="89512"/>
                  </a:cubicBezTo>
                  <a:cubicBezTo>
                    <a:pt x="32147" y="89512"/>
                    <a:pt x="27542" y="84907"/>
                    <a:pt x="27542" y="79184"/>
                  </a:cubicBezTo>
                  <a:cubicBezTo>
                    <a:pt x="27542" y="50652"/>
                    <a:pt x="50652" y="27542"/>
                    <a:pt x="79184" y="27542"/>
                  </a:cubicBezTo>
                  <a:cubicBezTo>
                    <a:pt x="84907" y="27542"/>
                    <a:pt x="89512" y="32147"/>
                    <a:pt x="89512" y="37870"/>
                  </a:cubicBezTo>
                  <a:cubicBezTo>
                    <a:pt x="89512" y="43594"/>
                    <a:pt x="84907" y="48199"/>
                    <a:pt x="79184" y="48199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0" name="Text 63">
              <a:extLst>
                <a:ext uri="{FF2B5EF4-FFF2-40B4-BE49-F238E27FC236}">
                  <a16:creationId xmlns:a16="http://schemas.microsoft.com/office/drawing/2014/main" id="{CEEA46B7-105D-45D1-88F4-BF5864F66447}"/>
                </a:ext>
              </a:extLst>
            </p:cNvPr>
            <p:cNvSpPr/>
            <p:nvPr/>
          </p:nvSpPr>
          <p:spPr>
            <a:xfrm>
              <a:off x="6738245" y="6151336"/>
              <a:ext cx="5067759" cy="440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57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Дизайн в стиле 1С: минималистичный, функциональный, привычный пользователям</a:t>
              </a:r>
              <a:endParaRPr lang="en-US" sz="1600" dirty="0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3EBD6E89-AE54-4DF8-9552-2336A2464C71}"/>
              </a:ext>
            </a:extLst>
          </p:cNvPr>
          <p:cNvGrpSpPr/>
          <p:nvPr/>
        </p:nvGrpSpPr>
        <p:grpSpPr>
          <a:xfrm>
            <a:off x="533400" y="-9105900"/>
            <a:ext cx="4429125" cy="533400"/>
            <a:chOff x="381000" y="381000"/>
            <a:chExt cx="4429125" cy="533400"/>
          </a:xfrm>
        </p:grpSpPr>
        <p:sp>
          <p:nvSpPr>
            <p:cNvPr id="32" name="Shape 0">
              <a:extLst>
                <a:ext uri="{FF2B5EF4-FFF2-40B4-BE49-F238E27FC236}">
                  <a16:creationId xmlns:a16="http://schemas.microsoft.com/office/drawing/2014/main" id="{5EE15F87-AC22-4512-8456-DC2DBE8DE0E7}"/>
                </a:ext>
              </a:extLst>
            </p:cNvPr>
            <p:cNvSpPr/>
            <p:nvPr/>
          </p:nvSpPr>
          <p:spPr>
            <a:xfrm>
              <a:off x="381000" y="381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33" name="Shape 1">
              <a:extLst>
                <a:ext uri="{FF2B5EF4-FFF2-40B4-BE49-F238E27FC236}">
                  <a16:creationId xmlns:a16="http://schemas.microsoft.com/office/drawing/2014/main" id="{43170E7E-CB9E-4D20-B87E-A79AF46D4FEC}"/>
                </a:ext>
              </a:extLst>
            </p:cNvPr>
            <p:cNvSpPr/>
            <p:nvPr/>
          </p:nvSpPr>
          <p:spPr>
            <a:xfrm>
              <a:off x="533400" y="533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28575"/>
                  </a:moveTo>
                  <a:cubicBezTo>
                    <a:pt x="28575" y="20672"/>
                    <a:pt x="22190" y="14288"/>
                    <a:pt x="14288" y="14288"/>
                  </a:cubicBezTo>
                  <a:cubicBezTo>
                    <a:pt x="6385" y="14288"/>
                    <a:pt x="0" y="20672"/>
                    <a:pt x="0" y="28575"/>
                  </a:cubicBezTo>
                  <a:lnTo>
                    <a:pt x="0" y="178594"/>
                  </a:lnTo>
                  <a:cubicBezTo>
                    <a:pt x="0" y="198328"/>
                    <a:pt x="15984" y="214313"/>
                    <a:pt x="35719" y="214313"/>
                  </a:cubicBezTo>
                  <a:lnTo>
                    <a:pt x="214313" y="214313"/>
                  </a:lnTo>
                  <a:cubicBezTo>
                    <a:pt x="222215" y="214313"/>
                    <a:pt x="228600" y="207928"/>
                    <a:pt x="228600" y="200025"/>
                  </a:cubicBezTo>
                  <a:cubicBezTo>
                    <a:pt x="228600" y="192122"/>
                    <a:pt x="222215" y="185738"/>
                    <a:pt x="214313" y="185738"/>
                  </a:cubicBezTo>
                  <a:lnTo>
                    <a:pt x="35719" y="185738"/>
                  </a:lnTo>
                  <a:cubicBezTo>
                    <a:pt x="31790" y="185738"/>
                    <a:pt x="28575" y="182523"/>
                    <a:pt x="28575" y="178594"/>
                  </a:cubicBezTo>
                  <a:lnTo>
                    <a:pt x="28575" y="28575"/>
                  </a:lnTo>
                  <a:close/>
                  <a:moveTo>
                    <a:pt x="210116" y="67241"/>
                  </a:moveTo>
                  <a:cubicBezTo>
                    <a:pt x="215697" y="61659"/>
                    <a:pt x="215697" y="52596"/>
                    <a:pt x="210116" y="47015"/>
                  </a:cubicBezTo>
                  <a:cubicBezTo>
                    <a:pt x="204534" y="41434"/>
                    <a:pt x="195471" y="41434"/>
                    <a:pt x="189890" y="47015"/>
                  </a:cubicBezTo>
                  <a:lnTo>
                    <a:pt x="142875" y="94074"/>
                  </a:lnTo>
                  <a:lnTo>
                    <a:pt x="117247" y="68491"/>
                  </a:lnTo>
                  <a:cubicBezTo>
                    <a:pt x="111666" y="62910"/>
                    <a:pt x="102602" y="62910"/>
                    <a:pt x="97021" y="68491"/>
                  </a:cubicBezTo>
                  <a:lnTo>
                    <a:pt x="54159" y="111353"/>
                  </a:lnTo>
                  <a:cubicBezTo>
                    <a:pt x="48578" y="116934"/>
                    <a:pt x="48578" y="125998"/>
                    <a:pt x="54159" y="131579"/>
                  </a:cubicBezTo>
                  <a:cubicBezTo>
                    <a:pt x="59740" y="137160"/>
                    <a:pt x="68803" y="137160"/>
                    <a:pt x="74384" y="131579"/>
                  </a:cubicBezTo>
                  <a:lnTo>
                    <a:pt x="107156" y="98807"/>
                  </a:lnTo>
                  <a:lnTo>
                    <a:pt x="132784" y="124435"/>
                  </a:lnTo>
                  <a:cubicBezTo>
                    <a:pt x="138366" y="130016"/>
                    <a:pt x="147429" y="130016"/>
                    <a:pt x="153010" y="124435"/>
                  </a:cubicBezTo>
                  <a:lnTo>
                    <a:pt x="210160" y="67285"/>
                  </a:ln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 2">
              <a:extLst>
                <a:ext uri="{FF2B5EF4-FFF2-40B4-BE49-F238E27FC236}">
                  <a16:creationId xmlns:a16="http://schemas.microsoft.com/office/drawing/2014/main" id="{B741E87B-1342-45C7-9EE3-DFC02B4335AF}"/>
                </a:ext>
              </a:extLst>
            </p:cNvPr>
            <p:cNvSpPr/>
            <p:nvPr/>
          </p:nvSpPr>
          <p:spPr>
            <a:xfrm>
              <a:off x="1066800" y="400050"/>
              <a:ext cx="37433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Эффект от внедрения</a:t>
              </a:r>
              <a:endParaRPr lang="en-US" sz="1600" dirty="0"/>
            </a:p>
          </p:txBody>
        </p:sp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94E67AB2-22C4-422F-A660-25A527AEC16C}"/>
                </a:ext>
              </a:extLst>
            </p:cNvPr>
            <p:cNvSpPr/>
            <p:nvPr/>
          </p:nvSpPr>
          <p:spPr>
            <a:xfrm>
              <a:off x="747713" y="866772"/>
              <a:ext cx="3986212" cy="45719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2E9CC5A-D288-47EA-A522-58376DBA9E42}"/>
              </a:ext>
            </a:extLst>
          </p:cNvPr>
          <p:cNvGrpSpPr/>
          <p:nvPr/>
        </p:nvGrpSpPr>
        <p:grpSpPr>
          <a:xfrm>
            <a:off x="533400" y="-8343901"/>
            <a:ext cx="5600700" cy="2612905"/>
            <a:chOff x="381000" y="1142999"/>
            <a:chExt cx="5600700" cy="2612905"/>
          </a:xfrm>
        </p:grpSpPr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26D9F8D8-A5A4-42EF-841F-CD1396E2BDCA}"/>
                </a:ext>
              </a:extLst>
            </p:cNvPr>
            <p:cNvSpPr/>
            <p:nvPr/>
          </p:nvSpPr>
          <p:spPr>
            <a:xfrm>
              <a:off x="381000" y="1142999"/>
              <a:ext cx="5600700" cy="2612905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8" name="Shape 5">
              <a:extLst>
                <a:ext uri="{FF2B5EF4-FFF2-40B4-BE49-F238E27FC236}">
                  <a16:creationId xmlns:a16="http://schemas.microsoft.com/office/drawing/2014/main" id="{9B899075-15E0-4614-AA69-03F49B276552}"/>
                </a:ext>
              </a:extLst>
            </p:cNvPr>
            <p:cNvSpPr/>
            <p:nvPr/>
          </p:nvSpPr>
          <p:spPr>
            <a:xfrm>
              <a:off x="571500" y="15049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36BA1F68-3D86-430D-ABAE-723E5FF072E9}"/>
                </a:ext>
              </a:extLst>
            </p:cNvPr>
            <p:cNvSpPr/>
            <p:nvPr/>
          </p:nvSpPr>
          <p:spPr>
            <a:xfrm>
              <a:off x="812006" y="17430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cubicBezTo>
                    <a:pt x="221730" y="0"/>
                    <a:pt x="285750" y="64020"/>
                    <a:pt x="285750" y="142875"/>
                  </a:cubicBezTo>
                  <a:cubicBezTo>
                    <a:pt x="285750" y="221730"/>
                    <a:pt x="221730" y="285750"/>
                    <a:pt x="142875" y="285750"/>
                  </a:cubicBezTo>
                  <a:cubicBezTo>
                    <a:pt x="64020" y="285750"/>
                    <a:pt x="0" y="221730"/>
                    <a:pt x="0" y="142875"/>
                  </a:cubicBezTo>
                  <a:cubicBezTo>
                    <a:pt x="0" y="64020"/>
                    <a:pt x="64020" y="0"/>
                    <a:pt x="142875" y="0"/>
                  </a:cubicBezTo>
                  <a:close/>
                  <a:moveTo>
                    <a:pt x="129480" y="66973"/>
                  </a:moveTo>
                  <a:lnTo>
                    <a:pt x="129480" y="142875"/>
                  </a:lnTo>
                  <a:cubicBezTo>
                    <a:pt x="129480" y="147340"/>
                    <a:pt x="131713" y="151526"/>
                    <a:pt x="135452" y="154037"/>
                  </a:cubicBezTo>
                  <a:lnTo>
                    <a:pt x="189030" y="189756"/>
                  </a:lnTo>
                  <a:cubicBezTo>
                    <a:pt x="195169" y="193886"/>
                    <a:pt x="203485" y="192212"/>
                    <a:pt x="207615" y="186017"/>
                  </a:cubicBezTo>
                  <a:cubicBezTo>
                    <a:pt x="211745" y="179822"/>
                    <a:pt x="210071" y="171562"/>
                    <a:pt x="203876" y="167432"/>
                  </a:cubicBezTo>
                  <a:lnTo>
                    <a:pt x="156270" y="135731"/>
                  </a:lnTo>
                  <a:lnTo>
                    <a:pt x="156270" y="66973"/>
                  </a:lnTo>
                  <a:cubicBezTo>
                    <a:pt x="156270" y="59550"/>
                    <a:pt x="150298" y="53578"/>
                    <a:pt x="142875" y="53578"/>
                  </a:cubicBezTo>
                  <a:cubicBezTo>
                    <a:pt x="135452" y="53578"/>
                    <a:pt x="129480" y="59550"/>
                    <a:pt x="129480" y="6697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0" name="Text 7">
              <a:extLst>
                <a:ext uri="{FF2B5EF4-FFF2-40B4-BE49-F238E27FC236}">
                  <a16:creationId xmlns:a16="http://schemas.microsoft.com/office/drawing/2014/main" id="{B6EB2235-4F3F-4EB8-94F6-0567B0621063}"/>
                </a:ext>
              </a:extLst>
            </p:cNvPr>
            <p:cNvSpPr/>
            <p:nvPr/>
          </p:nvSpPr>
          <p:spPr>
            <a:xfrm>
              <a:off x="1524000" y="1333500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Экономия времени</a:t>
              </a:r>
              <a:endParaRPr lang="en-US" sz="2800" dirty="0"/>
            </a:p>
          </p:txBody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FE6A3E02-5CCD-46C7-8B99-24FD34D22C0A}"/>
                </a:ext>
              </a:extLst>
            </p:cNvPr>
            <p:cNvSpPr/>
            <p:nvPr/>
          </p:nvSpPr>
          <p:spPr>
            <a:xfrm>
              <a:off x="1524000" y="1638300"/>
              <a:ext cx="4343400" cy="1390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Сокращение времени на типовые операции</a:t>
              </a:r>
              <a:endParaRPr lang="en-US" sz="2400" dirty="0"/>
            </a:p>
          </p:txBody>
        </p:sp>
        <p:sp>
          <p:nvSpPr>
            <p:cNvPr id="42" name="Shape 9">
              <a:extLst>
                <a:ext uri="{FF2B5EF4-FFF2-40B4-BE49-F238E27FC236}">
                  <a16:creationId xmlns:a16="http://schemas.microsoft.com/office/drawing/2014/main" id="{64F28789-E3C9-4FF8-8944-3675B5FE0142}"/>
                </a:ext>
              </a:extLst>
            </p:cNvPr>
            <p:cNvSpPr/>
            <p:nvPr/>
          </p:nvSpPr>
          <p:spPr>
            <a:xfrm>
              <a:off x="1509713" y="3144777"/>
              <a:ext cx="1390650" cy="495300"/>
            </a:xfrm>
            <a:custGeom>
              <a:avLst/>
              <a:gdLst/>
              <a:ahLst/>
              <a:cxnLst/>
              <a:rect l="l" t="t" r="r" b="b"/>
              <a:pathLst>
                <a:path w="1390650" h="495300">
                  <a:moveTo>
                    <a:pt x="76202" y="0"/>
                  </a:moveTo>
                  <a:lnTo>
                    <a:pt x="1314448" y="0"/>
                  </a:lnTo>
                  <a:cubicBezTo>
                    <a:pt x="1356533" y="0"/>
                    <a:pt x="1390650" y="34117"/>
                    <a:pt x="1390650" y="76202"/>
                  </a:cubicBezTo>
                  <a:lnTo>
                    <a:pt x="1390650" y="419098"/>
                  </a:lnTo>
                  <a:cubicBezTo>
                    <a:pt x="1390650" y="461183"/>
                    <a:pt x="1356533" y="495300"/>
                    <a:pt x="131444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3" name="Text 10">
              <a:extLst>
                <a:ext uri="{FF2B5EF4-FFF2-40B4-BE49-F238E27FC236}">
                  <a16:creationId xmlns:a16="http://schemas.microsoft.com/office/drawing/2014/main" id="{D135BBD9-ED66-41D6-A956-3F5CB5E64318}"/>
                </a:ext>
              </a:extLst>
            </p:cNvPr>
            <p:cNvSpPr/>
            <p:nvPr/>
          </p:nvSpPr>
          <p:spPr>
            <a:xfrm>
              <a:off x="1662113" y="3206690"/>
              <a:ext cx="1224597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60-70%</a:t>
              </a:r>
              <a:endParaRPr lang="en-US" sz="1600" dirty="0"/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7E140D00-7153-437C-961D-DD68666CE14B}"/>
              </a:ext>
            </a:extLst>
          </p:cNvPr>
          <p:cNvGrpSpPr/>
          <p:nvPr/>
        </p:nvGrpSpPr>
        <p:grpSpPr>
          <a:xfrm>
            <a:off x="533400" y="-5492870"/>
            <a:ext cx="5600700" cy="2458888"/>
            <a:chOff x="381000" y="3994030"/>
            <a:chExt cx="5600700" cy="2458888"/>
          </a:xfrm>
        </p:grpSpPr>
        <p:sp>
          <p:nvSpPr>
            <p:cNvPr id="45" name="Shape 11">
              <a:extLst>
                <a:ext uri="{FF2B5EF4-FFF2-40B4-BE49-F238E27FC236}">
                  <a16:creationId xmlns:a16="http://schemas.microsoft.com/office/drawing/2014/main" id="{8A7387DB-6FA0-46E4-853D-E7CA4A0525E6}"/>
                </a:ext>
              </a:extLst>
            </p:cNvPr>
            <p:cNvSpPr/>
            <p:nvPr/>
          </p:nvSpPr>
          <p:spPr>
            <a:xfrm>
              <a:off x="381000" y="3994030"/>
              <a:ext cx="5600700" cy="2458888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6" name="Shape 12">
              <a:extLst>
                <a:ext uri="{FF2B5EF4-FFF2-40B4-BE49-F238E27FC236}">
                  <a16:creationId xmlns:a16="http://schemas.microsoft.com/office/drawing/2014/main" id="{4813A802-A1B6-41FC-A089-C85109631040}"/>
                </a:ext>
              </a:extLst>
            </p:cNvPr>
            <p:cNvSpPr/>
            <p:nvPr/>
          </p:nvSpPr>
          <p:spPr>
            <a:xfrm>
              <a:off x="571500" y="423125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47" name="Shape 13">
              <a:extLst>
                <a:ext uri="{FF2B5EF4-FFF2-40B4-BE49-F238E27FC236}">
                  <a16:creationId xmlns:a16="http://schemas.microsoft.com/office/drawing/2014/main" id="{8D11678C-9917-4004-8258-EE3DCDC388F0}"/>
                </a:ext>
              </a:extLst>
            </p:cNvPr>
            <p:cNvSpPr/>
            <p:nvPr/>
          </p:nvSpPr>
          <p:spPr>
            <a:xfrm>
              <a:off x="812006" y="4469382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285750"/>
                  </a:moveTo>
                  <a:cubicBezTo>
                    <a:pt x="221730" y="285750"/>
                    <a:pt x="285750" y="221730"/>
                    <a:pt x="285750" y="142875"/>
                  </a:cubicBezTo>
                  <a:cubicBezTo>
                    <a:pt x="285750" y="64020"/>
                    <a:pt x="221730" y="0"/>
                    <a:pt x="142875" y="0"/>
                  </a:cubicBezTo>
                  <a:cubicBezTo>
                    <a:pt x="64020" y="0"/>
                    <a:pt x="0" y="64020"/>
                    <a:pt x="0" y="142875"/>
                  </a:cubicBezTo>
                  <a:cubicBezTo>
                    <a:pt x="0" y="221730"/>
                    <a:pt x="64020" y="285750"/>
                    <a:pt x="142875" y="285750"/>
                  </a:cubicBezTo>
                  <a:close/>
                  <a:moveTo>
                    <a:pt x="93204" y="93204"/>
                  </a:moveTo>
                  <a:cubicBezTo>
                    <a:pt x="98450" y="87957"/>
                    <a:pt x="106933" y="87957"/>
                    <a:pt x="112123" y="93204"/>
                  </a:cubicBezTo>
                  <a:lnTo>
                    <a:pt x="142819" y="123899"/>
                  </a:lnTo>
                  <a:lnTo>
                    <a:pt x="173515" y="93204"/>
                  </a:lnTo>
                  <a:cubicBezTo>
                    <a:pt x="178761" y="87957"/>
                    <a:pt x="187244" y="87957"/>
                    <a:pt x="192435" y="93204"/>
                  </a:cubicBezTo>
                  <a:cubicBezTo>
                    <a:pt x="197625" y="98450"/>
                    <a:pt x="197681" y="106933"/>
                    <a:pt x="192435" y="112123"/>
                  </a:cubicBezTo>
                  <a:lnTo>
                    <a:pt x="161739" y="142819"/>
                  </a:lnTo>
                  <a:lnTo>
                    <a:pt x="192435" y="173515"/>
                  </a:lnTo>
                  <a:cubicBezTo>
                    <a:pt x="197681" y="178761"/>
                    <a:pt x="197681" y="187244"/>
                    <a:pt x="192435" y="192435"/>
                  </a:cubicBezTo>
                  <a:cubicBezTo>
                    <a:pt x="187189" y="197625"/>
                    <a:pt x="178705" y="197681"/>
                    <a:pt x="173515" y="192435"/>
                  </a:cubicBezTo>
                  <a:lnTo>
                    <a:pt x="142819" y="161739"/>
                  </a:lnTo>
                  <a:lnTo>
                    <a:pt x="112123" y="192435"/>
                  </a:lnTo>
                  <a:cubicBezTo>
                    <a:pt x="106877" y="197681"/>
                    <a:pt x="98394" y="197681"/>
                    <a:pt x="93204" y="192435"/>
                  </a:cubicBezTo>
                  <a:cubicBezTo>
                    <a:pt x="88013" y="187189"/>
                    <a:pt x="87957" y="178705"/>
                    <a:pt x="93204" y="173515"/>
                  </a:cubicBezTo>
                  <a:lnTo>
                    <a:pt x="123899" y="142819"/>
                  </a:lnTo>
                  <a:lnTo>
                    <a:pt x="93204" y="112123"/>
                  </a:lnTo>
                  <a:cubicBezTo>
                    <a:pt x="87957" y="106877"/>
                    <a:pt x="87957" y="98394"/>
                    <a:pt x="93204" y="9320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48" name="Text 14">
              <a:extLst>
                <a:ext uri="{FF2B5EF4-FFF2-40B4-BE49-F238E27FC236}">
                  <a16:creationId xmlns:a16="http://schemas.microsoft.com/office/drawing/2014/main" id="{43E594D9-7D33-4838-BB6D-591FC9274EE2}"/>
                </a:ext>
              </a:extLst>
            </p:cNvPr>
            <p:cNvSpPr/>
            <p:nvPr/>
          </p:nvSpPr>
          <p:spPr>
            <a:xfrm>
              <a:off x="1524000" y="4247072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Снижение ошибок</a:t>
              </a:r>
              <a:endParaRPr lang="en-US" sz="2800" dirty="0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521D8414-BB0C-40EA-A507-5CC4F824084C}"/>
                </a:ext>
              </a:extLst>
            </p:cNvPr>
            <p:cNvSpPr/>
            <p:nvPr/>
          </p:nvSpPr>
          <p:spPr>
            <a:xfrm>
              <a:off x="1509713" y="4616166"/>
              <a:ext cx="4343400" cy="1072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Автоматическая проверка данных</a:t>
              </a:r>
              <a:endParaRPr lang="en-US" sz="24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3AF0D3EB-72A9-43A3-9185-F2F5065DC824}"/>
                </a:ext>
              </a:extLst>
            </p:cNvPr>
            <p:cNvSpPr/>
            <p:nvPr/>
          </p:nvSpPr>
          <p:spPr>
            <a:xfrm>
              <a:off x="1509713" y="5790930"/>
              <a:ext cx="876300" cy="495300"/>
            </a:xfrm>
            <a:custGeom>
              <a:avLst/>
              <a:gdLst/>
              <a:ahLst/>
              <a:cxnLst/>
              <a:rect l="l" t="t" r="r" b="b"/>
              <a:pathLst>
                <a:path w="876300" h="495300">
                  <a:moveTo>
                    <a:pt x="76202" y="0"/>
                  </a:moveTo>
                  <a:lnTo>
                    <a:pt x="800098" y="0"/>
                  </a:lnTo>
                  <a:cubicBezTo>
                    <a:pt x="842183" y="0"/>
                    <a:pt x="876300" y="34117"/>
                    <a:pt x="876300" y="76202"/>
                  </a:cubicBezTo>
                  <a:lnTo>
                    <a:pt x="876300" y="419098"/>
                  </a:lnTo>
                  <a:cubicBezTo>
                    <a:pt x="876300" y="461183"/>
                    <a:pt x="842183" y="495300"/>
                    <a:pt x="8000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1" name="Text 17">
              <a:extLst>
                <a:ext uri="{FF2B5EF4-FFF2-40B4-BE49-F238E27FC236}">
                  <a16:creationId xmlns:a16="http://schemas.microsoft.com/office/drawing/2014/main" id="{3D69943C-BD03-47C3-B743-8B53DCA6A784}"/>
                </a:ext>
              </a:extLst>
            </p:cNvPr>
            <p:cNvSpPr/>
            <p:nvPr/>
          </p:nvSpPr>
          <p:spPr>
            <a:xfrm>
              <a:off x="1662113" y="5852843"/>
              <a:ext cx="716280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75%</a:t>
              </a:r>
              <a:endParaRPr lang="en-US" sz="1600" dirty="0"/>
            </a:p>
          </p:txBody>
        </p: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C8B0D4AC-8CC3-4E0D-8D67-F6521AA9F532}"/>
              </a:ext>
            </a:extLst>
          </p:cNvPr>
          <p:cNvGrpSpPr/>
          <p:nvPr/>
        </p:nvGrpSpPr>
        <p:grpSpPr>
          <a:xfrm>
            <a:off x="6374606" y="-5492870"/>
            <a:ext cx="5600700" cy="2458888"/>
            <a:chOff x="6222206" y="3994030"/>
            <a:chExt cx="5600700" cy="2458888"/>
          </a:xfrm>
        </p:grpSpPr>
        <p:sp>
          <p:nvSpPr>
            <p:cNvPr id="53" name="Shape 18">
              <a:extLst>
                <a:ext uri="{FF2B5EF4-FFF2-40B4-BE49-F238E27FC236}">
                  <a16:creationId xmlns:a16="http://schemas.microsoft.com/office/drawing/2014/main" id="{0DD7896A-EAD6-4329-A412-9C684F5D8487}"/>
                </a:ext>
              </a:extLst>
            </p:cNvPr>
            <p:cNvSpPr/>
            <p:nvPr/>
          </p:nvSpPr>
          <p:spPr>
            <a:xfrm>
              <a:off x="6222206" y="3994030"/>
              <a:ext cx="5600700" cy="2458888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4" name="Shape 19">
              <a:extLst>
                <a:ext uri="{FF2B5EF4-FFF2-40B4-BE49-F238E27FC236}">
                  <a16:creationId xmlns:a16="http://schemas.microsoft.com/office/drawing/2014/main" id="{26FF6A93-439D-474B-AFDA-E12BF8B99105}"/>
                </a:ext>
              </a:extLst>
            </p:cNvPr>
            <p:cNvSpPr/>
            <p:nvPr/>
          </p:nvSpPr>
          <p:spPr>
            <a:xfrm>
              <a:off x="6412706" y="423125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D70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55" name="Shape 20">
              <a:extLst>
                <a:ext uri="{FF2B5EF4-FFF2-40B4-BE49-F238E27FC236}">
                  <a16:creationId xmlns:a16="http://schemas.microsoft.com/office/drawing/2014/main" id="{042440EC-34B5-4FDD-942D-4E8C95798C38}"/>
                </a:ext>
              </a:extLst>
            </p:cNvPr>
            <p:cNvSpPr/>
            <p:nvPr/>
          </p:nvSpPr>
          <p:spPr>
            <a:xfrm>
              <a:off x="6671072" y="4469382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25016" y="35719"/>
                  </a:moveTo>
                  <a:cubicBezTo>
                    <a:pt x="80925" y="35719"/>
                    <a:pt x="44258" y="67698"/>
                    <a:pt x="37002" y="109779"/>
                  </a:cubicBezTo>
                  <a:cubicBezTo>
                    <a:pt x="42193" y="108105"/>
                    <a:pt x="47774" y="107156"/>
                    <a:pt x="53578" y="107156"/>
                  </a:cubicBezTo>
                  <a:lnTo>
                    <a:pt x="62508" y="107156"/>
                  </a:lnTo>
                  <a:cubicBezTo>
                    <a:pt x="77298" y="107156"/>
                    <a:pt x="89297" y="119156"/>
                    <a:pt x="89297" y="133945"/>
                  </a:cubicBezTo>
                  <a:lnTo>
                    <a:pt x="89297" y="187523"/>
                  </a:lnTo>
                  <a:cubicBezTo>
                    <a:pt x="89297" y="202313"/>
                    <a:pt x="77298" y="214313"/>
                    <a:pt x="62508" y="214313"/>
                  </a:cubicBezTo>
                  <a:lnTo>
                    <a:pt x="53578" y="214313"/>
                  </a:lnTo>
                  <a:cubicBezTo>
                    <a:pt x="23999" y="214313"/>
                    <a:pt x="0" y="190314"/>
                    <a:pt x="0" y="160734"/>
                  </a:cubicBezTo>
                  <a:lnTo>
                    <a:pt x="0" y="125016"/>
                  </a:lnTo>
                  <a:cubicBezTo>
                    <a:pt x="0" y="55978"/>
                    <a:pt x="55978" y="0"/>
                    <a:pt x="125016" y="0"/>
                  </a:cubicBezTo>
                  <a:cubicBezTo>
                    <a:pt x="194053" y="0"/>
                    <a:pt x="250031" y="55978"/>
                    <a:pt x="250031" y="125016"/>
                  </a:cubicBezTo>
                  <a:lnTo>
                    <a:pt x="250031" y="218833"/>
                  </a:lnTo>
                  <a:cubicBezTo>
                    <a:pt x="250031" y="255836"/>
                    <a:pt x="220005" y="285806"/>
                    <a:pt x="183003" y="285806"/>
                  </a:cubicBezTo>
                  <a:lnTo>
                    <a:pt x="133945" y="285750"/>
                  </a:lnTo>
                  <a:lnTo>
                    <a:pt x="116086" y="285750"/>
                  </a:lnTo>
                  <a:cubicBezTo>
                    <a:pt x="101296" y="285750"/>
                    <a:pt x="89297" y="273751"/>
                    <a:pt x="89297" y="258961"/>
                  </a:cubicBezTo>
                  <a:cubicBezTo>
                    <a:pt x="89297" y="244171"/>
                    <a:pt x="101296" y="232172"/>
                    <a:pt x="116086" y="232172"/>
                  </a:cubicBezTo>
                  <a:lnTo>
                    <a:pt x="133945" y="232172"/>
                  </a:lnTo>
                  <a:cubicBezTo>
                    <a:pt x="148735" y="232172"/>
                    <a:pt x="160734" y="244171"/>
                    <a:pt x="160734" y="258961"/>
                  </a:cubicBezTo>
                  <a:lnTo>
                    <a:pt x="160734" y="258961"/>
                  </a:lnTo>
                  <a:lnTo>
                    <a:pt x="183059" y="258961"/>
                  </a:lnTo>
                  <a:cubicBezTo>
                    <a:pt x="205271" y="258961"/>
                    <a:pt x="223242" y="240990"/>
                    <a:pt x="223242" y="218777"/>
                  </a:cubicBezTo>
                  <a:lnTo>
                    <a:pt x="223242" y="207113"/>
                  </a:lnTo>
                  <a:cubicBezTo>
                    <a:pt x="215373" y="211689"/>
                    <a:pt x="206220" y="214257"/>
                    <a:pt x="196453" y="214257"/>
                  </a:cubicBezTo>
                  <a:lnTo>
                    <a:pt x="187523" y="214257"/>
                  </a:lnTo>
                  <a:cubicBezTo>
                    <a:pt x="172734" y="214257"/>
                    <a:pt x="160734" y="202257"/>
                    <a:pt x="160734" y="187468"/>
                  </a:cubicBezTo>
                  <a:lnTo>
                    <a:pt x="160734" y="133890"/>
                  </a:lnTo>
                  <a:cubicBezTo>
                    <a:pt x="160734" y="119100"/>
                    <a:pt x="172734" y="107100"/>
                    <a:pt x="187523" y="107100"/>
                  </a:cubicBezTo>
                  <a:lnTo>
                    <a:pt x="196453" y="107100"/>
                  </a:lnTo>
                  <a:cubicBezTo>
                    <a:pt x="202257" y="107100"/>
                    <a:pt x="207783" y="107993"/>
                    <a:pt x="213029" y="109724"/>
                  </a:cubicBezTo>
                  <a:cubicBezTo>
                    <a:pt x="205773" y="67698"/>
                    <a:pt x="169162" y="35663"/>
                    <a:pt x="125016" y="35663"/>
                  </a:cubicBezTo>
                  <a:close/>
                </a:path>
              </a:pathLst>
            </a:custGeom>
            <a:solidFill>
              <a:srgbClr val="1A1A1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1E07ED6B-D092-4FF1-909F-C53BC247428F}"/>
                </a:ext>
              </a:extLst>
            </p:cNvPr>
            <p:cNvSpPr/>
            <p:nvPr/>
          </p:nvSpPr>
          <p:spPr>
            <a:xfrm>
              <a:off x="7365206" y="4247072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Меньше обращений</a:t>
              </a:r>
              <a:endParaRPr lang="en-US" sz="2800" dirty="0"/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8D21F6D0-EBB4-4420-AC94-AEE103EDB120}"/>
                </a:ext>
              </a:extLst>
            </p:cNvPr>
            <p:cNvSpPr/>
            <p:nvPr/>
          </p:nvSpPr>
          <p:spPr>
            <a:xfrm>
              <a:off x="7365206" y="4642630"/>
              <a:ext cx="4343400" cy="1072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Снижение нагрузки на поддержку</a:t>
              </a:r>
              <a:endParaRPr lang="en-US" sz="2400" dirty="0"/>
            </a:p>
          </p:txBody>
        </p:sp>
        <p:sp>
          <p:nvSpPr>
            <p:cNvPr id="58" name="Shape 23">
              <a:extLst>
                <a:ext uri="{FF2B5EF4-FFF2-40B4-BE49-F238E27FC236}">
                  <a16:creationId xmlns:a16="http://schemas.microsoft.com/office/drawing/2014/main" id="{56ED44CC-22F1-4639-8A1A-526EF41115EE}"/>
                </a:ext>
              </a:extLst>
            </p:cNvPr>
            <p:cNvSpPr/>
            <p:nvPr/>
          </p:nvSpPr>
          <p:spPr>
            <a:xfrm>
              <a:off x="7350919" y="5790930"/>
              <a:ext cx="1409700" cy="495300"/>
            </a:xfrm>
            <a:custGeom>
              <a:avLst/>
              <a:gdLst/>
              <a:ahLst/>
              <a:cxnLst/>
              <a:rect l="l" t="t" r="r" b="b"/>
              <a:pathLst>
                <a:path w="1409700" h="495300">
                  <a:moveTo>
                    <a:pt x="76202" y="0"/>
                  </a:moveTo>
                  <a:lnTo>
                    <a:pt x="1333498" y="0"/>
                  </a:lnTo>
                  <a:cubicBezTo>
                    <a:pt x="1375583" y="0"/>
                    <a:pt x="1409700" y="34117"/>
                    <a:pt x="1409700" y="76202"/>
                  </a:cubicBezTo>
                  <a:lnTo>
                    <a:pt x="1409700" y="419098"/>
                  </a:lnTo>
                  <a:cubicBezTo>
                    <a:pt x="1409700" y="461183"/>
                    <a:pt x="1375583" y="495300"/>
                    <a:pt x="13334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D70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59" name="Text 24">
              <a:extLst>
                <a:ext uri="{FF2B5EF4-FFF2-40B4-BE49-F238E27FC236}">
                  <a16:creationId xmlns:a16="http://schemas.microsoft.com/office/drawing/2014/main" id="{E43F3AFE-7D29-4B1A-B8D0-5AA7936853DA}"/>
                </a:ext>
              </a:extLst>
            </p:cNvPr>
            <p:cNvSpPr/>
            <p:nvPr/>
          </p:nvSpPr>
          <p:spPr>
            <a:xfrm>
              <a:off x="7503319" y="5852843"/>
              <a:ext cx="1243013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1A1A1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40-50%</a:t>
              </a:r>
              <a:endParaRPr lang="en-US" sz="1600" dirty="0"/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5118F4D-555E-44B2-952F-26B9C53EE340}"/>
              </a:ext>
            </a:extLst>
          </p:cNvPr>
          <p:cNvGrpSpPr/>
          <p:nvPr/>
        </p:nvGrpSpPr>
        <p:grpSpPr>
          <a:xfrm>
            <a:off x="6362700" y="-8343900"/>
            <a:ext cx="5600700" cy="2612904"/>
            <a:chOff x="6210300" y="1143000"/>
            <a:chExt cx="5600700" cy="2612904"/>
          </a:xfrm>
        </p:grpSpPr>
        <p:sp>
          <p:nvSpPr>
            <p:cNvPr id="61" name="Shape 25">
              <a:extLst>
                <a:ext uri="{FF2B5EF4-FFF2-40B4-BE49-F238E27FC236}">
                  <a16:creationId xmlns:a16="http://schemas.microsoft.com/office/drawing/2014/main" id="{9B880D9A-C90E-49F8-ADE4-7AB1DF3C3E02}"/>
                </a:ext>
              </a:extLst>
            </p:cNvPr>
            <p:cNvSpPr/>
            <p:nvPr/>
          </p:nvSpPr>
          <p:spPr>
            <a:xfrm>
              <a:off x="6210300" y="1143000"/>
              <a:ext cx="5600700" cy="2612904"/>
            </a:xfrm>
            <a:custGeom>
              <a:avLst/>
              <a:gdLst/>
              <a:ahLst/>
              <a:cxnLst/>
              <a:rect l="l" t="t" r="r" b="b"/>
              <a:pathLst>
                <a:path w="5600700" h="1485900">
                  <a:moveTo>
                    <a:pt x="152394" y="0"/>
                  </a:moveTo>
                  <a:lnTo>
                    <a:pt x="5448306" y="0"/>
                  </a:lnTo>
                  <a:cubicBezTo>
                    <a:pt x="5532471" y="0"/>
                    <a:pt x="5600700" y="68229"/>
                    <a:pt x="5600700" y="152394"/>
                  </a:cubicBezTo>
                  <a:lnTo>
                    <a:pt x="5600700" y="1333506"/>
                  </a:lnTo>
                  <a:cubicBezTo>
                    <a:pt x="5600700" y="1417671"/>
                    <a:pt x="5532471" y="1485900"/>
                    <a:pt x="5448306" y="1485900"/>
                  </a:cubicBezTo>
                  <a:lnTo>
                    <a:pt x="152394" y="1485900"/>
                  </a:lnTo>
                  <a:cubicBezTo>
                    <a:pt x="68229" y="1485900"/>
                    <a:pt x="0" y="1417671"/>
                    <a:pt x="0" y="1333506"/>
                  </a:cubicBezTo>
                  <a:lnTo>
                    <a:pt x="0" y="152394"/>
                  </a:lnTo>
                  <a:cubicBezTo>
                    <a:pt x="0" y="68285"/>
                    <a:pt x="68285" y="0"/>
                    <a:pt x="152394" y="0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2" name="Shape 26">
              <a:extLst>
                <a:ext uri="{FF2B5EF4-FFF2-40B4-BE49-F238E27FC236}">
                  <a16:creationId xmlns:a16="http://schemas.microsoft.com/office/drawing/2014/main" id="{BA551A70-F323-480D-990C-6CE24616D1AE}"/>
                </a:ext>
              </a:extLst>
            </p:cNvPr>
            <p:cNvSpPr/>
            <p:nvPr/>
          </p:nvSpPr>
          <p:spPr>
            <a:xfrm>
              <a:off x="6400800" y="15049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712" y="0"/>
                    <a:pt x="762000" y="68288"/>
                    <a:pt x="762000" y="152400"/>
                  </a:cubicBezTo>
                  <a:lnTo>
                    <a:pt x="762000" y="609600"/>
                  </a:lnTo>
                  <a:cubicBezTo>
                    <a:pt x="762000" y="693712"/>
                    <a:pt x="693712" y="762000"/>
                    <a:pt x="609600" y="762000"/>
                  </a:cubicBezTo>
                  <a:lnTo>
                    <a:pt x="152400" y="762000"/>
                  </a:lnTo>
                  <a:cubicBezTo>
                    <a:pt x="68288" y="762000"/>
                    <a:pt x="0" y="693712"/>
                    <a:pt x="0" y="6096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FF6B35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63" name="Shape 27">
              <a:extLst>
                <a:ext uri="{FF2B5EF4-FFF2-40B4-BE49-F238E27FC236}">
                  <a16:creationId xmlns:a16="http://schemas.microsoft.com/office/drawing/2014/main" id="{5DF234FF-D6E9-4F8F-90A0-31C8931D2014}"/>
                </a:ext>
              </a:extLst>
            </p:cNvPr>
            <p:cNvSpPr/>
            <p:nvPr/>
          </p:nvSpPr>
          <p:spPr>
            <a:xfrm>
              <a:off x="6659166" y="1743075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34671" y="-7255"/>
                  </a:moveTo>
                  <a:cubicBezTo>
                    <a:pt x="128308" y="-8539"/>
                    <a:pt x="121779" y="-8539"/>
                    <a:pt x="115416" y="-7255"/>
                  </a:cubicBezTo>
                  <a:lnTo>
                    <a:pt x="10771" y="13674"/>
                  </a:lnTo>
                  <a:cubicBezTo>
                    <a:pt x="4521" y="14901"/>
                    <a:pt x="0" y="20427"/>
                    <a:pt x="0" y="26789"/>
                  </a:cubicBezTo>
                  <a:cubicBezTo>
                    <a:pt x="0" y="32538"/>
                    <a:pt x="3628" y="37560"/>
                    <a:pt x="8930" y="39402"/>
                  </a:cubicBezTo>
                  <a:lnTo>
                    <a:pt x="8930" y="80367"/>
                  </a:lnTo>
                  <a:lnTo>
                    <a:pt x="167" y="124234"/>
                  </a:lnTo>
                  <a:cubicBezTo>
                    <a:pt x="56" y="124737"/>
                    <a:pt x="0" y="125295"/>
                    <a:pt x="0" y="125853"/>
                  </a:cubicBezTo>
                  <a:cubicBezTo>
                    <a:pt x="0" y="130318"/>
                    <a:pt x="3628" y="134001"/>
                    <a:pt x="8148" y="134001"/>
                  </a:cubicBezTo>
                  <a:lnTo>
                    <a:pt x="27626" y="134001"/>
                  </a:lnTo>
                  <a:cubicBezTo>
                    <a:pt x="32091" y="134001"/>
                    <a:pt x="35775" y="130373"/>
                    <a:pt x="35775" y="125853"/>
                  </a:cubicBezTo>
                  <a:cubicBezTo>
                    <a:pt x="35775" y="125295"/>
                    <a:pt x="35719" y="124792"/>
                    <a:pt x="35607" y="124234"/>
                  </a:cubicBezTo>
                  <a:lnTo>
                    <a:pt x="26789" y="80367"/>
                  </a:lnTo>
                  <a:lnTo>
                    <a:pt x="26789" y="43142"/>
                  </a:lnTo>
                  <a:lnTo>
                    <a:pt x="53578" y="48499"/>
                  </a:lnTo>
                  <a:lnTo>
                    <a:pt x="53578" y="80367"/>
                  </a:lnTo>
                  <a:cubicBezTo>
                    <a:pt x="53578" y="119825"/>
                    <a:pt x="85558" y="151805"/>
                    <a:pt x="125016" y="151805"/>
                  </a:cubicBezTo>
                  <a:cubicBezTo>
                    <a:pt x="164474" y="151805"/>
                    <a:pt x="196453" y="119825"/>
                    <a:pt x="196453" y="80367"/>
                  </a:cubicBezTo>
                  <a:lnTo>
                    <a:pt x="196453" y="48499"/>
                  </a:lnTo>
                  <a:lnTo>
                    <a:pt x="239260" y="39960"/>
                  </a:lnTo>
                  <a:cubicBezTo>
                    <a:pt x="245511" y="38677"/>
                    <a:pt x="250031" y="33151"/>
                    <a:pt x="250031" y="26789"/>
                  </a:cubicBezTo>
                  <a:cubicBezTo>
                    <a:pt x="250031" y="20427"/>
                    <a:pt x="245511" y="14901"/>
                    <a:pt x="239260" y="13674"/>
                  </a:cubicBezTo>
                  <a:lnTo>
                    <a:pt x="134671" y="-7255"/>
                  </a:lnTo>
                  <a:close/>
                  <a:moveTo>
                    <a:pt x="125016" y="125016"/>
                  </a:moveTo>
                  <a:cubicBezTo>
                    <a:pt x="100347" y="125016"/>
                    <a:pt x="80367" y="105035"/>
                    <a:pt x="80367" y="80367"/>
                  </a:cubicBezTo>
                  <a:lnTo>
                    <a:pt x="169664" y="80367"/>
                  </a:lnTo>
                  <a:cubicBezTo>
                    <a:pt x="169664" y="105035"/>
                    <a:pt x="149684" y="125016"/>
                    <a:pt x="125016" y="125016"/>
                  </a:cubicBezTo>
                  <a:close/>
                  <a:moveTo>
                    <a:pt x="67028" y="178650"/>
                  </a:moveTo>
                  <a:cubicBezTo>
                    <a:pt x="32761" y="194388"/>
                    <a:pt x="8930" y="228991"/>
                    <a:pt x="8930" y="269174"/>
                  </a:cubicBezTo>
                  <a:cubicBezTo>
                    <a:pt x="8930" y="278327"/>
                    <a:pt x="16352" y="285750"/>
                    <a:pt x="25505" y="285750"/>
                  </a:cubicBezTo>
                  <a:lnTo>
                    <a:pt x="111621" y="285750"/>
                  </a:lnTo>
                  <a:lnTo>
                    <a:pt x="111621" y="204267"/>
                  </a:lnTo>
                  <a:lnTo>
                    <a:pt x="79586" y="180268"/>
                  </a:lnTo>
                  <a:cubicBezTo>
                    <a:pt x="75958" y="177533"/>
                    <a:pt x="71103" y="176808"/>
                    <a:pt x="66973" y="178705"/>
                  </a:cubicBezTo>
                  <a:close/>
                  <a:moveTo>
                    <a:pt x="138410" y="285750"/>
                  </a:moveTo>
                  <a:lnTo>
                    <a:pt x="224526" y="285750"/>
                  </a:lnTo>
                  <a:cubicBezTo>
                    <a:pt x="233679" y="285750"/>
                    <a:pt x="241102" y="278327"/>
                    <a:pt x="241102" y="269174"/>
                  </a:cubicBezTo>
                  <a:cubicBezTo>
                    <a:pt x="241102" y="228991"/>
                    <a:pt x="217270" y="194388"/>
                    <a:pt x="183003" y="178705"/>
                  </a:cubicBezTo>
                  <a:cubicBezTo>
                    <a:pt x="178873" y="176808"/>
                    <a:pt x="174017" y="177533"/>
                    <a:pt x="170390" y="180268"/>
                  </a:cubicBezTo>
                  <a:lnTo>
                    <a:pt x="138354" y="204267"/>
                  </a:lnTo>
                  <a:lnTo>
                    <a:pt x="138354" y="28575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4" name="Text 28">
              <a:extLst>
                <a:ext uri="{FF2B5EF4-FFF2-40B4-BE49-F238E27FC236}">
                  <a16:creationId xmlns:a16="http://schemas.microsoft.com/office/drawing/2014/main" id="{AB1E35A3-0BDE-4EAC-BA72-F46A61554CD0}"/>
                </a:ext>
              </a:extLst>
            </p:cNvPr>
            <p:cNvSpPr/>
            <p:nvPr/>
          </p:nvSpPr>
          <p:spPr>
            <a:xfrm>
              <a:off x="7353300" y="1333500"/>
              <a:ext cx="4362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8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Быстрая адаптация</a:t>
              </a:r>
              <a:endParaRPr lang="en-US" sz="2800" dirty="0"/>
            </a:p>
          </p:txBody>
        </p:sp>
        <p:sp>
          <p:nvSpPr>
            <p:cNvPr id="65" name="Text 29">
              <a:extLst>
                <a:ext uri="{FF2B5EF4-FFF2-40B4-BE49-F238E27FC236}">
                  <a16:creationId xmlns:a16="http://schemas.microsoft.com/office/drawing/2014/main" id="{13838B64-8AB2-443F-A489-A682BCA90EFF}"/>
                </a:ext>
              </a:extLst>
            </p:cNvPr>
            <p:cNvSpPr/>
            <p:nvPr/>
          </p:nvSpPr>
          <p:spPr>
            <a:xfrm>
              <a:off x="7353300" y="1638300"/>
              <a:ext cx="4343400" cy="1390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00" dirty="0">
                  <a:solidFill>
                    <a:srgbClr val="4A4A4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Новые сотрудники осваиваются быстрее</a:t>
              </a:r>
              <a:endParaRPr lang="en-US" sz="2400" dirty="0"/>
            </a:p>
          </p:txBody>
        </p:sp>
        <p:sp>
          <p:nvSpPr>
            <p:cNvPr id="66" name="Shape 30">
              <a:extLst>
                <a:ext uri="{FF2B5EF4-FFF2-40B4-BE49-F238E27FC236}">
                  <a16:creationId xmlns:a16="http://schemas.microsoft.com/office/drawing/2014/main" id="{9DC3428C-E502-468D-A172-A1C59A4E81BF}"/>
                </a:ext>
              </a:extLst>
            </p:cNvPr>
            <p:cNvSpPr/>
            <p:nvPr/>
          </p:nvSpPr>
          <p:spPr>
            <a:xfrm>
              <a:off x="7347268" y="3144777"/>
              <a:ext cx="647700" cy="495300"/>
            </a:xfrm>
            <a:custGeom>
              <a:avLst/>
              <a:gdLst/>
              <a:ahLst/>
              <a:cxnLst/>
              <a:rect l="l" t="t" r="r" b="b"/>
              <a:pathLst>
                <a:path w="647700" h="495300">
                  <a:moveTo>
                    <a:pt x="76202" y="0"/>
                  </a:moveTo>
                  <a:lnTo>
                    <a:pt x="571498" y="0"/>
                  </a:lnTo>
                  <a:cubicBezTo>
                    <a:pt x="613583" y="0"/>
                    <a:pt x="647700" y="34117"/>
                    <a:pt x="647700" y="76202"/>
                  </a:cubicBezTo>
                  <a:lnTo>
                    <a:pt x="647700" y="419098"/>
                  </a:lnTo>
                  <a:cubicBezTo>
                    <a:pt x="647700" y="461183"/>
                    <a:pt x="613583" y="495300"/>
                    <a:pt x="5714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F6B35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67" name="Text 31">
              <a:extLst>
                <a:ext uri="{FF2B5EF4-FFF2-40B4-BE49-F238E27FC236}">
                  <a16:creationId xmlns:a16="http://schemas.microsoft.com/office/drawing/2014/main" id="{F4642940-25ED-44A0-AFD0-9EC2C2777E21}"/>
                </a:ext>
              </a:extLst>
            </p:cNvPr>
            <p:cNvSpPr/>
            <p:nvPr/>
          </p:nvSpPr>
          <p:spPr>
            <a:xfrm>
              <a:off x="7499668" y="3206690"/>
              <a:ext cx="489268" cy="371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2×</a:t>
              </a:r>
              <a:endParaRPr lang="en-US" sz="1600" dirty="0"/>
            </a:p>
          </p:txBody>
        </p:sp>
      </p:grpSp>
      <p:sp>
        <p:nvSpPr>
          <p:cNvPr id="68" name="Text 7">
            <a:extLst>
              <a:ext uri="{FF2B5EF4-FFF2-40B4-BE49-F238E27FC236}">
                <a16:creationId xmlns:a16="http://schemas.microsoft.com/office/drawing/2014/main" id="{422063F5-15BC-4F22-B155-11B164B3405F}"/>
              </a:ext>
            </a:extLst>
          </p:cNvPr>
          <p:cNvSpPr/>
          <p:nvPr/>
        </p:nvSpPr>
        <p:spPr>
          <a:xfrm>
            <a:off x="11279663" y="-9222582"/>
            <a:ext cx="752952" cy="728664"/>
          </a:xfrm>
          <a:prstGeom prst="rect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3600" b="1" dirty="0">
                <a:solidFill>
                  <a:srgbClr val="1A1A1A"/>
                </a:solidFill>
                <a:ea typeface="Alimama ShuHeiTi" pitchFamily="34" charset="-122"/>
              </a:rPr>
              <a:t>15</a:t>
            </a:r>
            <a:endParaRPr lang="en-US" sz="1600" dirty="0"/>
          </a:p>
        </p:txBody>
      </p: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077EB25E-FA23-4BA1-BC31-55DA11EC5A47}"/>
              </a:ext>
            </a:extLst>
          </p:cNvPr>
          <p:cNvGrpSpPr/>
          <p:nvPr/>
        </p:nvGrpSpPr>
        <p:grpSpPr>
          <a:xfrm>
            <a:off x="2542628" y="7649454"/>
            <a:ext cx="7312145" cy="3051915"/>
            <a:chOff x="2542628" y="1439154"/>
            <a:chExt cx="7312145" cy="3051915"/>
          </a:xfrm>
        </p:grpSpPr>
        <p:sp>
          <p:nvSpPr>
            <p:cNvPr id="72" name="Shape 22">
              <a:extLst>
                <a:ext uri="{FF2B5EF4-FFF2-40B4-BE49-F238E27FC236}">
                  <a16:creationId xmlns:a16="http://schemas.microsoft.com/office/drawing/2014/main" id="{1E9DFA36-5C83-4DA4-AC7F-F01518E515C6}"/>
                </a:ext>
              </a:extLst>
            </p:cNvPr>
            <p:cNvSpPr/>
            <p:nvPr/>
          </p:nvSpPr>
          <p:spPr>
            <a:xfrm>
              <a:off x="2542628" y="1439154"/>
              <a:ext cx="7312145" cy="3051915"/>
            </a:xfrm>
            <a:custGeom>
              <a:avLst/>
              <a:gdLst/>
              <a:ahLst/>
              <a:cxnLst/>
              <a:rect l="l" t="t" r="r" b="b"/>
              <a:pathLst>
                <a:path w="3343113" h="756931">
                  <a:moveTo>
                    <a:pt x="144180" y="0"/>
                  </a:moveTo>
                  <a:lnTo>
                    <a:pt x="3198933" y="0"/>
                  </a:lnTo>
                  <a:cubicBezTo>
                    <a:pt x="3278561" y="0"/>
                    <a:pt x="3343113" y="64552"/>
                    <a:pt x="3343113" y="144180"/>
                  </a:cubicBezTo>
                  <a:lnTo>
                    <a:pt x="3343113" y="612751"/>
                  </a:lnTo>
                  <a:cubicBezTo>
                    <a:pt x="3343113" y="692380"/>
                    <a:pt x="3278561" y="756931"/>
                    <a:pt x="3198933" y="756931"/>
                  </a:cubicBezTo>
                  <a:lnTo>
                    <a:pt x="144180" y="756931"/>
                  </a:lnTo>
                  <a:cubicBezTo>
                    <a:pt x="64605" y="756931"/>
                    <a:pt x="0" y="692326"/>
                    <a:pt x="0" y="612751"/>
                  </a:cubicBezTo>
                  <a:lnTo>
                    <a:pt x="0" y="144180"/>
                  </a:lnTo>
                  <a:cubicBezTo>
                    <a:pt x="0" y="64605"/>
                    <a:pt x="64605" y="0"/>
                    <a:pt x="14418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450554" dist="225277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DEBD909A-F170-4213-B28F-401B38003E95}"/>
                </a:ext>
              </a:extLst>
            </p:cNvPr>
            <p:cNvSpPr/>
            <p:nvPr/>
          </p:nvSpPr>
          <p:spPr>
            <a:xfrm>
              <a:off x="3222324" y="1857534"/>
              <a:ext cx="5952752" cy="2215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66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Спасибо за внимание!</a:t>
              </a:r>
              <a:endParaRPr lang="en-US" sz="6600" dirty="0"/>
            </a:p>
          </p:txBody>
        </p:sp>
      </p:grpSp>
    </p:spTree>
    <p:extLst>
      <p:ext uri="{BB962C8B-B14F-4D97-AF65-F5344CB8AC3E}">
        <p14:creationId xmlns:p14="http://schemas.microsoft.com/office/powerpoint/2010/main" val="74542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6368d7d247c4288444b5509ac884a0a7a524018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4" b="4"/>
          <a:stretch/>
        </p:blipFill>
        <p:spPr>
          <a:xfrm>
            <a:off x="0" y="0"/>
            <a:ext cx="12192000" cy="685743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37"/>
          </a:xfrm>
          <a:custGeom>
            <a:avLst/>
            <a:gdLst/>
            <a:ahLst/>
            <a:cxnLst/>
            <a:rect l="l" t="t" r="r" b="b"/>
            <a:pathLst>
              <a:path w="12192000" h="6857437">
                <a:moveTo>
                  <a:pt x="0" y="0"/>
                </a:moveTo>
                <a:lnTo>
                  <a:pt x="12192000" y="0"/>
                </a:lnTo>
                <a:lnTo>
                  <a:pt x="12192000" y="6857437"/>
                </a:lnTo>
                <a:lnTo>
                  <a:pt x="0" y="685743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D700">
                  <a:alpha val="30000"/>
                </a:srgbClr>
              </a:gs>
              <a:gs pos="50000">
                <a:srgbClr val="FFD700">
                  <a:alpha val="10000"/>
                </a:srgbClr>
              </a:gs>
              <a:gs pos="100000">
                <a:srgbClr val="FF6B35">
                  <a:alpha val="20000"/>
                </a:srgbClr>
              </a:gs>
            </a:gsLst>
            <a:lin ang="2700000" scaled="1"/>
          </a:gradFill>
          <a:ln/>
        </p:spPr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4EF30AE-EADE-4C0D-9EDF-95D00CBF9B6B}"/>
              </a:ext>
            </a:extLst>
          </p:cNvPr>
          <p:cNvGrpSpPr/>
          <p:nvPr/>
        </p:nvGrpSpPr>
        <p:grpSpPr>
          <a:xfrm>
            <a:off x="2542628" y="1439154"/>
            <a:ext cx="7312145" cy="3051915"/>
            <a:chOff x="2542628" y="1439154"/>
            <a:chExt cx="7312145" cy="3051915"/>
          </a:xfrm>
        </p:grpSpPr>
        <p:sp>
          <p:nvSpPr>
            <p:cNvPr id="25" name="Shape 22"/>
            <p:cNvSpPr/>
            <p:nvPr/>
          </p:nvSpPr>
          <p:spPr>
            <a:xfrm>
              <a:off x="2542628" y="1439154"/>
              <a:ext cx="7312145" cy="3051915"/>
            </a:xfrm>
            <a:custGeom>
              <a:avLst/>
              <a:gdLst/>
              <a:ahLst/>
              <a:cxnLst/>
              <a:rect l="l" t="t" r="r" b="b"/>
              <a:pathLst>
                <a:path w="3343113" h="756931">
                  <a:moveTo>
                    <a:pt x="144180" y="0"/>
                  </a:moveTo>
                  <a:lnTo>
                    <a:pt x="3198933" y="0"/>
                  </a:lnTo>
                  <a:cubicBezTo>
                    <a:pt x="3278561" y="0"/>
                    <a:pt x="3343113" y="64552"/>
                    <a:pt x="3343113" y="144180"/>
                  </a:cubicBezTo>
                  <a:lnTo>
                    <a:pt x="3343113" y="612751"/>
                  </a:lnTo>
                  <a:cubicBezTo>
                    <a:pt x="3343113" y="692380"/>
                    <a:pt x="3278561" y="756931"/>
                    <a:pt x="3198933" y="756931"/>
                  </a:cubicBezTo>
                  <a:lnTo>
                    <a:pt x="144180" y="756931"/>
                  </a:lnTo>
                  <a:cubicBezTo>
                    <a:pt x="64605" y="756931"/>
                    <a:pt x="0" y="692326"/>
                    <a:pt x="0" y="612751"/>
                  </a:cubicBezTo>
                  <a:lnTo>
                    <a:pt x="0" y="144180"/>
                  </a:lnTo>
                  <a:cubicBezTo>
                    <a:pt x="0" y="64605"/>
                    <a:pt x="64605" y="0"/>
                    <a:pt x="14418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D700"/>
                </a:gs>
                <a:gs pos="100000">
                  <a:srgbClr val="FF6B35"/>
                </a:gs>
              </a:gsLst>
              <a:lin ang="0" scaled="1"/>
            </a:gradFill>
            <a:ln/>
            <a:effectLst>
              <a:outerShdw blurRad="450554" dist="225277" dir="5400000" algn="bl" rotWithShape="0">
                <a:srgbClr val="000000">
                  <a:alpha val="25098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3222324" y="1857534"/>
              <a:ext cx="5952752" cy="2215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6600" b="1" dirty="0">
                  <a:solidFill>
                    <a:srgbClr val="1A1A1A"/>
                  </a:solidFill>
                  <a:latin typeface="Alimama ShuHeiTi" pitchFamily="34" charset="0"/>
                  <a:ea typeface="Alimama ShuHeiTi" pitchFamily="34" charset="-122"/>
                  <a:cs typeface="Alimama ShuHeiTi" pitchFamily="34" charset="-120"/>
                </a:rPr>
                <a:t>Спасибо за внимание!</a:t>
              </a:r>
              <a:endParaRPr lang="en-US" sz="6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3339</Words>
  <Application>Microsoft Office PowerPoint</Application>
  <PresentationFormat>Широкоэкранный</PresentationFormat>
  <Paragraphs>1025</Paragraphs>
  <Slides>18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Alimama ShuHeiTi</vt:lpstr>
      <vt:lpstr>MiSans</vt:lpstr>
      <vt:lpstr>Arial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Интеллектуальный ассистент для 1С:УНФ</dc:title>
  <dc:subject>Интеллектуальный ассистент для 1С:УНФ</dc:subject>
  <dc:creator>Kimi</dc:creator>
  <cp:lastModifiedBy>Андрей Кобзарев</cp:lastModifiedBy>
  <cp:revision>20</cp:revision>
  <dcterms:created xsi:type="dcterms:W3CDTF">2026-03-26T11:34:52Z</dcterms:created>
  <dcterms:modified xsi:type="dcterms:W3CDTF">2026-06-14T22:08:50Z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{"Label":"Интеллектуальный ассистент для 1С:УНФ","ContentProducer":"001191110108MACG2KBH8F10000","ProduceID":"19d29e7c-f082-8823-8000-00002dd09f4c","ReservedCode1":"","ContentPropagator":"001191110108MACG2KBH8F20000","PropagateID":"19d29e7c-f082-8823-8000-00002dd09f4c","ReservedCode2":""}</vt:lpwstr>
  </property>
</Properties>
</file>